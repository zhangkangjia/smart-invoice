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tiff" ContentType="image/tiff"/>
  <Default Extension="png" ContentType="image/png"/>
  <Default Extension="wdp" ContentType="image/vnd.ms-photo"/>
  <Default Extension="emf" ContentType="image/x-emf"/>
  <Default Extension="rels" ContentType="application/vnd.openxmlformats-package.relationships+xml"/>
  <Override PartName="/customXml/itemProps1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1" r:id="rId3"/>
  </p:sldMasterIdLst>
  <p:notesMasterIdLst>
    <p:notesMasterId r:id="rId5"/>
  </p:notesMasterIdLst>
  <p:sldIdLst>
    <p:sldId id="444" r:id="rId4"/>
    <p:sldId id="274" r:id="rId6"/>
    <p:sldId id="445" r:id="rId7"/>
    <p:sldId id="488" r:id="rId8"/>
    <p:sldId id="489" r:id="rId9"/>
    <p:sldId id="474" r:id="rId10"/>
    <p:sldId id="452" r:id="rId11"/>
    <p:sldId id="479" r:id="rId12"/>
    <p:sldId id="487" r:id="rId13"/>
    <p:sldId id="492" r:id="rId14"/>
    <p:sldId id="493" r:id="rId15"/>
    <p:sldId id="486" r:id="rId16"/>
    <p:sldId id="494" r:id="rId17"/>
    <p:sldId id="495" r:id="rId18"/>
    <p:sldId id="485" r:id="rId19"/>
    <p:sldId id="533" r:id="rId20"/>
    <p:sldId id="490" r:id="rId21"/>
    <p:sldId id="497" r:id="rId22"/>
    <p:sldId id="498" r:id="rId23"/>
    <p:sldId id="499" r:id="rId24"/>
    <p:sldId id="500" r:id="rId25"/>
    <p:sldId id="501" r:id="rId26"/>
    <p:sldId id="502" r:id="rId27"/>
    <p:sldId id="509" r:id="rId28"/>
    <p:sldId id="503" r:id="rId29"/>
    <p:sldId id="504" r:id="rId30"/>
    <p:sldId id="505" r:id="rId31"/>
    <p:sldId id="507" r:id="rId32"/>
    <p:sldId id="508" r:id="rId33"/>
    <p:sldId id="446" r:id="rId34"/>
    <p:sldId id="510" r:id="rId35"/>
    <p:sldId id="534" r:id="rId36"/>
    <p:sldId id="536" r:id="rId37"/>
    <p:sldId id="537" r:id="rId38"/>
    <p:sldId id="538" r:id="rId39"/>
    <p:sldId id="540" r:id="rId40"/>
    <p:sldId id="564" r:id="rId41"/>
    <p:sldId id="565" r:id="rId42"/>
    <p:sldId id="541" r:id="rId43"/>
    <p:sldId id="535" r:id="rId44"/>
    <p:sldId id="512" r:id="rId45"/>
    <p:sldId id="516" r:id="rId46"/>
    <p:sldId id="514" r:id="rId47"/>
    <p:sldId id="517" r:id="rId48"/>
    <p:sldId id="513" r:id="rId49"/>
    <p:sldId id="521" r:id="rId50"/>
    <p:sldId id="520" r:id="rId51"/>
    <p:sldId id="523" r:id="rId52"/>
  </p:sldIdLst>
  <p:sldSz cx="12192000" cy="6858000"/>
  <p:notesSz cx="6858000" cy="9144000"/>
  <p:custDataLst>
    <p:tags r:id="rId5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史 小东" initials="史" lastIdx="1" clrIdx="0"/>
  <p:cmAuthor id="2" name="Microsoft Office 用户" initials="Office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37FE9"/>
    <a:srgbClr val="EA4F4E"/>
    <a:srgbClr val="1DBA58"/>
    <a:srgbClr val="0070C0"/>
    <a:srgbClr val="5B97ED"/>
    <a:srgbClr val="338DCD"/>
    <a:srgbClr val="FFFFFF"/>
    <a:srgbClr val="EACD75"/>
    <a:srgbClr val="F9DA7E"/>
    <a:srgbClr val="5E96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86" autoAdjust="0"/>
    <p:restoredTop sz="92857" autoAdjust="0"/>
  </p:normalViewPr>
  <p:slideViewPr>
    <p:cSldViewPr snapToGrid="0" snapToObjects="1" showGuides="1">
      <p:cViewPr varScale="1">
        <p:scale>
          <a:sx n="81" d="100"/>
          <a:sy n="81" d="100"/>
        </p:scale>
        <p:origin x="763" y="62"/>
      </p:cViewPr>
      <p:guideLst>
        <p:guide orient="horz" pos="2160"/>
        <p:guide pos="38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9" Type="http://schemas.openxmlformats.org/officeDocument/2006/relationships/tags" Target="tags/tag12.xml"/><Relationship Id="rId58" Type="http://schemas.openxmlformats.org/officeDocument/2006/relationships/customXml" Target="../customXml/item1.xml"/><Relationship Id="rId57" Type="http://schemas.openxmlformats.org/officeDocument/2006/relationships/customXmlProps" Target="../customXml/itemProps11.xml"/><Relationship Id="rId56" Type="http://schemas.openxmlformats.org/officeDocument/2006/relationships/commentAuthors" Target="commentAuthors.xml"/><Relationship Id="rId55" Type="http://schemas.openxmlformats.org/officeDocument/2006/relationships/tableStyles" Target="tableStyles.xml"/><Relationship Id="rId54" Type="http://schemas.openxmlformats.org/officeDocument/2006/relationships/viewProps" Target="viewProps.xml"/><Relationship Id="rId53" Type="http://schemas.openxmlformats.org/officeDocument/2006/relationships/presProps" Target="presProps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2E066D-3EC3-E44D-BFA2-803CA6491CB4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A57EAB-BC57-D746-97FA-FDFE75FB10C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A57EAB-BC57-D746-97FA-FDFE75FB10C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A57EAB-BC57-D746-97FA-FDFE75FB10C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A57EAB-BC57-D746-97FA-FDFE75FB10C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A57EAB-BC57-D746-97FA-FDFE75FB10C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A57EAB-BC57-D746-97FA-FDFE75FB10C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D4937-79D4-CD44-8E78-7124D142BAE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7CA30-01B5-694F-A6B7-768F33DA385F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1470991"/>
            <a:ext cx="12192000" cy="5387009"/>
          </a:xfrm>
          <a:prstGeom prst="rect">
            <a:avLst/>
          </a:prstGeom>
          <a:solidFill>
            <a:srgbClr val="357E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grpSp>
        <p:nvGrpSpPr>
          <p:cNvPr id="8" name="组 79"/>
          <p:cNvGrpSpPr/>
          <p:nvPr userDrawn="1"/>
        </p:nvGrpSpPr>
        <p:grpSpPr>
          <a:xfrm>
            <a:off x="523052" y="1905798"/>
            <a:ext cx="10929615" cy="4697199"/>
            <a:chOff x="523052" y="1905798"/>
            <a:chExt cx="10929615" cy="4697199"/>
          </a:xfrm>
        </p:grpSpPr>
        <p:sp>
          <p:nvSpPr>
            <p:cNvPr id="9" name="文本框 8"/>
            <p:cNvSpPr txBox="1"/>
            <p:nvPr/>
          </p:nvSpPr>
          <p:spPr>
            <a:xfrm>
              <a:off x="9478142" y="4109482"/>
              <a:ext cx="279244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kumimoji="1" lang="en-US" altLang="zh-CN" sz="1400" dirty="0">
                  <a:solidFill>
                    <a:srgbClr val="5B97ED"/>
                  </a:solidFill>
                </a:rPr>
                <a:t>0</a:t>
              </a:r>
              <a:endParaRPr kumimoji="1" lang="zh-CN" altLang="en-US" sz="1400" dirty="0">
                <a:solidFill>
                  <a:srgbClr val="5B97ED"/>
                </a:solidFill>
              </a:endParaRPr>
            </a:p>
          </p:txBody>
        </p:sp>
        <p:grpSp>
          <p:nvGrpSpPr>
            <p:cNvPr id="10" name="组 81"/>
            <p:cNvGrpSpPr/>
            <p:nvPr/>
          </p:nvGrpSpPr>
          <p:grpSpPr>
            <a:xfrm>
              <a:off x="523052" y="1905798"/>
              <a:ext cx="10790990" cy="4697199"/>
              <a:chOff x="523052" y="1905798"/>
              <a:chExt cx="10790990" cy="4697199"/>
            </a:xfrm>
          </p:grpSpPr>
          <p:grpSp>
            <p:nvGrpSpPr>
              <p:cNvPr id="20" name="组 91"/>
              <p:cNvGrpSpPr/>
              <p:nvPr/>
            </p:nvGrpSpPr>
            <p:grpSpPr>
              <a:xfrm>
                <a:off x="652669" y="2150790"/>
                <a:ext cx="10661373" cy="4452207"/>
                <a:chOff x="652669" y="2150790"/>
                <a:chExt cx="10661373" cy="4452207"/>
              </a:xfrm>
            </p:grpSpPr>
            <p:cxnSp>
              <p:nvCxnSpPr>
                <p:cNvPr id="27" name="直线连接符 98"/>
                <p:cNvCxnSpPr/>
                <p:nvPr/>
              </p:nvCxnSpPr>
              <p:spPr>
                <a:xfrm flipV="1">
                  <a:off x="1649895" y="3674540"/>
                  <a:ext cx="0" cy="1575006"/>
                </a:xfrm>
                <a:prstGeom prst="line">
                  <a:avLst/>
                </a:prstGeom>
                <a:ln>
                  <a:solidFill>
                    <a:srgbClr val="5E96ED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直线连接符 99"/>
                <p:cNvCxnSpPr/>
                <p:nvPr/>
              </p:nvCxnSpPr>
              <p:spPr>
                <a:xfrm flipV="1">
                  <a:off x="2060712" y="4075043"/>
                  <a:ext cx="0" cy="2471588"/>
                </a:xfrm>
                <a:prstGeom prst="line">
                  <a:avLst/>
                </a:prstGeom>
                <a:ln>
                  <a:solidFill>
                    <a:srgbClr val="5E96ED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直线连接符 100"/>
                <p:cNvCxnSpPr/>
                <p:nvPr/>
              </p:nvCxnSpPr>
              <p:spPr>
                <a:xfrm flipV="1">
                  <a:off x="2269434" y="2554357"/>
                  <a:ext cx="0" cy="1725571"/>
                </a:xfrm>
                <a:prstGeom prst="line">
                  <a:avLst/>
                </a:prstGeom>
                <a:ln>
                  <a:solidFill>
                    <a:srgbClr val="5E96ED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直线连接符 101"/>
                <p:cNvCxnSpPr/>
                <p:nvPr/>
              </p:nvCxnSpPr>
              <p:spPr>
                <a:xfrm flipV="1">
                  <a:off x="652669" y="4721087"/>
                  <a:ext cx="0" cy="1709007"/>
                </a:xfrm>
                <a:prstGeom prst="line">
                  <a:avLst/>
                </a:prstGeom>
                <a:ln>
                  <a:solidFill>
                    <a:srgbClr val="5E96ED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直线连接符 102"/>
                <p:cNvCxnSpPr/>
                <p:nvPr/>
              </p:nvCxnSpPr>
              <p:spPr>
                <a:xfrm flipV="1">
                  <a:off x="4744277" y="4800600"/>
                  <a:ext cx="0" cy="1746031"/>
                </a:xfrm>
                <a:prstGeom prst="line">
                  <a:avLst/>
                </a:prstGeom>
                <a:ln>
                  <a:solidFill>
                    <a:srgbClr val="5E96ED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直线连接符 103"/>
                <p:cNvCxnSpPr/>
                <p:nvPr/>
              </p:nvCxnSpPr>
              <p:spPr>
                <a:xfrm flipV="1">
                  <a:off x="5191538" y="2385391"/>
                  <a:ext cx="0" cy="3373739"/>
                </a:xfrm>
                <a:prstGeom prst="line">
                  <a:avLst/>
                </a:prstGeom>
                <a:ln>
                  <a:solidFill>
                    <a:srgbClr val="5E96ED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直线连接符 104"/>
                <p:cNvCxnSpPr/>
                <p:nvPr/>
              </p:nvCxnSpPr>
              <p:spPr>
                <a:xfrm flipV="1">
                  <a:off x="6009861" y="2725651"/>
                  <a:ext cx="0" cy="3522825"/>
                </a:xfrm>
                <a:prstGeom prst="line">
                  <a:avLst/>
                </a:prstGeom>
                <a:ln>
                  <a:solidFill>
                    <a:srgbClr val="5E96ED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直线连接符 105"/>
                <p:cNvCxnSpPr/>
                <p:nvPr/>
              </p:nvCxnSpPr>
              <p:spPr>
                <a:xfrm flipV="1">
                  <a:off x="6599583" y="2150790"/>
                  <a:ext cx="0" cy="3522825"/>
                </a:xfrm>
                <a:prstGeom prst="line">
                  <a:avLst/>
                </a:prstGeom>
                <a:ln>
                  <a:solidFill>
                    <a:srgbClr val="5E96ED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直线连接符 106"/>
                <p:cNvCxnSpPr/>
                <p:nvPr/>
              </p:nvCxnSpPr>
              <p:spPr>
                <a:xfrm flipV="1">
                  <a:off x="7265504" y="2725651"/>
                  <a:ext cx="0" cy="2268166"/>
                </a:xfrm>
                <a:prstGeom prst="line">
                  <a:avLst/>
                </a:prstGeom>
                <a:ln>
                  <a:solidFill>
                    <a:srgbClr val="5E96ED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直线连接符 107"/>
                <p:cNvCxnSpPr/>
                <p:nvPr/>
              </p:nvCxnSpPr>
              <p:spPr>
                <a:xfrm flipV="1">
                  <a:off x="5489712" y="4800600"/>
                  <a:ext cx="0" cy="1575006"/>
                </a:xfrm>
                <a:prstGeom prst="line">
                  <a:avLst/>
                </a:prstGeom>
                <a:ln>
                  <a:solidFill>
                    <a:srgbClr val="5E96ED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直线连接符 108"/>
                <p:cNvCxnSpPr/>
                <p:nvPr/>
              </p:nvCxnSpPr>
              <p:spPr>
                <a:xfrm flipV="1">
                  <a:off x="4350024" y="3116515"/>
                  <a:ext cx="0" cy="2471588"/>
                </a:xfrm>
                <a:prstGeom prst="line">
                  <a:avLst/>
                </a:prstGeom>
                <a:ln>
                  <a:solidFill>
                    <a:srgbClr val="5E96ED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线连接符 109"/>
                <p:cNvCxnSpPr/>
                <p:nvPr/>
              </p:nvCxnSpPr>
              <p:spPr>
                <a:xfrm flipV="1">
                  <a:off x="9617764" y="4386760"/>
                  <a:ext cx="0" cy="1725571"/>
                </a:xfrm>
                <a:prstGeom prst="line">
                  <a:avLst/>
                </a:prstGeom>
                <a:ln>
                  <a:solidFill>
                    <a:srgbClr val="5E96ED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直线连接符 110"/>
                <p:cNvCxnSpPr/>
                <p:nvPr/>
              </p:nvCxnSpPr>
              <p:spPr>
                <a:xfrm flipV="1">
                  <a:off x="2991677" y="3146081"/>
                  <a:ext cx="0" cy="1709007"/>
                </a:xfrm>
                <a:prstGeom prst="line">
                  <a:avLst/>
                </a:prstGeom>
                <a:ln>
                  <a:solidFill>
                    <a:srgbClr val="5E96ED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直线连接符 111"/>
                <p:cNvCxnSpPr/>
                <p:nvPr/>
              </p:nvCxnSpPr>
              <p:spPr>
                <a:xfrm flipV="1">
                  <a:off x="7083285" y="3225594"/>
                  <a:ext cx="0" cy="1746031"/>
                </a:xfrm>
                <a:prstGeom prst="line">
                  <a:avLst/>
                </a:prstGeom>
                <a:ln>
                  <a:solidFill>
                    <a:srgbClr val="5E96ED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直线连接符 112"/>
                <p:cNvCxnSpPr/>
                <p:nvPr/>
              </p:nvCxnSpPr>
              <p:spPr>
                <a:xfrm flipV="1">
                  <a:off x="8991598" y="2388173"/>
                  <a:ext cx="0" cy="3373739"/>
                </a:xfrm>
                <a:prstGeom prst="line">
                  <a:avLst/>
                </a:prstGeom>
                <a:ln>
                  <a:solidFill>
                    <a:srgbClr val="5E96ED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直线连接符 113"/>
                <p:cNvCxnSpPr/>
                <p:nvPr/>
              </p:nvCxnSpPr>
              <p:spPr>
                <a:xfrm flipV="1">
                  <a:off x="10048460" y="3548270"/>
                  <a:ext cx="0" cy="2359947"/>
                </a:xfrm>
                <a:prstGeom prst="line">
                  <a:avLst/>
                </a:prstGeom>
                <a:ln>
                  <a:solidFill>
                    <a:srgbClr val="5E96ED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直线连接符 114"/>
                <p:cNvCxnSpPr/>
                <p:nvPr/>
              </p:nvCxnSpPr>
              <p:spPr>
                <a:xfrm flipV="1">
                  <a:off x="10598426" y="3080172"/>
                  <a:ext cx="0" cy="3522825"/>
                </a:xfrm>
                <a:prstGeom prst="line">
                  <a:avLst/>
                </a:prstGeom>
                <a:ln>
                  <a:solidFill>
                    <a:srgbClr val="5E96ED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直线连接符 115"/>
                <p:cNvCxnSpPr/>
                <p:nvPr/>
              </p:nvCxnSpPr>
              <p:spPr>
                <a:xfrm flipV="1">
                  <a:off x="11314042" y="4334831"/>
                  <a:ext cx="0" cy="2268166"/>
                </a:xfrm>
                <a:prstGeom prst="line">
                  <a:avLst/>
                </a:prstGeom>
                <a:ln>
                  <a:solidFill>
                    <a:srgbClr val="5E96ED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1" name="文本框 20"/>
              <p:cNvSpPr txBox="1"/>
              <p:nvPr/>
            </p:nvSpPr>
            <p:spPr>
              <a:xfrm>
                <a:off x="2135233" y="2325678"/>
                <a:ext cx="266420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200" dirty="0">
                    <a:solidFill>
                      <a:srgbClr val="5B97ED"/>
                    </a:solidFill>
                  </a:rPr>
                  <a:t>0</a:t>
                </a:r>
                <a:endParaRPr kumimoji="1" lang="zh-CN" altLang="en-US" sz="1200" dirty="0">
                  <a:solidFill>
                    <a:srgbClr val="5B97ED"/>
                  </a:solidFill>
                </a:endParaRPr>
              </a:p>
            </p:txBody>
          </p:sp>
          <p:sp>
            <p:nvSpPr>
              <p:cNvPr id="22" name="文本框 21"/>
              <p:cNvSpPr txBox="1"/>
              <p:nvPr/>
            </p:nvSpPr>
            <p:spPr>
              <a:xfrm>
                <a:off x="523052" y="4477389"/>
                <a:ext cx="279244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400" dirty="0">
                    <a:solidFill>
                      <a:srgbClr val="5B97ED"/>
                    </a:solidFill>
                  </a:rPr>
                  <a:t>0</a:t>
                </a:r>
                <a:endParaRPr kumimoji="1" lang="zh-CN" altLang="en-US" sz="1400" dirty="0">
                  <a:solidFill>
                    <a:srgbClr val="5B97ED"/>
                  </a:solidFill>
                </a:endParaRPr>
              </a:p>
            </p:txBody>
          </p:sp>
          <p:sp>
            <p:nvSpPr>
              <p:cNvPr id="23" name="文本框 22"/>
              <p:cNvSpPr txBox="1"/>
              <p:nvPr/>
            </p:nvSpPr>
            <p:spPr>
              <a:xfrm>
                <a:off x="4617434" y="4557174"/>
                <a:ext cx="279244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400" dirty="0">
                    <a:solidFill>
                      <a:srgbClr val="5B97ED"/>
                    </a:solidFill>
                  </a:rPr>
                  <a:t>0</a:t>
                </a:r>
                <a:endParaRPr kumimoji="1" lang="zh-CN" altLang="en-US" sz="1400" dirty="0">
                  <a:solidFill>
                    <a:srgbClr val="5B97ED"/>
                  </a:solidFill>
                </a:endParaRPr>
              </a:p>
            </p:txBody>
          </p:sp>
          <p:sp>
            <p:nvSpPr>
              <p:cNvPr id="24" name="文本框 23"/>
              <p:cNvSpPr txBox="1"/>
              <p:nvPr/>
            </p:nvSpPr>
            <p:spPr>
              <a:xfrm>
                <a:off x="10467948" y="2829577"/>
                <a:ext cx="279244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400" dirty="0">
                    <a:solidFill>
                      <a:srgbClr val="5B97ED"/>
                    </a:solidFill>
                  </a:rPr>
                  <a:t>0</a:t>
                </a:r>
                <a:endParaRPr kumimoji="1" lang="zh-CN" altLang="en-US" sz="1400" dirty="0">
                  <a:solidFill>
                    <a:srgbClr val="5B97ED"/>
                  </a:solidFill>
                </a:endParaRPr>
              </a:p>
            </p:txBody>
          </p:sp>
          <p:sp>
            <p:nvSpPr>
              <p:cNvPr id="25" name="文本框 24"/>
              <p:cNvSpPr txBox="1"/>
              <p:nvPr/>
            </p:nvSpPr>
            <p:spPr>
              <a:xfrm>
                <a:off x="6478249" y="1905798"/>
                <a:ext cx="279244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400" dirty="0">
                    <a:solidFill>
                      <a:srgbClr val="5B97ED"/>
                    </a:solidFill>
                  </a:rPr>
                  <a:t>0</a:t>
                </a:r>
                <a:endParaRPr kumimoji="1" lang="zh-CN" altLang="en-US" sz="1400" dirty="0">
                  <a:solidFill>
                    <a:srgbClr val="5B97ED"/>
                  </a:solidFill>
                </a:endParaRPr>
              </a:p>
            </p:txBody>
          </p:sp>
          <p:sp>
            <p:nvSpPr>
              <p:cNvPr id="26" name="文本框 25"/>
              <p:cNvSpPr txBox="1"/>
              <p:nvPr/>
            </p:nvSpPr>
            <p:spPr>
              <a:xfrm>
                <a:off x="2859156" y="2692990"/>
                <a:ext cx="279244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400" dirty="0">
                    <a:solidFill>
                      <a:srgbClr val="5B97ED"/>
                    </a:solidFill>
                  </a:rPr>
                  <a:t>0</a:t>
                </a:r>
                <a:endParaRPr kumimoji="1" lang="zh-CN" altLang="en-US" sz="1400" dirty="0">
                  <a:solidFill>
                    <a:srgbClr val="5B97ED"/>
                  </a:solidFill>
                </a:endParaRPr>
              </a:p>
            </p:txBody>
          </p:sp>
        </p:grpSp>
        <p:sp>
          <p:nvSpPr>
            <p:cNvPr id="11" name="文本框 10"/>
            <p:cNvSpPr txBox="1"/>
            <p:nvPr/>
          </p:nvSpPr>
          <p:spPr>
            <a:xfrm>
              <a:off x="1496451" y="3391592"/>
              <a:ext cx="3032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600">
                  <a:solidFill>
                    <a:srgbClr val="5B97ED"/>
                  </a:solidFill>
                  <a:latin typeface="Alibaba PuHuiTi" charset="-122"/>
                  <a:ea typeface="Alibaba PuHuiTi" charset="-122"/>
                  <a:cs typeface="Alibaba PuHuiTi" charset="-122"/>
                </a:rPr>
                <a:t>1</a:t>
              </a:r>
              <a:endParaRPr kumimoji="1" lang="zh-CN" altLang="en-US" sz="1600" dirty="0">
                <a:solidFill>
                  <a:srgbClr val="5B97ED"/>
                </a:solidFill>
                <a:latin typeface="Alibaba PuHuiTi" charset="-122"/>
                <a:ea typeface="Alibaba PuHuiTi" charset="-122"/>
                <a:cs typeface="Alibaba PuHuiTi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915574" y="3794883"/>
              <a:ext cx="3032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600">
                  <a:solidFill>
                    <a:srgbClr val="5B97ED"/>
                  </a:solidFill>
                  <a:latin typeface="Alibaba PuHuiTi" charset="-122"/>
                  <a:ea typeface="Alibaba PuHuiTi" charset="-122"/>
                  <a:cs typeface="Alibaba PuHuiTi" charset="-122"/>
                </a:rPr>
                <a:t>1</a:t>
              </a:r>
              <a:endParaRPr kumimoji="1" lang="zh-CN" altLang="en-US" sz="1600" dirty="0">
                <a:solidFill>
                  <a:srgbClr val="5B97ED"/>
                </a:solidFill>
                <a:latin typeface="Alibaba PuHuiTi" charset="-122"/>
                <a:ea typeface="Alibaba PuHuiTi" charset="-122"/>
                <a:cs typeface="Alibaba PuHuiTi" charset="-122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5339582" y="4541785"/>
              <a:ext cx="3032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600">
                  <a:solidFill>
                    <a:srgbClr val="5B97ED"/>
                  </a:solidFill>
                  <a:latin typeface="Alibaba PuHuiTi" charset="-122"/>
                  <a:ea typeface="Alibaba PuHuiTi" charset="-122"/>
                  <a:cs typeface="Alibaba PuHuiTi" charset="-122"/>
                </a:rPr>
                <a:t>1</a:t>
              </a:r>
              <a:endParaRPr kumimoji="1" lang="zh-CN" altLang="en-US" sz="1600" dirty="0">
                <a:solidFill>
                  <a:srgbClr val="5B97ED"/>
                </a:solidFill>
                <a:latin typeface="Alibaba PuHuiTi" charset="-122"/>
                <a:ea typeface="Alibaba PuHuiTi" charset="-122"/>
                <a:cs typeface="Alibaba PuHuiTi" charset="-122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5049173" y="2107782"/>
              <a:ext cx="3032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600" dirty="0">
                  <a:solidFill>
                    <a:srgbClr val="5B97ED"/>
                  </a:solidFill>
                  <a:latin typeface="Alibaba PuHuiTi" charset="-122"/>
                  <a:ea typeface="Alibaba PuHuiTi" charset="-122"/>
                  <a:cs typeface="Alibaba PuHuiTi" charset="-122"/>
                </a:rPr>
                <a:t>1</a:t>
              </a:r>
              <a:endParaRPr kumimoji="1" lang="zh-CN" altLang="en-US" sz="1600" dirty="0">
                <a:solidFill>
                  <a:srgbClr val="5B97ED"/>
                </a:solidFill>
                <a:latin typeface="Alibaba PuHuiTi" charset="-122"/>
                <a:ea typeface="Alibaba PuHuiTi" charset="-122"/>
                <a:cs typeface="Alibaba PuHuiTi" charset="-122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5866737" y="2446336"/>
              <a:ext cx="3032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600">
                  <a:solidFill>
                    <a:srgbClr val="5B97ED"/>
                  </a:solidFill>
                  <a:latin typeface="Alibaba PuHuiTi" charset="-122"/>
                  <a:ea typeface="Alibaba PuHuiTi" charset="-122"/>
                  <a:cs typeface="Alibaba PuHuiTi" charset="-122"/>
                </a:rPr>
                <a:t>1</a:t>
              </a:r>
              <a:endParaRPr kumimoji="1" lang="zh-CN" altLang="en-US" sz="1600" dirty="0">
                <a:solidFill>
                  <a:srgbClr val="5B97ED"/>
                </a:solidFill>
                <a:latin typeface="Alibaba PuHuiTi" charset="-122"/>
                <a:ea typeface="Alibaba PuHuiTi" charset="-122"/>
                <a:cs typeface="Alibaba PuHuiTi" charset="-122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7113860" y="2453384"/>
              <a:ext cx="3032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600">
                  <a:solidFill>
                    <a:srgbClr val="5B97ED"/>
                  </a:solidFill>
                  <a:latin typeface="Alibaba PuHuiTi" charset="-122"/>
                  <a:ea typeface="Alibaba PuHuiTi" charset="-122"/>
                  <a:cs typeface="Alibaba PuHuiTi" charset="-122"/>
                </a:rPr>
                <a:t>1</a:t>
              </a:r>
              <a:endParaRPr kumimoji="1" lang="zh-CN" altLang="en-US" sz="1600" dirty="0">
                <a:solidFill>
                  <a:srgbClr val="5B97ED"/>
                </a:solidFill>
                <a:latin typeface="Alibaba PuHuiTi" charset="-122"/>
                <a:ea typeface="Alibaba PuHuiTi" charset="-122"/>
                <a:cs typeface="Alibaba PuHuiTi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864893" y="2172624"/>
              <a:ext cx="27283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>
                  <a:solidFill>
                    <a:srgbClr val="5B97ED"/>
                  </a:solidFill>
                  <a:latin typeface="Alibaba PuHuiTi" charset="-122"/>
                  <a:ea typeface="Alibaba PuHuiTi" charset="-122"/>
                  <a:cs typeface="Alibaba PuHuiTi" charset="-122"/>
                </a:rPr>
                <a:t>1</a:t>
              </a:r>
              <a:endParaRPr kumimoji="1" lang="zh-CN" altLang="en-US" sz="1200" dirty="0">
                <a:solidFill>
                  <a:srgbClr val="5B97ED"/>
                </a:solidFill>
                <a:latin typeface="Alibaba PuHuiTi" charset="-122"/>
                <a:ea typeface="Alibaba PuHuiTi" charset="-122"/>
                <a:cs typeface="Alibaba PuHuiTi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9914196" y="3322730"/>
              <a:ext cx="27283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>
                  <a:solidFill>
                    <a:srgbClr val="5B97ED"/>
                  </a:solidFill>
                  <a:latin typeface="Alibaba PuHuiTi" charset="-122"/>
                  <a:ea typeface="Alibaba PuHuiTi" charset="-122"/>
                  <a:cs typeface="Alibaba PuHuiTi" charset="-122"/>
                </a:rPr>
                <a:t>1</a:t>
              </a:r>
              <a:endParaRPr kumimoji="1" lang="zh-CN" altLang="en-US" sz="1200" dirty="0">
                <a:solidFill>
                  <a:srgbClr val="5B97ED"/>
                </a:solidFill>
                <a:latin typeface="Alibaba PuHuiTi" charset="-122"/>
                <a:ea typeface="Alibaba PuHuiTi" charset="-122"/>
                <a:cs typeface="Alibaba PuHuiTi" charset="-122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1179835" y="4083330"/>
              <a:ext cx="27283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>
                  <a:solidFill>
                    <a:srgbClr val="5B97ED"/>
                  </a:solidFill>
                  <a:latin typeface="Alibaba PuHuiTi" charset="-122"/>
                  <a:ea typeface="Alibaba PuHuiTi" charset="-122"/>
                  <a:cs typeface="Alibaba PuHuiTi" charset="-122"/>
                </a:rPr>
                <a:t>1</a:t>
              </a:r>
              <a:endParaRPr kumimoji="1" lang="zh-CN" altLang="en-US" sz="1200" dirty="0">
                <a:solidFill>
                  <a:srgbClr val="5B97ED"/>
                </a:solidFill>
                <a:latin typeface="Alibaba PuHuiTi" charset="-122"/>
                <a:ea typeface="Alibaba PuHuiTi" charset="-122"/>
                <a:cs typeface="Alibaba PuHuiTi" charset="-122"/>
              </a:endParaRPr>
            </a:p>
          </p:txBody>
        </p:sp>
      </p:grpSp>
      <p:pic>
        <p:nvPicPr>
          <p:cNvPr id="46" name="图片 45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 rot="10800000">
            <a:off x="0" y="3742925"/>
            <a:ext cx="12192000" cy="3115075"/>
          </a:xfrm>
          <a:prstGeom prst="rect">
            <a:avLst/>
          </a:prstGeom>
          <a:effectLst/>
        </p:spPr>
      </p:pic>
      <p:pic>
        <p:nvPicPr>
          <p:cNvPr id="47" name="图片 46" descr="图片包含 游戏机, 钟表, 日落, 灯光&#10;&#10;描述已自动生成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746428" y="343559"/>
            <a:ext cx="2699144" cy="76025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D4937-79D4-CD44-8E78-7124D142BAE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7CA30-01B5-694F-A6B7-768F33DA385F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rgbClr val="357E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 rot="10800000">
            <a:off x="0" y="3742925"/>
            <a:ext cx="12192000" cy="3115075"/>
          </a:xfrm>
          <a:prstGeom prst="rect">
            <a:avLst/>
          </a:prstGeom>
        </p:spPr>
      </p:pic>
      <p:grpSp>
        <p:nvGrpSpPr>
          <p:cNvPr id="9" name="组 20"/>
          <p:cNvGrpSpPr/>
          <p:nvPr userDrawn="1"/>
        </p:nvGrpSpPr>
        <p:grpSpPr>
          <a:xfrm>
            <a:off x="523052" y="1905798"/>
            <a:ext cx="10929615" cy="4697199"/>
            <a:chOff x="523052" y="1905798"/>
            <a:chExt cx="10929615" cy="4697199"/>
          </a:xfrm>
        </p:grpSpPr>
        <p:sp>
          <p:nvSpPr>
            <p:cNvPr id="10" name="文本框 9"/>
            <p:cNvSpPr txBox="1"/>
            <p:nvPr/>
          </p:nvSpPr>
          <p:spPr>
            <a:xfrm>
              <a:off x="9478142" y="4109482"/>
              <a:ext cx="279244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kumimoji="1" lang="en-US" altLang="zh-CN" sz="1400" dirty="0">
                  <a:solidFill>
                    <a:srgbClr val="5B97ED"/>
                  </a:solidFill>
                </a:rPr>
                <a:t>0</a:t>
              </a:r>
              <a:endParaRPr kumimoji="1" lang="zh-CN" altLang="en-US" sz="1400" dirty="0">
                <a:solidFill>
                  <a:srgbClr val="5B97ED"/>
                </a:solidFill>
              </a:endParaRPr>
            </a:p>
          </p:txBody>
        </p:sp>
        <p:grpSp>
          <p:nvGrpSpPr>
            <p:cNvPr id="11" name="组 22"/>
            <p:cNvGrpSpPr/>
            <p:nvPr/>
          </p:nvGrpSpPr>
          <p:grpSpPr>
            <a:xfrm>
              <a:off x="523052" y="1905798"/>
              <a:ext cx="10790990" cy="4697199"/>
              <a:chOff x="523052" y="1905798"/>
              <a:chExt cx="10790990" cy="4697199"/>
            </a:xfrm>
          </p:grpSpPr>
          <p:grpSp>
            <p:nvGrpSpPr>
              <p:cNvPr id="21" name="组 32"/>
              <p:cNvGrpSpPr/>
              <p:nvPr/>
            </p:nvGrpSpPr>
            <p:grpSpPr>
              <a:xfrm>
                <a:off x="652669" y="2150790"/>
                <a:ext cx="10661373" cy="4452207"/>
                <a:chOff x="652669" y="2150790"/>
                <a:chExt cx="10661373" cy="4452207"/>
              </a:xfrm>
            </p:grpSpPr>
            <p:cxnSp>
              <p:nvCxnSpPr>
                <p:cNvPr id="28" name="直线连接符 39"/>
                <p:cNvCxnSpPr/>
                <p:nvPr/>
              </p:nvCxnSpPr>
              <p:spPr>
                <a:xfrm flipV="1">
                  <a:off x="1649895" y="3674540"/>
                  <a:ext cx="0" cy="1575006"/>
                </a:xfrm>
                <a:prstGeom prst="line">
                  <a:avLst/>
                </a:prstGeom>
                <a:ln>
                  <a:solidFill>
                    <a:srgbClr val="5E96ED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直线连接符 40"/>
                <p:cNvCxnSpPr/>
                <p:nvPr/>
              </p:nvCxnSpPr>
              <p:spPr>
                <a:xfrm flipV="1">
                  <a:off x="2060712" y="4075043"/>
                  <a:ext cx="0" cy="2471588"/>
                </a:xfrm>
                <a:prstGeom prst="line">
                  <a:avLst/>
                </a:prstGeom>
                <a:ln>
                  <a:solidFill>
                    <a:srgbClr val="5E96ED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直线连接符 41"/>
                <p:cNvCxnSpPr/>
                <p:nvPr/>
              </p:nvCxnSpPr>
              <p:spPr>
                <a:xfrm flipV="1">
                  <a:off x="2269434" y="2554357"/>
                  <a:ext cx="0" cy="1725571"/>
                </a:xfrm>
                <a:prstGeom prst="line">
                  <a:avLst/>
                </a:prstGeom>
                <a:ln>
                  <a:solidFill>
                    <a:srgbClr val="5E96ED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直线连接符 42"/>
                <p:cNvCxnSpPr/>
                <p:nvPr/>
              </p:nvCxnSpPr>
              <p:spPr>
                <a:xfrm flipV="1">
                  <a:off x="652669" y="4721087"/>
                  <a:ext cx="0" cy="1709007"/>
                </a:xfrm>
                <a:prstGeom prst="line">
                  <a:avLst/>
                </a:prstGeom>
                <a:ln>
                  <a:solidFill>
                    <a:srgbClr val="5E96ED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直线连接符 43"/>
                <p:cNvCxnSpPr/>
                <p:nvPr/>
              </p:nvCxnSpPr>
              <p:spPr>
                <a:xfrm flipV="1">
                  <a:off x="4744277" y="4800600"/>
                  <a:ext cx="0" cy="1746031"/>
                </a:xfrm>
                <a:prstGeom prst="line">
                  <a:avLst/>
                </a:prstGeom>
                <a:ln>
                  <a:solidFill>
                    <a:srgbClr val="5E96ED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直线连接符 44"/>
                <p:cNvCxnSpPr/>
                <p:nvPr/>
              </p:nvCxnSpPr>
              <p:spPr>
                <a:xfrm flipV="1">
                  <a:off x="5191538" y="2385391"/>
                  <a:ext cx="0" cy="3373739"/>
                </a:xfrm>
                <a:prstGeom prst="line">
                  <a:avLst/>
                </a:prstGeom>
                <a:ln>
                  <a:solidFill>
                    <a:srgbClr val="5E96ED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直线连接符 45"/>
                <p:cNvCxnSpPr/>
                <p:nvPr/>
              </p:nvCxnSpPr>
              <p:spPr>
                <a:xfrm flipV="1">
                  <a:off x="6009861" y="2725651"/>
                  <a:ext cx="0" cy="3522825"/>
                </a:xfrm>
                <a:prstGeom prst="line">
                  <a:avLst/>
                </a:prstGeom>
                <a:ln>
                  <a:solidFill>
                    <a:srgbClr val="5E96ED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直线连接符 46"/>
                <p:cNvCxnSpPr/>
                <p:nvPr/>
              </p:nvCxnSpPr>
              <p:spPr>
                <a:xfrm flipV="1">
                  <a:off x="6599583" y="2150790"/>
                  <a:ext cx="0" cy="3522825"/>
                </a:xfrm>
                <a:prstGeom prst="line">
                  <a:avLst/>
                </a:prstGeom>
                <a:ln>
                  <a:solidFill>
                    <a:srgbClr val="5E96ED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直线连接符 47"/>
                <p:cNvCxnSpPr/>
                <p:nvPr/>
              </p:nvCxnSpPr>
              <p:spPr>
                <a:xfrm flipV="1">
                  <a:off x="7265504" y="2725651"/>
                  <a:ext cx="0" cy="2268166"/>
                </a:xfrm>
                <a:prstGeom prst="line">
                  <a:avLst/>
                </a:prstGeom>
                <a:ln>
                  <a:solidFill>
                    <a:srgbClr val="5E96ED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直线连接符 48"/>
                <p:cNvCxnSpPr/>
                <p:nvPr/>
              </p:nvCxnSpPr>
              <p:spPr>
                <a:xfrm flipV="1">
                  <a:off x="5489712" y="4800600"/>
                  <a:ext cx="0" cy="1575006"/>
                </a:xfrm>
                <a:prstGeom prst="line">
                  <a:avLst/>
                </a:prstGeom>
                <a:ln>
                  <a:solidFill>
                    <a:srgbClr val="5E96ED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线连接符 49"/>
                <p:cNvCxnSpPr/>
                <p:nvPr/>
              </p:nvCxnSpPr>
              <p:spPr>
                <a:xfrm flipV="1">
                  <a:off x="4350024" y="3116515"/>
                  <a:ext cx="0" cy="2471588"/>
                </a:xfrm>
                <a:prstGeom prst="line">
                  <a:avLst/>
                </a:prstGeom>
                <a:ln>
                  <a:solidFill>
                    <a:srgbClr val="5E96ED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直线连接符 50"/>
                <p:cNvCxnSpPr/>
                <p:nvPr/>
              </p:nvCxnSpPr>
              <p:spPr>
                <a:xfrm flipV="1">
                  <a:off x="9617764" y="4386760"/>
                  <a:ext cx="0" cy="1725571"/>
                </a:xfrm>
                <a:prstGeom prst="line">
                  <a:avLst/>
                </a:prstGeom>
                <a:ln>
                  <a:solidFill>
                    <a:srgbClr val="5E96ED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直线连接符 51"/>
                <p:cNvCxnSpPr/>
                <p:nvPr/>
              </p:nvCxnSpPr>
              <p:spPr>
                <a:xfrm flipV="1">
                  <a:off x="2991677" y="3146081"/>
                  <a:ext cx="0" cy="1709007"/>
                </a:xfrm>
                <a:prstGeom prst="line">
                  <a:avLst/>
                </a:prstGeom>
                <a:ln>
                  <a:solidFill>
                    <a:srgbClr val="5E96ED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直线连接符 52"/>
                <p:cNvCxnSpPr/>
                <p:nvPr/>
              </p:nvCxnSpPr>
              <p:spPr>
                <a:xfrm flipV="1">
                  <a:off x="7083285" y="3225594"/>
                  <a:ext cx="0" cy="1746031"/>
                </a:xfrm>
                <a:prstGeom prst="line">
                  <a:avLst/>
                </a:prstGeom>
                <a:ln>
                  <a:solidFill>
                    <a:srgbClr val="5E96ED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直线连接符 53"/>
                <p:cNvCxnSpPr/>
                <p:nvPr/>
              </p:nvCxnSpPr>
              <p:spPr>
                <a:xfrm flipV="1">
                  <a:off x="8991598" y="2388173"/>
                  <a:ext cx="0" cy="3373739"/>
                </a:xfrm>
                <a:prstGeom prst="line">
                  <a:avLst/>
                </a:prstGeom>
                <a:ln>
                  <a:solidFill>
                    <a:srgbClr val="5E96ED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直线连接符 54"/>
                <p:cNvCxnSpPr/>
                <p:nvPr/>
              </p:nvCxnSpPr>
              <p:spPr>
                <a:xfrm flipV="1">
                  <a:off x="10048460" y="3548270"/>
                  <a:ext cx="0" cy="2359947"/>
                </a:xfrm>
                <a:prstGeom prst="line">
                  <a:avLst/>
                </a:prstGeom>
                <a:ln>
                  <a:solidFill>
                    <a:srgbClr val="5E96ED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直线连接符 55"/>
                <p:cNvCxnSpPr/>
                <p:nvPr/>
              </p:nvCxnSpPr>
              <p:spPr>
                <a:xfrm flipV="1">
                  <a:off x="10598426" y="3080172"/>
                  <a:ext cx="0" cy="3522825"/>
                </a:xfrm>
                <a:prstGeom prst="line">
                  <a:avLst/>
                </a:prstGeom>
                <a:ln>
                  <a:solidFill>
                    <a:srgbClr val="5E96ED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直线连接符 56"/>
                <p:cNvCxnSpPr/>
                <p:nvPr/>
              </p:nvCxnSpPr>
              <p:spPr>
                <a:xfrm flipV="1">
                  <a:off x="11314042" y="4334831"/>
                  <a:ext cx="0" cy="2268166"/>
                </a:xfrm>
                <a:prstGeom prst="line">
                  <a:avLst/>
                </a:prstGeom>
                <a:ln>
                  <a:solidFill>
                    <a:srgbClr val="5E96ED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2" name="文本框 21"/>
              <p:cNvSpPr txBox="1"/>
              <p:nvPr/>
            </p:nvSpPr>
            <p:spPr>
              <a:xfrm>
                <a:off x="2135233" y="2325678"/>
                <a:ext cx="266420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200" dirty="0">
                    <a:solidFill>
                      <a:srgbClr val="5B97ED"/>
                    </a:solidFill>
                  </a:rPr>
                  <a:t>0</a:t>
                </a:r>
                <a:endParaRPr kumimoji="1" lang="zh-CN" altLang="en-US" sz="1200" dirty="0">
                  <a:solidFill>
                    <a:srgbClr val="5B97ED"/>
                  </a:solidFill>
                </a:endParaRPr>
              </a:p>
            </p:txBody>
          </p:sp>
          <p:sp>
            <p:nvSpPr>
              <p:cNvPr id="23" name="文本框 22"/>
              <p:cNvSpPr txBox="1"/>
              <p:nvPr/>
            </p:nvSpPr>
            <p:spPr>
              <a:xfrm>
                <a:off x="523052" y="4477389"/>
                <a:ext cx="279244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400" dirty="0">
                    <a:solidFill>
                      <a:srgbClr val="5B97ED"/>
                    </a:solidFill>
                  </a:rPr>
                  <a:t>0</a:t>
                </a:r>
                <a:endParaRPr kumimoji="1" lang="zh-CN" altLang="en-US" sz="1400" dirty="0">
                  <a:solidFill>
                    <a:srgbClr val="5B97ED"/>
                  </a:solidFill>
                </a:endParaRPr>
              </a:p>
            </p:txBody>
          </p:sp>
          <p:sp>
            <p:nvSpPr>
              <p:cNvPr id="24" name="文本框 23"/>
              <p:cNvSpPr txBox="1"/>
              <p:nvPr/>
            </p:nvSpPr>
            <p:spPr>
              <a:xfrm>
                <a:off x="4617434" y="4557174"/>
                <a:ext cx="279244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400" dirty="0">
                    <a:solidFill>
                      <a:srgbClr val="5B97ED"/>
                    </a:solidFill>
                  </a:rPr>
                  <a:t>0</a:t>
                </a:r>
                <a:endParaRPr kumimoji="1" lang="zh-CN" altLang="en-US" sz="1400" dirty="0">
                  <a:solidFill>
                    <a:srgbClr val="5B97ED"/>
                  </a:solidFill>
                </a:endParaRPr>
              </a:p>
            </p:txBody>
          </p:sp>
          <p:sp>
            <p:nvSpPr>
              <p:cNvPr id="25" name="文本框 24"/>
              <p:cNvSpPr txBox="1"/>
              <p:nvPr/>
            </p:nvSpPr>
            <p:spPr>
              <a:xfrm>
                <a:off x="10467948" y="2829577"/>
                <a:ext cx="279244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400" dirty="0">
                    <a:solidFill>
                      <a:srgbClr val="5B97ED"/>
                    </a:solidFill>
                  </a:rPr>
                  <a:t>0</a:t>
                </a:r>
                <a:endParaRPr kumimoji="1" lang="zh-CN" altLang="en-US" sz="1400" dirty="0">
                  <a:solidFill>
                    <a:srgbClr val="5B97ED"/>
                  </a:solidFill>
                </a:endParaRPr>
              </a:p>
            </p:txBody>
          </p:sp>
          <p:sp>
            <p:nvSpPr>
              <p:cNvPr id="26" name="文本框 25"/>
              <p:cNvSpPr txBox="1"/>
              <p:nvPr/>
            </p:nvSpPr>
            <p:spPr>
              <a:xfrm>
                <a:off x="6478249" y="1905798"/>
                <a:ext cx="279244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400" dirty="0">
                    <a:solidFill>
                      <a:srgbClr val="5B97ED"/>
                    </a:solidFill>
                  </a:rPr>
                  <a:t>0</a:t>
                </a:r>
                <a:endParaRPr kumimoji="1" lang="zh-CN" altLang="en-US" sz="1400" dirty="0">
                  <a:solidFill>
                    <a:srgbClr val="5B97ED"/>
                  </a:solidFill>
                </a:endParaRPr>
              </a:p>
            </p:txBody>
          </p:sp>
          <p:sp>
            <p:nvSpPr>
              <p:cNvPr id="27" name="文本框 26"/>
              <p:cNvSpPr txBox="1"/>
              <p:nvPr/>
            </p:nvSpPr>
            <p:spPr>
              <a:xfrm>
                <a:off x="2859156" y="2692990"/>
                <a:ext cx="279244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400" dirty="0">
                    <a:solidFill>
                      <a:srgbClr val="5B97ED"/>
                    </a:solidFill>
                  </a:rPr>
                  <a:t>0</a:t>
                </a:r>
                <a:endParaRPr kumimoji="1" lang="zh-CN" altLang="en-US" sz="1400" dirty="0">
                  <a:solidFill>
                    <a:srgbClr val="5B97ED"/>
                  </a:solidFill>
                </a:endParaRPr>
              </a:p>
            </p:txBody>
          </p:sp>
        </p:grpSp>
        <p:sp>
          <p:nvSpPr>
            <p:cNvPr id="12" name="文本框 11"/>
            <p:cNvSpPr txBox="1"/>
            <p:nvPr/>
          </p:nvSpPr>
          <p:spPr>
            <a:xfrm>
              <a:off x="1496451" y="3391592"/>
              <a:ext cx="3032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600">
                  <a:solidFill>
                    <a:srgbClr val="5B97ED"/>
                  </a:solidFill>
                  <a:latin typeface="Alibaba PuHuiTi" charset="-122"/>
                  <a:ea typeface="Alibaba PuHuiTi" charset="-122"/>
                  <a:cs typeface="Alibaba PuHuiTi" charset="-122"/>
                </a:rPr>
                <a:t>1</a:t>
              </a:r>
              <a:endParaRPr kumimoji="1" lang="zh-CN" altLang="en-US" sz="1600" dirty="0">
                <a:solidFill>
                  <a:srgbClr val="5B97ED"/>
                </a:solidFill>
                <a:latin typeface="Alibaba PuHuiTi" charset="-122"/>
                <a:ea typeface="Alibaba PuHuiTi" charset="-122"/>
                <a:cs typeface="Alibaba PuHuiTi" charset="-122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1915574" y="3794883"/>
              <a:ext cx="3032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600">
                  <a:solidFill>
                    <a:srgbClr val="5B97ED"/>
                  </a:solidFill>
                  <a:latin typeface="Alibaba PuHuiTi" charset="-122"/>
                  <a:ea typeface="Alibaba PuHuiTi" charset="-122"/>
                  <a:cs typeface="Alibaba PuHuiTi" charset="-122"/>
                </a:rPr>
                <a:t>1</a:t>
              </a:r>
              <a:endParaRPr kumimoji="1" lang="zh-CN" altLang="en-US" sz="1600" dirty="0">
                <a:solidFill>
                  <a:srgbClr val="5B97ED"/>
                </a:solidFill>
                <a:latin typeface="Alibaba PuHuiTi" charset="-122"/>
                <a:ea typeface="Alibaba PuHuiTi" charset="-122"/>
                <a:cs typeface="Alibaba PuHuiTi" charset="-122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5339582" y="4541785"/>
              <a:ext cx="3032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600">
                  <a:solidFill>
                    <a:srgbClr val="5B97ED"/>
                  </a:solidFill>
                  <a:latin typeface="Alibaba PuHuiTi" charset="-122"/>
                  <a:ea typeface="Alibaba PuHuiTi" charset="-122"/>
                  <a:cs typeface="Alibaba PuHuiTi" charset="-122"/>
                </a:rPr>
                <a:t>1</a:t>
              </a:r>
              <a:endParaRPr kumimoji="1" lang="zh-CN" altLang="en-US" sz="1600" dirty="0">
                <a:solidFill>
                  <a:srgbClr val="5B97ED"/>
                </a:solidFill>
                <a:latin typeface="Alibaba PuHuiTi" charset="-122"/>
                <a:ea typeface="Alibaba PuHuiTi" charset="-122"/>
                <a:cs typeface="Alibaba PuHuiTi" charset="-122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5049173" y="2107782"/>
              <a:ext cx="3032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600" dirty="0">
                  <a:solidFill>
                    <a:srgbClr val="5B97ED"/>
                  </a:solidFill>
                  <a:latin typeface="Alibaba PuHuiTi" charset="-122"/>
                  <a:ea typeface="Alibaba PuHuiTi" charset="-122"/>
                  <a:cs typeface="Alibaba PuHuiTi" charset="-122"/>
                </a:rPr>
                <a:t>1</a:t>
              </a:r>
              <a:endParaRPr kumimoji="1" lang="zh-CN" altLang="en-US" sz="1600" dirty="0">
                <a:solidFill>
                  <a:srgbClr val="5B97ED"/>
                </a:solidFill>
                <a:latin typeface="Alibaba PuHuiTi" charset="-122"/>
                <a:ea typeface="Alibaba PuHuiTi" charset="-122"/>
                <a:cs typeface="Alibaba PuHuiTi" charset="-122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5866737" y="2446336"/>
              <a:ext cx="3032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600">
                  <a:solidFill>
                    <a:srgbClr val="5B97ED"/>
                  </a:solidFill>
                  <a:latin typeface="Alibaba PuHuiTi" charset="-122"/>
                  <a:ea typeface="Alibaba PuHuiTi" charset="-122"/>
                  <a:cs typeface="Alibaba PuHuiTi" charset="-122"/>
                </a:rPr>
                <a:t>1</a:t>
              </a:r>
              <a:endParaRPr kumimoji="1" lang="zh-CN" altLang="en-US" sz="1600" dirty="0">
                <a:solidFill>
                  <a:srgbClr val="5B97ED"/>
                </a:solidFill>
                <a:latin typeface="Alibaba PuHuiTi" charset="-122"/>
                <a:ea typeface="Alibaba PuHuiTi" charset="-122"/>
                <a:cs typeface="Alibaba PuHuiTi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7113860" y="2453384"/>
              <a:ext cx="3032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600">
                  <a:solidFill>
                    <a:srgbClr val="5B97ED"/>
                  </a:solidFill>
                  <a:latin typeface="Alibaba PuHuiTi" charset="-122"/>
                  <a:ea typeface="Alibaba PuHuiTi" charset="-122"/>
                  <a:cs typeface="Alibaba PuHuiTi" charset="-122"/>
                </a:rPr>
                <a:t>1</a:t>
              </a:r>
              <a:endParaRPr kumimoji="1" lang="zh-CN" altLang="en-US" sz="1600" dirty="0">
                <a:solidFill>
                  <a:srgbClr val="5B97ED"/>
                </a:solidFill>
                <a:latin typeface="Alibaba PuHuiTi" charset="-122"/>
                <a:ea typeface="Alibaba PuHuiTi" charset="-122"/>
                <a:cs typeface="Alibaba PuHuiTi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8864893" y="2172624"/>
              <a:ext cx="27283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>
                  <a:solidFill>
                    <a:srgbClr val="5B97ED"/>
                  </a:solidFill>
                  <a:latin typeface="Alibaba PuHuiTi" charset="-122"/>
                  <a:ea typeface="Alibaba PuHuiTi" charset="-122"/>
                  <a:cs typeface="Alibaba PuHuiTi" charset="-122"/>
                </a:rPr>
                <a:t>1</a:t>
              </a:r>
              <a:endParaRPr kumimoji="1" lang="zh-CN" altLang="en-US" sz="1200" dirty="0">
                <a:solidFill>
                  <a:srgbClr val="5B97ED"/>
                </a:solidFill>
                <a:latin typeface="Alibaba PuHuiTi" charset="-122"/>
                <a:ea typeface="Alibaba PuHuiTi" charset="-122"/>
                <a:cs typeface="Alibaba PuHuiTi" charset="-122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9914196" y="3322730"/>
              <a:ext cx="27283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>
                  <a:solidFill>
                    <a:srgbClr val="5B97ED"/>
                  </a:solidFill>
                  <a:latin typeface="Alibaba PuHuiTi" charset="-122"/>
                  <a:ea typeface="Alibaba PuHuiTi" charset="-122"/>
                  <a:cs typeface="Alibaba PuHuiTi" charset="-122"/>
                </a:rPr>
                <a:t>1</a:t>
              </a:r>
              <a:endParaRPr kumimoji="1" lang="zh-CN" altLang="en-US" sz="1200" dirty="0">
                <a:solidFill>
                  <a:srgbClr val="5B97ED"/>
                </a:solidFill>
                <a:latin typeface="Alibaba PuHuiTi" charset="-122"/>
                <a:ea typeface="Alibaba PuHuiTi" charset="-122"/>
                <a:cs typeface="Alibaba PuHuiTi" charset="-122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11179835" y="4083330"/>
              <a:ext cx="27283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>
                  <a:solidFill>
                    <a:srgbClr val="5B97ED"/>
                  </a:solidFill>
                  <a:latin typeface="Alibaba PuHuiTi" charset="-122"/>
                  <a:ea typeface="Alibaba PuHuiTi" charset="-122"/>
                  <a:cs typeface="Alibaba PuHuiTi" charset="-122"/>
                </a:rPr>
                <a:t>1</a:t>
              </a:r>
              <a:endParaRPr kumimoji="1" lang="zh-CN" altLang="en-US" sz="1200" dirty="0">
                <a:solidFill>
                  <a:srgbClr val="5B97ED"/>
                </a:solidFill>
                <a:latin typeface="Alibaba PuHuiTi" charset="-122"/>
                <a:ea typeface="Alibaba PuHuiTi" charset="-122"/>
                <a:cs typeface="Alibaba PuHuiTi" charset="-122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6793902"/>
            <a:ext cx="12192000" cy="64098"/>
          </a:xfrm>
          <a:prstGeom prst="rect">
            <a:avLst/>
          </a:prstGeom>
          <a:solidFill>
            <a:srgbClr val="237F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grpSp>
        <p:nvGrpSpPr>
          <p:cNvPr id="9" name="组 18"/>
          <p:cNvGrpSpPr/>
          <p:nvPr userDrawn="1"/>
        </p:nvGrpSpPr>
        <p:grpSpPr>
          <a:xfrm>
            <a:off x="167268" y="455748"/>
            <a:ext cx="658387" cy="290989"/>
            <a:chOff x="167268" y="272725"/>
            <a:chExt cx="658387" cy="290989"/>
          </a:xfrm>
        </p:grpSpPr>
        <p:sp>
          <p:nvSpPr>
            <p:cNvPr id="10" name="矩形 9"/>
            <p:cNvSpPr/>
            <p:nvPr/>
          </p:nvSpPr>
          <p:spPr>
            <a:xfrm>
              <a:off x="167268" y="272725"/>
              <a:ext cx="515311" cy="148371"/>
            </a:xfrm>
            <a:prstGeom prst="rect">
              <a:avLst/>
            </a:prstGeom>
            <a:solidFill>
              <a:srgbClr val="237F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682579" y="421096"/>
              <a:ext cx="143076" cy="142618"/>
            </a:xfrm>
            <a:prstGeom prst="rect">
              <a:avLst/>
            </a:prstGeom>
            <a:solidFill>
              <a:srgbClr val="1DBA5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cxnSp>
        <p:nvCxnSpPr>
          <p:cNvPr id="12" name="直线连接符 21"/>
          <p:cNvCxnSpPr/>
          <p:nvPr userDrawn="1"/>
        </p:nvCxnSpPr>
        <p:spPr>
          <a:xfrm>
            <a:off x="942891" y="738561"/>
            <a:ext cx="11249109" cy="0"/>
          </a:xfrm>
          <a:prstGeom prst="line">
            <a:avLst/>
          </a:prstGeom>
          <a:ln w="12700">
            <a:solidFill>
              <a:srgbClr val="237FE9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图片 18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10634803" y="234187"/>
            <a:ext cx="1321291" cy="3692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D4937-79D4-CD44-8E78-7124D142BAE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7CA30-01B5-694F-A6B7-768F33DA385F}" type="slidenum">
              <a:rPr kumimoji="1" lang="zh-CN" altLang="en-US" smtClean="0"/>
            </a:fld>
            <a:endParaRPr kumimoji="1" lang="zh-CN" altLang="en-US"/>
          </a:p>
        </p:txBody>
      </p:sp>
      <p:pic>
        <p:nvPicPr>
          <p:cNvPr id="46" name="图片 45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 rot="10800000">
            <a:off x="0" y="3742925"/>
            <a:ext cx="12192000" cy="3115075"/>
          </a:xfrm>
          <a:prstGeom prst="rect">
            <a:avLst/>
          </a:prstGeom>
          <a:effectLst/>
        </p:spPr>
      </p:pic>
      <p:sp>
        <p:nvSpPr>
          <p:cNvPr id="48" name="矩形 47"/>
          <p:cNvSpPr/>
          <p:nvPr userDrawn="1"/>
        </p:nvSpPr>
        <p:spPr>
          <a:xfrm>
            <a:off x="0" y="2"/>
            <a:ext cx="12192000" cy="6857999"/>
          </a:xfrm>
          <a:prstGeom prst="rect">
            <a:avLst/>
          </a:prstGeom>
          <a:solidFill>
            <a:srgbClr val="357F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49" name="图片 48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 rot="10800000">
            <a:off x="0" y="3742927"/>
            <a:ext cx="12192000" cy="3115075"/>
          </a:xfrm>
          <a:prstGeom prst="rect">
            <a:avLst/>
          </a:prstGeom>
          <a:effectLst/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D4937-79D4-CD44-8E78-7124D142BAE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7CA30-01B5-694F-A6B7-768F33DA385F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D4937-79D4-CD44-8E78-7124D142BAE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7CA30-01B5-694F-A6B7-768F33DA385F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D4937-79D4-CD44-8E78-7124D142BAE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7CA30-01B5-694F-A6B7-768F33DA385F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D4937-79D4-CD44-8E78-7124D142BAE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7CA30-01B5-694F-A6B7-768F33DA385F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D4937-79D4-CD44-8E78-7124D142BAE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7CA30-01B5-694F-A6B7-768F33DA385F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D4937-79D4-CD44-8E78-7124D142BAE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7CA30-01B5-694F-A6B7-768F33DA385F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D4937-79D4-CD44-8E78-7124D142BAE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7CA30-01B5-694F-A6B7-768F33DA385F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线连接符 17"/>
          <p:cNvCxnSpPr/>
          <p:nvPr userDrawn="1"/>
        </p:nvCxnSpPr>
        <p:spPr>
          <a:xfrm>
            <a:off x="0" y="904613"/>
            <a:ext cx="10352185" cy="0"/>
          </a:xfrm>
          <a:prstGeom prst="line">
            <a:avLst/>
          </a:prstGeom>
          <a:ln w="38100" cmpd="sng">
            <a:solidFill>
              <a:srgbClr val="1772BF"/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图片 4" descr="LOGO百望云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671" y="250422"/>
            <a:ext cx="1284738" cy="443112"/>
          </a:xfrm>
          <a:prstGeom prst="rect">
            <a:avLst/>
          </a:prstGeom>
        </p:spPr>
      </p:pic>
      <p:sp>
        <p:nvSpPr>
          <p:cNvPr id="6" name="文本框 5"/>
          <p:cNvSpPr txBox="1"/>
          <p:nvPr userDrawn="1"/>
        </p:nvSpPr>
        <p:spPr>
          <a:xfrm>
            <a:off x="10563822" y="702410"/>
            <a:ext cx="1454433" cy="2615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1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iti SC Light"/>
              </a:rPr>
              <a:t>百望云数字商业平台</a:t>
            </a:r>
            <a:endParaRPr kumimoji="1" lang="zh-CN" altLang="en-US" sz="1100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iti SC Ligh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D4937-79D4-CD44-8E78-7124D142BAE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7CA30-01B5-694F-A6B7-768F33DA385F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1470991"/>
            <a:ext cx="12192000" cy="5387009"/>
          </a:xfrm>
          <a:prstGeom prst="rect">
            <a:avLst/>
          </a:prstGeom>
          <a:solidFill>
            <a:srgbClr val="357E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grpSp>
        <p:nvGrpSpPr>
          <p:cNvPr id="8" name="组 79"/>
          <p:cNvGrpSpPr/>
          <p:nvPr userDrawn="1"/>
        </p:nvGrpSpPr>
        <p:grpSpPr>
          <a:xfrm>
            <a:off x="523052" y="1905798"/>
            <a:ext cx="10929615" cy="4697199"/>
            <a:chOff x="523052" y="1905798"/>
            <a:chExt cx="10929615" cy="4697199"/>
          </a:xfrm>
        </p:grpSpPr>
        <p:sp>
          <p:nvSpPr>
            <p:cNvPr id="9" name="文本框 8"/>
            <p:cNvSpPr txBox="1"/>
            <p:nvPr/>
          </p:nvSpPr>
          <p:spPr>
            <a:xfrm>
              <a:off x="9478142" y="4109482"/>
              <a:ext cx="279244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kumimoji="1" lang="en-US" altLang="zh-CN" sz="1400" dirty="0">
                  <a:solidFill>
                    <a:srgbClr val="5B97ED"/>
                  </a:solidFill>
                </a:rPr>
                <a:t>0</a:t>
              </a:r>
              <a:endParaRPr kumimoji="1" lang="zh-CN" altLang="en-US" sz="1400" dirty="0">
                <a:solidFill>
                  <a:srgbClr val="5B97ED"/>
                </a:solidFill>
              </a:endParaRPr>
            </a:p>
          </p:txBody>
        </p:sp>
        <p:grpSp>
          <p:nvGrpSpPr>
            <p:cNvPr id="10" name="组 81"/>
            <p:cNvGrpSpPr/>
            <p:nvPr/>
          </p:nvGrpSpPr>
          <p:grpSpPr>
            <a:xfrm>
              <a:off x="523052" y="1905798"/>
              <a:ext cx="10790990" cy="4697199"/>
              <a:chOff x="523052" y="1905798"/>
              <a:chExt cx="10790990" cy="4697199"/>
            </a:xfrm>
          </p:grpSpPr>
          <p:grpSp>
            <p:nvGrpSpPr>
              <p:cNvPr id="20" name="组 91"/>
              <p:cNvGrpSpPr/>
              <p:nvPr/>
            </p:nvGrpSpPr>
            <p:grpSpPr>
              <a:xfrm>
                <a:off x="652669" y="2150790"/>
                <a:ext cx="10661373" cy="4452207"/>
                <a:chOff x="652669" y="2150790"/>
                <a:chExt cx="10661373" cy="4452207"/>
              </a:xfrm>
            </p:grpSpPr>
            <p:cxnSp>
              <p:nvCxnSpPr>
                <p:cNvPr id="27" name="直线连接符 98"/>
                <p:cNvCxnSpPr/>
                <p:nvPr/>
              </p:nvCxnSpPr>
              <p:spPr>
                <a:xfrm flipV="1">
                  <a:off x="1649895" y="3674540"/>
                  <a:ext cx="0" cy="1575006"/>
                </a:xfrm>
                <a:prstGeom prst="line">
                  <a:avLst/>
                </a:prstGeom>
                <a:ln>
                  <a:solidFill>
                    <a:srgbClr val="5E96ED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直线连接符 99"/>
                <p:cNvCxnSpPr/>
                <p:nvPr/>
              </p:nvCxnSpPr>
              <p:spPr>
                <a:xfrm flipV="1">
                  <a:off x="2060712" y="4075043"/>
                  <a:ext cx="0" cy="2471588"/>
                </a:xfrm>
                <a:prstGeom prst="line">
                  <a:avLst/>
                </a:prstGeom>
                <a:ln>
                  <a:solidFill>
                    <a:srgbClr val="5E96ED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直线连接符 100"/>
                <p:cNvCxnSpPr/>
                <p:nvPr/>
              </p:nvCxnSpPr>
              <p:spPr>
                <a:xfrm flipV="1">
                  <a:off x="2269434" y="2554357"/>
                  <a:ext cx="0" cy="1725571"/>
                </a:xfrm>
                <a:prstGeom prst="line">
                  <a:avLst/>
                </a:prstGeom>
                <a:ln>
                  <a:solidFill>
                    <a:srgbClr val="5E96ED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直线连接符 101"/>
                <p:cNvCxnSpPr/>
                <p:nvPr/>
              </p:nvCxnSpPr>
              <p:spPr>
                <a:xfrm flipV="1">
                  <a:off x="652669" y="4721087"/>
                  <a:ext cx="0" cy="1709007"/>
                </a:xfrm>
                <a:prstGeom prst="line">
                  <a:avLst/>
                </a:prstGeom>
                <a:ln>
                  <a:solidFill>
                    <a:srgbClr val="5E96ED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直线连接符 102"/>
                <p:cNvCxnSpPr/>
                <p:nvPr/>
              </p:nvCxnSpPr>
              <p:spPr>
                <a:xfrm flipV="1">
                  <a:off x="4744277" y="4800600"/>
                  <a:ext cx="0" cy="1746031"/>
                </a:xfrm>
                <a:prstGeom prst="line">
                  <a:avLst/>
                </a:prstGeom>
                <a:ln>
                  <a:solidFill>
                    <a:srgbClr val="5E96ED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直线连接符 103"/>
                <p:cNvCxnSpPr/>
                <p:nvPr/>
              </p:nvCxnSpPr>
              <p:spPr>
                <a:xfrm flipV="1">
                  <a:off x="5191538" y="2385391"/>
                  <a:ext cx="0" cy="3373739"/>
                </a:xfrm>
                <a:prstGeom prst="line">
                  <a:avLst/>
                </a:prstGeom>
                <a:ln>
                  <a:solidFill>
                    <a:srgbClr val="5E96ED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直线连接符 104"/>
                <p:cNvCxnSpPr/>
                <p:nvPr/>
              </p:nvCxnSpPr>
              <p:spPr>
                <a:xfrm flipV="1">
                  <a:off x="6009861" y="2725651"/>
                  <a:ext cx="0" cy="3522825"/>
                </a:xfrm>
                <a:prstGeom prst="line">
                  <a:avLst/>
                </a:prstGeom>
                <a:ln>
                  <a:solidFill>
                    <a:srgbClr val="5E96ED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直线连接符 105"/>
                <p:cNvCxnSpPr/>
                <p:nvPr/>
              </p:nvCxnSpPr>
              <p:spPr>
                <a:xfrm flipV="1">
                  <a:off x="6599583" y="2150790"/>
                  <a:ext cx="0" cy="3522825"/>
                </a:xfrm>
                <a:prstGeom prst="line">
                  <a:avLst/>
                </a:prstGeom>
                <a:ln>
                  <a:solidFill>
                    <a:srgbClr val="5E96ED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直线连接符 106"/>
                <p:cNvCxnSpPr/>
                <p:nvPr/>
              </p:nvCxnSpPr>
              <p:spPr>
                <a:xfrm flipV="1">
                  <a:off x="7265504" y="2725651"/>
                  <a:ext cx="0" cy="2268166"/>
                </a:xfrm>
                <a:prstGeom prst="line">
                  <a:avLst/>
                </a:prstGeom>
                <a:ln>
                  <a:solidFill>
                    <a:srgbClr val="5E96ED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直线连接符 107"/>
                <p:cNvCxnSpPr/>
                <p:nvPr/>
              </p:nvCxnSpPr>
              <p:spPr>
                <a:xfrm flipV="1">
                  <a:off x="5489712" y="4800600"/>
                  <a:ext cx="0" cy="1575006"/>
                </a:xfrm>
                <a:prstGeom prst="line">
                  <a:avLst/>
                </a:prstGeom>
                <a:ln>
                  <a:solidFill>
                    <a:srgbClr val="5E96ED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直线连接符 108"/>
                <p:cNvCxnSpPr/>
                <p:nvPr/>
              </p:nvCxnSpPr>
              <p:spPr>
                <a:xfrm flipV="1">
                  <a:off x="4350024" y="3116515"/>
                  <a:ext cx="0" cy="2471588"/>
                </a:xfrm>
                <a:prstGeom prst="line">
                  <a:avLst/>
                </a:prstGeom>
                <a:ln>
                  <a:solidFill>
                    <a:srgbClr val="5E96ED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线连接符 109"/>
                <p:cNvCxnSpPr/>
                <p:nvPr/>
              </p:nvCxnSpPr>
              <p:spPr>
                <a:xfrm flipV="1">
                  <a:off x="9617764" y="4386760"/>
                  <a:ext cx="0" cy="1725571"/>
                </a:xfrm>
                <a:prstGeom prst="line">
                  <a:avLst/>
                </a:prstGeom>
                <a:ln>
                  <a:solidFill>
                    <a:srgbClr val="5E96ED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直线连接符 110"/>
                <p:cNvCxnSpPr/>
                <p:nvPr/>
              </p:nvCxnSpPr>
              <p:spPr>
                <a:xfrm flipV="1">
                  <a:off x="2991677" y="3146081"/>
                  <a:ext cx="0" cy="1709007"/>
                </a:xfrm>
                <a:prstGeom prst="line">
                  <a:avLst/>
                </a:prstGeom>
                <a:ln>
                  <a:solidFill>
                    <a:srgbClr val="5E96ED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直线连接符 111"/>
                <p:cNvCxnSpPr/>
                <p:nvPr/>
              </p:nvCxnSpPr>
              <p:spPr>
                <a:xfrm flipV="1">
                  <a:off x="7083285" y="3225594"/>
                  <a:ext cx="0" cy="1746031"/>
                </a:xfrm>
                <a:prstGeom prst="line">
                  <a:avLst/>
                </a:prstGeom>
                <a:ln>
                  <a:solidFill>
                    <a:srgbClr val="5E96ED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直线连接符 112"/>
                <p:cNvCxnSpPr/>
                <p:nvPr/>
              </p:nvCxnSpPr>
              <p:spPr>
                <a:xfrm flipV="1">
                  <a:off x="8991598" y="2388173"/>
                  <a:ext cx="0" cy="3373739"/>
                </a:xfrm>
                <a:prstGeom prst="line">
                  <a:avLst/>
                </a:prstGeom>
                <a:ln>
                  <a:solidFill>
                    <a:srgbClr val="5E96ED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直线连接符 113"/>
                <p:cNvCxnSpPr/>
                <p:nvPr/>
              </p:nvCxnSpPr>
              <p:spPr>
                <a:xfrm flipV="1">
                  <a:off x="10048460" y="3548270"/>
                  <a:ext cx="0" cy="2359947"/>
                </a:xfrm>
                <a:prstGeom prst="line">
                  <a:avLst/>
                </a:prstGeom>
                <a:ln>
                  <a:solidFill>
                    <a:srgbClr val="5E96ED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直线连接符 114"/>
                <p:cNvCxnSpPr/>
                <p:nvPr/>
              </p:nvCxnSpPr>
              <p:spPr>
                <a:xfrm flipV="1">
                  <a:off x="10598426" y="3080172"/>
                  <a:ext cx="0" cy="3522825"/>
                </a:xfrm>
                <a:prstGeom prst="line">
                  <a:avLst/>
                </a:prstGeom>
                <a:ln>
                  <a:solidFill>
                    <a:srgbClr val="5E96ED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直线连接符 115"/>
                <p:cNvCxnSpPr/>
                <p:nvPr/>
              </p:nvCxnSpPr>
              <p:spPr>
                <a:xfrm flipV="1">
                  <a:off x="11314042" y="4334831"/>
                  <a:ext cx="0" cy="2268166"/>
                </a:xfrm>
                <a:prstGeom prst="line">
                  <a:avLst/>
                </a:prstGeom>
                <a:ln>
                  <a:solidFill>
                    <a:srgbClr val="5E96ED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1" name="文本框 20"/>
              <p:cNvSpPr txBox="1"/>
              <p:nvPr/>
            </p:nvSpPr>
            <p:spPr>
              <a:xfrm>
                <a:off x="2135233" y="2325678"/>
                <a:ext cx="266420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200" dirty="0">
                    <a:solidFill>
                      <a:srgbClr val="5B97ED"/>
                    </a:solidFill>
                  </a:rPr>
                  <a:t>0</a:t>
                </a:r>
                <a:endParaRPr kumimoji="1" lang="zh-CN" altLang="en-US" sz="1200" dirty="0">
                  <a:solidFill>
                    <a:srgbClr val="5B97ED"/>
                  </a:solidFill>
                </a:endParaRPr>
              </a:p>
            </p:txBody>
          </p:sp>
          <p:sp>
            <p:nvSpPr>
              <p:cNvPr id="22" name="文本框 21"/>
              <p:cNvSpPr txBox="1"/>
              <p:nvPr/>
            </p:nvSpPr>
            <p:spPr>
              <a:xfrm>
                <a:off x="523052" y="4477389"/>
                <a:ext cx="279244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400" dirty="0">
                    <a:solidFill>
                      <a:srgbClr val="5B97ED"/>
                    </a:solidFill>
                  </a:rPr>
                  <a:t>0</a:t>
                </a:r>
                <a:endParaRPr kumimoji="1" lang="zh-CN" altLang="en-US" sz="1400" dirty="0">
                  <a:solidFill>
                    <a:srgbClr val="5B97ED"/>
                  </a:solidFill>
                </a:endParaRPr>
              </a:p>
            </p:txBody>
          </p:sp>
          <p:sp>
            <p:nvSpPr>
              <p:cNvPr id="23" name="文本框 22"/>
              <p:cNvSpPr txBox="1"/>
              <p:nvPr/>
            </p:nvSpPr>
            <p:spPr>
              <a:xfrm>
                <a:off x="4617434" y="4557174"/>
                <a:ext cx="279244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400" dirty="0">
                    <a:solidFill>
                      <a:srgbClr val="5B97ED"/>
                    </a:solidFill>
                  </a:rPr>
                  <a:t>0</a:t>
                </a:r>
                <a:endParaRPr kumimoji="1" lang="zh-CN" altLang="en-US" sz="1400" dirty="0">
                  <a:solidFill>
                    <a:srgbClr val="5B97ED"/>
                  </a:solidFill>
                </a:endParaRPr>
              </a:p>
            </p:txBody>
          </p:sp>
          <p:sp>
            <p:nvSpPr>
              <p:cNvPr id="24" name="文本框 23"/>
              <p:cNvSpPr txBox="1"/>
              <p:nvPr/>
            </p:nvSpPr>
            <p:spPr>
              <a:xfrm>
                <a:off x="10467948" y="2829577"/>
                <a:ext cx="279244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400" dirty="0">
                    <a:solidFill>
                      <a:srgbClr val="5B97ED"/>
                    </a:solidFill>
                  </a:rPr>
                  <a:t>0</a:t>
                </a:r>
                <a:endParaRPr kumimoji="1" lang="zh-CN" altLang="en-US" sz="1400" dirty="0">
                  <a:solidFill>
                    <a:srgbClr val="5B97ED"/>
                  </a:solidFill>
                </a:endParaRPr>
              </a:p>
            </p:txBody>
          </p:sp>
          <p:sp>
            <p:nvSpPr>
              <p:cNvPr id="25" name="文本框 24"/>
              <p:cNvSpPr txBox="1"/>
              <p:nvPr/>
            </p:nvSpPr>
            <p:spPr>
              <a:xfrm>
                <a:off x="6478249" y="1905798"/>
                <a:ext cx="279244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400" dirty="0">
                    <a:solidFill>
                      <a:srgbClr val="5B97ED"/>
                    </a:solidFill>
                  </a:rPr>
                  <a:t>0</a:t>
                </a:r>
                <a:endParaRPr kumimoji="1" lang="zh-CN" altLang="en-US" sz="1400" dirty="0">
                  <a:solidFill>
                    <a:srgbClr val="5B97ED"/>
                  </a:solidFill>
                </a:endParaRPr>
              </a:p>
            </p:txBody>
          </p:sp>
          <p:sp>
            <p:nvSpPr>
              <p:cNvPr id="26" name="文本框 25"/>
              <p:cNvSpPr txBox="1"/>
              <p:nvPr/>
            </p:nvSpPr>
            <p:spPr>
              <a:xfrm>
                <a:off x="2859156" y="2692990"/>
                <a:ext cx="279244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400" dirty="0">
                    <a:solidFill>
                      <a:srgbClr val="5B97ED"/>
                    </a:solidFill>
                  </a:rPr>
                  <a:t>0</a:t>
                </a:r>
                <a:endParaRPr kumimoji="1" lang="zh-CN" altLang="en-US" sz="1400" dirty="0">
                  <a:solidFill>
                    <a:srgbClr val="5B97ED"/>
                  </a:solidFill>
                </a:endParaRPr>
              </a:p>
            </p:txBody>
          </p:sp>
        </p:grpSp>
        <p:sp>
          <p:nvSpPr>
            <p:cNvPr id="11" name="文本框 10"/>
            <p:cNvSpPr txBox="1"/>
            <p:nvPr/>
          </p:nvSpPr>
          <p:spPr>
            <a:xfrm>
              <a:off x="1496451" y="3391592"/>
              <a:ext cx="3032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600">
                  <a:solidFill>
                    <a:srgbClr val="5B97ED"/>
                  </a:solidFill>
                  <a:latin typeface="Alibaba PuHuiTi" charset="-122"/>
                  <a:ea typeface="Alibaba PuHuiTi" charset="-122"/>
                  <a:cs typeface="Alibaba PuHuiTi" charset="-122"/>
                </a:rPr>
                <a:t>1</a:t>
              </a:r>
              <a:endParaRPr kumimoji="1" lang="zh-CN" altLang="en-US" sz="1600" dirty="0">
                <a:solidFill>
                  <a:srgbClr val="5B97ED"/>
                </a:solidFill>
                <a:latin typeface="Alibaba PuHuiTi" charset="-122"/>
                <a:ea typeface="Alibaba PuHuiTi" charset="-122"/>
                <a:cs typeface="Alibaba PuHuiTi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915574" y="3794883"/>
              <a:ext cx="3032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600">
                  <a:solidFill>
                    <a:srgbClr val="5B97ED"/>
                  </a:solidFill>
                  <a:latin typeface="Alibaba PuHuiTi" charset="-122"/>
                  <a:ea typeface="Alibaba PuHuiTi" charset="-122"/>
                  <a:cs typeface="Alibaba PuHuiTi" charset="-122"/>
                </a:rPr>
                <a:t>1</a:t>
              </a:r>
              <a:endParaRPr kumimoji="1" lang="zh-CN" altLang="en-US" sz="1600" dirty="0">
                <a:solidFill>
                  <a:srgbClr val="5B97ED"/>
                </a:solidFill>
                <a:latin typeface="Alibaba PuHuiTi" charset="-122"/>
                <a:ea typeface="Alibaba PuHuiTi" charset="-122"/>
                <a:cs typeface="Alibaba PuHuiTi" charset="-122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5339582" y="4541785"/>
              <a:ext cx="3032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600">
                  <a:solidFill>
                    <a:srgbClr val="5B97ED"/>
                  </a:solidFill>
                  <a:latin typeface="Alibaba PuHuiTi" charset="-122"/>
                  <a:ea typeface="Alibaba PuHuiTi" charset="-122"/>
                  <a:cs typeface="Alibaba PuHuiTi" charset="-122"/>
                </a:rPr>
                <a:t>1</a:t>
              </a:r>
              <a:endParaRPr kumimoji="1" lang="zh-CN" altLang="en-US" sz="1600" dirty="0">
                <a:solidFill>
                  <a:srgbClr val="5B97ED"/>
                </a:solidFill>
                <a:latin typeface="Alibaba PuHuiTi" charset="-122"/>
                <a:ea typeface="Alibaba PuHuiTi" charset="-122"/>
                <a:cs typeface="Alibaba PuHuiTi" charset="-122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5049173" y="2107782"/>
              <a:ext cx="3032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600" dirty="0">
                  <a:solidFill>
                    <a:srgbClr val="5B97ED"/>
                  </a:solidFill>
                  <a:latin typeface="Alibaba PuHuiTi" charset="-122"/>
                  <a:ea typeface="Alibaba PuHuiTi" charset="-122"/>
                  <a:cs typeface="Alibaba PuHuiTi" charset="-122"/>
                </a:rPr>
                <a:t>1</a:t>
              </a:r>
              <a:endParaRPr kumimoji="1" lang="zh-CN" altLang="en-US" sz="1600" dirty="0">
                <a:solidFill>
                  <a:srgbClr val="5B97ED"/>
                </a:solidFill>
                <a:latin typeface="Alibaba PuHuiTi" charset="-122"/>
                <a:ea typeface="Alibaba PuHuiTi" charset="-122"/>
                <a:cs typeface="Alibaba PuHuiTi" charset="-122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5866737" y="2446336"/>
              <a:ext cx="3032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600">
                  <a:solidFill>
                    <a:srgbClr val="5B97ED"/>
                  </a:solidFill>
                  <a:latin typeface="Alibaba PuHuiTi" charset="-122"/>
                  <a:ea typeface="Alibaba PuHuiTi" charset="-122"/>
                  <a:cs typeface="Alibaba PuHuiTi" charset="-122"/>
                </a:rPr>
                <a:t>1</a:t>
              </a:r>
              <a:endParaRPr kumimoji="1" lang="zh-CN" altLang="en-US" sz="1600" dirty="0">
                <a:solidFill>
                  <a:srgbClr val="5B97ED"/>
                </a:solidFill>
                <a:latin typeface="Alibaba PuHuiTi" charset="-122"/>
                <a:ea typeface="Alibaba PuHuiTi" charset="-122"/>
                <a:cs typeface="Alibaba PuHuiTi" charset="-122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7113860" y="2453384"/>
              <a:ext cx="3032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600">
                  <a:solidFill>
                    <a:srgbClr val="5B97ED"/>
                  </a:solidFill>
                  <a:latin typeface="Alibaba PuHuiTi" charset="-122"/>
                  <a:ea typeface="Alibaba PuHuiTi" charset="-122"/>
                  <a:cs typeface="Alibaba PuHuiTi" charset="-122"/>
                </a:rPr>
                <a:t>1</a:t>
              </a:r>
              <a:endParaRPr kumimoji="1" lang="zh-CN" altLang="en-US" sz="1600" dirty="0">
                <a:solidFill>
                  <a:srgbClr val="5B97ED"/>
                </a:solidFill>
                <a:latin typeface="Alibaba PuHuiTi" charset="-122"/>
                <a:ea typeface="Alibaba PuHuiTi" charset="-122"/>
                <a:cs typeface="Alibaba PuHuiTi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864893" y="2172624"/>
              <a:ext cx="27283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>
                  <a:solidFill>
                    <a:srgbClr val="5B97ED"/>
                  </a:solidFill>
                  <a:latin typeface="Alibaba PuHuiTi" charset="-122"/>
                  <a:ea typeface="Alibaba PuHuiTi" charset="-122"/>
                  <a:cs typeface="Alibaba PuHuiTi" charset="-122"/>
                </a:rPr>
                <a:t>1</a:t>
              </a:r>
              <a:endParaRPr kumimoji="1" lang="zh-CN" altLang="en-US" sz="1200" dirty="0">
                <a:solidFill>
                  <a:srgbClr val="5B97ED"/>
                </a:solidFill>
                <a:latin typeface="Alibaba PuHuiTi" charset="-122"/>
                <a:ea typeface="Alibaba PuHuiTi" charset="-122"/>
                <a:cs typeface="Alibaba PuHuiTi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9914196" y="3322730"/>
              <a:ext cx="27283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>
                  <a:solidFill>
                    <a:srgbClr val="5B97ED"/>
                  </a:solidFill>
                  <a:latin typeface="Alibaba PuHuiTi" charset="-122"/>
                  <a:ea typeface="Alibaba PuHuiTi" charset="-122"/>
                  <a:cs typeface="Alibaba PuHuiTi" charset="-122"/>
                </a:rPr>
                <a:t>1</a:t>
              </a:r>
              <a:endParaRPr kumimoji="1" lang="zh-CN" altLang="en-US" sz="1200" dirty="0">
                <a:solidFill>
                  <a:srgbClr val="5B97ED"/>
                </a:solidFill>
                <a:latin typeface="Alibaba PuHuiTi" charset="-122"/>
                <a:ea typeface="Alibaba PuHuiTi" charset="-122"/>
                <a:cs typeface="Alibaba PuHuiTi" charset="-122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1179835" y="4083330"/>
              <a:ext cx="27283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>
                  <a:solidFill>
                    <a:srgbClr val="5B97ED"/>
                  </a:solidFill>
                  <a:latin typeface="Alibaba PuHuiTi" charset="-122"/>
                  <a:ea typeface="Alibaba PuHuiTi" charset="-122"/>
                  <a:cs typeface="Alibaba PuHuiTi" charset="-122"/>
                </a:rPr>
                <a:t>1</a:t>
              </a:r>
              <a:endParaRPr kumimoji="1" lang="zh-CN" altLang="en-US" sz="1200" dirty="0">
                <a:solidFill>
                  <a:srgbClr val="5B97ED"/>
                </a:solidFill>
                <a:latin typeface="Alibaba PuHuiTi" charset="-122"/>
                <a:ea typeface="Alibaba PuHuiTi" charset="-122"/>
                <a:cs typeface="Alibaba PuHuiTi" charset="-122"/>
              </a:endParaRPr>
            </a:p>
          </p:txBody>
        </p:sp>
      </p:grpSp>
      <p:pic>
        <p:nvPicPr>
          <p:cNvPr id="45" name="图片 44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4856169" y="457629"/>
            <a:ext cx="2479662" cy="692992"/>
          </a:xfrm>
          <a:prstGeom prst="rect">
            <a:avLst/>
          </a:prstGeom>
        </p:spPr>
      </p:pic>
      <p:pic>
        <p:nvPicPr>
          <p:cNvPr id="46" name="图片 45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 rot="10800000">
            <a:off x="0" y="3742925"/>
            <a:ext cx="12192000" cy="3115075"/>
          </a:xfrm>
          <a:prstGeom prst="rect">
            <a:avLst/>
          </a:prstGeom>
          <a:effectLst/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D4937-79D4-CD44-8E78-7124D142BAE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7CA30-01B5-694F-A6B7-768F33DA385F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rgbClr val="357E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 rot="10800000">
            <a:off x="0" y="3742925"/>
            <a:ext cx="12192000" cy="3115075"/>
          </a:xfrm>
          <a:prstGeom prst="rect">
            <a:avLst/>
          </a:prstGeom>
        </p:spPr>
      </p:pic>
      <p:grpSp>
        <p:nvGrpSpPr>
          <p:cNvPr id="9" name="组 20"/>
          <p:cNvGrpSpPr/>
          <p:nvPr userDrawn="1"/>
        </p:nvGrpSpPr>
        <p:grpSpPr>
          <a:xfrm>
            <a:off x="523052" y="1905798"/>
            <a:ext cx="10929615" cy="4697199"/>
            <a:chOff x="523052" y="1905798"/>
            <a:chExt cx="10929615" cy="4697199"/>
          </a:xfrm>
        </p:grpSpPr>
        <p:sp>
          <p:nvSpPr>
            <p:cNvPr id="10" name="文本框 9"/>
            <p:cNvSpPr txBox="1"/>
            <p:nvPr/>
          </p:nvSpPr>
          <p:spPr>
            <a:xfrm>
              <a:off x="9478142" y="4109482"/>
              <a:ext cx="279244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kumimoji="1" lang="en-US" altLang="zh-CN" sz="1400" dirty="0">
                  <a:solidFill>
                    <a:srgbClr val="5B97ED"/>
                  </a:solidFill>
                </a:rPr>
                <a:t>0</a:t>
              </a:r>
              <a:endParaRPr kumimoji="1" lang="zh-CN" altLang="en-US" sz="1400" dirty="0">
                <a:solidFill>
                  <a:srgbClr val="5B97ED"/>
                </a:solidFill>
              </a:endParaRPr>
            </a:p>
          </p:txBody>
        </p:sp>
        <p:grpSp>
          <p:nvGrpSpPr>
            <p:cNvPr id="11" name="组 22"/>
            <p:cNvGrpSpPr/>
            <p:nvPr/>
          </p:nvGrpSpPr>
          <p:grpSpPr>
            <a:xfrm>
              <a:off x="523052" y="1905798"/>
              <a:ext cx="10790990" cy="4697199"/>
              <a:chOff x="523052" y="1905798"/>
              <a:chExt cx="10790990" cy="4697199"/>
            </a:xfrm>
          </p:grpSpPr>
          <p:grpSp>
            <p:nvGrpSpPr>
              <p:cNvPr id="21" name="组 32"/>
              <p:cNvGrpSpPr/>
              <p:nvPr/>
            </p:nvGrpSpPr>
            <p:grpSpPr>
              <a:xfrm>
                <a:off x="652669" y="2150790"/>
                <a:ext cx="10661373" cy="4452207"/>
                <a:chOff x="652669" y="2150790"/>
                <a:chExt cx="10661373" cy="4452207"/>
              </a:xfrm>
            </p:grpSpPr>
            <p:cxnSp>
              <p:nvCxnSpPr>
                <p:cNvPr id="28" name="直线连接符 39"/>
                <p:cNvCxnSpPr/>
                <p:nvPr/>
              </p:nvCxnSpPr>
              <p:spPr>
                <a:xfrm flipV="1">
                  <a:off x="1649895" y="3674540"/>
                  <a:ext cx="0" cy="1575006"/>
                </a:xfrm>
                <a:prstGeom prst="line">
                  <a:avLst/>
                </a:prstGeom>
                <a:ln>
                  <a:solidFill>
                    <a:srgbClr val="5E96ED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直线连接符 40"/>
                <p:cNvCxnSpPr/>
                <p:nvPr/>
              </p:nvCxnSpPr>
              <p:spPr>
                <a:xfrm flipV="1">
                  <a:off x="2060712" y="4075043"/>
                  <a:ext cx="0" cy="2471588"/>
                </a:xfrm>
                <a:prstGeom prst="line">
                  <a:avLst/>
                </a:prstGeom>
                <a:ln>
                  <a:solidFill>
                    <a:srgbClr val="5E96ED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直线连接符 41"/>
                <p:cNvCxnSpPr/>
                <p:nvPr/>
              </p:nvCxnSpPr>
              <p:spPr>
                <a:xfrm flipV="1">
                  <a:off x="2269434" y="2554357"/>
                  <a:ext cx="0" cy="1725571"/>
                </a:xfrm>
                <a:prstGeom prst="line">
                  <a:avLst/>
                </a:prstGeom>
                <a:ln>
                  <a:solidFill>
                    <a:srgbClr val="5E96ED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直线连接符 42"/>
                <p:cNvCxnSpPr/>
                <p:nvPr/>
              </p:nvCxnSpPr>
              <p:spPr>
                <a:xfrm flipV="1">
                  <a:off x="652669" y="4721087"/>
                  <a:ext cx="0" cy="1709007"/>
                </a:xfrm>
                <a:prstGeom prst="line">
                  <a:avLst/>
                </a:prstGeom>
                <a:ln>
                  <a:solidFill>
                    <a:srgbClr val="5E96ED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直线连接符 43"/>
                <p:cNvCxnSpPr/>
                <p:nvPr/>
              </p:nvCxnSpPr>
              <p:spPr>
                <a:xfrm flipV="1">
                  <a:off x="4744277" y="4800600"/>
                  <a:ext cx="0" cy="1746031"/>
                </a:xfrm>
                <a:prstGeom prst="line">
                  <a:avLst/>
                </a:prstGeom>
                <a:ln>
                  <a:solidFill>
                    <a:srgbClr val="5E96ED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直线连接符 44"/>
                <p:cNvCxnSpPr/>
                <p:nvPr/>
              </p:nvCxnSpPr>
              <p:spPr>
                <a:xfrm flipV="1">
                  <a:off x="5191538" y="2385391"/>
                  <a:ext cx="0" cy="3373739"/>
                </a:xfrm>
                <a:prstGeom prst="line">
                  <a:avLst/>
                </a:prstGeom>
                <a:ln>
                  <a:solidFill>
                    <a:srgbClr val="5E96ED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直线连接符 45"/>
                <p:cNvCxnSpPr/>
                <p:nvPr/>
              </p:nvCxnSpPr>
              <p:spPr>
                <a:xfrm flipV="1">
                  <a:off x="6009861" y="2725651"/>
                  <a:ext cx="0" cy="3522825"/>
                </a:xfrm>
                <a:prstGeom prst="line">
                  <a:avLst/>
                </a:prstGeom>
                <a:ln>
                  <a:solidFill>
                    <a:srgbClr val="5E96ED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直线连接符 46"/>
                <p:cNvCxnSpPr/>
                <p:nvPr/>
              </p:nvCxnSpPr>
              <p:spPr>
                <a:xfrm flipV="1">
                  <a:off x="6599583" y="2150790"/>
                  <a:ext cx="0" cy="3522825"/>
                </a:xfrm>
                <a:prstGeom prst="line">
                  <a:avLst/>
                </a:prstGeom>
                <a:ln>
                  <a:solidFill>
                    <a:srgbClr val="5E96ED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直线连接符 47"/>
                <p:cNvCxnSpPr/>
                <p:nvPr/>
              </p:nvCxnSpPr>
              <p:spPr>
                <a:xfrm flipV="1">
                  <a:off x="7265504" y="2725651"/>
                  <a:ext cx="0" cy="2268166"/>
                </a:xfrm>
                <a:prstGeom prst="line">
                  <a:avLst/>
                </a:prstGeom>
                <a:ln>
                  <a:solidFill>
                    <a:srgbClr val="5E96ED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直线连接符 48"/>
                <p:cNvCxnSpPr/>
                <p:nvPr/>
              </p:nvCxnSpPr>
              <p:spPr>
                <a:xfrm flipV="1">
                  <a:off x="5489712" y="4800600"/>
                  <a:ext cx="0" cy="1575006"/>
                </a:xfrm>
                <a:prstGeom prst="line">
                  <a:avLst/>
                </a:prstGeom>
                <a:ln>
                  <a:solidFill>
                    <a:srgbClr val="5E96ED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线连接符 49"/>
                <p:cNvCxnSpPr/>
                <p:nvPr/>
              </p:nvCxnSpPr>
              <p:spPr>
                <a:xfrm flipV="1">
                  <a:off x="4350024" y="3116515"/>
                  <a:ext cx="0" cy="2471588"/>
                </a:xfrm>
                <a:prstGeom prst="line">
                  <a:avLst/>
                </a:prstGeom>
                <a:ln>
                  <a:solidFill>
                    <a:srgbClr val="5E96ED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直线连接符 50"/>
                <p:cNvCxnSpPr/>
                <p:nvPr/>
              </p:nvCxnSpPr>
              <p:spPr>
                <a:xfrm flipV="1">
                  <a:off x="9617764" y="4386760"/>
                  <a:ext cx="0" cy="1725571"/>
                </a:xfrm>
                <a:prstGeom prst="line">
                  <a:avLst/>
                </a:prstGeom>
                <a:ln>
                  <a:solidFill>
                    <a:srgbClr val="5E96ED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直线连接符 51"/>
                <p:cNvCxnSpPr/>
                <p:nvPr/>
              </p:nvCxnSpPr>
              <p:spPr>
                <a:xfrm flipV="1">
                  <a:off x="2991677" y="3146081"/>
                  <a:ext cx="0" cy="1709007"/>
                </a:xfrm>
                <a:prstGeom prst="line">
                  <a:avLst/>
                </a:prstGeom>
                <a:ln>
                  <a:solidFill>
                    <a:srgbClr val="5E96ED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直线连接符 52"/>
                <p:cNvCxnSpPr/>
                <p:nvPr/>
              </p:nvCxnSpPr>
              <p:spPr>
                <a:xfrm flipV="1">
                  <a:off x="7083285" y="3225594"/>
                  <a:ext cx="0" cy="1746031"/>
                </a:xfrm>
                <a:prstGeom prst="line">
                  <a:avLst/>
                </a:prstGeom>
                <a:ln>
                  <a:solidFill>
                    <a:srgbClr val="5E96ED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直线连接符 53"/>
                <p:cNvCxnSpPr/>
                <p:nvPr/>
              </p:nvCxnSpPr>
              <p:spPr>
                <a:xfrm flipV="1">
                  <a:off x="8991598" y="2388173"/>
                  <a:ext cx="0" cy="3373739"/>
                </a:xfrm>
                <a:prstGeom prst="line">
                  <a:avLst/>
                </a:prstGeom>
                <a:ln>
                  <a:solidFill>
                    <a:srgbClr val="5E96ED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直线连接符 54"/>
                <p:cNvCxnSpPr/>
                <p:nvPr/>
              </p:nvCxnSpPr>
              <p:spPr>
                <a:xfrm flipV="1">
                  <a:off x="10048460" y="3548270"/>
                  <a:ext cx="0" cy="2359947"/>
                </a:xfrm>
                <a:prstGeom prst="line">
                  <a:avLst/>
                </a:prstGeom>
                <a:ln>
                  <a:solidFill>
                    <a:srgbClr val="5E96ED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直线连接符 55"/>
                <p:cNvCxnSpPr/>
                <p:nvPr/>
              </p:nvCxnSpPr>
              <p:spPr>
                <a:xfrm flipV="1">
                  <a:off x="10598426" y="3080172"/>
                  <a:ext cx="0" cy="3522825"/>
                </a:xfrm>
                <a:prstGeom prst="line">
                  <a:avLst/>
                </a:prstGeom>
                <a:ln>
                  <a:solidFill>
                    <a:srgbClr val="5E96ED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直线连接符 56"/>
                <p:cNvCxnSpPr/>
                <p:nvPr/>
              </p:nvCxnSpPr>
              <p:spPr>
                <a:xfrm flipV="1">
                  <a:off x="11314042" y="4334831"/>
                  <a:ext cx="0" cy="2268166"/>
                </a:xfrm>
                <a:prstGeom prst="line">
                  <a:avLst/>
                </a:prstGeom>
                <a:ln>
                  <a:solidFill>
                    <a:srgbClr val="5E96ED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2" name="文本框 21"/>
              <p:cNvSpPr txBox="1"/>
              <p:nvPr/>
            </p:nvSpPr>
            <p:spPr>
              <a:xfrm>
                <a:off x="2135233" y="2325678"/>
                <a:ext cx="266420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200" dirty="0">
                    <a:solidFill>
                      <a:srgbClr val="5B97ED"/>
                    </a:solidFill>
                  </a:rPr>
                  <a:t>0</a:t>
                </a:r>
                <a:endParaRPr kumimoji="1" lang="zh-CN" altLang="en-US" sz="1200" dirty="0">
                  <a:solidFill>
                    <a:srgbClr val="5B97ED"/>
                  </a:solidFill>
                </a:endParaRPr>
              </a:p>
            </p:txBody>
          </p:sp>
          <p:sp>
            <p:nvSpPr>
              <p:cNvPr id="23" name="文本框 22"/>
              <p:cNvSpPr txBox="1"/>
              <p:nvPr/>
            </p:nvSpPr>
            <p:spPr>
              <a:xfrm>
                <a:off x="523052" y="4477389"/>
                <a:ext cx="279244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400" dirty="0">
                    <a:solidFill>
                      <a:srgbClr val="5B97ED"/>
                    </a:solidFill>
                  </a:rPr>
                  <a:t>0</a:t>
                </a:r>
                <a:endParaRPr kumimoji="1" lang="zh-CN" altLang="en-US" sz="1400" dirty="0">
                  <a:solidFill>
                    <a:srgbClr val="5B97ED"/>
                  </a:solidFill>
                </a:endParaRPr>
              </a:p>
            </p:txBody>
          </p:sp>
          <p:sp>
            <p:nvSpPr>
              <p:cNvPr id="24" name="文本框 23"/>
              <p:cNvSpPr txBox="1"/>
              <p:nvPr/>
            </p:nvSpPr>
            <p:spPr>
              <a:xfrm>
                <a:off x="4617434" y="4557174"/>
                <a:ext cx="279244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400" dirty="0">
                    <a:solidFill>
                      <a:srgbClr val="5B97ED"/>
                    </a:solidFill>
                  </a:rPr>
                  <a:t>0</a:t>
                </a:r>
                <a:endParaRPr kumimoji="1" lang="zh-CN" altLang="en-US" sz="1400" dirty="0">
                  <a:solidFill>
                    <a:srgbClr val="5B97ED"/>
                  </a:solidFill>
                </a:endParaRPr>
              </a:p>
            </p:txBody>
          </p:sp>
          <p:sp>
            <p:nvSpPr>
              <p:cNvPr id="25" name="文本框 24"/>
              <p:cNvSpPr txBox="1"/>
              <p:nvPr/>
            </p:nvSpPr>
            <p:spPr>
              <a:xfrm>
                <a:off x="10467948" y="2829577"/>
                <a:ext cx="279244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400" dirty="0">
                    <a:solidFill>
                      <a:srgbClr val="5B97ED"/>
                    </a:solidFill>
                  </a:rPr>
                  <a:t>0</a:t>
                </a:r>
                <a:endParaRPr kumimoji="1" lang="zh-CN" altLang="en-US" sz="1400" dirty="0">
                  <a:solidFill>
                    <a:srgbClr val="5B97ED"/>
                  </a:solidFill>
                </a:endParaRPr>
              </a:p>
            </p:txBody>
          </p:sp>
          <p:sp>
            <p:nvSpPr>
              <p:cNvPr id="26" name="文本框 25"/>
              <p:cNvSpPr txBox="1"/>
              <p:nvPr/>
            </p:nvSpPr>
            <p:spPr>
              <a:xfrm>
                <a:off x="6478249" y="1905798"/>
                <a:ext cx="279244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400" dirty="0">
                    <a:solidFill>
                      <a:srgbClr val="5B97ED"/>
                    </a:solidFill>
                  </a:rPr>
                  <a:t>0</a:t>
                </a:r>
                <a:endParaRPr kumimoji="1" lang="zh-CN" altLang="en-US" sz="1400" dirty="0">
                  <a:solidFill>
                    <a:srgbClr val="5B97ED"/>
                  </a:solidFill>
                </a:endParaRPr>
              </a:p>
            </p:txBody>
          </p:sp>
          <p:sp>
            <p:nvSpPr>
              <p:cNvPr id="27" name="文本框 26"/>
              <p:cNvSpPr txBox="1"/>
              <p:nvPr/>
            </p:nvSpPr>
            <p:spPr>
              <a:xfrm>
                <a:off x="2859156" y="2692990"/>
                <a:ext cx="279244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400" dirty="0">
                    <a:solidFill>
                      <a:srgbClr val="5B97ED"/>
                    </a:solidFill>
                  </a:rPr>
                  <a:t>0</a:t>
                </a:r>
                <a:endParaRPr kumimoji="1" lang="zh-CN" altLang="en-US" sz="1400" dirty="0">
                  <a:solidFill>
                    <a:srgbClr val="5B97ED"/>
                  </a:solidFill>
                </a:endParaRPr>
              </a:p>
            </p:txBody>
          </p:sp>
        </p:grpSp>
        <p:sp>
          <p:nvSpPr>
            <p:cNvPr id="12" name="文本框 11"/>
            <p:cNvSpPr txBox="1"/>
            <p:nvPr/>
          </p:nvSpPr>
          <p:spPr>
            <a:xfrm>
              <a:off x="1496451" y="3391592"/>
              <a:ext cx="3032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600">
                  <a:solidFill>
                    <a:srgbClr val="5B97ED"/>
                  </a:solidFill>
                  <a:latin typeface="Alibaba PuHuiTi" charset="-122"/>
                  <a:ea typeface="Alibaba PuHuiTi" charset="-122"/>
                  <a:cs typeface="Alibaba PuHuiTi" charset="-122"/>
                </a:rPr>
                <a:t>1</a:t>
              </a:r>
              <a:endParaRPr kumimoji="1" lang="zh-CN" altLang="en-US" sz="1600" dirty="0">
                <a:solidFill>
                  <a:srgbClr val="5B97ED"/>
                </a:solidFill>
                <a:latin typeface="Alibaba PuHuiTi" charset="-122"/>
                <a:ea typeface="Alibaba PuHuiTi" charset="-122"/>
                <a:cs typeface="Alibaba PuHuiTi" charset="-122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1915574" y="3794883"/>
              <a:ext cx="3032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600">
                  <a:solidFill>
                    <a:srgbClr val="5B97ED"/>
                  </a:solidFill>
                  <a:latin typeface="Alibaba PuHuiTi" charset="-122"/>
                  <a:ea typeface="Alibaba PuHuiTi" charset="-122"/>
                  <a:cs typeface="Alibaba PuHuiTi" charset="-122"/>
                </a:rPr>
                <a:t>1</a:t>
              </a:r>
              <a:endParaRPr kumimoji="1" lang="zh-CN" altLang="en-US" sz="1600" dirty="0">
                <a:solidFill>
                  <a:srgbClr val="5B97ED"/>
                </a:solidFill>
                <a:latin typeface="Alibaba PuHuiTi" charset="-122"/>
                <a:ea typeface="Alibaba PuHuiTi" charset="-122"/>
                <a:cs typeface="Alibaba PuHuiTi" charset="-122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5339582" y="4541785"/>
              <a:ext cx="3032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600">
                  <a:solidFill>
                    <a:srgbClr val="5B97ED"/>
                  </a:solidFill>
                  <a:latin typeface="Alibaba PuHuiTi" charset="-122"/>
                  <a:ea typeface="Alibaba PuHuiTi" charset="-122"/>
                  <a:cs typeface="Alibaba PuHuiTi" charset="-122"/>
                </a:rPr>
                <a:t>1</a:t>
              </a:r>
              <a:endParaRPr kumimoji="1" lang="zh-CN" altLang="en-US" sz="1600" dirty="0">
                <a:solidFill>
                  <a:srgbClr val="5B97ED"/>
                </a:solidFill>
                <a:latin typeface="Alibaba PuHuiTi" charset="-122"/>
                <a:ea typeface="Alibaba PuHuiTi" charset="-122"/>
                <a:cs typeface="Alibaba PuHuiTi" charset="-122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5049173" y="2107782"/>
              <a:ext cx="3032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600" dirty="0">
                  <a:solidFill>
                    <a:srgbClr val="5B97ED"/>
                  </a:solidFill>
                  <a:latin typeface="Alibaba PuHuiTi" charset="-122"/>
                  <a:ea typeface="Alibaba PuHuiTi" charset="-122"/>
                  <a:cs typeface="Alibaba PuHuiTi" charset="-122"/>
                </a:rPr>
                <a:t>1</a:t>
              </a:r>
              <a:endParaRPr kumimoji="1" lang="zh-CN" altLang="en-US" sz="1600" dirty="0">
                <a:solidFill>
                  <a:srgbClr val="5B97ED"/>
                </a:solidFill>
                <a:latin typeface="Alibaba PuHuiTi" charset="-122"/>
                <a:ea typeface="Alibaba PuHuiTi" charset="-122"/>
                <a:cs typeface="Alibaba PuHuiTi" charset="-122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5866737" y="2446336"/>
              <a:ext cx="3032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600">
                  <a:solidFill>
                    <a:srgbClr val="5B97ED"/>
                  </a:solidFill>
                  <a:latin typeface="Alibaba PuHuiTi" charset="-122"/>
                  <a:ea typeface="Alibaba PuHuiTi" charset="-122"/>
                  <a:cs typeface="Alibaba PuHuiTi" charset="-122"/>
                </a:rPr>
                <a:t>1</a:t>
              </a:r>
              <a:endParaRPr kumimoji="1" lang="zh-CN" altLang="en-US" sz="1600" dirty="0">
                <a:solidFill>
                  <a:srgbClr val="5B97ED"/>
                </a:solidFill>
                <a:latin typeface="Alibaba PuHuiTi" charset="-122"/>
                <a:ea typeface="Alibaba PuHuiTi" charset="-122"/>
                <a:cs typeface="Alibaba PuHuiTi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7113860" y="2453384"/>
              <a:ext cx="3032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600">
                  <a:solidFill>
                    <a:srgbClr val="5B97ED"/>
                  </a:solidFill>
                  <a:latin typeface="Alibaba PuHuiTi" charset="-122"/>
                  <a:ea typeface="Alibaba PuHuiTi" charset="-122"/>
                  <a:cs typeface="Alibaba PuHuiTi" charset="-122"/>
                </a:rPr>
                <a:t>1</a:t>
              </a:r>
              <a:endParaRPr kumimoji="1" lang="zh-CN" altLang="en-US" sz="1600" dirty="0">
                <a:solidFill>
                  <a:srgbClr val="5B97ED"/>
                </a:solidFill>
                <a:latin typeface="Alibaba PuHuiTi" charset="-122"/>
                <a:ea typeface="Alibaba PuHuiTi" charset="-122"/>
                <a:cs typeface="Alibaba PuHuiTi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8864893" y="2172624"/>
              <a:ext cx="27283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>
                  <a:solidFill>
                    <a:srgbClr val="5B97ED"/>
                  </a:solidFill>
                  <a:latin typeface="Alibaba PuHuiTi" charset="-122"/>
                  <a:ea typeface="Alibaba PuHuiTi" charset="-122"/>
                  <a:cs typeface="Alibaba PuHuiTi" charset="-122"/>
                </a:rPr>
                <a:t>1</a:t>
              </a:r>
              <a:endParaRPr kumimoji="1" lang="zh-CN" altLang="en-US" sz="1200" dirty="0">
                <a:solidFill>
                  <a:srgbClr val="5B97ED"/>
                </a:solidFill>
                <a:latin typeface="Alibaba PuHuiTi" charset="-122"/>
                <a:ea typeface="Alibaba PuHuiTi" charset="-122"/>
                <a:cs typeface="Alibaba PuHuiTi" charset="-122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9914196" y="3322730"/>
              <a:ext cx="27283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>
                  <a:solidFill>
                    <a:srgbClr val="5B97ED"/>
                  </a:solidFill>
                  <a:latin typeface="Alibaba PuHuiTi" charset="-122"/>
                  <a:ea typeface="Alibaba PuHuiTi" charset="-122"/>
                  <a:cs typeface="Alibaba PuHuiTi" charset="-122"/>
                </a:rPr>
                <a:t>1</a:t>
              </a:r>
              <a:endParaRPr kumimoji="1" lang="zh-CN" altLang="en-US" sz="1200" dirty="0">
                <a:solidFill>
                  <a:srgbClr val="5B97ED"/>
                </a:solidFill>
                <a:latin typeface="Alibaba PuHuiTi" charset="-122"/>
                <a:ea typeface="Alibaba PuHuiTi" charset="-122"/>
                <a:cs typeface="Alibaba PuHuiTi" charset="-122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11179835" y="4083330"/>
              <a:ext cx="27283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>
                  <a:solidFill>
                    <a:srgbClr val="5B97ED"/>
                  </a:solidFill>
                  <a:latin typeface="Alibaba PuHuiTi" charset="-122"/>
                  <a:ea typeface="Alibaba PuHuiTi" charset="-122"/>
                  <a:cs typeface="Alibaba PuHuiTi" charset="-122"/>
                </a:rPr>
                <a:t>1</a:t>
              </a:r>
              <a:endParaRPr kumimoji="1" lang="zh-CN" altLang="en-US" sz="1200" dirty="0">
                <a:solidFill>
                  <a:srgbClr val="5B97ED"/>
                </a:solidFill>
                <a:latin typeface="Alibaba PuHuiTi" charset="-122"/>
                <a:ea typeface="Alibaba PuHuiTi" charset="-122"/>
                <a:cs typeface="Alibaba PuHuiTi" charset="-122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D4937-79D4-CD44-8E78-7124D142BAE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7CA30-01B5-694F-A6B7-768F33DA385F}" type="slidenum">
              <a:rPr kumimoji="1" lang="zh-CN" altLang="en-US" smtClean="0"/>
            </a:fld>
            <a:endParaRPr kumimoji="1"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634803" y="238632"/>
            <a:ext cx="1321291" cy="369261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6793902"/>
            <a:ext cx="12192000" cy="64098"/>
          </a:xfrm>
          <a:prstGeom prst="rect">
            <a:avLst/>
          </a:prstGeom>
          <a:solidFill>
            <a:srgbClr val="237F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grpSp>
        <p:nvGrpSpPr>
          <p:cNvPr id="9" name="组 18"/>
          <p:cNvGrpSpPr/>
          <p:nvPr userDrawn="1"/>
        </p:nvGrpSpPr>
        <p:grpSpPr>
          <a:xfrm>
            <a:off x="167268" y="455748"/>
            <a:ext cx="658387" cy="290989"/>
            <a:chOff x="167268" y="272725"/>
            <a:chExt cx="658387" cy="290989"/>
          </a:xfrm>
        </p:grpSpPr>
        <p:sp>
          <p:nvSpPr>
            <p:cNvPr id="10" name="矩形 9"/>
            <p:cNvSpPr/>
            <p:nvPr/>
          </p:nvSpPr>
          <p:spPr>
            <a:xfrm>
              <a:off x="167268" y="272725"/>
              <a:ext cx="515311" cy="148371"/>
            </a:xfrm>
            <a:prstGeom prst="rect">
              <a:avLst/>
            </a:prstGeom>
            <a:solidFill>
              <a:srgbClr val="237F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682579" y="421096"/>
              <a:ext cx="143076" cy="142618"/>
            </a:xfrm>
            <a:prstGeom prst="rect">
              <a:avLst/>
            </a:prstGeom>
            <a:solidFill>
              <a:srgbClr val="1DBA5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cxnSp>
        <p:nvCxnSpPr>
          <p:cNvPr id="12" name="直线连接符 21"/>
          <p:cNvCxnSpPr/>
          <p:nvPr userDrawn="1"/>
        </p:nvCxnSpPr>
        <p:spPr>
          <a:xfrm>
            <a:off x="942891" y="738561"/>
            <a:ext cx="11249109" cy="0"/>
          </a:xfrm>
          <a:prstGeom prst="line">
            <a:avLst/>
          </a:prstGeom>
          <a:ln w="12700">
            <a:solidFill>
              <a:srgbClr val="237FE9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D4937-79D4-CD44-8E78-7124D142BAE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7CA30-01B5-694F-A6B7-768F33DA385F}" type="slidenum">
              <a:rPr kumimoji="1" lang="zh-CN" altLang="en-US" smtClean="0"/>
            </a:fld>
            <a:endParaRPr kumimoji="1" lang="zh-CN" altLang="en-US"/>
          </a:p>
        </p:txBody>
      </p:sp>
      <p:pic>
        <p:nvPicPr>
          <p:cNvPr id="46" name="图片 45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 rot="10800000">
            <a:off x="0" y="3742925"/>
            <a:ext cx="12192000" cy="3115075"/>
          </a:xfrm>
          <a:prstGeom prst="rect">
            <a:avLst/>
          </a:prstGeom>
          <a:effectLst/>
        </p:spPr>
      </p:pic>
      <p:sp>
        <p:nvSpPr>
          <p:cNvPr id="48" name="矩形 47"/>
          <p:cNvSpPr/>
          <p:nvPr userDrawn="1"/>
        </p:nvSpPr>
        <p:spPr>
          <a:xfrm>
            <a:off x="0" y="2"/>
            <a:ext cx="12192000" cy="6857999"/>
          </a:xfrm>
          <a:prstGeom prst="rect">
            <a:avLst/>
          </a:prstGeom>
          <a:solidFill>
            <a:srgbClr val="357F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49" name="图片 48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 rot="10800000">
            <a:off x="0" y="3742927"/>
            <a:ext cx="12192000" cy="3115075"/>
          </a:xfrm>
          <a:prstGeom prst="rect">
            <a:avLst/>
          </a:prstGeom>
          <a:effectLst/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D4937-79D4-CD44-8E78-7124D142BAE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7CA30-01B5-694F-A6B7-768F33DA385F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D4937-79D4-CD44-8E78-7124D142BAE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7CA30-01B5-694F-A6B7-768F33DA385F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D4937-79D4-CD44-8E78-7124D142BAE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7CA30-01B5-694F-A6B7-768F33DA385F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D4937-79D4-CD44-8E78-7124D142BAE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7CA30-01B5-694F-A6B7-768F33DA385F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D4937-79D4-CD44-8E78-7124D142BAE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7CA30-01B5-694F-A6B7-768F33DA385F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D4937-79D4-CD44-8E78-7124D142BAE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7CA30-01B5-694F-A6B7-768F33DA385F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D4937-79D4-CD44-8E78-7124D142BAE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7CA30-01B5-694F-A6B7-768F33DA385F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CD4937-79D4-CD44-8E78-7124D142BAE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C7CA30-01B5-694F-A6B7-768F33DA385F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CD4937-79D4-CD44-8E78-7124D142BAE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C7CA30-01B5-694F-A6B7-768F33DA385F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hyperlink" Target="https://sandbox-openapi.baiwang.com/router/rest" TargetMode="External"/><Relationship Id="rId2" Type="http://schemas.openxmlformats.org/officeDocument/2006/relationships/hyperlink" Target="https://www-pre.baiwang.com/mainsite/src/html/login/login.html" TargetMode="External"/><Relationship Id="rId1" Type="http://schemas.openxmlformats.org/officeDocument/2006/relationships/hyperlink" Target="https://open.baiwang.com/openplatform-ui/login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8.png"/><Relationship Id="rId3" Type="http://schemas.openxmlformats.org/officeDocument/2006/relationships/tags" Target="../tags/tag2.xml"/><Relationship Id="rId2" Type="http://schemas.openxmlformats.org/officeDocument/2006/relationships/image" Target="../media/image7.png"/><Relationship Id="rId1" Type="http://schemas.openxmlformats.org/officeDocument/2006/relationships/tags" Target="../tags/tag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hyperlink" Target="https://sandbox-openapi.baiwang.com/router/rest?timestamp=1503381563335&amp;method=baiwang.oauth.token&amp;grant_type=password&amp;version=6.0&amp;client_id=10000000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9.png"/><Relationship Id="rId1" Type="http://schemas.openxmlformats.org/officeDocument/2006/relationships/tags" Target="../tags/tag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0.png"/><Relationship Id="rId1" Type="http://schemas.openxmlformats.org/officeDocument/2006/relationships/tags" Target="../tags/tag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1.png"/><Relationship Id="rId1" Type="http://schemas.openxmlformats.org/officeDocument/2006/relationships/tags" Target="../tags/tag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hyperlink" Target="http://www.asciima.com/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hyperlink" Target="http://www.asciima.com/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2.png"/><Relationship Id="rId1" Type="http://schemas.openxmlformats.org/officeDocument/2006/relationships/tags" Target="../tags/tag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3.png"/><Relationship Id="rId1" Type="http://schemas.openxmlformats.org/officeDocument/2006/relationships/tags" Target="../tags/tag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4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5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6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7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9.png"/><Relationship Id="rId1" Type="http://schemas.openxmlformats.org/officeDocument/2006/relationships/tags" Target="../tags/tag9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2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3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4.png"/><Relationship Id="rId1" Type="http://schemas.openxmlformats.org/officeDocument/2006/relationships/tags" Target="../tags/tag1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3.xml"/><Relationship Id="rId5" Type="http://schemas.openxmlformats.org/officeDocument/2006/relationships/hyperlink" Target="https://tool.lu/wordcount/" TargetMode="External"/><Relationship Id="rId4" Type="http://schemas.openxmlformats.org/officeDocument/2006/relationships/hyperlink" Target="https://tool.chinaz.com/tools/imgtobase/" TargetMode="External"/><Relationship Id="rId3" Type="http://schemas.openxmlformats.org/officeDocument/2006/relationships/hyperlink" Target="https://www.wetools.com/md5" TargetMode="External"/><Relationship Id="rId2" Type="http://schemas.openxmlformats.org/officeDocument/2006/relationships/hyperlink" Target="https://tool.chinaz.com/Tools/md5.aspx" TargetMode="External"/><Relationship Id="rId1" Type="http://schemas.openxmlformats.org/officeDocument/2006/relationships/hyperlink" Target="https://www.sojson.com/unixtime.html" TargetMode="External"/></Relationships>
</file>

<file path=ppt/slides/_rels/slide4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27.png"/><Relationship Id="rId2" Type="http://schemas.microsoft.com/office/2007/relationships/hdphoto" Target="../media/image26.wdp"/><Relationship Id="rId1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组 79"/>
          <p:cNvGrpSpPr/>
          <p:nvPr/>
        </p:nvGrpSpPr>
        <p:grpSpPr>
          <a:xfrm>
            <a:off x="534626" y="1928948"/>
            <a:ext cx="10929615" cy="4697199"/>
            <a:chOff x="523052" y="1905798"/>
            <a:chExt cx="10929615" cy="4697199"/>
          </a:xfrm>
        </p:grpSpPr>
        <p:sp>
          <p:nvSpPr>
            <p:cNvPr id="81" name="文本框 80"/>
            <p:cNvSpPr txBox="1"/>
            <p:nvPr/>
          </p:nvSpPr>
          <p:spPr>
            <a:xfrm>
              <a:off x="9478142" y="4109482"/>
              <a:ext cx="279244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kumimoji="1" lang="en-US" altLang="zh-CN" sz="1400" dirty="0">
                  <a:solidFill>
                    <a:srgbClr val="5B97ED"/>
                  </a:solidFill>
                </a:rPr>
                <a:t>0</a:t>
              </a:r>
              <a:endParaRPr kumimoji="1" lang="zh-CN" altLang="en-US" sz="1400" dirty="0">
                <a:solidFill>
                  <a:srgbClr val="5B97ED"/>
                </a:solidFill>
              </a:endParaRPr>
            </a:p>
          </p:txBody>
        </p:sp>
        <p:grpSp>
          <p:nvGrpSpPr>
            <p:cNvPr id="82" name="组 81"/>
            <p:cNvGrpSpPr/>
            <p:nvPr/>
          </p:nvGrpSpPr>
          <p:grpSpPr>
            <a:xfrm>
              <a:off x="523052" y="1905798"/>
              <a:ext cx="10790990" cy="4697199"/>
              <a:chOff x="523052" y="1905798"/>
              <a:chExt cx="10790990" cy="4697199"/>
            </a:xfrm>
          </p:grpSpPr>
          <p:grpSp>
            <p:nvGrpSpPr>
              <p:cNvPr id="92" name="组 91"/>
              <p:cNvGrpSpPr/>
              <p:nvPr/>
            </p:nvGrpSpPr>
            <p:grpSpPr>
              <a:xfrm>
                <a:off x="652669" y="2150790"/>
                <a:ext cx="10661373" cy="4452207"/>
                <a:chOff x="652669" y="2150790"/>
                <a:chExt cx="10661373" cy="4452207"/>
              </a:xfrm>
            </p:grpSpPr>
            <p:cxnSp>
              <p:nvCxnSpPr>
                <p:cNvPr id="99" name="直线连接符 98"/>
                <p:cNvCxnSpPr/>
                <p:nvPr/>
              </p:nvCxnSpPr>
              <p:spPr>
                <a:xfrm flipV="1">
                  <a:off x="1649895" y="3674540"/>
                  <a:ext cx="0" cy="1575006"/>
                </a:xfrm>
                <a:prstGeom prst="line">
                  <a:avLst/>
                </a:prstGeom>
                <a:ln>
                  <a:solidFill>
                    <a:srgbClr val="5E96ED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直线连接符 99"/>
                <p:cNvCxnSpPr/>
                <p:nvPr/>
              </p:nvCxnSpPr>
              <p:spPr>
                <a:xfrm flipV="1">
                  <a:off x="2060712" y="4075043"/>
                  <a:ext cx="0" cy="2471588"/>
                </a:xfrm>
                <a:prstGeom prst="line">
                  <a:avLst/>
                </a:prstGeom>
                <a:ln>
                  <a:solidFill>
                    <a:srgbClr val="5E96ED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1" name="直线连接符 100"/>
                <p:cNvCxnSpPr/>
                <p:nvPr/>
              </p:nvCxnSpPr>
              <p:spPr>
                <a:xfrm flipV="1">
                  <a:off x="2269434" y="2554357"/>
                  <a:ext cx="0" cy="1725571"/>
                </a:xfrm>
                <a:prstGeom prst="line">
                  <a:avLst/>
                </a:prstGeom>
                <a:ln>
                  <a:solidFill>
                    <a:srgbClr val="5E96ED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2" name="直线连接符 101"/>
                <p:cNvCxnSpPr/>
                <p:nvPr/>
              </p:nvCxnSpPr>
              <p:spPr>
                <a:xfrm flipV="1">
                  <a:off x="652669" y="4721087"/>
                  <a:ext cx="0" cy="1709007"/>
                </a:xfrm>
                <a:prstGeom prst="line">
                  <a:avLst/>
                </a:prstGeom>
                <a:ln>
                  <a:solidFill>
                    <a:srgbClr val="5E96ED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" name="直线连接符 102"/>
                <p:cNvCxnSpPr/>
                <p:nvPr/>
              </p:nvCxnSpPr>
              <p:spPr>
                <a:xfrm flipV="1">
                  <a:off x="4744277" y="4800600"/>
                  <a:ext cx="0" cy="1746031"/>
                </a:xfrm>
                <a:prstGeom prst="line">
                  <a:avLst/>
                </a:prstGeom>
                <a:ln>
                  <a:solidFill>
                    <a:srgbClr val="5E96ED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" name="直线连接符 103"/>
                <p:cNvCxnSpPr/>
                <p:nvPr/>
              </p:nvCxnSpPr>
              <p:spPr>
                <a:xfrm flipV="1">
                  <a:off x="5191538" y="2385391"/>
                  <a:ext cx="0" cy="3373739"/>
                </a:xfrm>
                <a:prstGeom prst="line">
                  <a:avLst/>
                </a:prstGeom>
                <a:ln>
                  <a:solidFill>
                    <a:srgbClr val="5E96ED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" name="直线连接符 104"/>
                <p:cNvCxnSpPr/>
                <p:nvPr/>
              </p:nvCxnSpPr>
              <p:spPr>
                <a:xfrm flipV="1">
                  <a:off x="6009861" y="2725651"/>
                  <a:ext cx="0" cy="3522825"/>
                </a:xfrm>
                <a:prstGeom prst="line">
                  <a:avLst/>
                </a:prstGeom>
                <a:ln>
                  <a:solidFill>
                    <a:srgbClr val="5E96ED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6" name="直线连接符 105"/>
                <p:cNvCxnSpPr/>
                <p:nvPr/>
              </p:nvCxnSpPr>
              <p:spPr>
                <a:xfrm flipV="1">
                  <a:off x="6599583" y="2150790"/>
                  <a:ext cx="0" cy="3522825"/>
                </a:xfrm>
                <a:prstGeom prst="line">
                  <a:avLst/>
                </a:prstGeom>
                <a:ln>
                  <a:solidFill>
                    <a:srgbClr val="5E96ED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7" name="直线连接符 106"/>
                <p:cNvCxnSpPr/>
                <p:nvPr/>
              </p:nvCxnSpPr>
              <p:spPr>
                <a:xfrm flipV="1">
                  <a:off x="7265504" y="2725651"/>
                  <a:ext cx="0" cy="2268166"/>
                </a:xfrm>
                <a:prstGeom prst="line">
                  <a:avLst/>
                </a:prstGeom>
                <a:ln>
                  <a:solidFill>
                    <a:srgbClr val="5E96ED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" name="直线连接符 107"/>
                <p:cNvCxnSpPr/>
                <p:nvPr/>
              </p:nvCxnSpPr>
              <p:spPr>
                <a:xfrm flipV="1">
                  <a:off x="5489712" y="4800600"/>
                  <a:ext cx="0" cy="1575006"/>
                </a:xfrm>
                <a:prstGeom prst="line">
                  <a:avLst/>
                </a:prstGeom>
                <a:ln>
                  <a:solidFill>
                    <a:srgbClr val="5E96ED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9" name="直线连接符 108"/>
                <p:cNvCxnSpPr/>
                <p:nvPr/>
              </p:nvCxnSpPr>
              <p:spPr>
                <a:xfrm flipV="1">
                  <a:off x="4350024" y="3116515"/>
                  <a:ext cx="0" cy="2471588"/>
                </a:xfrm>
                <a:prstGeom prst="line">
                  <a:avLst/>
                </a:prstGeom>
                <a:ln>
                  <a:solidFill>
                    <a:srgbClr val="5E96ED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0" name="直线连接符 109"/>
                <p:cNvCxnSpPr/>
                <p:nvPr/>
              </p:nvCxnSpPr>
              <p:spPr>
                <a:xfrm flipV="1">
                  <a:off x="9617764" y="4386760"/>
                  <a:ext cx="0" cy="1725571"/>
                </a:xfrm>
                <a:prstGeom prst="line">
                  <a:avLst/>
                </a:prstGeom>
                <a:ln>
                  <a:solidFill>
                    <a:srgbClr val="5E96ED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1" name="直线连接符 110"/>
                <p:cNvCxnSpPr/>
                <p:nvPr/>
              </p:nvCxnSpPr>
              <p:spPr>
                <a:xfrm flipV="1">
                  <a:off x="2991677" y="3146081"/>
                  <a:ext cx="0" cy="1709007"/>
                </a:xfrm>
                <a:prstGeom prst="line">
                  <a:avLst/>
                </a:prstGeom>
                <a:ln>
                  <a:solidFill>
                    <a:srgbClr val="5E96ED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2" name="直线连接符 111"/>
                <p:cNvCxnSpPr/>
                <p:nvPr/>
              </p:nvCxnSpPr>
              <p:spPr>
                <a:xfrm flipV="1">
                  <a:off x="7083285" y="3225594"/>
                  <a:ext cx="0" cy="1746031"/>
                </a:xfrm>
                <a:prstGeom prst="line">
                  <a:avLst/>
                </a:prstGeom>
                <a:ln>
                  <a:solidFill>
                    <a:srgbClr val="5E96ED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3" name="直线连接符 112"/>
                <p:cNvCxnSpPr/>
                <p:nvPr/>
              </p:nvCxnSpPr>
              <p:spPr>
                <a:xfrm flipV="1">
                  <a:off x="8991598" y="2388173"/>
                  <a:ext cx="0" cy="3373739"/>
                </a:xfrm>
                <a:prstGeom prst="line">
                  <a:avLst/>
                </a:prstGeom>
                <a:ln>
                  <a:solidFill>
                    <a:srgbClr val="5E96ED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4" name="直线连接符 113"/>
                <p:cNvCxnSpPr/>
                <p:nvPr/>
              </p:nvCxnSpPr>
              <p:spPr>
                <a:xfrm flipV="1">
                  <a:off x="10048460" y="3548270"/>
                  <a:ext cx="0" cy="2359947"/>
                </a:xfrm>
                <a:prstGeom prst="line">
                  <a:avLst/>
                </a:prstGeom>
                <a:ln>
                  <a:solidFill>
                    <a:srgbClr val="5E96ED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5" name="直线连接符 114"/>
                <p:cNvCxnSpPr/>
                <p:nvPr/>
              </p:nvCxnSpPr>
              <p:spPr>
                <a:xfrm flipV="1">
                  <a:off x="10598426" y="3080172"/>
                  <a:ext cx="0" cy="3522825"/>
                </a:xfrm>
                <a:prstGeom prst="line">
                  <a:avLst/>
                </a:prstGeom>
                <a:ln>
                  <a:solidFill>
                    <a:srgbClr val="5E96ED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6" name="直线连接符 115"/>
                <p:cNvCxnSpPr/>
                <p:nvPr/>
              </p:nvCxnSpPr>
              <p:spPr>
                <a:xfrm flipV="1">
                  <a:off x="11314042" y="4334831"/>
                  <a:ext cx="0" cy="2268166"/>
                </a:xfrm>
                <a:prstGeom prst="line">
                  <a:avLst/>
                </a:prstGeom>
                <a:ln>
                  <a:solidFill>
                    <a:srgbClr val="5E96ED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3" name="文本框 92"/>
              <p:cNvSpPr txBox="1"/>
              <p:nvPr/>
            </p:nvSpPr>
            <p:spPr>
              <a:xfrm>
                <a:off x="2135233" y="2325678"/>
                <a:ext cx="266420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200" dirty="0">
                    <a:solidFill>
                      <a:srgbClr val="5B97ED"/>
                    </a:solidFill>
                  </a:rPr>
                  <a:t>0</a:t>
                </a:r>
                <a:endParaRPr kumimoji="1" lang="zh-CN" altLang="en-US" sz="1200" dirty="0">
                  <a:solidFill>
                    <a:srgbClr val="5B97ED"/>
                  </a:solidFill>
                </a:endParaRPr>
              </a:p>
            </p:txBody>
          </p:sp>
          <p:sp>
            <p:nvSpPr>
              <p:cNvPr id="94" name="文本框 93"/>
              <p:cNvSpPr txBox="1"/>
              <p:nvPr/>
            </p:nvSpPr>
            <p:spPr>
              <a:xfrm>
                <a:off x="523052" y="4477389"/>
                <a:ext cx="279244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400" dirty="0">
                    <a:solidFill>
                      <a:srgbClr val="5B97ED"/>
                    </a:solidFill>
                  </a:rPr>
                  <a:t>0</a:t>
                </a:r>
                <a:endParaRPr kumimoji="1" lang="zh-CN" altLang="en-US" sz="1400" dirty="0">
                  <a:solidFill>
                    <a:srgbClr val="5B97ED"/>
                  </a:solidFill>
                </a:endParaRPr>
              </a:p>
            </p:txBody>
          </p:sp>
          <p:sp>
            <p:nvSpPr>
              <p:cNvPr id="95" name="文本框 94"/>
              <p:cNvSpPr txBox="1"/>
              <p:nvPr/>
            </p:nvSpPr>
            <p:spPr>
              <a:xfrm>
                <a:off x="4617434" y="4557174"/>
                <a:ext cx="279244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400" dirty="0">
                    <a:solidFill>
                      <a:srgbClr val="5B97ED"/>
                    </a:solidFill>
                  </a:rPr>
                  <a:t>0</a:t>
                </a:r>
                <a:endParaRPr kumimoji="1" lang="zh-CN" altLang="en-US" sz="1400" dirty="0">
                  <a:solidFill>
                    <a:srgbClr val="5B97ED"/>
                  </a:solidFill>
                </a:endParaRPr>
              </a:p>
            </p:txBody>
          </p:sp>
          <p:sp>
            <p:nvSpPr>
              <p:cNvPr id="96" name="文本框 95"/>
              <p:cNvSpPr txBox="1"/>
              <p:nvPr/>
            </p:nvSpPr>
            <p:spPr>
              <a:xfrm>
                <a:off x="10467948" y="2829577"/>
                <a:ext cx="279244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400" dirty="0">
                    <a:solidFill>
                      <a:srgbClr val="5B97ED"/>
                    </a:solidFill>
                  </a:rPr>
                  <a:t>0</a:t>
                </a:r>
                <a:endParaRPr kumimoji="1" lang="zh-CN" altLang="en-US" sz="1400" dirty="0">
                  <a:solidFill>
                    <a:srgbClr val="5B97ED"/>
                  </a:solidFill>
                </a:endParaRPr>
              </a:p>
            </p:txBody>
          </p:sp>
          <p:sp>
            <p:nvSpPr>
              <p:cNvPr id="97" name="文本框 96"/>
              <p:cNvSpPr txBox="1"/>
              <p:nvPr/>
            </p:nvSpPr>
            <p:spPr>
              <a:xfrm>
                <a:off x="6478249" y="1905798"/>
                <a:ext cx="279244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400" dirty="0">
                    <a:solidFill>
                      <a:srgbClr val="5B97ED"/>
                    </a:solidFill>
                  </a:rPr>
                  <a:t>0</a:t>
                </a:r>
                <a:endParaRPr kumimoji="1" lang="zh-CN" altLang="en-US" sz="1400" dirty="0">
                  <a:solidFill>
                    <a:srgbClr val="5B97ED"/>
                  </a:solidFill>
                </a:endParaRPr>
              </a:p>
            </p:txBody>
          </p:sp>
          <p:sp>
            <p:nvSpPr>
              <p:cNvPr id="98" name="文本框 97"/>
              <p:cNvSpPr txBox="1"/>
              <p:nvPr/>
            </p:nvSpPr>
            <p:spPr>
              <a:xfrm>
                <a:off x="2859156" y="2692990"/>
                <a:ext cx="279244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400" dirty="0">
                    <a:solidFill>
                      <a:srgbClr val="5B97ED"/>
                    </a:solidFill>
                  </a:rPr>
                  <a:t>0</a:t>
                </a:r>
                <a:endParaRPr kumimoji="1" lang="zh-CN" altLang="en-US" sz="1400" dirty="0">
                  <a:solidFill>
                    <a:srgbClr val="5B97ED"/>
                  </a:solidFill>
                </a:endParaRPr>
              </a:p>
            </p:txBody>
          </p:sp>
        </p:grpSp>
        <p:sp>
          <p:nvSpPr>
            <p:cNvPr id="83" name="文本框 82"/>
            <p:cNvSpPr txBox="1"/>
            <p:nvPr/>
          </p:nvSpPr>
          <p:spPr>
            <a:xfrm>
              <a:off x="1496451" y="3391592"/>
              <a:ext cx="3032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600">
                  <a:solidFill>
                    <a:srgbClr val="5B97ED"/>
                  </a:solidFill>
                  <a:latin typeface="Alibaba PuHuiTi" charset="-122"/>
                  <a:ea typeface="Alibaba PuHuiTi" charset="-122"/>
                  <a:cs typeface="Alibaba PuHuiTi" charset="-122"/>
                </a:rPr>
                <a:t>1</a:t>
              </a:r>
              <a:endParaRPr kumimoji="1" lang="zh-CN" altLang="en-US" sz="1600" dirty="0">
                <a:solidFill>
                  <a:srgbClr val="5B97ED"/>
                </a:solidFill>
                <a:latin typeface="Alibaba PuHuiTi" charset="-122"/>
                <a:ea typeface="Alibaba PuHuiTi" charset="-122"/>
                <a:cs typeface="Alibaba PuHuiTi" charset="-122"/>
              </a:endParaRPr>
            </a:p>
          </p:txBody>
        </p:sp>
        <p:sp>
          <p:nvSpPr>
            <p:cNvPr id="84" name="文本框 83"/>
            <p:cNvSpPr txBox="1"/>
            <p:nvPr/>
          </p:nvSpPr>
          <p:spPr>
            <a:xfrm>
              <a:off x="1915574" y="3794883"/>
              <a:ext cx="3032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600">
                  <a:solidFill>
                    <a:srgbClr val="5B97ED"/>
                  </a:solidFill>
                  <a:latin typeface="Alibaba PuHuiTi" charset="-122"/>
                  <a:ea typeface="Alibaba PuHuiTi" charset="-122"/>
                  <a:cs typeface="Alibaba PuHuiTi" charset="-122"/>
                </a:rPr>
                <a:t>1</a:t>
              </a:r>
              <a:endParaRPr kumimoji="1" lang="zh-CN" altLang="en-US" sz="1600" dirty="0">
                <a:solidFill>
                  <a:srgbClr val="5B97ED"/>
                </a:solidFill>
                <a:latin typeface="Alibaba PuHuiTi" charset="-122"/>
                <a:ea typeface="Alibaba PuHuiTi" charset="-122"/>
                <a:cs typeface="Alibaba PuHuiTi" charset="-122"/>
              </a:endParaRPr>
            </a:p>
          </p:txBody>
        </p:sp>
        <p:sp>
          <p:nvSpPr>
            <p:cNvPr id="85" name="文本框 84"/>
            <p:cNvSpPr txBox="1"/>
            <p:nvPr/>
          </p:nvSpPr>
          <p:spPr>
            <a:xfrm>
              <a:off x="5339582" y="4541785"/>
              <a:ext cx="3032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600">
                  <a:solidFill>
                    <a:srgbClr val="5B97ED"/>
                  </a:solidFill>
                  <a:latin typeface="Alibaba PuHuiTi" charset="-122"/>
                  <a:ea typeface="Alibaba PuHuiTi" charset="-122"/>
                  <a:cs typeface="Alibaba PuHuiTi" charset="-122"/>
                </a:rPr>
                <a:t>1</a:t>
              </a:r>
              <a:endParaRPr kumimoji="1" lang="zh-CN" altLang="en-US" sz="1600" dirty="0">
                <a:solidFill>
                  <a:srgbClr val="5B97ED"/>
                </a:solidFill>
                <a:latin typeface="Alibaba PuHuiTi" charset="-122"/>
                <a:ea typeface="Alibaba PuHuiTi" charset="-122"/>
                <a:cs typeface="Alibaba PuHuiTi" charset="-122"/>
              </a:endParaRPr>
            </a:p>
          </p:txBody>
        </p:sp>
        <p:sp>
          <p:nvSpPr>
            <p:cNvPr id="86" name="文本框 85"/>
            <p:cNvSpPr txBox="1"/>
            <p:nvPr/>
          </p:nvSpPr>
          <p:spPr>
            <a:xfrm>
              <a:off x="5049173" y="2107782"/>
              <a:ext cx="3032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600" dirty="0">
                  <a:solidFill>
                    <a:srgbClr val="5B97ED"/>
                  </a:solidFill>
                  <a:latin typeface="Alibaba PuHuiTi" charset="-122"/>
                  <a:ea typeface="Alibaba PuHuiTi" charset="-122"/>
                  <a:cs typeface="Alibaba PuHuiTi" charset="-122"/>
                </a:rPr>
                <a:t>1</a:t>
              </a:r>
              <a:endParaRPr kumimoji="1" lang="zh-CN" altLang="en-US" sz="1600" dirty="0">
                <a:solidFill>
                  <a:srgbClr val="5B97ED"/>
                </a:solidFill>
                <a:latin typeface="Alibaba PuHuiTi" charset="-122"/>
                <a:ea typeface="Alibaba PuHuiTi" charset="-122"/>
                <a:cs typeface="Alibaba PuHuiTi" charset="-122"/>
              </a:endParaRPr>
            </a:p>
          </p:txBody>
        </p:sp>
        <p:sp>
          <p:nvSpPr>
            <p:cNvPr id="87" name="文本框 86"/>
            <p:cNvSpPr txBox="1"/>
            <p:nvPr/>
          </p:nvSpPr>
          <p:spPr>
            <a:xfrm>
              <a:off x="5866737" y="2446336"/>
              <a:ext cx="3032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600">
                  <a:solidFill>
                    <a:srgbClr val="5B97ED"/>
                  </a:solidFill>
                  <a:latin typeface="Alibaba PuHuiTi" charset="-122"/>
                  <a:ea typeface="Alibaba PuHuiTi" charset="-122"/>
                  <a:cs typeface="Alibaba PuHuiTi" charset="-122"/>
                </a:rPr>
                <a:t>1</a:t>
              </a:r>
              <a:endParaRPr kumimoji="1" lang="zh-CN" altLang="en-US" sz="1600" dirty="0">
                <a:solidFill>
                  <a:srgbClr val="5B97ED"/>
                </a:solidFill>
                <a:latin typeface="Alibaba PuHuiTi" charset="-122"/>
                <a:ea typeface="Alibaba PuHuiTi" charset="-122"/>
                <a:cs typeface="Alibaba PuHuiTi" charset="-122"/>
              </a:endParaRPr>
            </a:p>
          </p:txBody>
        </p:sp>
        <p:sp>
          <p:nvSpPr>
            <p:cNvPr id="88" name="文本框 87"/>
            <p:cNvSpPr txBox="1"/>
            <p:nvPr/>
          </p:nvSpPr>
          <p:spPr>
            <a:xfrm>
              <a:off x="7113860" y="2453384"/>
              <a:ext cx="3032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600">
                  <a:solidFill>
                    <a:srgbClr val="5B97ED"/>
                  </a:solidFill>
                  <a:latin typeface="Alibaba PuHuiTi" charset="-122"/>
                  <a:ea typeface="Alibaba PuHuiTi" charset="-122"/>
                  <a:cs typeface="Alibaba PuHuiTi" charset="-122"/>
                </a:rPr>
                <a:t>1</a:t>
              </a:r>
              <a:endParaRPr kumimoji="1" lang="zh-CN" altLang="en-US" sz="1600" dirty="0">
                <a:solidFill>
                  <a:srgbClr val="5B97ED"/>
                </a:solidFill>
                <a:latin typeface="Alibaba PuHuiTi" charset="-122"/>
                <a:ea typeface="Alibaba PuHuiTi" charset="-122"/>
                <a:cs typeface="Alibaba PuHuiTi" charset="-122"/>
              </a:endParaRPr>
            </a:p>
          </p:txBody>
        </p:sp>
        <p:sp>
          <p:nvSpPr>
            <p:cNvPr id="89" name="文本框 88"/>
            <p:cNvSpPr txBox="1"/>
            <p:nvPr/>
          </p:nvSpPr>
          <p:spPr>
            <a:xfrm>
              <a:off x="8864893" y="2172624"/>
              <a:ext cx="27283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>
                  <a:solidFill>
                    <a:srgbClr val="5B97ED"/>
                  </a:solidFill>
                  <a:latin typeface="Alibaba PuHuiTi" charset="-122"/>
                  <a:ea typeface="Alibaba PuHuiTi" charset="-122"/>
                  <a:cs typeface="Alibaba PuHuiTi" charset="-122"/>
                </a:rPr>
                <a:t>1</a:t>
              </a:r>
              <a:endParaRPr kumimoji="1" lang="zh-CN" altLang="en-US" sz="1200" dirty="0">
                <a:solidFill>
                  <a:srgbClr val="5B97ED"/>
                </a:solidFill>
                <a:latin typeface="Alibaba PuHuiTi" charset="-122"/>
                <a:ea typeface="Alibaba PuHuiTi" charset="-122"/>
                <a:cs typeface="Alibaba PuHuiTi" charset="-122"/>
              </a:endParaRPr>
            </a:p>
          </p:txBody>
        </p:sp>
        <p:sp>
          <p:nvSpPr>
            <p:cNvPr id="90" name="文本框 89"/>
            <p:cNvSpPr txBox="1"/>
            <p:nvPr/>
          </p:nvSpPr>
          <p:spPr>
            <a:xfrm>
              <a:off x="9914196" y="3322730"/>
              <a:ext cx="27283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>
                  <a:solidFill>
                    <a:srgbClr val="5B97ED"/>
                  </a:solidFill>
                  <a:latin typeface="Alibaba PuHuiTi" charset="-122"/>
                  <a:ea typeface="Alibaba PuHuiTi" charset="-122"/>
                  <a:cs typeface="Alibaba PuHuiTi" charset="-122"/>
                </a:rPr>
                <a:t>1</a:t>
              </a:r>
              <a:endParaRPr kumimoji="1" lang="zh-CN" altLang="en-US" sz="1200" dirty="0">
                <a:solidFill>
                  <a:srgbClr val="5B97ED"/>
                </a:solidFill>
                <a:latin typeface="Alibaba PuHuiTi" charset="-122"/>
                <a:ea typeface="Alibaba PuHuiTi" charset="-122"/>
                <a:cs typeface="Alibaba PuHuiTi" charset="-122"/>
              </a:endParaRPr>
            </a:p>
          </p:txBody>
        </p:sp>
        <p:sp>
          <p:nvSpPr>
            <p:cNvPr id="91" name="文本框 90"/>
            <p:cNvSpPr txBox="1"/>
            <p:nvPr/>
          </p:nvSpPr>
          <p:spPr>
            <a:xfrm>
              <a:off x="11179835" y="4083330"/>
              <a:ext cx="27283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>
                  <a:solidFill>
                    <a:srgbClr val="5B97ED"/>
                  </a:solidFill>
                  <a:latin typeface="Alibaba PuHuiTi" charset="-122"/>
                  <a:ea typeface="Alibaba PuHuiTi" charset="-122"/>
                  <a:cs typeface="Alibaba PuHuiTi" charset="-122"/>
                </a:rPr>
                <a:t>1</a:t>
              </a:r>
              <a:endParaRPr kumimoji="1" lang="zh-CN" altLang="en-US" sz="1200" dirty="0">
                <a:solidFill>
                  <a:srgbClr val="5B97ED"/>
                </a:solidFill>
                <a:latin typeface="Alibaba PuHuiTi" charset="-122"/>
                <a:ea typeface="Alibaba PuHuiTi" charset="-122"/>
                <a:cs typeface="Alibaba PuHuiTi" charset="-122"/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0" y="2963303"/>
            <a:ext cx="12192000" cy="156845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kumimoji="1" lang="zh-CN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百望</a:t>
            </a:r>
            <a:r>
              <a:rPr kumimoji="1" lang="zh-CN" sz="4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云小微接口</a:t>
            </a:r>
            <a:endParaRPr kumimoji="1" lang="en-US" altLang="zh-CN" sz="48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/>
            <a:r>
              <a:rPr kumimoji="1" lang="zh-CN" altLang="en-US" sz="4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产品</a:t>
            </a:r>
            <a:r>
              <a:rPr kumimoji="1" lang="zh-CN" sz="4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培训</a:t>
            </a:r>
            <a:endParaRPr kumimoji="1" lang="zh-CN" altLang="en-US" sz="4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 cstate="screen"/>
          <a:stretch>
            <a:fillRect/>
          </a:stretch>
        </p:blipFill>
        <p:spPr>
          <a:xfrm>
            <a:off x="4856169" y="457629"/>
            <a:ext cx="2479662" cy="6929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文本框 59"/>
          <p:cNvSpPr txBox="1"/>
          <p:nvPr/>
        </p:nvSpPr>
        <p:spPr>
          <a:xfrm>
            <a:off x="3987425" y="640963"/>
            <a:ext cx="52243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目录 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1273863" y="635566"/>
            <a:ext cx="276909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CONTENTS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1957290" y="2908800"/>
            <a:ext cx="7493042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PART2---</a:t>
            </a:r>
            <a:r>
              <a:rPr kumimoji="1" lang="zh-CN" altLang="en-US" sz="3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开发指引</a:t>
            </a:r>
            <a:endParaRPr kumimoji="1"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446968" y="775733"/>
            <a:ext cx="658387" cy="290989"/>
            <a:chOff x="446968" y="775733"/>
            <a:chExt cx="658387" cy="290989"/>
          </a:xfrm>
        </p:grpSpPr>
        <p:sp>
          <p:nvSpPr>
            <p:cNvPr id="68" name="矩形 67"/>
            <p:cNvSpPr/>
            <p:nvPr/>
          </p:nvSpPr>
          <p:spPr>
            <a:xfrm>
              <a:off x="446968" y="775733"/>
              <a:ext cx="515311" cy="14837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0" name="矩形 69"/>
            <p:cNvSpPr/>
            <p:nvPr/>
          </p:nvSpPr>
          <p:spPr>
            <a:xfrm>
              <a:off x="962279" y="924104"/>
              <a:ext cx="143076" cy="142618"/>
            </a:xfrm>
            <a:prstGeom prst="rect">
              <a:avLst/>
            </a:prstGeom>
            <a:solidFill>
              <a:srgbClr val="1DBA5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1957290" y="3789221"/>
            <a:ext cx="68795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PART3---</a:t>
            </a:r>
            <a:r>
              <a:rPr kumimoji="1" lang="zh-CN" altLang="en-US" sz="3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接口联调及接口流程</a:t>
            </a:r>
            <a:endParaRPr kumimoji="1" lang="zh-CN" altLang="en-US" sz="3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951899" y="1951993"/>
            <a:ext cx="7493042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PART1-</a:t>
            </a:r>
            <a:r>
              <a:rPr kumimoji="1" lang="en-US" altLang="zh-CN" sz="3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--</a:t>
            </a:r>
            <a:r>
              <a:rPr kumimoji="1" lang="zh-CN" altLang="en-US" sz="3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开放平台说明</a:t>
            </a:r>
            <a:endParaRPr kumimoji="1"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9134" y="1332108"/>
            <a:ext cx="12182866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9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PART1</a:t>
            </a:r>
            <a:endParaRPr kumimoji="1" lang="zh-CN" altLang="en-US" sz="9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890" y="3418658"/>
            <a:ext cx="12192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4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开放平台说明</a:t>
            </a:r>
            <a:endParaRPr kumimoji="1" lang="zh-CN" sz="4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43610" y="187362"/>
            <a:ext cx="8296802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dirty="0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开放平台说明</a:t>
            </a:r>
            <a:endParaRPr kumimoji="1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rgbClr val="357FE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37235" y="747395"/>
            <a:ext cx="10787380" cy="58845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 smtClean="0"/>
              <a:t>1.</a:t>
            </a:r>
            <a:r>
              <a:rPr lang="zh-CN" altLang="en-US" dirty="0" smtClean="0"/>
              <a:t>渠道下单接口相关</a:t>
            </a:r>
            <a:r>
              <a:rPr lang="en-US" altLang="zh-CN" dirty="0" smtClean="0"/>
              <a:t>SKU</a:t>
            </a:r>
            <a:r>
              <a:rPr lang="zh-CN" altLang="en-US" dirty="0" smtClean="0"/>
              <a:t>，系统自动开通</a:t>
            </a:r>
            <a:r>
              <a:rPr lang="en-US" altLang="zh-CN" dirty="0" smtClean="0"/>
              <a:t>appkey</a:t>
            </a:r>
            <a:r>
              <a:rPr lang="zh-CN" altLang="en-US" dirty="0" smtClean="0"/>
              <a:t>等开发者参数及</a:t>
            </a:r>
            <a:r>
              <a:rPr lang="en-US" altLang="zh-CN" dirty="0" smtClean="0"/>
              <a:t>API</a:t>
            </a:r>
            <a:r>
              <a:rPr lang="zh-CN" altLang="en-US" dirty="0" smtClean="0"/>
              <a:t>接口权限，客户用百望账密登录开放平台</a:t>
            </a:r>
            <a:r>
              <a:rPr lang="en-US" altLang="zh-CN" dirty="0">
                <a:hlinkClick r:id="rId1" action="ppaction://hlinkfile"/>
              </a:rPr>
              <a:t>https://open.baiwang.com/openplatform-ui/login</a:t>
            </a:r>
            <a:r>
              <a:rPr lang="zh-CN" altLang="en-US" dirty="0" smtClean="0"/>
              <a:t>，可以获取开发者参数；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en-US" altLang="zh-CN" dirty="0" smtClean="0"/>
              <a:t>2.开放平台提供有开发好的SDK包，java程序可以直接使用</a:t>
            </a:r>
            <a:r>
              <a:rPr lang="en-US" altLang="zh-CN" dirty="0" smtClean="0"/>
              <a:t>；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en-US" altLang="zh-CN" dirty="0" smtClean="0"/>
              <a:t>3.开放平台接口基于java语言开发，JAVA SDK 需要依赖 Java SE/EE 1.7及以上 （不支持Android平台</a:t>
            </a:r>
            <a:r>
              <a:rPr lang="en-US" altLang="zh-CN" dirty="0" smtClean="0"/>
              <a:t>）；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en-US" altLang="zh-CN" dirty="0" smtClean="0"/>
              <a:t>4.除java外其他语言、安卓环境、JDK1.7以下版本需要使用post</a:t>
            </a:r>
            <a:r>
              <a:rPr lang="en-US" altLang="zh-CN" dirty="0" smtClean="0"/>
              <a:t>请求，客户自行拼接报文；</a:t>
            </a:r>
            <a:endParaRPr lang="en-US" altLang="zh-CN" dirty="0" smtClean="0"/>
          </a:p>
          <a:p>
            <a:r>
              <a:rPr lang="en-US" altLang="zh-CN" dirty="0" smtClean="0"/>
              <a:t>① SDK 调用：将 sdk 引入开发编译器项目中，调用对应 API。</a:t>
            </a:r>
            <a:endParaRPr lang="en-US" altLang="zh-CN" dirty="0" smtClean="0"/>
          </a:p>
          <a:p>
            <a:r>
              <a:rPr lang="en-US" altLang="zh-CN" dirty="0" smtClean="0"/>
              <a:t>② POST 调用：获取 token、sign 签名，调用对应 API</a:t>
            </a:r>
            <a:r>
              <a:rPr lang="en-US" altLang="zh-CN" dirty="0" smtClean="0"/>
              <a:t>。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en-US" altLang="zh-CN" dirty="0" smtClean="0"/>
              <a:t>5.</a:t>
            </a:r>
            <a:r>
              <a:rPr lang="zh-CN" altLang="en-US" dirty="0" smtClean="0"/>
              <a:t>预生产环境地址：</a:t>
            </a:r>
            <a:r>
              <a:rPr lang="en-US" altLang="zh-CN" dirty="0">
                <a:hlinkClick r:id="rId2"/>
              </a:rPr>
              <a:t>https://</a:t>
            </a:r>
            <a:r>
              <a:rPr lang="en-US" altLang="zh-CN" dirty="0" smtClean="0">
                <a:hlinkClick r:id="rId2"/>
              </a:rPr>
              <a:t>www-pre.baiwang.com/mainsite/src/html/login/login.html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en-US" altLang="zh-CN" dirty="0"/>
              <a:t> </a:t>
            </a:r>
            <a:r>
              <a:rPr lang="en-US" altLang="zh-CN" dirty="0" smtClean="0"/>
              <a:t> </a:t>
            </a:r>
            <a:r>
              <a:rPr lang="zh-CN" altLang="en-US" dirty="0" smtClean="0"/>
              <a:t>生产环境地址：</a:t>
            </a:r>
            <a:r>
              <a:rPr lang="en-US" altLang="zh-CN" dirty="0" smtClean="0"/>
              <a:t>www.baiwang.com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en-US" altLang="zh-CN" dirty="0" smtClean="0"/>
              <a:t>6.</a:t>
            </a:r>
            <a:r>
              <a:rPr lang="zh-CN" altLang="en-US" dirty="0" smtClean="0">
                <a:solidFill>
                  <a:srgbClr val="FF0000"/>
                </a:solidFill>
              </a:rPr>
              <a:t>开发者参数获取路径</a:t>
            </a:r>
            <a:r>
              <a:rPr lang="zh-CN" altLang="en-US" dirty="0" smtClean="0"/>
              <a:t>：使用百望云开发者账号登录百望云，点击</a:t>
            </a:r>
            <a:r>
              <a:rPr lang="en-US" altLang="zh-CN" dirty="0" smtClean="0"/>
              <a:t>【</a:t>
            </a:r>
            <a:r>
              <a:rPr lang="zh-CN" altLang="en-US" dirty="0" smtClean="0"/>
              <a:t>开放平台</a:t>
            </a:r>
            <a:r>
              <a:rPr lang="en-US" altLang="zh-CN" dirty="0" smtClean="0"/>
              <a:t>】</a:t>
            </a:r>
            <a:r>
              <a:rPr lang="zh-CN" altLang="en-US" dirty="0" smtClean="0"/>
              <a:t>模块，跳转到开放平台，</a:t>
            </a:r>
            <a:r>
              <a:rPr lang="en-US" altLang="zh-CN" dirty="0" smtClean="0"/>
              <a:t>在【开发者管理】—【开发者参数】</a:t>
            </a:r>
            <a:r>
              <a:rPr lang="en-US" altLang="zh-CN" dirty="0" smtClean="0"/>
              <a:t>里查看。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en-US" altLang="zh-CN" dirty="0" smtClean="0"/>
              <a:t>7.</a:t>
            </a:r>
            <a:r>
              <a:rPr lang="zh-CN" altLang="en-US" dirty="0"/>
              <a:t>请求</a:t>
            </a:r>
            <a:r>
              <a:rPr lang="zh-CN" altLang="en-US" dirty="0" smtClean="0"/>
              <a:t>地址：</a:t>
            </a:r>
            <a:endParaRPr lang="zh-CN" altLang="en-US" dirty="0"/>
          </a:p>
          <a:p>
            <a:pPr>
              <a:lnSpc>
                <a:spcPct val="150000"/>
              </a:lnSpc>
            </a:pPr>
            <a:r>
              <a:rPr lang="zh-CN" altLang="en-US" dirty="0"/>
              <a:t>正式环境：</a:t>
            </a:r>
            <a:r>
              <a:rPr lang="en-US" altLang="zh-CN" dirty="0"/>
              <a:t>https://openapi.baiwang.com/router/rest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沙箱环境：</a:t>
            </a:r>
            <a:r>
              <a:rPr lang="en-US" altLang="zh-CN" dirty="0">
                <a:hlinkClick r:id="rId3"/>
              </a:rPr>
              <a:t>https://</a:t>
            </a:r>
            <a:r>
              <a:rPr lang="en-US" altLang="zh-CN" dirty="0" smtClean="0">
                <a:hlinkClick r:id="rId3"/>
              </a:rPr>
              <a:t>sandbox-openapi.baiwang.com/router/rest</a:t>
            </a:r>
            <a:endParaRPr lang="en-US" altLang="zh-CN" dirty="0" smtClean="0"/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43610" y="187362"/>
            <a:ext cx="8296802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dirty="0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开放平台说明</a:t>
            </a:r>
            <a:endParaRPr kumimoji="1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rgbClr val="357FE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415" y="2274570"/>
            <a:ext cx="10422890" cy="411988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32410" y="790900"/>
            <a:ext cx="10397490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 smtClean="0"/>
              <a:t>8.</a:t>
            </a:r>
            <a:r>
              <a:rPr lang="zh-CN" altLang="en-US" dirty="0" smtClean="0"/>
              <a:t>开放平台有密码强校验开关，开启后开发者账号密码必须正确，关闭后不校验密码正确性；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en-US" altLang="zh-CN" dirty="0"/>
              <a:t>9</a:t>
            </a:r>
            <a:r>
              <a:rPr lang="en-US" altLang="zh-CN" dirty="0" smtClean="0"/>
              <a:t>.QPS</a:t>
            </a:r>
            <a:r>
              <a:rPr lang="zh-CN" altLang="en-US" dirty="0" smtClean="0"/>
              <a:t>限流（并发量）：同步及异步默认值均为</a:t>
            </a:r>
            <a:r>
              <a:rPr lang="en-US" altLang="zh-CN" dirty="0" smtClean="0"/>
              <a:t>50</a:t>
            </a:r>
            <a:r>
              <a:rPr lang="zh-CN" altLang="en-US" dirty="0" smtClean="0"/>
              <a:t>，即每秒可请求</a:t>
            </a:r>
            <a:r>
              <a:rPr lang="en-US" altLang="zh-CN" dirty="0" smtClean="0"/>
              <a:t>50</a:t>
            </a:r>
            <a:r>
              <a:rPr lang="zh-CN" altLang="en-US" dirty="0" smtClean="0"/>
              <a:t>次，大于该值会报错请求过于频繁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9134" y="1332108"/>
            <a:ext cx="12182866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9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PART2</a:t>
            </a:r>
            <a:endParaRPr kumimoji="1" lang="zh-CN" altLang="en-US" sz="9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890" y="3418658"/>
            <a:ext cx="12192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4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开发指引</a:t>
            </a:r>
            <a:endParaRPr kumimoji="1" lang="zh-CN" sz="4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43610" y="187362"/>
            <a:ext cx="8296802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dirty="0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开发指引</a:t>
            </a:r>
            <a:endParaRPr kumimoji="1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rgbClr val="357FE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5454" y="960963"/>
            <a:ext cx="9421092" cy="49360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500854" y="2967335"/>
            <a:ext cx="319029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0" cap="none" spc="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POST</a:t>
            </a:r>
            <a:r>
              <a:rPr lang="zh-CN" altLang="en-US" sz="5400" b="0" cap="none" spc="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请求</a:t>
            </a:r>
            <a:endParaRPr lang="zh-CN" alt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43610" y="187362"/>
            <a:ext cx="8296802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600" b="1" noProof="0" dirty="0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POST</a:t>
            </a:r>
            <a:r>
              <a:rPr kumimoji="1" lang="zh-CN" altLang="en-US" sz="2600" b="1" noProof="0" dirty="0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请求</a:t>
            </a:r>
            <a:r>
              <a:rPr kumimoji="1" lang="en-US" altLang="zh-CN" sz="2600" b="1" noProof="0" dirty="0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kumimoji="1" lang="zh-CN" altLang="en-US" sz="2600" b="1" noProof="0" dirty="0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获取</a:t>
            </a:r>
            <a:r>
              <a:rPr kumimoji="1" lang="en-US" altLang="zh-CN" sz="2600" b="1" noProof="0" dirty="0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token</a:t>
            </a:r>
            <a:r>
              <a:rPr kumimoji="1" lang="zh-CN" altLang="en-US" sz="2600" b="1" noProof="0" dirty="0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密码加密</a:t>
            </a:r>
            <a:endParaRPr kumimoji="1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rgbClr val="357FE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617788" y="1635846"/>
            <a:ext cx="65" cy="37955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38088" rIns="0" bIns="6348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943610" y="1052945"/>
            <a:ext cx="10648026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 smtClean="0"/>
              <a:t>1.POST</a:t>
            </a:r>
            <a:r>
              <a:rPr lang="zh-CN" altLang="en-US" dirty="0" smtClean="0"/>
              <a:t>请求需要对密码进行加密，不能直接传值明文密码；密码不对或者加密错误会报</a:t>
            </a:r>
            <a:r>
              <a:rPr lang="zh-CN" altLang="en-US" dirty="0"/>
              <a:t>错：认证失败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en-US" altLang="zh-CN" b="1" dirty="0" smtClean="0">
                <a:solidFill>
                  <a:srgbClr val="EA4F4E"/>
                </a:solidFill>
              </a:rPr>
              <a:t>2.</a:t>
            </a:r>
            <a:r>
              <a:rPr lang="zh-CN" altLang="en-US" b="1" dirty="0" smtClean="0">
                <a:solidFill>
                  <a:srgbClr val="EA4F4E"/>
                </a:solidFill>
              </a:rPr>
              <a:t>加密</a:t>
            </a:r>
            <a:r>
              <a:rPr lang="zh-CN" altLang="en-US" b="1" dirty="0">
                <a:solidFill>
                  <a:srgbClr val="EA4F4E"/>
                </a:solidFill>
              </a:rPr>
              <a:t>规则：明文密码</a:t>
            </a:r>
            <a:r>
              <a:rPr lang="en-US" altLang="zh-CN" b="1" dirty="0">
                <a:solidFill>
                  <a:srgbClr val="EA4F4E"/>
                </a:solidFill>
              </a:rPr>
              <a:t>+</a:t>
            </a:r>
            <a:r>
              <a:rPr lang="zh-CN" altLang="en-US" b="1" dirty="0">
                <a:solidFill>
                  <a:srgbClr val="EA4F4E"/>
                </a:solidFill>
              </a:rPr>
              <a:t>盐值进行</a:t>
            </a:r>
            <a:r>
              <a:rPr lang="en-US" altLang="zh-CN" b="1" dirty="0">
                <a:solidFill>
                  <a:srgbClr val="EA4F4E"/>
                </a:solidFill>
              </a:rPr>
              <a:t>MD5</a:t>
            </a:r>
            <a:r>
              <a:rPr lang="zh-CN" altLang="en-US" b="1" dirty="0">
                <a:solidFill>
                  <a:srgbClr val="EA4F4E"/>
                </a:solidFill>
              </a:rPr>
              <a:t>进行加密，加密之后的</a:t>
            </a:r>
            <a:r>
              <a:rPr lang="zh-CN" altLang="en-US" b="1" dirty="0" smtClean="0">
                <a:solidFill>
                  <a:srgbClr val="EA4F4E"/>
                </a:solidFill>
              </a:rPr>
              <a:t>密文再</a:t>
            </a:r>
            <a:r>
              <a:rPr lang="zh-CN" altLang="en-US" b="1" dirty="0">
                <a:solidFill>
                  <a:srgbClr val="EA4F4E"/>
                </a:solidFill>
              </a:rPr>
              <a:t>进行</a:t>
            </a:r>
            <a:r>
              <a:rPr lang="en-US" altLang="zh-CN" b="1" dirty="0">
                <a:solidFill>
                  <a:srgbClr val="EA4F4E"/>
                </a:solidFill>
              </a:rPr>
              <a:t>SHA-1</a:t>
            </a:r>
            <a:r>
              <a:rPr lang="zh-CN" altLang="en-US" b="1" dirty="0" smtClean="0">
                <a:solidFill>
                  <a:srgbClr val="EA4F4E"/>
                </a:solidFill>
              </a:rPr>
              <a:t>加密；</a:t>
            </a:r>
            <a:r>
              <a:rPr lang="en-US" altLang="zh-CN" b="1" dirty="0">
                <a:solidFill>
                  <a:srgbClr val="EA4F4E"/>
                </a:solidFill>
              </a:rPr>
              <a:t> </a:t>
            </a:r>
            <a:r>
              <a:rPr lang="en-US" altLang="zh-CN" b="1" dirty="0" smtClean="0">
                <a:solidFill>
                  <a:srgbClr val="EA4F4E"/>
                </a:solidFill>
              </a:rPr>
              <a:t>MD5</a:t>
            </a:r>
            <a:r>
              <a:rPr lang="zh-CN" altLang="en-US" b="1" dirty="0" smtClean="0">
                <a:solidFill>
                  <a:srgbClr val="EA4F4E"/>
                </a:solidFill>
              </a:rPr>
              <a:t>加密后的密文取</a:t>
            </a:r>
            <a:r>
              <a:rPr lang="en-US" altLang="zh-CN" b="1" dirty="0" smtClean="0">
                <a:solidFill>
                  <a:srgbClr val="EA4F4E"/>
                </a:solidFill>
              </a:rPr>
              <a:t>32</a:t>
            </a:r>
            <a:r>
              <a:rPr lang="zh-CN" altLang="en-US" b="1" dirty="0" smtClean="0">
                <a:solidFill>
                  <a:srgbClr val="EA4F4E"/>
                </a:solidFill>
              </a:rPr>
              <a:t>位小写值；</a:t>
            </a:r>
            <a:endParaRPr lang="zh-CN" altLang="en-US" b="1" dirty="0">
              <a:solidFill>
                <a:srgbClr val="EA4F4E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07950" y="2623820"/>
            <a:ext cx="6049010" cy="316357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739255" y="2623820"/>
            <a:ext cx="5394325" cy="316992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836660" y="2766060"/>
            <a:ext cx="3138805" cy="4013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（输入</a:t>
            </a:r>
            <a:r>
              <a:rPr lang="en-US" altLang="zh-CN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MD5</a:t>
            </a:r>
            <a:r>
              <a:rPr lang="zh-CN" altLang="en-US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加密结果执行加密）</a:t>
            </a:r>
            <a:endParaRPr lang="zh-CN" altLang="en-US" sz="14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43610" y="187362"/>
            <a:ext cx="8296802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600" b="1" noProof="0" dirty="0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POST</a:t>
            </a:r>
            <a:r>
              <a:rPr kumimoji="1" lang="zh-CN" altLang="en-US" sz="2600" b="1" noProof="0" dirty="0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请求</a:t>
            </a:r>
            <a:r>
              <a:rPr kumimoji="1" lang="en-US" altLang="zh-CN" sz="2600" b="1" noProof="0" dirty="0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kumimoji="1" lang="zh-CN" altLang="en-US" sz="2600" b="1" noProof="0" dirty="0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参数拼接</a:t>
            </a:r>
            <a:r>
              <a:rPr kumimoji="1" lang="en-US" altLang="zh-CN" sz="2600" b="1" noProof="0" dirty="0" err="1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url</a:t>
            </a:r>
            <a:endParaRPr kumimoji="1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rgbClr val="357FE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617788" y="1635846"/>
            <a:ext cx="65" cy="37955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38088" rIns="0" bIns="6348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943610" y="1334182"/>
          <a:ext cx="10509480" cy="3300517"/>
        </p:xfrm>
        <a:graphic>
          <a:graphicData uri="http://schemas.openxmlformats.org/drawingml/2006/table">
            <a:tbl>
              <a:tblPr/>
              <a:tblGrid>
                <a:gridCol w="2627370"/>
                <a:gridCol w="1610620"/>
                <a:gridCol w="3644120"/>
                <a:gridCol w="2627370"/>
              </a:tblGrid>
              <a:tr h="254957"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solidFill>
                            <a:srgbClr val="01081A"/>
                          </a:solidFill>
                          <a:effectLst/>
                        </a:rPr>
                        <a:t>Key</a:t>
                      </a:r>
                      <a:endParaRPr lang="en-US" b="1">
                        <a:solidFill>
                          <a:srgbClr val="01081A"/>
                        </a:solidFill>
                        <a:effectLst/>
                      </a:endParaRPr>
                    </a:p>
                  </a:txBody>
                  <a:tcPr marL="76200" marR="106680" marB="38100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b="1" dirty="0">
                          <a:solidFill>
                            <a:srgbClr val="01081A"/>
                          </a:solidFill>
                          <a:effectLst/>
                        </a:rPr>
                        <a:t>类型</a:t>
                      </a:r>
                      <a:endParaRPr lang="zh-CN" altLang="en-US" b="1" dirty="0">
                        <a:solidFill>
                          <a:srgbClr val="01081A"/>
                        </a:solidFill>
                        <a:effectLst/>
                      </a:endParaRPr>
                    </a:p>
                  </a:txBody>
                  <a:tcPr marL="76200" marR="106680" marB="38100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b="1">
                          <a:solidFill>
                            <a:srgbClr val="01081A"/>
                          </a:solidFill>
                          <a:effectLst/>
                        </a:rPr>
                        <a:t>说明</a:t>
                      </a:r>
                      <a:endParaRPr lang="zh-CN" altLang="en-US" b="1">
                        <a:solidFill>
                          <a:srgbClr val="01081A"/>
                        </a:solidFill>
                        <a:effectLst/>
                      </a:endParaRPr>
                    </a:p>
                  </a:txBody>
                  <a:tcPr marL="76200" marR="106680" marB="38100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b="1">
                          <a:solidFill>
                            <a:srgbClr val="01081A"/>
                          </a:solidFill>
                          <a:effectLst/>
                        </a:rPr>
                        <a:t>示例</a:t>
                      </a:r>
                      <a:endParaRPr lang="zh-CN" altLang="en-US" b="1">
                        <a:solidFill>
                          <a:srgbClr val="01081A"/>
                        </a:solidFill>
                        <a:effectLst/>
                      </a:endParaRPr>
                    </a:p>
                  </a:txBody>
                  <a:tcPr marL="76200" marR="106680" marB="38100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249533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method</a:t>
                      </a:r>
                      <a:endParaRPr lang="en-US">
                        <a:effectLst/>
                      </a:endParaRPr>
                    </a:p>
                  </a:txBody>
                  <a:tcPr marL="76200" marR="106680" marT="38100" marB="38100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string</a:t>
                      </a:r>
                      <a:endParaRPr lang="en-US">
                        <a:effectLst/>
                      </a:endParaRPr>
                    </a:p>
                  </a:txBody>
                  <a:tcPr marL="76200" marR="106680" marT="38100" marB="38100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>
                          <a:effectLst/>
                        </a:rPr>
                        <a:t>调用方法名</a:t>
                      </a:r>
                      <a:endParaRPr lang="zh-CN" altLang="en-US">
                        <a:effectLst/>
                      </a:endParaRPr>
                    </a:p>
                  </a:txBody>
                  <a:tcPr marL="76200" marR="106680" marT="38100" marB="38100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baiwang.oauth.token</a:t>
                      </a:r>
                      <a:endParaRPr lang="en-US">
                        <a:effectLst/>
                      </a:endParaRPr>
                    </a:p>
                  </a:txBody>
                  <a:tcPr marL="76200" marR="106680" marT="38100" marB="38100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5030">
                <a:tc>
                  <a:txBody>
                    <a:bodyPr/>
                    <a:lstStyle/>
                    <a:p>
                      <a:pPr algn="l"/>
                      <a:r>
                        <a:rPr lang="en-US" dirty="0" err="1">
                          <a:effectLst/>
                        </a:rPr>
                        <a:t>grant_type</a:t>
                      </a:r>
                      <a:endParaRPr lang="en-US" dirty="0">
                        <a:effectLst/>
                      </a:endParaRPr>
                    </a:p>
                  </a:txBody>
                  <a:tcPr marL="76200" marR="106680" marT="38100" marB="38100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string</a:t>
                      </a:r>
                      <a:endParaRPr lang="en-US" dirty="0">
                        <a:effectLst/>
                      </a:endParaRPr>
                    </a:p>
                  </a:txBody>
                  <a:tcPr marL="76200" marR="106680" marT="38100" marB="38100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err="1">
                          <a:effectLst/>
                        </a:rPr>
                        <a:t>grant_type</a:t>
                      </a:r>
                      <a:r>
                        <a:rPr lang="zh-CN" altLang="en-US" dirty="0" err="1">
                          <a:effectLst/>
                        </a:rPr>
                        <a:t>固定为</a:t>
                      </a:r>
                      <a:r>
                        <a:rPr lang="en-US" dirty="0">
                          <a:effectLst/>
                        </a:rPr>
                        <a:t>password</a:t>
                      </a:r>
                      <a:endParaRPr lang="en-US" dirty="0">
                        <a:effectLst/>
                      </a:endParaRPr>
                    </a:p>
                  </a:txBody>
                  <a:tcPr marL="76200" marR="106680" marT="38100" marB="38100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password</a:t>
                      </a:r>
                      <a:endParaRPr lang="en-US">
                        <a:effectLst/>
                      </a:endParaRPr>
                    </a:p>
                  </a:txBody>
                  <a:tcPr marL="76200" marR="106680" marT="38100" marB="38100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227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client_id</a:t>
                      </a:r>
                      <a:endParaRPr lang="en-US">
                        <a:effectLst/>
                      </a:endParaRPr>
                    </a:p>
                  </a:txBody>
                  <a:tcPr marL="76200" marR="106680" marT="38100" marB="38100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string</a:t>
                      </a:r>
                      <a:endParaRPr lang="en-US">
                        <a:effectLst/>
                      </a:endParaRPr>
                    </a:p>
                  </a:txBody>
                  <a:tcPr marL="76200" marR="106680" marT="38100" marB="38100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 err="1" smtClean="0">
                          <a:effectLst/>
                        </a:rPr>
                        <a:t>appkey</a:t>
                      </a:r>
                      <a:endParaRPr lang="en-US" altLang="zh-CN" dirty="0">
                        <a:effectLst/>
                      </a:endParaRPr>
                    </a:p>
                  </a:txBody>
                  <a:tcPr marL="76200" marR="106680" marT="38100" marB="38100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>
                          <a:effectLst/>
                          <a:sym typeface="+mn-ea"/>
                        </a:rPr>
                        <a:t>1002948</a:t>
                      </a:r>
                      <a:endParaRPr lang="en-US" dirty="0">
                        <a:effectLst/>
                      </a:endParaRPr>
                    </a:p>
                  </a:txBody>
                  <a:tcPr marL="76200" marR="106680" marT="38100" marB="38100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2120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version</a:t>
                      </a:r>
                      <a:endParaRPr lang="en-US">
                        <a:effectLst/>
                      </a:endParaRPr>
                    </a:p>
                  </a:txBody>
                  <a:tcPr marL="76200" marR="106680" marT="38100" marB="38100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string</a:t>
                      </a:r>
                      <a:endParaRPr lang="en-US">
                        <a:effectLst/>
                      </a:endParaRPr>
                    </a:p>
                  </a:txBody>
                  <a:tcPr marL="76200" marR="106680" marT="38100" marB="38100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>
                          <a:effectLst/>
                        </a:rPr>
                        <a:t>版本号</a:t>
                      </a:r>
                      <a:endParaRPr lang="zh-CN" altLang="en-US" dirty="0">
                        <a:effectLst/>
                      </a:endParaRPr>
                    </a:p>
                  </a:txBody>
                  <a:tcPr marL="76200" marR="106680" marT="38100" marB="38100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6.0</a:t>
                      </a:r>
                      <a:endParaRPr lang="en-US" dirty="0">
                        <a:effectLst/>
                      </a:endParaRPr>
                    </a:p>
                  </a:txBody>
                  <a:tcPr marL="76200" marR="106680" marT="38100" marB="38100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04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timestamp</a:t>
                      </a:r>
                      <a:endParaRPr lang="en-US">
                        <a:effectLst/>
                      </a:endParaRPr>
                    </a:p>
                  </a:txBody>
                  <a:tcPr marL="76200" marR="106680" marT="38100" marB="38100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string</a:t>
                      </a:r>
                      <a:endParaRPr lang="en-US" dirty="0">
                        <a:effectLst/>
                      </a:endParaRPr>
                    </a:p>
                  </a:txBody>
                  <a:tcPr marL="76200" marR="106680" marT="38100" marB="38100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>
                          <a:effectLst/>
                        </a:rPr>
                        <a:t>当前时间，精确到毫秒，格式需与示例保持</a:t>
                      </a:r>
                      <a:r>
                        <a:rPr lang="zh-CN" altLang="en-US" dirty="0" smtClean="0">
                          <a:effectLst/>
                        </a:rPr>
                        <a:t>一致，</a:t>
                      </a:r>
                      <a:r>
                        <a:rPr lang="en-US" altLang="zh-CN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Unix</a:t>
                      </a:r>
                      <a:r>
                        <a:rPr lang="zh-CN" alt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时间戳</a:t>
                      </a:r>
                      <a:r>
                        <a:rPr lang="zh-CN" altLang="en-US" dirty="0" smtClean="0">
                          <a:effectLst/>
                        </a:rPr>
                        <a:t>时间戳</a:t>
                      </a:r>
                      <a:endParaRPr lang="en-US" altLang="zh-CN" dirty="0" smtClean="0">
                        <a:effectLst/>
                      </a:endParaRPr>
                    </a:p>
                    <a:p>
                      <a:pPr algn="l"/>
                      <a:r>
                        <a:rPr lang="zh-CN" altLang="en-US" b="1" dirty="0" smtClean="0">
                          <a:solidFill>
                            <a:schemeClr val="accent2"/>
                          </a:solidFill>
                          <a:effectLst/>
                        </a:rPr>
                        <a:t>有效期为当前时间前后</a:t>
                      </a:r>
                      <a:r>
                        <a:rPr lang="en-US" altLang="zh-CN" b="1" dirty="0" smtClean="0">
                          <a:solidFill>
                            <a:schemeClr val="accent2"/>
                          </a:solidFill>
                          <a:effectLst/>
                        </a:rPr>
                        <a:t>5</a:t>
                      </a:r>
                      <a:r>
                        <a:rPr lang="zh-CN" altLang="en-US" b="1" dirty="0" smtClean="0">
                          <a:solidFill>
                            <a:schemeClr val="accent2"/>
                          </a:solidFill>
                          <a:effectLst/>
                        </a:rPr>
                        <a:t>分钟，否则会报非法请求</a:t>
                      </a:r>
                      <a:endParaRPr lang="zh-CN" altLang="en-US" b="1" dirty="0">
                        <a:solidFill>
                          <a:schemeClr val="accent2"/>
                        </a:solidFill>
                        <a:effectLst/>
                      </a:endParaRPr>
                    </a:p>
                  </a:txBody>
                  <a:tcPr marL="76200" marR="106680" marT="38100" marB="38100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effectLst/>
                          <a:sym typeface="+mn-ea"/>
                        </a:rPr>
                        <a:t>1718437029000</a:t>
                      </a:r>
                      <a:endParaRPr lang="en-US" dirty="0">
                        <a:effectLst/>
                      </a:endParaRPr>
                    </a:p>
                  </a:txBody>
                  <a:tcPr marL="76200" marR="106680" marT="38100" marB="38100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943610" y="923330"/>
            <a:ext cx="4638098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8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Arial" panose="020B0604020202020204" pitchFamily="34" charset="0"/>
              </a:rPr>
              <a:t>获取access_token请求参数说明</a:t>
            </a:r>
            <a:endParaRPr kumimoji="0" lang="zh-CN" altLang="zh-CN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49744" y="4768553"/>
            <a:ext cx="10603345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dirty="0">
                <a:solidFill>
                  <a:srgbClr val="222222"/>
                </a:solidFill>
                <a:latin typeface="Arial" panose="020B0604020202020204" pitchFamily="34" charset="0"/>
                <a:ea typeface="PingFangSC-Regular"/>
              </a:rPr>
              <a:t>请求地址：</a:t>
            </a:r>
            <a:br>
              <a:rPr lang="zh-CN" altLang="zh-CN" dirty="0">
                <a:solidFill>
                  <a:srgbClr val="222222"/>
                </a:solidFill>
                <a:latin typeface="Arial" panose="020B0604020202020204" pitchFamily="34" charset="0"/>
                <a:ea typeface="PingFangSC-Regular"/>
              </a:rPr>
            </a:br>
            <a:r>
              <a:rPr lang="zh-CN" altLang="zh-CN" dirty="0">
                <a:solidFill>
                  <a:srgbClr val="222222"/>
                </a:solidFill>
                <a:latin typeface="Arial" panose="020B0604020202020204" pitchFamily="34" charset="0"/>
                <a:ea typeface="PingFangSC-Regular"/>
                <a:hlinkClick r:id="rId1"/>
              </a:rPr>
              <a:t>https://sandbox-openapi.baiwang.com/router/rest?timestamp=1718437029000&amp;method=baiwang.oauth.token&amp;grant_type=password&amp;version=6.0&amp;client_id=1002948</a:t>
            </a:r>
            <a:endParaRPr lang="zh-CN" altLang="zh-CN" dirty="0">
              <a:solidFill>
                <a:srgbClr val="222222"/>
              </a:solidFill>
              <a:latin typeface="Arial" panose="020B0604020202020204" pitchFamily="34" charset="0"/>
              <a:ea typeface="PingFangSC-Regular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43610" y="187362"/>
            <a:ext cx="8296802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600" b="1" noProof="0" dirty="0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POST</a:t>
            </a:r>
            <a:r>
              <a:rPr kumimoji="1" lang="zh-CN" altLang="en-US" sz="2600" b="1" noProof="0" dirty="0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请求</a:t>
            </a:r>
            <a:r>
              <a:rPr kumimoji="1" lang="en-US" altLang="zh-CN" sz="2600" b="1" noProof="0" dirty="0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kumimoji="1" lang="zh-CN" altLang="en-US" sz="2600" b="1" dirty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组装</a:t>
            </a:r>
            <a:r>
              <a:rPr kumimoji="1" lang="en-US" altLang="zh-CN" sz="2600" b="1" noProof="0" dirty="0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token</a:t>
            </a:r>
            <a:r>
              <a:rPr kumimoji="1" lang="zh-CN" altLang="en-US" sz="2600" b="1" noProof="0" dirty="0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请求报文</a:t>
            </a:r>
            <a:endParaRPr kumimoji="1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rgbClr val="357FE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617788" y="1635846"/>
            <a:ext cx="65" cy="37955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38088" rIns="0" bIns="6348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956945" y="1571625"/>
          <a:ext cx="10183495" cy="3230245"/>
        </p:xfrm>
        <a:graphic>
          <a:graphicData uri="http://schemas.openxmlformats.org/drawingml/2006/table">
            <a:tbl>
              <a:tblPr/>
              <a:tblGrid>
                <a:gridCol w="2546350"/>
                <a:gridCol w="1525270"/>
                <a:gridCol w="3566160"/>
                <a:gridCol w="2545715"/>
              </a:tblGrid>
              <a:tr h="368300"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solidFill>
                            <a:srgbClr val="01081A"/>
                          </a:solidFill>
                          <a:effectLst/>
                        </a:rPr>
                        <a:t>Key</a:t>
                      </a:r>
                      <a:endParaRPr lang="en-US" b="1">
                        <a:solidFill>
                          <a:srgbClr val="01081A"/>
                        </a:solidFill>
                        <a:effectLst/>
                      </a:endParaRPr>
                    </a:p>
                  </a:txBody>
                  <a:tcPr marL="76200" marR="106680" marB="38100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b="1" dirty="0">
                          <a:solidFill>
                            <a:srgbClr val="01081A"/>
                          </a:solidFill>
                          <a:effectLst/>
                        </a:rPr>
                        <a:t>类型</a:t>
                      </a:r>
                      <a:endParaRPr lang="zh-CN" altLang="en-US" b="1" dirty="0">
                        <a:solidFill>
                          <a:srgbClr val="01081A"/>
                        </a:solidFill>
                        <a:effectLst/>
                      </a:endParaRPr>
                    </a:p>
                  </a:txBody>
                  <a:tcPr marL="76200" marR="106680" marB="38100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b="1">
                          <a:solidFill>
                            <a:srgbClr val="01081A"/>
                          </a:solidFill>
                          <a:effectLst/>
                        </a:rPr>
                        <a:t>说明</a:t>
                      </a:r>
                      <a:endParaRPr lang="zh-CN" altLang="en-US" b="1">
                        <a:solidFill>
                          <a:srgbClr val="01081A"/>
                        </a:solidFill>
                        <a:effectLst/>
                      </a:endParaRPr>
                    </a:p>
                  </a:txBody>
                  <a:tcPr marL="76200" marR="106680" marB="38100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b="1" dirty="0">
                          <a:solidFill>
                            <a:srgbClr val="01081A"/>
                          </a:solidFill>
                          <a:effectLst/>
                        </a:rPr>
                        <a:t>示例</a:t>
                      </a:r>
                      <a:endParaRPr lang="zh-CN" altLang="en-US" b="1" dirty="0">
                        <a:solidFill>
                          <a:srgbClr val="01081A"/>
                        </a:solidFill>
                        <a:effectLst/>
                      </a:endParaRPr>
                    </a:p>
                  </a:txBody>
                  <a:tcPr marL="76200" marR="106680" marB="38100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641985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client_secret</a:t>
                      </a:r>
                      <a:endParaRPr lang="en-US">
                        <a:effectLst/>
                      </a:endParaRPr>
                    </a:p>
                  </a:txBody>
                  <a:tcPr marL="76200" marR="106680" marT="38100" marB="38100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string</a:t>
                      </a:r>
                      <a:endParaRPr lang="en-US" dirty="0">
                        <a:effectLst/>
                      </a:endParaRPr>
                    </a:p>
                  </a:txBody>
                  <a:tcPr marL="76200" marR="106680" marT="38100" marB="38100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>
                          <a:effectLst/>
                        </a:rPr>
                        <a:t>appsecret</a:t>
                      </a:r>
                      <a:endParaRPr lang="zh-CN" altLang="en-US" dirty="0">
                        <a:effectLst/>
                      </a:endParaRPr>
                    </a:p>
                  </a:txBody>
                  <a:tcPr marL="76200" marR="106680" marT="38100" marB="38100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effectLst/>
                          <a:sym typeface="+mn-ea"/>
                        </a:rPr>
                        <a:t>223998c6-5b76-4724-b5c9-666ff4215b45</a:t>
                      </a:r>
                      <a:endParaRPr lang="en-US" dirty="0">
                        <a:effectLst/>
                      </a:endParaRPr>
                    </a:p>
                  </a:txBody>
                  <a:tcPr marL="76200" marR="106680" marT="38100" marB="38100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2620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username</a:t>
                      </a:r>
                      <a:endParaRPr lang="en-US">
                        <a:effectLst/>
                      </a:endParaRPr>
                    </a:p>
                  </a:txBody>
                  <a:tcPr marL="76200" marR="106680" marT="38100" marB="38100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string</a:t>
                      </a:r>
                      <a:endParaRPr lang="en-US">
                        <a:effectLst/>
                      </a:endParaRPr>
                    </a:p>
                  </a:txBody>
                  <a:tcPr marL="76200" marR="106680" marT="38100" marB="38100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>
                          <a:effectLst/>
                        </a:rPr>
                        <a:t>（有开发者平台权限的）用户名，一般为租户管理员账号</a:t>
                      </a:r>
                      <a:endParaRPr lang="zh-CN" altLang="en-US" dirty="0">
                        <a:effectLst/>
                      </a:endParaRPr>
                    </a:p>
                  </a:txBody>
                  <a:tcPr marL="76200" marR="106680" marT="38100" marB="38100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>
                          <a:effectLst/>
                          <a:sym typeface="+mn-ea"/>
                        </a:rPr>
                        <a:t>admin_3sylog6ryv8cs</a:t>
                      </a:r>
                      <a:endParaRPr lang="en-US" dirty="0">
                        <a:effectLst/>
                      </a:endParaRPr>
                    </a:p>
                  </a:txBody>
                  <a:tcPr marL="76200" marR="106680" marT="38100" marB="38100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77340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password</a:t>
                      </a:r>
                      <a:endParaRPr lang="en-US" dirty="0">
                        <a:effectLst/>
                      </a:endParaRPr>
                    </a:p>
                  </a:txBody>
                  <a:tcPr marL="76200" marR="106680" marT="38100" marB="38100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string</a:t>
                      </a:r>
                      <a:endParaRPr lang="en-US">
                        <a:effectLst/>
                      </a:endParaRPr>
                    </a:p>
                  </a:txBody>
                  <a:tcPr marL="76200" marR="106680" marT="38100" marB="38100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800" dirty="0">
                          <a:effectLst/>
                          <a:sym typeface="+mn-ea"/>
                        </a:rPr>
                        <a:t>加密规则：明文密码+盐值进行MD5进行加密，加密之后的密文再进行SHA-1加密</a:t>
                      </a:r>
                      <a:endParaRPr lang="zh-CN" altLang="en-US" sz="1800" dirty="0">
                        <a:effectLst/>
                        <a:sym typeface="+mn-ea"/>
                      </a:endParaRPr>
                    </a:p>
                  </a:txBody>
                  <a:tcPr marL="76200" marR="106680" marT="38100" marB="38100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effectLst/>
                          <a:sym typeface="+mn-ea"/>
                        </a:rPr>
                        <a:t>b9e8619e5feb611058d42b454f7c42d09d050048</a:t>
                      </a:r>
                      <a:endParaRPr lang="en-US" dirty="0">
                        <a:effectLst/>
                      </a:endParaRPr>
                    </a:p>
                  </a:txBody>
                  <a:tcPr marL="76200" marR="106680" marT="38100" marB="38100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957142" y="1140592"/>
            <a:ext cx="3321422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8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Arial" panose="020B0604020202020204" pitchFamily="34" charset="0"/>
              </a:rPr>
              <a:t>获取access_token请求Body说明</a:t>
            </a:r>
            <a:endParaRPr kumimoji="0" lang="zh-CN" altLang="zh-CN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957143" y="4821018"/>
            <a:ext cx="10172676" cy="1661795"/>
          </a:xfrm>
          <a:prstGeom prst="rect">
            <a:avLst/>
          </a:prstGeom>
          <a:solidFill>
            <a:srgbClr val="F5F7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rgbClr val="687282"/>
                </a:solidFill>
                <a:effectLst/>
                <a:latin typeface="Consolas" panose="020B0609020204030204" pitchFamily="49" charset="0"/>
              </a:rPr>
              <a:t>请求报文：</a:t>
            </a:r>
            <a:endParaRPr kumimoji="0" lang="en-US" altLang="zh-CN" b="0" i="0" u="none" strike="noStrike" cap="none" normalizeH="0" baseline="0" dirty="0" smtClean="0">
              <a:ln>
                <a:noFill/>
              </a:ln>
              <a:solidFill>
                <a:srgbClr val="687282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687282"/>
                </a:solidFill>
                <a:effectLst/>
                <a:latin typeface="Consolas" panose="020B0609020204030204" pitchFamily="49" charset="0"/>
              </a:rPr>
              <a:t>{</a:t>
            </a:r>
            <a:endParaRPr kumimoji="0" lang="zh-CN" altLang="zh-CN" b="0" i="0" u="none" strike="noStrike" cap="none" normalizeH="0" baseline="0" dirty="0" smtClean="0">
              <a:ln>
                <a:noFill/>
              </a:ln>
              <a:solidFill>
                <a:srgbClr val="687282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687282"/>
                </a:solidFill>
                <a:effectLst/>
                <a:latin typeface="Consolas" panose="020B0609020204030204" pitchFamily="49" charset="0"/>
              </a:rPr>
              <a:t>    "password": "b9e8619e5feb611058d42b454f7c42d09d050048",</a:t>
            </a:r>
            <a:endParaRPr kumimoji="0" lang="zh-CN" altLang="zh-CN" b="0" i="0" u="none" strike="noStrike" cap="none" normalizeH="0" baseline="0" dirty="0" smtClean="0">
              <a:ln>
                <a:noFill/>
              </a:ln>
              <a:solidFill>
                <a:srgbClr val="687282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687282"/>
                </a:solidFill>
                <a:effectLst/>
                <a:latin typeface="Consolas" panose="020B0609020204030204" pitchFamily="49" charset="0"/>
              </a:rPr>
              <a:t>    "username": "admin_3sylog6ryv8cs",</a:t>
            </a:r>
            <a:endParaRPr kumimoji="0" lang="zh-CN" altLang="zh-CN" b="0" i="0" u="none" strike="noStrike" cap="none" normalizeH="0" baseline="0" dirty="0" smtClean="0">
              <a:ln>
                <a:noFill/>
              </a:ln>
              <a:solidFill>
                <a:srgbClr val="687282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687282"/>
                </a:solidFill>
                <a:effectLst/>
                <a:latin typeface="Consolas" panose="020B0609020204030204" pitchFamily="49" charset="0"/>
              </a:rPr>
              <a:t>    "client_secret": "223998c6-5b76-4724-b5c9-666ff4215b45"</a:t>
            </a:r>
            <a:endParaRPr kumimoji="0" lang="zh-CN" altLang="zh-CN" b="0" i="0" u="none" strike="noStrike" cap="none" normalizeH="0" baseline="0" dirty="0" smtClean="0">
              <a:ln>
                <a:noFill/>
              </a:ln>
              <a:solidFill>
                <a:srgbClr val="687282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687282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zh-CN" altLang="zh-CN" b="0" i="0" u="none" strike="noStrike" cap="none" normalizeH="0" baseline="0" dirty="0" smtClean="0">
              <a:ln>
                <a:noFill/>
              </a:ln>
              <a:solidFill>
                <a:srgbClr val="687282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43610" y="187362"/>
            <a:ext cx="8296802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600" b="1" noProof="0" dirty="0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POST</a:t>
            </a:r>
            <a:r>
              <a:rPr kumimoji="1" lang="zh-CN" altLang="en-US" sz="2600" b="1" noProof="0" dirty="0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请求</a:t>
            </a:r>
            <a:r>
              <a:rPr kumimoji="1" lang="en-US" altLang="zh-CN" sz="2600" b="1" noProof="0" dirty="0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kumimoji="1" lang="zh-CN" altLang="en-US" sz="2600" b="1" noProof="0" dirty="0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发起</a:t>
            </a:r>
            <a:r>
              <a:rPr kumimoji="1" lang="en-US" altLang="zh-CN" sz="2600" b="1" noProof="0" dirty="0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post</a:t>
            </a:r>
            <a:r>
              <a:rPr kumimoji="1" lang="zh-CN" altLang="en-US" sz="2600" b="1" noProof="0" dirty="0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请求</a:t>
            </a:r>
            <a:endParaRPr kumimoji="1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rgbClr val="357FE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74980" y="791210"/>
            <a:ext cx="11471910" cy="58585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43610" y="187362"/>
            <a:ext cx="8296802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600" b="1" noProof="0" dirty="0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POST</a:t>
            </a:r>
            <a:r>
              <a:rPr kumimoji="1" lang="zh-CN" altLang="en-US" sz="2600" b="1" noProof="0" dirty="0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请求</a:t>
            </a:r>
            <a:r>
              <a:rPr kumimoji="1" lang="en-US" altLang="zh-CN" sz="2600" b="1" noProof="0" dirty="0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kumimoji="1" lang="zh-CN" altLang="en-US" sz="2600" b="1" noProof="0" dirty="0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获取</a:t>
            </a:r>
            <a:r>
              <a:rPr kumimoji="1" lang="en-US" altLang="zh-CN" sz="2600" b="1" noProof="0" dirty="0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token</a:t>
            </a:r>
            <a:r>
              <a:rPr kumimoji="1" lang="zh-CN" altLang="en-US" sz="2600" b="1" noProof="0" dirty="0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返回参数</a:t>
            </a:r>
            <a:endParaRPr kumimoji="1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rgbClr val="357FE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943610" y="1747601"/>
            <a:ext cx="10380172" cy="3385185"/>
          </a:xfrm>
          <a:prstGeom prst="rect">
            <a:avLst/>
          </a:prstGeom>
          <a:solidFill>
            <a:srgbClr val="F5F7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8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Arial" panose="020B0604020202020204" pitchFamily="34" charset="0"/>
              </a:rPr>
              <a:t>获取access_token返回值示例</a:t>
            </a:r>
            <a:r>
              <a:rPr kumimoji="0" lang="en-US" altLang="zh-CN" sz="18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Arial" panose="020B0604020202020204" pitchFamily="34" charset="0"/>
              </a:rPr>
              <a:t>,access_token为</a:t>
            </a:r>
            <a:r>
              <a: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Arial" panose="020B0604020202020204" pitchFamily="34" charset="0"/>
              </a:rPr>
              <a:t>业务接口入参</a:t>
            </a:r>
            <a:r>
              <a:rPr kumimoji="0" lang="en-US" altLang="zh-CN" sz="18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Arial" panose="020B0604020202020204" pitchFamily="34" charset="0"/>
              </a:rPr>
              <a:t>所需token</a:t>
            </a:r>
            <a:endParaRPr kumimoji="0" lang="en-US" altLang="zh-CN" sz="1800" b="0" i="0" u="none" strike="noStrike" cap="none" normalizeH="0" baseline="0" dirty="0" smtClean="0">
              <a:ln>
                <a:noFill/>
              </a:ln>
              <a:solidFill>
                <a:srgbClr val="999999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000" b="0" i="0" u="none" strike="noStrike" cap="none" normalizeH="0" baseline="0" dirty="0" smtClean="0">
              <a:ln>
                <a:noFill/>
              </a:ln>
              <a:solidFill>
                <a:srgbClr val="687282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600" b="0" i="0" u="none" strike="noStrike" cap="none" normalizeH="0" baseline="0" dirty="0" smtClean="0">
                <a:ln>
                  <a:noFill/>
                </a:ln>
                <a:solidFill>
                  <a:srgbClr val="687282"/>
                </a:solidFill>
                <a:effectLst/>
                <a:latin typeface="Consolas" panose="020B0609020204030204" pitchFamily="49" charset="0"/>
              </a:rPr>
              <a:t>{</a:t>
            </a:r>
            <a:endParaRPr kumimoji="0" lang="zh-CN" altLang="zh-CN" sz="1600" b="0" i="0" u="none" strike="noStrike" cap="none" normalizeH="0" baseline="0" dirty="0" smtClean="0">
              <a:ln>
                <a:noFill/>
              </a:ln>
              <a:solidFill>
                <a:srgbClr val="687282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600" b="0" i="0" u="none" strike="noStrike" cap="none" normalizeH="0" baseline="0" dirty="0" smtClean="0">
                <a:ln>
                  <a:noFill/>
                </a:ln>
                <a:solidFill>
                  <a:srgbClr val="687282"/>
                </a:solidFill>
                <a:effectLst/>
                <a:latin typeface="Consolas" panose="020B0609020204030204" pitchFamily="49" charset="0"/>
              </a:rPr>
              <a:t>    "method": "baiwang.oauth.token",</a:t>
            </a:r>
            <a:endParaRPr kumimoji="0" lang="zh-CN" altLang="zh-CN" sz="1600" b="0" i="0" u="none" strike="noStrike" cap="none" normalizeH="0" baseline="0" dirty="0" smtClean="0">
              <a:ln>
                <a:noFill/>
              </a:ln>
              <a:solidFill>
                <a:srgbClr val="687282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600" b="0" i="0" u="none" strike="noStrike" cap="none" normalizeH="0" baseline="0" dirty="0" smtClean="0">
                <a:ln>
                  <a:noFill/>
                </a:ln>
                <a:solidFill>
                  <a:srgbClr val="687282"/>
                </a:solidFill>
                <a:effectLst/>
                <a:latin typeface="Consolas" panose="020B0609020204030204" pitchFamily="49" charset="0"/>
              </a:rPr>
              <a:t>    "requestId": "29a06ce8-0a80-46a0-a975-5a8be95a3c30",</a:t>
            </a:r>
            <a:endParaRPr kumimoji="0" lang="zh-CN" altLang="zh-CN" sz="1600" b="0" i="0" u="none" strike="noStrike" cap="none" normalizeH="0" baseline="0" dirty="0" smtClean="0">
              <a:ln>
                <a:noFill/>
              </a:ln>
              <a:solidFill>
                <a:srgbClr val="687282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600" b="0" i="0" u="none" strike="noStrike" cap="none" normalizeH="0" baseline="0" dirty="0" smtClean="0">
                <a:ln>
                  <a:noFill/>
                </a:ln>
                <a:solidFill>
                  <a:srgbClr val="687282"/>
                </a:solidFill>
                <a:effectLst/>
                <a:latin typeface="Consolas" panose="020B0609020204030204" pitchFamily="49" charset="0"/>
              </a:rPr>
              <a:t>    "response": {</a:t>
            </a:r>
            <a:endParaRPr kumimoji="0" lang="zh-CN" altLang="zh-CN" sz="1600" b="0" i="0" u="none" strike="noStrike" cap="none" normalizeH="0" baseline="0" dirty="0" smtClean="0">
              <a:ln>
                <a:noFill/>
              </a:ln>
              <a:solidFill>
                <a:srgbClr val="687282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600" b="0" i="0" u="none" strike="noStrike" cap="none" normalizeH="0" baseline="0" dirty="0" smtClean="0">
                <a:ln>
                  <a:noFill/>
                </a:ln>
                <a:solidFill>
                  <a:srgbClr val="687282"/>
                </a:solidFill>
                <a:effectLst/>
                <a:latin typeface="Consolas" panose="020B0609020204030204" pitchFamily="49" charset="0"/>
              </a:rPr>
              <a:t>        "access_token": "582f166f-f245-4cde-bbef-764bea18f975",</a:t>
            </a:r>
            <a:endParaRPr kumimoji="0" lang="zh-CN" altLang="zh-CN" sz="1600" b="0" i="0" u="none" strike="noStrike" cap="none" normalizeH="0" baseline="0" dirty="0" smtClean="0">
              <a:ln>
                <a:noFill/>
              </a:ln>
              <a:solidFill>
                <a:srgbClr val="687282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600" b="0" i="0" u="none" strike="noStrike" cap="none" normalizeH="0" baseline="0" dirty="0" smtClean="0">
                <a:ln>
                  <a:noFill/>
                </a:ln>
                <a:solidFill>
                  <a:srgbClr val="687282"/>
                </a:solidFill>
                <a:effectLst/>
                <a:latin typeface="Consolas" panose="020B0609020204030204" pitchFamily="49" charset="0"/>
              </a:rPr>
              <a:t>        "token_type": "bearer",</a:t>
            </a:r>
            <a:endParaRPr kumimoji="0" lang="zh-CN" altLang="zh-CN" sz="1600" b="0" i="0" u="none" strike="noStrike" cap="none" normalizeH="0" baseline="0" dirty="0" smtClean="0">
              <a:ln>
                <a:noFill/>
              </a:ln>
              <a:solidFill>
                <a:srgbClr val="687282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600" b="0" i="0" u="none" strike="noStrike" cap="none" normalizeH="0" baseline="0" dirty="0" smtClean="0">
                <a:ln>
                  <a:noFill/>
                </a:ln>
                <a:solidFill>
                  <a:srgbClr val="687282"/>
                </a:solidFill>
                <a:effectLst/>
                <a:latin typeface="Consolas" panose="020B0609020204030204" pitchFamily="49" charset="0"/>
              </a:rPr>
              <a:t>        "refresh_token": "2f2438f0-7973-43e0-b25d-482195b0e916",</a:t>
            </a:r>
            <a:endParaRPr kumimoji="0" lang="zh-CN" altLang="zh-CN" sz="1600" b="0" i="0" u="none" strike="noStrike" cap="none" normalizeH="0" baseline="0" dirty="0" smtClean="0">
              <a:ln>
                <a:noFill/>
              </a:ln>
              <a:solidFill>
                <a:srgbClr val="687282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600" b="0" i="0" u="none" strike="noStrike" cap="none" normalizeH="0" baseline="0" dirty="0" smtClean="0">
                <a:ln>
                  <a:noFill/>
                </a:ln>
                <a:solidFill>
                  <a:srgbClr val="687282"/>
                </a:solidFill>
                <a:effectLst/>
                <a:latin typeface="Consolas" panose="020B0609020204030204" pitchFamily="49" charset="0"/>
              </a:rPr>
              <a:t>        "expires_in": 23306,</a:t>
            </a:r>
            <a:endParaRPr kumimoji="0" lang="zh-CN" altLang="zh-CN" sz="1600" b="0" i="0" u="none" strike="noStrike" cap="none" normalizeH="0" baseline="0" dirty="0" smtClean="0">
              <a:ln>
                <a:noFill/>
              </a:ln>
              <a:solidFill>
                <a:srgbClr val="687282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600" b="0" i="0" u="none" strike="noStrike" cap="none" normalizeH="0" baseline="0" dirty="0" smtClean="0">
                <a:ln>
                  <a:noFill/>
                </a:ln>
                <a:solidFill>
                  <a:srgbClr val="687282"/>
                </a:solidFill>
                <a:effectLst/>
                <a:latin typeface="Consolas" panose="020B0609020204030204" pitchFamily="49" charset="0"/>
              </a:rPr>
              <a:t>        "scope": "server"</a:t>
            </a:r>
            <a:endParaRPr kumimoji="0" lang="zh-CN" altLang="zh-CN" sz="1600" b="0" i="0" u="none" strike="noStrike" cap="none" normalizeH="0" baseline="0" dirty="0" smtClean="0">
              <a:ln>
                <a:noFill/>
              </a:ln>
              <a:solidFill>
                <a:srgbClr val="687282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600" b="0" i="0" u="none" strike="noStrike" cap="none" normalizeH="0" baseline="0" dirty="0" smtClean="0">
                <a:ln>
                  <a:noFill/>
                </a:ln>
                <a:solidFill>
                  <a:srgbClr val="687282"/>
                </a:solidFill>
                <a:effectLst/>
                <a:latin typeface="Consolas" panose="020B0609020204030204" pitchFamily="49" charset="0"/>
              </a:rPr>
              <a:t>    },</a:t>
            </a:r>
            <a:endParaRPr kumimoji="0" lang="zh-CN" altLang="zh-CN" sz="1600" b="0" i="0" u="none" strike="noStrike" cap="none" normalizeH="0" baseline="0" dirty="0" smtClean="0">
              <a:ln>
                <a:noFill/>
              </a:ln>
              <a:solidFill>
                <a:srgbClr val="687282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600" b="0" i="0" u="none" strike="noStrike" cap="none" normalizeH="0" baseline="0" dirty="0" smtClean="0">
                <a:ln>
                  <a:noFill/>
                </a:ln>
                <a:solidFill>
                  <a:srgbClr val="687282"/>
                </a:solidFill>
                <a:effectLst/>
                <a:latin typeface="Consolas" panose="020B0609020204030204" pitchFamily="49" charset="0"/>
              </a:rPr>
              <a:t>    "success": true</a:t>
            </a:r>
            <a:endParaRPr kumimoji="0" lang="zh-CN" altLang="zh-CN" sz="1600" b="0" i="0" u="none" strike="noStrike" cap="none" normalizeH="0" baseline="0" dirty="0" smtClean="0">
              <a:ln>
                <a:noFill/>
              </a:ln>
              <a:solidFill>
                <a:srgbClr val="687282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600" b="0" i="0" u="none" strike="noStrike" cap="none" normalizeH="0" baseline="0" dirty="0" smtClean="0">
                <a:ln>
                  <a:noFill/>
                </a:ln>
                <a:solidFill>
                  <a:srgbClr val="687282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zh-CN" altLang="zh-CN" sz="1600" b="0" i="0" u="none" strike="noStrike" cap="none" normalizeH="0" baseline="0" dirty="0" smtClean="0">
              <a:ln>
                <a:noFill/>
              </a:ln>
              <a:solidFill>
                <a:srgbClr val="687282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43610" y="187362"/>
            <a:ext cx="8296802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600" b="1" noProof="0" dirty="0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POST</a:t>
            </a:r>
            <a:r>
              <a:rPr kumimoji="1" lang="zh-CN" altLang="en-US" sz="2600" b="1" noProof="0" dirty="0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请求</a:t>
            </a:r>
            <a:r>
              <a:rPr kumimoji="1" lang="en-US" altLang="zh-CN" sz="2600" b="1" noProof="0" dirty="0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kumimoji="1" lang="zh-CN" altLang="en-US" sz="2600" b="1" noProof="0" dirty="0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获取</a:t>
            </a:r>
            <a:r>
              <a:rPr kumimoji="1" lang="en-US" altLang="zh-CN" sz="2600" b="1" noProof="0" dirty="0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token</a:t>
            </a:r>
            <a:r>
              <a:rPr kumimoji="1" lang="zh-CN" altLang="en-US" sz="2600" b="1" noProof="0" dirty="0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返回参数说明</a:t>
            </a:r>
            <a:endParaRPr kumimoji="1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rgbClr val="357FE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943610" y="1206652"/>
          <a:ext cx="10368556" cy="5109306"/>
        </p:xfrm>
        <a:graphic>
          <a:graphicData uri="http://schemas.openxmlformats.org/drawingml/2006/table">
            <a:tbl>
              <a:tblPr/>
              <a:tblGrid>
                <a:gridCol w="1780736"/>
                <a:gridCol w="1046376"/>
                <a:gridCol w="4949305"/>
                <a:gridCol w="2592139"/>
              </a:tblGrid>
              <a:tr h="283895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01081A"/>
                          </a:solidFill>
                          <a:effectLst/>
                        </a:rPr>
                        <a:t>Key</a:t>
                      </a:r>
                      <a:endParaRPr lang="en-US" sz="1400" b="1" dirty="0">
                        <a:solidFill>
                          <a:srgbClr val="01081A"/>
                        </a:solidFill>
                        <a:effectLst/>
                      </a:endParaRPr>
                    </a:p>
                  </a:txBody>
                  <a:tcPr marL="34727" marR="48618" marT="20836" marB="17364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 dirty="0">
                          <a:solidFill>
                            <a:srgbClr val="01081A"/>
                          </a:solidFill>
                          <a:effectLst/>
                        </a:rPr>
                        <a:t>类型</a:t>
                      </a:r>
                      <a:endParaRPr lang="zh-CN" altLang="en-US" sz="1400" b="1" dirty="0">
                        <a:solidFill>
                          <a:srgbClr val="01081A"/>
                        </a:solidFill>
                        <a:effectLst/>
                      </a:endParaRPr>
                    </a:p>
                  </a:txBody>
                  <a:tcPr marL="34727" marR="48618" marT="20836" marB="17364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 dirty="0">
                          <a:solidFill>
                            <a:srgbClr val="01081A"/>
                          </a:solidFill>
                          <a:effectLst/>
                        </a:rPr>
                        <a:t>说明</a:t>
                      </a:r>
                      <a:endParaRPr lang="zh-CN" altLang="en-US" sz="1400" b="1" dirty="0">
                        <a:solidFill>
                          <a:srgbClr val="01081A"/>
                        </a:solidFill>
                        <a:effectLst/>
                      </a:endParaRPr>
                    </a:p>
                  </a:txBody>
                  <a:tcPr marL="34727" marR="48618" marT="20836" marB="17364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 dirty="0">
                          <a:solidFill>
                            <a:srgbClr val="01081A"/>
                          </a:solidFill>
                          <a:effectLst/>
                        </a:rPr>
                        <a:t>示例</a:t>
                      </a:r>
                      <a:endParaRPr lang="zh-CN" altLang="en-US" sz="1400" b="1" dirty="0">
                        <a:solidFill>
                          <a:srgbClr val="01081A"/>
                        </a:solidFill>
                        <a:effectLst/>
                      </a:endParaRPr>
                    </a:p>
                  </a:txBody>
                  <a:tcPr marL="34727" marR="48618" marT="20836" marB="17364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293067"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method</a:t>
                      </a:r>
                      <a:endParaRPr lang="en-US" sz="1600">
                        <a:effectLst/>
                      </a:endParaRPr>
                    </a:p>
                  </a:txBody>
                  <a:tcPr marL="34727" marR="48618" marT="17364" marB="17364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string</a:t>
                      </a:r>
                      <a:endParaRPr lang="en-US" sz="1600">
                        <a:effectLst/>
                      </a:endParaRPr>
                    </a:p>
                  </a:txBody>
                  <a:tcPr marL="34727" marR="48618" marT="17364" marB="17364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effectLst/>
                        </a:rPr>
                        <a:t>调用方法名</a:t>
                      </a:r>
                      <a:endParaRPr lang="zh-CN" altLang="en-US" sz="1600" dirty="0">
                        <a:effectLst/>
                      </a:endParaRPr>
                    </a:p>
                  </a:txBody>
                  <a:tcPr marL="34727" marR="48618" marT="17364" marB="17364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 err="1">
                          <a:effectLst/>
                        </a:rPr>
                        <a:t>baiwang.oauth.token</a:t>
                      </a:r>
                      <a:endParaRPr lang="en-US" sz="1600" dirty="0">
                        <a:effectLst/>
                      </a:endParaRPr>
                    </a:p>
                  </a:txBody>
                  <a:tcPr marL="34727" marR="48618" marT="17364" marB="17364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9598">
                <a:tc>
                  <a:txBody>
                    <a:bodyPr/>
                    <a:lstStyle/>
                    <a:p>
                      <a:pPr algn="l"/>
                      <a:r>
                        <a:rPr lang="en-US" sz="1600" dirty="0" err="1">
                          <a:effectLst/>
                        </a:rPr>
                        <a:t>requestId</a:t>
                      </a:r>
                      <a:endParaRPr lang="en-US" sz="1600" dirty="0">
                        <a:effectLst/>
                      </a:endParaRPr>
                    </a:p>
                  </a:txBody>
                  <a:tcPr marL="34727" marR="48618" marT="17364" marB="17364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effectLst/>
                        </a:rPr>
                        <a:t>string</a:t>
                      </a:r>
                      <a:endParaRPr lang="en-US" sz="1600" dirty="0">
                        <a:effectLst/>
                      </a:endParaRPr>
                    </a:p>
                  </a:txBody>
                  <a:tcPr marL="34727" marR="48618" marT="17364" marB="17364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effectLst/>
                        </a:rPr>
                        <a:t>请求唯一标识</a:t>
                      </a:r>
                      <a:endParaRPr lang="zh-CN" altLang="en-US" sz="1600" dirty="0">
                        <a:effectLst/>
                      </a:endParaRPr>
                    </a:p>
                  </a:txBody>
                  <a:tcPr marL="34727" marR="48618" marT="17364" marB="17364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29a06ce8-0a80-46a0-a975-5a8be95a3c30</a:t>
                      </a:r>
                      <a:endParaRPr lang="en-US" sz="1600">
                        <a:effectLst/>
                      </a:endParaRPr>
                    </a:p>
                  </a:txBody>
                  <a:tcPr marL="34727" marR="48618" marT="17364" marB="17364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3067"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success</a:t>
                      </a:r>
                      <a:endParaRPr lang="en-US" sz="1600">
                        <a:effectLst/>
                      </a:endParaRPr>
                    </a:p>
                  </a:txBody>
                  <a:tcPr marL="34727" marR="48618" marT="17364" marB="17364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boolean</a:t>
                      </a:r>
                      <a:endParaRPr lang="en-US" sz="1600">
                        <a:effectLst/>
                      </a:endParaRPr>
                    </a:p>
                  </a:txBody>
                  <a:tcPr marL="34727" marR="48618" marT="17364" marB="17364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effectLst/>
                        </a:rPr>
                        <a:t>是否成功标识</a:t>
                      </a:r>
                      <a:endParaRPr lang="zh-CN" altLang="en-US" sz="1600" dirty="0">
                        <a:effectLst/>
                      </a:endParaRPr>
                    </a:p>
                  </a:txBody>
                  <a:tcPr marL="34727" marR="48618" marT="17364" marB="17364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true</a:t>
                      </a:r>
                      <a:endParaRPr lang="en-US" sz="1600">
                        <a:effectLst/>
                      </a:endParaRPr>
                    </a:p>
                  </a:txBody>
                  <a:tcPr marL="34727" marR="48618" marT="17364" marB="17364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5132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effectLst/>
                        </a:rPr>
                        <a:t>response</a:t>
                      </a:r>
                      <a:endParaRPr lang="en-US" sz="1600" dirty="0">
                        <a:effectLst/>
                      </a:endParaRPr>
                    </a:p>
                  </a:txBody>
                  <a:tcPr marL="34727" marR="48618" marT="17364" marB="17364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600" dirty="0">
                        <a:effectLst/>
                      </a:endParaRPr>
                    </a:p>
                  </a:txBody>
                  <a:tcPr marL="34727" marR="48618" marT="17364" marB="17364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effectLst/>
                        </a:rPr>
                        <a:t>response</a:t>
                      </a:r>
                      <a:r>
                        <a:rPr lang="zh-CN" altLang="en-US" sz="1600" dirty="0">
                          <a:effectLst/>
                        </a:rPr>
                        <a:t>返回数据</a:t>
                      </a:r>
                      <a:r>
                        <a:rPr lang="en-US" altLang="zh-CN" sz="1600" dirty="0">
                          <a:effectLst/>
                        </a:rPr>
                        <a:t>;</a:t>
                      </a:r>
                      <a:r>
                        <a:rPr lang="zh-CN" altLang="en-US" sz="1600" dirty="0">
                          <a:effectLst/>
                        </a:rPr>
                        <a:t>以下节点为</a:t>
                      </a:r>
                      <a:r>
                        <a:rPr lang="en-US" sz="1600" dirty="0">
                          <a:effectLst/>
                        </a:rPr>
                        <a:t>response</a:t>
                      </a:r>
                      <a:r>
                        <a:rPr lang="zh-CN" altLang="en-US" sz="1600" dirty="0">
                          <a:effectLst/>
                        </a:rPr>
                        <a:t>子节点</a:t>
                      </a:r>
                      <a:endParaRPr lang="zh-CN" altLang="en-US" sz="1600" dirty="0">
                        <a:effectLst/>
                      </a:endParaRPr>
                    </a:p>
                  </a:txBody>
                  <a:tcPr marL="34727" marR="48618" marT="17364" marB="17364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600">
                        <a:effectLst/>
                      </a:endParaRPr>
                    </a:p>
                  </a:txBody>
                  <a:tcPr marL="34727" marR="48618" marT="17364" marB="17364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9239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effectLst/>
                        </a:rPr>
                        <a:t>  └</a:t>
                      </a:r>
                      <a:r>
                        <a:rPr lang="en-US" sz="1600" b="1" dirty="0" err="1">
                          <a:solidFill>
                            <a:schemeClr val="accent2"/>
                          </a:solidFill>
                          <a:effectLst/>
                        </a:rPr>
                        <a:t>access_token</a:t>
                      </a:r>
                      <a:endParaRPr lang="en-US" sz="1600" b="1" dirty="0">
                        <a:solidFill>
                          <a:schemeClr val="accent2"/>
                        </a:solidFill>
                        <a:effectLst/>
                      </a:endParaRPr>
                    </a:p>
                  </a:txBody>
                  <a:tcPr marL="34727" marR="48618" marT="17364" marB="17364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effectLst/>
                        </a:rPr>
                        <a:t>string</a:t>
                      </a:r>
                      <a:endParaRPr lang="en-US" sz="1600" dirty="0">
                        <a:effectLst/>
                      </a:endParaRPr>
                    </a:p>
                  </a:txBody>
                  <a:tcPr marL="34727" marR="48618" marT="17364" marB="17364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dirty="0" err="1">
                          <a:effectLst/>
                        </a:rPr>
                        <a:t>access_token</a:t>
                      </a:r>
                      <a:r>
                        <a:rPr lang="zh-CN" altLang="en-US" sz="1600" dirty="0">
                          <a:effectLst/>
                        </a:rPr>
                        <a:t>的时间单位为秒，从首次获取开始计时</a:t>
                      </a:r>
                      <a:r>
                        <a:rPr lang="zh-CN" altLang="en-US" sz="1600" dirty="0">
                          <a:solidFill>
                            <a:srgbClr val="FF0000"/>
                          </a:solidFill>
                          <a:effectLst/>
                        </a:rPr>
                        <a:t>有效期为</a:t>
                      </a:r>
                      <a:r>
                        <a:rPr lang="en-US" altLang="zh-CN" sz="1600" dirty="0">
                          <a:solidFill>
                            <a:srgbClr val="FF0000"/>
                          </a:solidFill>
                          <a:effectLst/>
                        </a:rPr>
                        <a:t>8</a:t>
                      </a:r>
                      <a:r>
                        <a:rPr lang="zh-CN" altLang="en-US" sz="1600" dirty="0">
                          <a:solidFill>
                            <a:srgbClr val="FF0000"/>
                          </a:solidFill>
                          <a:effectLst/>
                        </a:rPr>
                        <a:t>小时</a:t>
                      </a:r>
                      <a:endParaRPr lang="zh-CN" altLang="en-US" sz="160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34727" marR="48618" marT="17364" marB="17364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effectLst/>
                        </a:rPr>
                        <a:t>582f166f-f245-4cde-bbef-764bea18f975</a:t>
                      </a:r>
                      <a:endParaRPr lang="en-US" sz="1600" dirty="0">
                        <a:effectLst/>
                      </a:endParaRPr>
                    </a:p>
                  </a:txBody>
                  <a:tcPr marL="34727" marR="48618" marT="17364" marB="17364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1023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effectLst/>
                        </a:rPr>
                        <a:t>  └</a:t>
                      </a:r>
                      <a:r>
                        <a:rPr lang="en-US" sz="1600" dirty="0" err="1">
                          <a:effectLst/>
                        </a:rPr>
                        <a:t>token_type</a:t>
                      </a:r>
                      <a:endParaRPr lang="en-US" sz="1600" dirty="0">
                        <a:effectLst/>
                      </a:endParaRPr>
                    </a:p>
                  </a:txBody>
                  <a:tcPr marL="34727" marR="48618" marT="17364" marB="17364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string</a:t>
                      </a:r>
                      <a:endParaRPr lang="en-US" sz="1600">
                        <a:effectLst/>
                      </a:endParaRPr>
                    </a:p>
                  </a:txBody>
                  <a:tcPr marL="34727" marR="48618" marT="17364" marB="17364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Access token</a:t>
                      </a:r>
                      <a:r>
                        <a:rPr lang="zh-CN" altLang="en-US" sz="1600">
                          <a:effectLst/>
                        </a:rPr>
                        <a:t>的类型目前只支持</a:t>
                      </a:r>
                      <a:r>
                        <a:rPr lang="en-US" sz="1600">
                          <a:effectLst/>
                        </a:rPr>
                        <a:t>bearer</a:t>
                      </a:r>
                      <a:endParaRPr lang="en-US" sz="1600">
                        <a:effectLst/>
                      </a:endParaRPr>
                    </a:p>
                  </a:txBody>
                  <a:tcPr marL="34727" marR="48618" marT="17364" marB="17364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bearer</a:t>
                      </a:r>
                      <a:endParaRPr lang="en-US" sz="1600">
                        <a:effectLst/>
                      </a:endParaRPr>
                    </a:p>
                  </a:txBody>
                  <a:tcPr marL="34727" marR="48618" marT="17364" marB="17364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88151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effectLst/>
                        </a:rPr>
                        <a:t>  └</a:t>
                      </a:r>
                      <a:r>
                        <a:rPr lang="en-US" sz="1600" dirty="0" err="1">
                          <a:effectLst/>
                        </a:rPr>
                        <a:t>refresh_token</a:t>
                      </a:r>
                      <a:endParaRPr lang="en-US" sz="1600" dirty="0">
                        <a:effectLst/>
                      </a:endParaRPr>
                    </a:p>
                  </a:txBody>
                  <a:tcPr marL="34727" marR="48618" marT="17364" marB="17364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effectLst/>
                        </a:rPr>
                        <a:t>string</a:t>
                      </a:r>
                      <a:endParaRPr lang="en-US" sz="1600" dirty="0">
                        <a:effectLst/>
                      </a:endParaRPr>
                    </a:p>
                  </a:txBody>
                  <a:tcPr marL="34727" marR="48618" marT="17364" marB="17364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 err="1">
                          <a:solidFill>
                            <a:srgbClr val="FF0000"/>
                          </a:solidFill>
                          <a:effectLst/>
                        </a:rPr>
                        <a:t>refresh_token</a:t>
                      </a:r>
                      <a:r>
                        <a:rPr lang="zh-CN" altLang="en-US" sz="1600" dirty="0">
                          <a:solidFill>
                            <a:srgbClr val="FF0000"/>
                          </a:solidFill>
                          <a:effectLst/>
                        </a:rPr>
                        <a:t>有效期为</a:t>
                      </a:r>
                      <a:r>
                        <a:rPr lang="en-US" altLang="zh-CN" sz="1600" dirty="0">
                          <a:solidFill>
                            <a:srgbClr val="FF0000"/>
                          </a:solidFill>
                          <a:effectLst/>
                        </a:rPr>
                        <a:t>30</a:t>
                      </a:r>
                      <a:r>
                        <a:rPr lang="zh-CN" altLang="en-US" sz="1600" dirty="0">
                          <a:solidFill>
                            <a:srgbClr val="FF0000"/>
                          </a:solidFill>
                          <a:effectLst/>
                        </a:rPr>
                        <a:t>天。刷新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</a:rPr>
                        <a:t>token</a:t>
                      </a:r>
                      <a:r>
                        <a:rPr lang="zh-CN" altLang="en-US" sz="1600" dirty="0">
                          <a:solidFill>
                            <a:srgbClr val="FF0000"/>
                          </a:solidFill>
                          <a:effectLst/>
                        </a:rPr>
                        <a:t>的时候。如果原</a:t>
                      </a:r>
                      <a:r>
                        <a:rPr lang="en-US" sz="1600" dirty="0" err="1">
                          <a:solidFill>
                            <a:srgbClr val="FF0000"/>
                          </a:solidFill>
                          <a:effectLst/>
                        </a:rPr>
                        <a:t>access_token</a:t>
                      </a:r>
                      <a:r>
                        <a:rPr lang="zh-CN" altLang="en-US" sz="1600" dirty="0">
                          <a:solidFill>
                            <a:srgbClr val="FF0000"/>
                          </a:solidFill>
                          <a:effectLst/>
                        </a:rPr>
                        <a:t>还在有效期内，刷新会将原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</a:rPr>
                        <a:t>token</a:t>
                      </a:r>
                      <a:r>
                        <a:rPr lang="zh-CN" altLang="en-US" sz="1600" dirty="0">
                          <a:solidFill>
                            <a:srgbClr val="FF0000"/>
                          </a:solidFill>
                          <a:effectLst/>
                        </a:rPr>
                        <a:t>有效期延长至</a:t>
                      </a:r>
                      <a:r>
                        <a:rPr lang="en-US" altLang="zh-CN" sz="1600" dirty="0">
                          <a:solidFill>
                            <a:srgbClr val="FF0000"/>
                          </a:solidFill>
                          <a:effectLst/>
                        </a:rPr>
                        <a:t>8</a:t>
                      </a:r>
                      <a:r>
                        <a:rPr lang="zh-CN" altLang="en-US" sz="1600" dirty="0">
                          <a:solidFill>
                            <a:srgbClr val="FF0000"/>
                          </a:solidFill>
                          <a:effectLst/>
                        </a:rPr>
                        <a:t>小时。如果原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</a:rPr>
                        <a:t>token</a:t>
                      </a:r>
                      <a:r>
                        <a:rPr lang="zh-CN" altLang="en-US" sz="1600" dirty="0">
                          <a:solidFill>
                            <a:srgbClr val="FF0000"/>
                          </a:solidFill>
                          <a:effectLst/>
                        </a:rPr>
                        <a:t>过期，刷新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</a:rPr>
                        <a:t>token</a:t>
                      </a:r>
                      <a:r>
                        <a:rPr lang="zh-CN" altLang="en-US" sz="1600" dirty="0">
                          <a:solidFill>
                            <a:srgbClr val="FF0000"/>
                          </a:solidFill>
                          <a:effectLst/>
                        </a:rPr>
                        <a:t>接口会返回一个新的</a:t>
                      </a:r>
                      <a:r>
                        <a:rPr lang="en-US" sz="1600" dirty="0" err="1">
                          <a:solidFill>
                            <a:srgbClr val="FF0000"/>
                          </a:solidFill>
                          <a:effectLst/>
                        </a:rPr>
                        <a:t>access_token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</a:rPr>
                        <a:t>,</a:t>
                      </a:r>
                      <a:r>
                        <a:rPr lang="zh-CN" altLang="en-US" sz="1600" dirty="0">
                          <a:solidFill>
                            <a:srgbClr val="FF0000"/>
                          </a:solidFill>
                          <a:effectLst/>
                        </a:rPr>
                        <a:t>有效期为</a:t>
                      </a:r>
                      <a:r>
                        <a:rPr lang="en-US" altLang="zh-CN" sz="1600" dirty="0">
                          <a:solidFill>
                            <a:srgbClr val="FF0000"/>
                          </a:solidFill>
                          <a:effectLst/>
                        </a:rPr>
                        <a:t>8</a:t>
                      </a:r>
                      <a:r>
                        <a:rPr lang="zh-CN" altLang="en-US" sz="1600" dirty="0">
                          <a:solidFill>
                            <a:srgbClr val="FF0000"/>
                          </a:solidFill>
                          <a:effectLst/>
                        </a:rPr>
                        <a:t>小时。如果</a:t>
                      </a:r>
                      <a:r>
                        <a:rPr lang="en-US" sz="1600" dirty="0" err="1">
                          <a:solidFill>
                            <a:srgbClr val="FF0000"/>
                          </a:solidFill>
                          <a:effectLst/>
                        </a:rPr>
                        <a:t>refresh_token</a:t>
                      </a:r>
                      <a:r>
                        <a:rPr lang="zh-CN" altLang="en-US" sz="1600" dirty="0">
                          <a:solidFill>
                            <a:srgbClr val="FF0000"/>
                          </a:solidFill>
                          <a:effectLst/>
                        </a:rPr>
                        <a:t>也过期了。则需要重新获取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</a:rPr>
                        <a:t>token。</a:t>
                      </a:r>
                      <a:r>
                        <a:rPr lang="zh-CN" altLang="en-US" sz="1600" dirty="0">
                          <a:solidFill>
                            <a:srgbClr val="FF0000"/>
                          </a:solidFill>
                          <a:effectLst/>
                        </a:rPr>
                        <a:t>获取全新的</a:t>
                      </a:r>
                      <a:r>
                        <a:rPr lang="en-US" sz="1600" dirty="0" err="1">
                          <a:solidFill>
                            <a:srgbClr val="FF0000"/>
                          </a:solidFill>
                          <a:effectLst/>
                        </a:rPr>
                        <a:t>access_token</a:t>
                      </a:r>
                      <a:r>
                        <a:rPr lang="zh-CN" altLang="en-US" sz="1600" dirty="0">
                          <a:solidFill>
                            <a:srgbClr val="FF0000"/>
                          </a:solidFill>
                          <a:effectLst/>
                        </a:rPr>
                        <a:t>以及全新的</a:t>
                      </a:r>
                      <a:r>
                        <a:rPr lang="en-US" sz="1600" dirty="0" err="1">
                          <a:solidFill>
                            <a:srgbClr val="FF0000"/>
                          </a:solidFill>
                          <a:effectLst/>
                        </a:rPr>
                        <a:t>refresh_token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</a:rPr>
                        <a:t>。</a:t>
                      </a:r>
                      <a:endParaRPr lang="en-US" sz="160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34727" marR="48618" marT="17364" marB="17364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2f2438f0-7973-43e0-b25d-482195b0e916</a:t>
                      </a:r>
                      <a:endParaRPr lang="en-US" sz="1600">
                        <a:effectLst/>
                      </a:endParaRPr>
                    </a:p>
                  </a:txBody>
                  <a:tcPr marL="34727" marR="48618" marT="17364" marB="17364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3067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effectLst/>
                        </a:rPr>
                        <a:t>  └</a:t>
                      </a:r>
                      <a:r>
                        <a:rPr lang="en-US" sz="1600" dirty="0" err="1">
                          <a:effectLst/>
                        </a:rPr>
                        <a:t>expires_in</a:t>
                      </a:r>
                      <a:endParaRPr lang="en-US" sz="1600" dirty="0">
                        <a:effectLst/>
                      </a:endParaRPr>
                    </a:p>
                  </a:txBody>
                  <a:tcPr marL="34727" marR="48618" marT="17364" marB="17364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number</a:t>
                      </a:r>
                      <a:endParaRPr lang="en-US" sz="1600">
                        <a:effectLst/>
                      </a:endParaRPr>
                    </a:p>
                  </a:txBody>
                  <a:tcPr marL="34727" marR="48618" marT="17364" marB="17364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effectLst/>
                        </a:rPr>
                        <a:t>过期时间，单位为秒</a:t>
                      </a:r>
                      <a:endParaRPr lang="zh-CN" altLang="en-US" sz="1600" dirty="0">
                        <a:effectLst/>
                      </a:endParaRPr>
                    </a:p>
                  </a:txBody>
                  <a:tcPr marL="34727" marR="48618" marT="17364" marB="17364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23306</a:t>
                      </a:r>
                      <a:endParaRPr lang="en-US" sz="1600">
                        <a:effectLst/>
                      </a:endParaRPr>
                    </a:p>
                  </a:txBody>
                  <a:tcPr marL="34727" marR="48618" marT="17364" marB="17364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3067"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  └scope</a:t>
                      </a:r>
                      <a:endParaRPr lang="en-US" sz="1600">
                        <a:effectLst/>
                      </a:endParaRPr>
                    </a:p>
                  </a:txBody>
                  <a:tcPr marL="34727" marR="48618" marT="17364" marB="17364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effectLst/>
                        </a:rPr>
                        <a:t>string</a:t>
                      </a:r>
                      <a:endParaRPr lang="en-US" sz="1600" dirty="0">
                        <a:effectLst/>
                      </a:endParaRPr>
                    </a:p>
                  </a:txBody>
                  <a:tcPr marL="34727" marR="48618" marT="17364" marB="17364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effectLst/>
                        </a:rPr>
                        <a:t>默认</a:t>
                      </a:r>
                      <a:r>
                        <a:rPr lang="en-US" sz="1600" dirty="0">
                          <a:effectLst/>
                        </a:rPr>
                        <a:t>server</a:t>
                      </a:r>
                      <a:endParaRPr lang="en-US" sz="1600" dirty="0">
                        <a:effectLst/>
                      </a:endParaRPr>
                    </a:p>
                  </a:txBody>
                  <a:tcPr marL="34727" marR="48618" marT="17364" marB="17364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effectLst/>
                        </a:rPr>
                        <a:t>server</a:t>
                      </a:r>
                      <a:endParaRPr lang="en-US" sz="1600" dirty="0">
                        <a:effectLst/>
                      </a:endParaRPr>
                    </a:p>
                  </a:txBody>
                  <a:tcPr marL="34727" marR="48618" marT="17364" marB="17364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943610" y="837324"/>
            <a:ext cx="969845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8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Arial" panose="020B0604020202020204" pitchFamily="34" charset="0"/>
              </a:rPr>
              <a:t>获取access_token返回参数说明</a:t>
            </a:r>
            <a:endParaRPr kumimoji="0" lang="zh-CN" altLang="zh-CN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43610" y="187362"/>
            <a:ext cx="8296802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600" b="1" noProof="0" dirty="0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POST</a:t>
            </a:r>
            <a:r>
              <a:rPr kumimoji="1" lang="zh-CN" altLang="en-US" sz="2600" b="1" noProof="0" dirty="0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请求</a:t>
            </a:r>
            <a:r>
              <a:rPr kumimoji="1" lang="en-US" altLang="zh-CN" sz="2600" b="1" noProof="0" dirty="0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kumimoji="1" lang="zh-CN" altLang="en-US" sz="2600" b="1" noProof="0" dirty="0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刷新</a:t>
            </a:r>
            <a:r>
              <a:rPr kumimoji="1" lang="en-US" altLang="zh-CN" sz="2600" b="1" noProof="0" dirty="0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token</a:t>
            </a:r>
            <a:endParaRPr kumimoji="1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rgbClr val="357FE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40030" y="831215"/>
            <a:ext cx="11711940" cy="491807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74955" y="5901690"/>
            <a:ext cx="11917045" cy="7054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注意：</a:t>
            </a:r>
            <a:r>
              <a:rPr lang="en-US" altLang="zh-CN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grant_type</a:t>
            </a:r>
            <a:r>
              <a:rPr lang="zh-CN" altLang="en-US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入参固定</a:t>
            </a:r>
            <a:r>
              <a:rPr lang="en-US" altLang="zh-CN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“refresh_token”</a:t>
            </a:r>
            <a:r>
              <a:rPr lang="zh-CN" altLang="en-US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</a:t>
            </a:r>
            <a:r>
              <a:rPr lang="en-US" altLang="zh-CN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refresh_token</a:t>
            </a:r>
            <a:r>
              <a:rPr lang="zh-CN" altLang="en-US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入参为上次返回有效期为</a:t>
            </a:r>
            <a:r>
              <a:rPr lang="en-US" altLang="zh-CN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30</a:t>
            </a:r>
            <a:r>
              <a:rPr lang="zh-CN" altLang="en-US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天内的</a:t>
            </a:r>
            <a:r>
              <a:rPr lang="en-US" altLang="zh-CN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refresh_token</a:t>
            </a:r>
            <a:r>
              <a:rPr lang="zh-CN" altLang="en-US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43610" y="187362"/>
            <a:ext cx="8296802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600" b="1" noProof="0" dirty="0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POST</a:t>
            </a:r>
            <a:r>
              <a:rPr kumimoji="1" lang="zh-CN" altLang="en-US" sz="2600" b="1" noProof="0" dirty="0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请求</a:t>
            </a:r>
            <a:r>
              <a:rPr kumimoji="1" lang="en-US" altLang="zh-CN" sz="2600" b="1" noProof="0" dirty="0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kumimoji="1" lang="zh-CN" altLang="en-US" sz="2600" b="1" noProof="0" dirty="0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刷新</a:t>
            </a:r>
            <a:r>
              <a:rPr kumimoji="1" lang="en-US" altLang="zh-CN" sz="2600" b="1" noProof="0" dirty="0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token</a:t>
            </a:r>
            <a:endParaRPr kumimoji="1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rgbClr val="357FE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36295" y="850265"/>
            <a:ext cx="10820400" cy="56540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43610" y="187362"/>
            <a:ext cx="8296802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600" b="1" noProof="0" dirty="0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POST</a:t>
            </a:r>
            <a:r>
              <a:rPr kumimoji="1" lang="zh-CN" altLang="en-US" sz="2600" b="1" noProof="0" dirty="0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请求</a:t>
            </a:r>
            <a:r>
              <a:rPr kumimoji="1" lang="en-US" altLang="zh-CN" sz="2600" b="1" noProof="0" dirty="0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kumimoji="1" lang="zh-CN" altLang="en-US" sz="2600" b="1" noProof="0" dirty="0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业务接口调用之拼签名</a:t>
            </a:r>
            <a:endParaRPr kumimoji="1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rgbClr val="357FE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54144" y="1319753"/>
            <a:ext cx="1095394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 smtClean="0"/>
              <a:t>1</a:t>
            </a:r>
            <a:r>
              <a:rPr lang="zh-CN" altLang="en-US" dirty="0"/>
              <a:t>、为了防止 </a:t>
            </a:r>
            <a:r>
              <a:rPr lang="en-US" altLang="zh-CN" dirty="0"/>
              <a:t>API </a:t>
            </a:r>
            <a:r>
              <a:rPr lang="zh-CN" altLang="en-US" dirty="0"/>
              <a:t>调用过程中被黑客恶意篡改，调用任何一个 </a:t>
            </a:r>
            <a:r>
              <a:rPr lang="en-US" altLang="zh-CN" dirty="0"/>
              <a:t>API </a:t>
            </a:r>
            <a:r>
              <a:rPr lang="zh-CN" altLang="en-US" dirty="0"/>
              <a:t>都需要携带签名，服务端会根据请求参数，</a:t>
            </a:r>
            <a:endParaRPr lang="zh-CN" altLang="en-US" dirty="0"/>
          </a:p>
          <a:p>
            <a:pPr>
              <a:lnSpc>
                <a:spcPct val="150000"/>
              </a:lnSpc>
            </a:pPr>
            <a:r>
              <a:rPr lang="zh-CN" altLang="en-US" dirty="0"/>
              <a:t>对签名进行验证，签名不合法的请求将会被拒绝。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en-US" altLang="zh-CN" dirty="0" smtClean="0"/>
              <a:t>2</a:t>
            </a:r>
            <a:r>
              <a:rPr lang="zh-CN" altLang="en-US" dirty="0" smtClean="0"/>
              <a:t>、目前</a:t>
            </a:r>
            <a:r>
              <a:rPr lang="zh-CN" altLang="en-US" dirty="0"/>
              <a:t>支持的签名算法为</a:t>
            </a:r>
            <a:r>
              <a:rPr lang="en-US" altLang="zh-CN" dirty="0" smtClean="0"/>
              <a:t>MD5</a:t>
            </a:r>
            <a:r>
              <a:rPr lang="zh-CN" altLang="en-US" dirty="0" smtClean="0"/>
              <a:t>，</a:t>
            </a:r>
            <a:r>
              <a:rPr lang="en-US" altLang="zh-CN" dirty="0" smtClean="0"/>
              <a:t>sign</a:t>
            </a:r>
            <a:r>
              <a:rPr lang="zh-CN" altLang="en-US" dirty="0" smtClean="0"/>
              <a:t>签名值为</a:t>
            </a:r>
            <a:r>
              <a:rPr lang="en-US" altLang="zh-CN" dirty="0" smtClean="0"/>
              <a:t>32</a:t>
            </a:r>
            <a:r>
              <a:rPr lang="zh-CN" altLang="en-US" dirty="0" smtClean="0"/>
              <a:t>位十六进制大写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en-US" altLang="zh-CN" dirty="0" smtClean="0"/>
              <a:t>4</a:t>
            </a:r>
            <a:r>
              <a:rPr lang="zh-CN" altLang="en-US" dirty="0" smtClean="0"/>
              <a:t>、签名大致分以下几步：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en-US" altLang="zh-CN" dirty="0" smtClean="0"/>
              <a:t>      </a:t>
            </a:r>
            <a:r>
              <a:rPr lang="zh-CN" altLang="en-US" dirty="0" smtClean="0"/>
              <a:t>一</a:t>
            </a:r>
            <a:r>
              <a:rPr lang="zh-CN" altLang="en-US" dirty="0"/>
              <a:t>、对所有</a:t>
            </a:r>
            <a:r>
              <a:rPr lang="en-US" altLang="zh-CN" dirty="0" smtClean="0"/>
              <a:t>API</a:t>
            </a:r>
            <a:r>
              <a:rPr lang="zh-CN" altLang="en-US" dirty="0" smtClean="0"/>
              <a:t>请求公共参数根据</a:t>
            </a:r>
            <a:r>
              <a:rPr lang="zh-CN" altLang="en-US" dirty="0"/>
              <a:t>参数名称</a:t>
            </a:r>
            <a:r>
              <a:rPr lang="zh-CN" altLang="en-US" dirty="0" smtClean="0"/>
              <a:t>的</a:t>
            </a:r>
            <a:r>
              <a:rPr lang="en-US" altLang="zh-CN" u="sng" dirty="0" smtClean="0">
                <a:hlinkClick r:id="rId1"/>
              </a:rPr>
              <a:t>ASCII</a:t>
            </a:r>
            <a:r>
              <a:rPr lang="zh-CN" altLang="en-US" dirty="0"/>
              <a:t>码表的顺序</a:t>
            </a:r>
            <a:r>
              <a:rPr lang="zh-CN" altLang="en-US" dirty="0" smtClean="0"/>
              <a:t>排序；</a:t>
            </a:r>
            <a:r>
              <a:rPr lang="en-US" altLang="zh-CN" dirty="0" smtClean="0"/>
              <a:t>---</a:t>
            </a:r>
            <a:r>
              <a:rPr lang="zh-CN" altLang="en-US" dirty="0" smtClean="0">
                <a:solidFill>
                  <a:srgbClr val="FF0000"/>
                </a:solidFill>
              </a:rPr>
              <a:t>顺序必须对；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dirty="0"/>
              <a:t> </a:t>
            </a:r>
            <a:r>
              <a:rPr lang="en-US" altLang="zh-CN" dirty="0" smtClean="0"/>
              <a:t>     </a:t>
            </a:r>
            <a:r>
              <a:rPr lang="zh-CN" altLang="en-US" dirty="0" smtClean="0"/>
              <a:t>二</a:t>
            </a:r>
            <a:r>
              <a:rPr lang="zh-CN" altLang="en-US" dirty="0"/>
              <a:t>、将排序好的参数名和参数值拼装在</a:t>
            </a:r>
            <a:r>
              <a:rPr lang="zh-CN" altLang="en-US" dirty="0" smtClean="0"/>
              <a:t>一起</a:t>
            </a:r>
            <a:r>
              <a:rPr lang="zh-CN" altLang="en-US" b="1" dirty="0" smtClean="0"/>
              <a:t>（</a:t>
            </a:r>
            <a:r>
              <a:rPr lang="zh-CN" altLang="en-US" b="1" dirty="0" smtClean="0">
                <a:solidFill>
                  <a:srgbClr val="222222"/>
                </a:solidFill>
                <a:latin typeface="Arial" panose="020B0604020202020204" pitchFamily="34" charset="0"/>
                <a:ea typeface="PingFangSC-Regular"/>
              </a:rPr>
              <a:t>去掉</a:t>
            </a:r>
            <a:r>
              <a:rPr lang="zh-CN" altLang="en-US" b="1" dirty="0">
                <a:solidFill>
                  <a:srgbClr val="222222"/>
                </a:solidFill>
                <a:latin typeface="Arial" panose="020B0604020202020204" pitchFamily="34" charset="0"/>
                <a:ea typeface="PingFangSC-Regular"/>
              </a:rPr>
              <a:t>空格跟</a:t>
            </a:r>
            <a:r>
              <a:rPr lang="zh-CN" altLang="en-US" b="1" dirty="0" smtClean="0">
                <a:solidFill>
                  <a:srgbClr val="222222"/>
                </a:solidFill>
                <a:latin typeface="Arial" panose="020B0604020202020204" pitchFamily="34" charset="0"/>
                <a:ea typeface="PingFangSC-Regular"/>
              </a:rPr>
              <a:t>换行符）</a:t>
            </a:r>
            <a:r>
              <a:rPr lang="zh-CN" altLang="en-US" dirty="0" smtClean="0"/>
              <a:t>；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zh-CN" altLang="en-US" dirty="0" smtClean="0"/>
              <a:t>      三、</a:t>
            </a:r>
            <a:r>
              <a:rPr lang="zh-CN" altLang="en-US" dirty="0"/>
              <a:t>将排序后的字符串拼接</a:t>
            </a:r>
            <a:r>
              <a:rPr lang="en-US" altLang="zh-CN" dirty="0"/>
              <a:t>body</a:t>
            </a:r>
            <a:r>
              <a:rPr lang="zh-CN" altLang="en-US" dirty="0"/>
              <a:t>与</a:t>
            </a:r>
            <a:r>
              <a:rPr lang="en-US" altLang="zh-CN" dirty="0" smtClean="0"/>
              <a:t>secret</a:t>
            </a:r>
            <a:r>
              <a:rPr lang="zh-CN" altLang="en-US" dirty="0" smtClean="0"/>
              <a:t>；</a:t>
            </a:r>
            <a:r>
              <a:rPr lang="zh-CN" altLang="en-US" b="1" dirty="0">
                <a:solidFill>
                  <a:srgbClr val="FF0000"/>
                </a:solidFill>
              </a:rPr>
              <a:t>规则：</a:t>
            </a:r>
            <a:r>
              <a:rPr lang="en-US" altLang="zh-CN" b="1" dirty="0">
                <a:solidFill>
                  <a:srgbClr val="FF0000"/>
                </a:solidFill>
              </a:rPr>
              <a:t>secret+</a:t>
            </a:r>
            <a:r>
              <a:rPr lang="zh-CN" altLang="en-US" b="1" dirty="0">
                <a:solidFill>
                  <a:srgbClr val="FF0000"/>
                </a:solidFill>
              </a:rPr>
              <a:t>参数拼接字符串</a:t>
            </a:r>
            <a:r>
              <a:rPr lang="en-US" altLang="zh-CN" b="1" dirty="0">
                <a:solidFill>
                  <a:srgbClr val="FF0000"/>
                </a:solidFill>
              </a:rPr>
              <a:t>+</a:t>
            </a:r>
            <a:r>
              <a:rPr lang="en-US" altLang="zh-CN" b="1" dirty="0" err="1" smtClean="0">
                <a:solidFill>
                  <a:srgbClr val="FF0000"/>
                </a:solidFill>
              </a:rPr>
              <a:t>body+secret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FF0000"/>
                </a:solidFill>
              </a:rPr>
              <a:t> </a:t>
            </a:r>
            <a:r>
              <a:rPr lang="en-US" altLang="zh-CN" b="1" dirty="0" smtClean="0">
                <a:solidFill>
                  <a:srgbClr val="FF0000"/>
                </a:solidFill>
              </a:rPr>
              <a:t> </a:t>
            </a:r>
            <a:r>
              <a:rPr lang="en-US" altLang="zh-CN" dirty="0"/>
              <a:t> </a:t>
            </a:r>
            <a:r>
              <a:rPr lang="en-US" altLang="zh-CN" dirty="0" smtClean="0"/>
              <a:t>   </a:t>
            </a:r>
            <a:r>
              <a:rPr lang="zh-CN" altLang="en-US" dirty="0"/>
              <a:t>四</a:t>
            </a:r>
            <a:r>
              <a:rPr lang="zh-CN" altLang="en-US" dirty="0" smtClean="0"/>
              <a:t>、</a:t>
            </a:r>
            <a:r>
              <a:rPr lang="zh-CN" altLang="en-US" dirty="0"/>
              <a:t>把拼装好的</a:t>
            </a:r>
            <a:r>
              <a:rPr lang="zh-CN" altLang="en-US" dirty="0" smtClean="0"/>
              <a:t>字符串进行</a:t>
            </a:r>
            <a:r>
              <a:rPr lang="en-US" altLang="zh-CN" dirty="0" smtClean="0"/>
              <a:t>MD5</a:t>
            </a:r>
            <a:r>
              <a:rPr lang="zh-CN" altLang="en-US" dirty="0" smtClean="0"/>
              <a:t>加密，取</a:t>
            </a:r>
            <a:r>
              <a:rPr lang="en-US" altLang="zh-CN" dirty="0" smtClean="0"/>
              <a:t>32</a:t>
            </a:r>
            <a:r>
              <a:rPr lang="zh-CN" altLang="en-US" dirty="0"/>
              <a:t>位十六进制</a:t>
            </a:r>
            <a:r>
              <a:rPr lang="zh-CN" altLang="en-US" dirty="0" smtClean="0"/>
              <a:t>大写；</a:t>
            </a:r>
            <a:r>
              <a:rPr lang="en-US" altLang="zh-CN" b="1" dirty="0" smtClean="0">
                <a:solidFill>
                  <a:srgbClr val="FF0000"/>
                </a:solidFill>
              </a:rPr>
              <a:t>    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43610" y="187362"/>
            <a:ext cx="8296802" cy="891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600" b="1" noProof="0" dirty="0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POST</a:t>
            </a:r>
            <a:r>
              <a:rPr kumimoji="1" lang="zh-CN" altLang="en-US" sz="2600" b="1" noProof="0" dirty="0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请求</a:t>
            </a:r>
            <a:r>
              <a:rPr kumimoji="1" lang="en-US" altLang="zh-CN" sz="2600" b="1" noProof="0" dirty="0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</a:t>
            </a:r>
            <a:r>
              <a:rPr kumimoji="1" lang="zh-CN" altLang="en-US" sz="2600" b="1" noProof="0" dirty="0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业务接口调用之拼签名</a:t>
            </a:r>
            <a:endParaRPr kumimoji="1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rgbClr val="357FE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rgbClr val="357FE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811635" y="847361"/>
            <a:ext cx="10481677" cy="5662930"/>
          </a:xfrm>
          <a:prstGeom prst="rect">
            <a:avLst/>
          </a:prstGeom>
          <a:solidFill>
            <a:srgbClr val="F5F7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ea typeface="PingFangSC-Regular"/>
              </a:rPr>
              <a:t>一、对所有API请求参数（包括公共参数，但除去sign参数和byte[]类型的参数），根据参数名称的</a:t>
            </a:r>
            <a:r>
              <a:rPr kumimoji="0" lang="zh-CN" altLang="zh-CN" b="0" i="0" u="sng" strike="noStrike" cap="none" normalizeH="0" baseline="0" dirty="0" smtClean="0">
                <a:ln>
                  <a:noFill/>
                </a:ln>
                <a:solidFill>
                  <a:srgbClr val="4B96E6"/>
                </a:solidFill>
                <a:effectLst/>
                <a:latin typeface="Arial" panose="020B0604020202020204" pitchFamily="34" charset="0"/>
                <a:ea typeface="PingFangSC-Regular"/>
                <a:hlinkClick r:id="rId1"/>
              </a:rPr>
              <a:t>ASCII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ea typeface="PingFangSC-Regular"/>
              </a:rPr>
              <a:t>码表的顺序排序</a:t>
            </a:r>
            <a:endParaRPr kumimoji="0" lang="zh-CN" altLang="zh-CN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ea typeface="PingFangSC-Regular"/>
              </a:rPr>
              <a:t>举例:</a:t>
            </a:r>
            <a:endParaRPr kumimoji="0" lang="zh-CN" altLang="zh-CN" b="0" i="0" u="none" strike="noStrike" cap="none" normalizeH="0" baseline="0" dirty="0" smtClean="0">
              <a:ln>
                <a:noFill/>
              </a:ln>
              <a:solidFill>
                <a:srgbClr val="222222"/>
              </a:solidFill>
              <a:effectLst/>
              <a:latin typeface="Arial" panose="020B0604020202020204" pitchFamily="34" charset="0"/>
              <a:ea typeface="PingFangSC-Regular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000" b="0" i="0" u="none" strike="noStrike" cap="none" normalizeH="0" baseline="0" dirty="0" smtClean="0">
                <a:ln>
                  <a:noFill/>
                </a:ln>
                <a:solidFill>
                  <a:srgbClr val="687282"/>
                </a:solidFill>
                <a:effectLst/>
                <a:latin typeface="Consolas" panose="020B0609020204030204" pitchFamily="49" charset="0"/>
              </a:rPr>
              <a:t>method=baiwang.s.outputinvoice.invoice</a:t>
            </a:r>
            <a:endParaRPr kumimoji="0" lang="zh-CN" altLang="zh-CN" sz="2000" b="0" i="0" u="none" strike="noStrike" cap="none" normalizeH="0" baseline="0" dirty="0" smtClean="0">
              <a:ln>
                <a:noFill/>
              </a:ln>
              <a:solidFill>
                <a:srgbClr val="687282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000" b="0" i="0" u="none" strike="noStrike" cap="none" normalizeH="0" baseline="0" dirty="0" smtClean="0">
                <a:ln>
                  <a:noFill/>
                </a:ln>
                <a:solidFill>
                  <a:srgbClr val="687282"/>
                </a:solidFill>
                <a:effectLst/>
                <a:latin typeface="Consolas" panose="020B0609020204030204" pitchFamily="49" charset="0"/>
              </a:rPr>
              <a:t>version=6.0</a:t>
            </a:r>
            <a:endParaRPr kumimoji="0" lang="en-US" altLang="zh-CN" sz="2000" b="0" i="0" u="none" strike="noStrike" cap="none" normalizeH="0" baseline="0" dirty="0" smtClean="0">
              <a:ln>
                <a:noFill/>
              </a:ln>
              <a:solidFill>
                <a:srgbClr val="687282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000" b="0" i="0" u="none" strike="noStrike" cap="none" normalizeH="0" baseline="0" dirty="0" smtClean="0">
                <a:ln>
                  <a:noFill/>
                </a:ln>
                <a:solidFill>
                  <a:srgbClr val="687282"/>
                </a:solidFill>
                <a:effectLst/>
                <a:latin typeface="Consolas" panose="020B0609020204030204" pitchFamily="49" charset="0"/>
              </a:rPr>
              <a:t>appKey=1002948</a:t>
            </a:r>
            <a:endParaRPr kumimoji="0" lang="zh-CN" altLang="zh-CN" sz="2000" b="0" i="0" u="none" strike="noStrike" cap="none" normalizeH="0" baseline="0" dirty="0" smtClean="0">
              <a:ln>
                <a:noFill/>
              </a:ln>
              <a:solidFill>
                <a:srgbClr val="687282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000" b="0" i="0" u="none" strike="noStrike" cap="none" normalizeH="0" baseline="0" dirty="0" smtClean="0">
                <a:ln>
                  <a:noFill/>
                </a:ln>
                <a:solidFill>
                  <a:srgbClr val="687282"/>
                </a:solidFill>
                <a:effectLst/>
                <a:latin typeface="Consolas" panose="020B0609020204030204" pitchFamily="49" charset="0"/>
              </a:rPr>
              <a:t>format=json</a:t>
            </a:r>
            <a:endParaRPr kumimoji="0" lang="en-US" altLang="zh-CN" sz="2000" b="0" i="0" u="none" strike="noStrike" cap="none" normalizeH="0" baseline="0" dirty="0" smtClean="0">
              <a:ln>
                <a:noFill/>
              </a:ln>
              <a:solidFill>
                <a:srgbClr val="687282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000" b="0" i="0" u="none" strike="noStrike" cap="none" normalizeH="0" baseline="0" dirty="0" smtClean="0">
                <a:ln>
                  <a:noFill/>
                </a:ln>
                <a:solidFill>
                  <a:srgbClr val="687282"/>
                </a:solidFill>
                <a:effectLst/>
                <a:latin typeface="Consolas" panose="020B0609020204030204" pitchFamily="49" charset="0"/>
              </a:rPr>
              <a:t>timestamp=1718441526000</a:t>
            </a:r>
            <a:endParaRPr kumimoji="0" lang="zh-CN" altLang="zh-CN" sz="2000" b="0" i="0" u="none" strike="noStrike" cap="none" normalizeH="0" baseline="0" dirty="0" smtClean="0">
              <a:ln>
                <a:noFill/>
              </a:ln>
              <a:solidFill>
                <a:srgbClr val="687282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000" b="0" i="0" u="none" strike="noStrike" cap="none" normalizeH="0" baseline="0" dirty="0" smtClean="0">
                <a:ln>
                  <a:noFill/>
                </a:ln>
                <a:solidFill>
                  <a:srgbClr val="687282"/>
                </a:solidFill>
                <a:effectLst/>
                <a:latin typeface="Consolas" panose="020B0609020204030204" pitchFamily="49" charset="0"/>
              </a:rPr>
              <a:t>token=582f166f-f245-4cde-bbef-764bea18f975</a:t>
            </a:r>
            <a:endParaRPr kumimoji="0" lang="zh-CN" altLang="zh-CN" sz="2000" b="0" i="0" u="none" strike="noStrike" cap="none" normalizeH="0" baseline="0" dirty="0" smtClean="0">
              <a:ln>
                <a:noFill/>
              </a:ln>
              <a:solidFill>
                <a:srgbClr val="687282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000" b="0" i="0" u="none" strike="noStrike" cap="none" normalizeH="0" baseline="0" dirty="0" smtClean="0">
                <a:ln>
                  <a:noFill/>
                </a:ln>
                <a:solidFill>
                  <a:srgbClr val="687282"/>
                </a:solidFill>
                <a:effectLst/>
                <a:latin typeface="Consolas" panose="020B0609020204030204" pitchFamily="49" charset="0"/>
              </a:rPr>
              <a:t>type=sync </a:t>
            </a:r>
            <a:endParaRPr kumimoji="0" lang="en-US" altLang="zh-CN" sz="2000" b="0" i="0" u="none" strike="noStrike" cap="none" normalizeH="0" baseline="0" dirty="0" smtClean="0">
              <a:ln>
                <a:noFill/>
              </a:ln>
              <a:solidFill>
                <a:srgbClr val="687282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ea typeface="PingFangSC-Regular"/>
              </a:rPr>
              <a:t>排序后的顺序是:</a:t>
            </a:r>
            <a:endParaRPr kumimoji="0" lang="zh-CN" altLang="zh-CN" b="0" i="0" u="none" strike="noStrike" cap="none" normalizeH="0" baseline="0" dirty="0" smtClean="0">
              <a:ln>
                <a:noFill/>
              </a:ln>
              <a:solidFill>
                <a:srgbClr val="222222"/>
              </a:solidFill>
              <a:effectLst/>
              <a:latin typeface="Arial" panose="020B0604020202020204" pitchFamily="34" charset="0"/>
              <a:ea typeface="PingFangSC-Regular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000" b="0" i="0" u="none" strike="noStrike" cap="none" normalizeH="0" baseline="0" dirty="0" smtClean="0">
                <a:ln>
                  <a:noFill/>
                </a:ln>
                <a:solidFill>
                  <a:srgbClr val="687282"/>
                </a:solidFill>
                <a:effectLst/>
                <a:latin typeface="Consolas" panose="020B0609020204030204" pitchFamily="49" charset="0"/>
              </a:rPr>
              <a:t>appKey=</a:t>
            </a:r>
            <a:r>
              <a:rPr lang="zh-CN" altLang="zh-CN" sz="2000" dirty="0" smtClean="0">
                <a:ln>
                  <a:noFill/>
                </a:ln>
                <a:solidFill>
                  <a:srgbClr val="687282"/>
                </a:solidFill>
                <a:effectLst/>
                <a:latin typeface="Consolas" panose="020B0609020204030204" pitchFamily="49" charset="0"/>
                <a:sym typeface="+mn-ea"/>
              </a:rPr>
              <a:t>1002948</a:t>
            </a:r>
            <a:endParaRPr kumimoji="0" lang="en-US" altLang="zh-CN" sz="2000" b="0" i="0" u="none" strike="noStrike" cap="none" normalizeH="0" baseline="0" dirty="0" smtClean="0">
              <a:ln>
                <a:noFill/>
              </a:ln>
              <a:solidFill>
                <a:srgbClr val="687282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000" b="0" i="0" u="none" strike="noStrike" cap="none" normalizeH="0" baseline="0" dirty="0" smtClean="0">
                <a:ln>
                  <a:noFill/>
                </a:ln>
                <a:solidFill>
                  <a:srgbClr val="687282"/>
                </a:solidFill>
                <a:effectLst/>
                <a:latin typeface="Consolas" panose="020B0609020204030204" pitchFamily="49" charset="0"/>
              </a:rPr>
              <a:t>format=json</a:t>
            </a:r>
            <a:endParaRPr kumimoji="0" lang="en-US" altLang="zh-CN" sz="2000" b="0" i="0" u="none" strike="noStrike" cap="none" normalizeH="0" baseline="0" dirty="0" smtClean="0">
              <a:ln>
                <a:noFill/>
              </a:ln>
              <a:solidFill>
                <a:srgbClr val="687282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000" b="0" i="0" u="none" strike="noStrike" cap="none" normalizeH="0" baseline="0" dirty="0" smtClean="0">
                <a:ln>
                  <a:noFill/>
                </a:ln>
                <a:solidFill>
                  <a:srgbClr val="687282"/>
                </a:solidFill>
                <a:effectLst/>
                <a:latin typeface="Consolas" panose="020B0609020204030204" pitchFamily="49" charset="0"/>
              </a:rPr>
              <a:t>method=</a:t>
            </a:r>
            <a:r>
              <a:rPr lang="zh-CN" altLang="zh-CN" sz="2000" dirty="0" smtClean="0">
                <a:ln>
                  <a:noFill/>
                </a:ln>
                <a:solidFill>
                  <a:srgbClr val="687282"/>
                </a:solidFill>
                <a:effectLst/>
                <a:latin typeface="Consolas" panose="020B0609020204030204" pitchFamily="49" charset="0"/>
                <a:sym typeface="+mn-ea"/>
              </a:rPr>
              <a:t>baiwang.s.outputinvoice.invoice</a:t>
            </a:r>
            <a:endParaRPr kumimoji="0" lang="en-US" altLang="zh-CN" sz="2000" b="0" i="0" u="none" strike="noStrike" cap="none" normalizeH="0" baseline="0" dirty="0" smtClean="0">
              <a:ln>
                <a:noFill/>
              </a:ln>
              <a:solidFill>
                <a:srgbClr val="687282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000" b="0" i="0" u="none" strike="noStrike" cap="none" normalizeH="0" baseline="0" dirty="0" smtClean="0">
                <a:ln>
                  <a:noFill/>
                </a:ln>
                <a:solidFill>
                  <a:srgbClr val="687282"/>
                </a:solidFill>
                <a:effectLst/>
                <a:latin typeface="Consolas" panose="020B0609020204030204" pitchFamily="49" charset="0"/>
              </a:rPr>
              <a:t>timestamp=1718441526000</a:t>
            </a:r>
            <a:endParaRPr kumimoji="0" lang="zh-CN" altLang="zh-CN" sz="2000" b="0" i="0" u="none" strike="noStrike" cap="none" normalizeH="0" baseline="0" dirty="0" smtClean="0">
              <a:ln>
                <a:noFill/>
              </a:ln>
              <a:solidFill>
                <a:srgbClr val="687282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000" b="0" i="0" u="none" strike="noStrike" cap="none" normalizeH="0" baseline="0" dirty="0" smtClean="0">
                <a:ln>
                  <a:noFill/>
                </a:ln>
                <a:solidFill>
                  <a:srgbClr val="687282"/>
                </a:solidFill>
                <a:effectLst/>
                <a:latin typeface="Consolas" panose="020B0609020204030204" pitchFamily="49" charset="0"/>
              </a:rPr>
              <a:t>token=</a:t>
            </a:r>
            <a:r>
              <a:rPr lang="zh-CN" altLang="zh-CN" sz="2000" dirty="0" smtClean="0">
                <a:ln>
                  <a:noFill/>
                </a:ln>
                <a:solidFill>
                  <a:srgbClr val="687282"/>
                </a:solidFill>
                <a:effectLst/>
                <a:latin typeface="Consolas" panose="020B0609020204030204" pitchFamily="49" charset="0"/>
                <a:sym typeface="+mn-ea"/>
              </a:rPr>
              <a:t>582f166f-f245-4cde-bbef-764bea18f975</a:t>
            </a:r>
            <a:endParaRPr kumimoji="0" lang="en-US" altLang="zh-CN" sz="2000" b="0" i="0" u="none" strike="noStrike" cap="none" normalizeH="0" baseline="0" dirty="0" smtClean="0">
              <a:ln>
                <a:noFill/>
              </a:ln>
              <a:solidFill>
                <a:srgbClr val="687282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000" b="0" i="0" u="none" strike="noStrike" cap="none" normalizeH="0" baseline="0" dirty="0" smtClean="0">
                <a:ln>
                  <a:noFill/>
                </a:ln>
                <a:solidFill>
                  <a:srgbClr val="687282"/>
                </a:solidFill>
                <a:effectLst/>
                <a:latin typeface="Consolas" panose="020B0609020204030204" pitchFamily="49" charset="0"/>
              </a:rPr>
              <a:t>type=sync</a:t>
            </a:r>
            <a:endParaRPr kumimoji="0" lang="en-US" altLang="zh-CN" sz="2000" b="0" i="0" u="none" strike="noStrike" cap="none" normalizeH="0" baseline="0" dirty="0" smtClean="0">
              <a:ln>
                <a:noFill/>
              </a:ln>
              <a:solidFill>
                <a:srgbClr val="687282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000" b="0" i="0" u="none" strike="noStrike" cap="none" normalizeH="0" baseline="0" dirty="0" smtClean="0">
                <a:ln>
                  <a:noFill/>
                </a:ln>
                <a:solidFill>
                  <a:srgbClr val="687282"/>
                </a:solidFill>
                <a:effectLst/>
                <a:latin typeface="Consolas" panose="020B0609020204030204" pitchFamily="49" charset="0"/>
              </a:rPr>
              <a:t>version=6.0</a:t>
            </a:r>
            <a:r>
              <a:rPr kumimoji="0" lang="zh-CN" altLang="zh-CN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43610" y="187362"/>
            <a:ext cx="8296802" cy="891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600" b="1" noProof="0" dirty="0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POST</a:t>
            </a:r>
            <a:r>
              <a:rPr kumimoji="1" lang="zh-CN" altLang="en-US" sz="2600" b="1" noProof="0" dirty="0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请求</a:t>
            </a:r>
            <a:r>
              <a:rPr kumimoji="1" lang="en-US" altLang="zh-CN" sz="2600" b="1" noProof="0" dirty="0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</a:t>
            </a:r>
            <a:r>
              <a:rPr kumimoji="1" lang="zh-CN" altLang="en-US" sz="2600" b="1" noProof="0" dirty="0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业务接口调用之拼签名</a:t>
            </a:r>
            <a:endParaRPr kumimoji="1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rgbClr val="357FE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rgbClr val="357FE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943609" y="2158739"/>
            <a:ext cx="10434544" cy="2123440"/>
          </a:xfrm>
          <a:prstGeom prst="rect">
            <a:avLst/>
          </a:prstGeom>
          <a:solidFill>
            <a:srgbClr val="F5F7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000" b="0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ea typeface="PingFangSC-Regular"/>
              </a:rPr>
              <a:t>二、将排序好的参数名和参数值拼装在一起</a:t>
            </a:r>
            <a:r>
              <a:rPr lang="zh-CN" altLang="en-US" sz="2000" dirty="0" smtClean="0">
                <a:solidFill>
                  <a:srgbClr val="222222"/>
                </a:solidFill>
                <a:latin typeface="Arial" panose="020B0604020202020204" pitchFamily="34" charset="0"/>
                <a:ea typeface="PingFangSC-Regular"/>
              </a:rPr>
              <a:t>（去掉空格跟换行符）</a:t>
            </a:r>
            <a:endParaRPr kumimoji="0" lang="zh-CN" altLang="zh-CN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400" b="0" i="0" u="none" strike="noStrike" cap="none" normalizeH="0" baseline="0" dirty="0" smtClean="0">
                <a:ln>
                  <a:noFill/>
                </a:ln>
                <a:solidFill>
                  <a:srgbClr val="687282"/>
                </a:solidFill>
                <a:effectLst/>
                <a:latin typeface="Consolas" panose="020B0609020204030204" pitchFamily="49" charset="0"/>
              </a:rPr>
              <a:t>"appKey1002948formatjsonmethodbaiwang.s.outputinvoice.invoicetimestamp1718441526000token582f166f-f245-4cde-bbef-764bea18f975typesyncversion6.0" </a:t>
            </a:r>
            <a:endParaRPr kumimoji="0" lang="zh-CN" altLang="zh-CN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43610" y="187362"/>
            <a:ext cx="8296802" cy="891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600" b="1" noProof="0" dirty="0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POST</a:t>
            </a:r>
            <a:r>
              <a:rPr kumimoji="1" lang="zh-CN" altLang="en-US" sz="2600" b="1" noProof="0" dirty="0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请求</a:t>
            </a:r>
            <a:r>
              <a:rPr kumimoji="1" lang="en-US" altLang="zh-CN" sz="2600" b="1" noProof="0" dirty="0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</a:t>
            </a:r>
            <a:r>
              <a:rPr kumimoji="1" lang="zh-CN" altLang="en-US" sz="2600" b="1" noProof="0" dirty="0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业务接口调用之拼签名</a:t>
            </a:r>
            <a:endParaRPr kumimoji="1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rgbClr val="357FE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rgbClr val="357FE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29113" y="979794"/>
            <a:ext cx="8311299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三、排好序的字符串与去掉换行符的序列化requestbody</a:t>
            </a:r>
            <a:r>
              <a:rPr lang="zh-CN" altLang="en-US" dirty="0"/>
              <a:t>拼接，得到签名文本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228600" y="2357120"/>
            <a:ext cx="11847830" cy="433578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zh-CN" altLang="en-US" dirty="0"/>
              <a:t>签名文本：</a:t>
            </a:r>
            <a:endParaRPr lang="zh-CN" altLang="en-US" dirty="0"/>
          </a:p>
          <a:p>
            <a:r>
              <a:rPr>
                <a:solidFill>
                  <a:srgbClr val="FF0000"/>
                </a:solidFill>
              </a:rPr>
              <a:t>223998c6-5b76-4724-b5c9-666ff4215b45</a:t>
            </a:r>
            <a:r>
              <a:rPr>
                <a:solidFill>
                  <a:srgbClr val="92D050"/>
                </a:solidFill>
              </a:rPr>
              <a:t>appKey1002948formatjsonmethodbaiwang.s.outputinvoice.invoicetimestamp1718441526000token582f166f-f245-4cde-bbef-764bea18f975typesyncversion6.0</a:t>
            </a:r>
            <a:r>
              <a:rPr>
                <a:solidFill>
                  <a:schemeClr val="accent5">
                    <a:lumMod val="75000"/>
                  </a:schemeClr>
                </a:solidFill>
              </a:rPr>
              <a:t>{"orderNo":"2024061801","orderDateTime":"2024-06-18 14:35:30","invoiceTerminalCode":"","taxNo":"338888888888SMB","sellerName":"","sellerAddress":"","sellerPhone":"","sellerBankName":"","sellerBankNumber":"","drawer":"","payee":"","checker":"","buyerTaxNo":"","buyerName":"张三","buyerAddress":"","buyerTelephone":"","buyerBankName":"","buyerBankNumber":"","invoiceType":"1","invoiceTypeCode":"02","invoiceSpecialMark":"","remarks":"","priceTaxMark":"1","invoiceListMark":"","naturalMark":"1","pushEmail":"","pushPhone":"","callBackUrl":"","redInfoNo":"","originalInvoiceCode":"","originalInvoiceNo":"","originalDigitInvoiceNo":"","redInvoiceLabel":"","customField1":"","customField2":"","customField3":"","invoiceDetailList":[{"goodsName":"旅游服务","goodsPersonalCode":"","goodsCode":"3070301000000000000","goodsQuantity":"1","goodsPrice":"100","goodsTaxRate":"0.01","goodsTotalPriceTax":"","goodsTotalPrice":"","goodsTotalTax":"","goodsSpecification":"","goodsUnit":"","invoiceLineNature":"","deductibleAmount":"","freeTaxMark":"","preferentialMark":"","vatSpecialManagement":"","detailCustomField1":"","detailCustomField2":"","detailCustomField3":"","detailCustomField4":"","detailCustomField5":""}]}</a:t>
            </a:r>
            <a:r>
              <a:rPr>
                <a:solidFill>
                  <a:srgbClr val="FF0000"/>
                </a:solidFill>
              </a:rPr>
              <a:t>223998c6-5b76-4724-b5c9-666ff4215b45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1134359" y="1370475"/>
            <a:ext cx="6096000" cy="92202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rgbClr val="222222"/>
                </a:solidFill>
                <a:latin typeface="PingFangSC-Regular"/>
              </a:rPr>
              <a:t>将上一</a:t>
            </a:r>
            <a:r>
              <a:rPr lang="zh-CN" altLang="en-US" dirty="0"/>
              <a:t>步排序后的字符串拼接body与secret</a:t>
            </a:r>
            <a:endParaRPr lang="zh-CN" altLang="en-US" dirty="0"/>
          </a:p>
          <a:p>
            <a:pPr algn="l"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222222"/>
                </a:solidFill>
                <a:latin typeface="PingFangSC-Regular"/>
              </a:rPr>
              <a:t>规则：</a:t>
            </a:r>
            <a:r>
              <a:rPr lang="zh-CN" altLang="en-US" dirty="0"/>
              <a:t>secret+参数拼接字符串+body+secret</a:t>
            </a:r>
            <a:endParaRPr lang="zh-CN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222222"/>
                </a:solidFill>
                <a:latin typeface="PingFangSC-Regular"/>
              </a:rPr>
              <a:t>拼接后字符串为：（无需转义）</a:t>
            </a:r>
            <a:endParaRPr lang="zh-CN" altLang="en-US" b="0" i="0" dirty="0">
              <a:solidFill>
                <a:srgbClr val="222222"/>
              </a:solidFill>
              <a:effectLst/>
              <a:latin typeface="PingFangSC-Regular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43610" y="187362"/>
            <a:ext cx="8296802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600" b="1" noProof="0" dirty="0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POST</a:t>
            </a:r>
            <a:r>
              <a:rPr kumimoji="1" lang="zh-CN" altLang="en-US" sz="2600" b="1" noProof="0" dirty="0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请求</a:t>
            </a:r>
            <a:r>
              <a:rPr kumimoji="1" lang="en-US" altLang="zh-CN" sz="2600" b="1" noProof="0" dirty="0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</a:t>
            </a:r>
            <a:r>
              <a:rPr kumimoji="1" lang="zh-CN" altLang="en-US" sz="2600" b="1" noProof="0" dirty="0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业务接口调用之拼签名</a:t>
            </a:r>
            <a:endParaRPr kumimoji="1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rgbClr val="357FE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29113" y="1043974"/>
            <a:ext cx="831129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>
                <a:solidFill>
                  <a:srgbClr val="222222"/>
                </a:solidFill>
                <a:latin typeface="PingFangSC-Regular"/>
              </a:rPr>
              <a:t>四、</a:t>
            </a:r>
            <a:r>
              <a:rPr lang="zh-CN" altLang="en-US" dirty="0"/>
              <a:t>把拼装好的字符串进行</a:t>
            </a:r>
            <a:r>
              <a:rPr lang="en-US" altLang="zh-CN" dirty="0"/>
              <a:t>MD5</a:t>
            </a:r>
            <a:r>
              <a:rPr lang="zh-CN" altLang="en-US" dirty="0"/>
              <a:t>加密，取</a:t>
            </a:r>
            <a:r>
              <a:rPr lang="en-US" altLang="zh-CN" dirty="0"/>
              <a:t>32</a:t>
            </a:r>
            <a:r>
              <a:rPr lang="zh-CN" altLang="en-US" dirty="0"/>
              <a:t>位十六进制大写；</a:t>
            </a:r>
            <a:r>
              <a:rPr lang="en-US" altLang="zh-CN" b="1" dirty="0">
                <a:solidFill>
                  <a:srgbClr val="FF0000"/>
                </a:solidFill>
              </a:rPr>
              <a:t> 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28345" y="1866265"/>
            <a:ext cx="10264140" cy="39547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43610" y="187362"/>
            <a:ext cx="8296802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600" b="1" noProof="0" dirty="0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POST</a:t>
            </a:r>
            <a:r>
              <a:rPr kumimoji="1" lang="zh-CN" altLang="en-US" sz="2600" b="1" noProof="0" dirty="0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请求</a:t>
            </a:r>
            <a:r>
              <a:rPr kumimoji="1" lang="en-US" altLang="zh-CN" sz="2600" b="1" noProof="0" dirty="0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kumimoji="1" lang="zh-CN" altLang="en-US" sz="2600" b="1" noProof="0" dirty="0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拼请求</a:t>
            </a:r>
            <a:r>
              <a:rPr kumimoji="1" lang="en-US" altLang="zh-CN" sz="2600" b="1" noProof="0" dirty="0" err="1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rul</a:t>
            </a:r>
            <a:endParaRPr kumimoji="1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rgbClr val="357FE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29113" y="906355"/>
            <a:ext cx="831129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>
                <a:solidFill>
                  <a:srgbClr val="222222"/>
                </a:solidFill>
                <a:latin typeface="PingFangSC-Regular"/>
              </a:rPr>
              <a:t>公共参数：</a:t>
            </a:r>
            <a:r>
              <a:rPr lang="en-US" altLang="zh-CN" b="1" dirty="0" smtClean="0">
                <a:solidFill>
                  <a:srgbClr val="FF0000"/>
                </a:solidFill>
              </a:rPr>
              <a:t> 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943610" y="1289442"/>
          <a:ext cx="10500532" cy="3304482"/>
        </p:xfrm>
        <a:graphic>
          <a:graphicData uri="http://schemas.openxmlformats.org/drawingml/2006/table">
            <a:tbl>
              <a:tblPr/>
              <a:tblGrid>
                <a:gridCol w="2625133"/>
                <a:gridCol w="1144659"/>
                <a:gridCol w="1282045"/>
                <a:gridCol w="5448695"/>
              </a:tblGrid>
              <a:tr h="325148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500" b="1">
                          <a:solidFill>
                            <a:srgbClr val="01081A"/>
                          </a:solidFill>
                          <a:effectLst/>
                        </a:rPr>
                        <a:t>名称</a:t>
                      </a:r>
                      <a:endParaRPr lang="zh-CN" altLang="en-US" sz="1500" b="1">
                        <a:solidFill>
                          <a:srgbClr val="01081A"/>
                        </a:solidFill>
                        <a:effectLst/>
                      </a:endParaRPr>
                    </a:p>
                  </a:txBody>
                  <a:tcPr marL="61897" marR="86655" marT="37138" marB="30948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500" b="1">
                          <a:solidFill>
                            <a:srgbClr val="01081A"/>
                          </a:solidFill>
                          <a:effectLst/>
                        </a:rPr>
                        <a:t>类型</a:t>
                      </a:r>
                      <a:endParaRPr lang="zh-CN" altLang="en-US" sz="1500" b="1">
                        <a:solidFill>
                          <a:srgbClr val="01081A"/>
                        </a:solidFill>
                        <a:effectLst/>
                      </a:endParaRPr>
                    </a:p>
                  </a:txBody>
                  <a:tcPr marL="61897" marR="86655" marT="37138" marB="30948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500" b="1">
                          <a:solidFill>
                            <a:srgbClr val="01081A"/>
                          </a:solidFill>
                          <a:effectLst/>
                        </a:rPr>
                        <a:t>是否必须</a:t>
                      </a:r>
                      <a:endParaRPr lang="zh-CN" altLang="en-US" sz="1500" b="1">
                        <a:solidFill>
                          <a:srgbClr val="01081A"/>
                        </a:solidFill>
                        <a:effectLst/>
                      </a:endParaRPr>
                    </a:p>
                  </a:txBody>
                  <a:tcPr marL="61897" marR="86655" marT="37138" marB="30948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500" b="1">
                          <a:solidFill>
                            <a:srgbClr val="01081A"/>
                          </a:solidFill>
                          <a:effectLst/>
                        </a:rPr>
                        <a:t>描述</a:t>
                      </a:r>
                      <a:endParaRPr lang="zh-CN" altLang="en-US" sz="1500" b="1">
                        <a:solidFill>
                          <a:srgbClr val="01081A"/>
                        </a:solidFill>
                        <a:effectLst/>
                      </a:endParaRPr>
                    </a:p>
                  </a:txBody>
                  <a:tcPr marL="61897" marR="86655" marT="37138" marB="30948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18364"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effectLst/>
                        </a:rPr>
                        <a:t>method</a:t>
                      </a:r>
                      <a:endParaRPr lang="en-US" sz="1500">
                        <a:effectLst/>
                      </a:endParaRPr>
                    </a:p>
                  </a:txBody>
                  <a:tcPr marL="61897" marR="86655" marT="30948" marB="30948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effectLst/>
                        </a:rPr>
                        <a:t>String</a:t>
                      </a:r>
                      <a:endParaRPr lang="en-US" sz="1500">
                        <a:effectLst/>
                      </a:endParaRPr>
                    </a:p>
                  </a:txBody>
                  <a:tcPr marL="61897" marR="86655" marT="30948" marB="30948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500">
                          <a:effectLst/>
                        </a:rPr>
                        <a:t>是</a:t>
                      </a:r>
                      <a:endParaRPr lang="zh-CN" altLang="en-US" sz="1500">
                        <a:effectLst/>
                      </a:endParaRPr>
                    </a:p>
                  </a:txBody>
                  <a:tcPr marL="61897" marR="86655" marT="30948" marB="30948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500">
                          <a:effectLst/>
                        </a:rPr>
                        <a:t>接口名称。</a:t>
                      </a:r>
                      <a:endParaRPr lang="zh-CN" altLang="en-US" sz="1500">
                        <a:effectLst/>
                      </a:endParaRPr>
                    </a:p>
                  </a:txBody>
                  <a:tcPr marL="61897" marR="86655" marT="30948" marB="30948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8364"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effectLst/>
                        </a:rPr>
                        <a:t>appKey</a:t>
                      </a:r>
                      <a:endParaRPr lang="en-US" sz="1500">
                        <a:effectLst/>
                      </a:endParaRPr>
                    </a:p>
                  </a:txBody>
                  <a:tcPr marL="61897" marR="86655" marT="30948" marB="30948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effectLst/>
                        </a:rPr>
                        <a:t>String</a:t>
                      </a:r>
                      <a:endParaRPr lang="en-US" sz="1500">
                        <a:effectLst/>
                      </a:endParaRPr>
                    </a:p>
                  </a:txBody>
                  <a:tcPr marL="61897" marR="86655" marT="30948" marB="30948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500">
                          <a:effectLst/>
                        </a:rPr>
                        <a:t>是</a:t>
                      </a:r>
                      <a:endParaRPr lang="zh-CN" altLang="en-US" sz="1500">
                        <a:effectLst/>
                      </a:endParaRPr>
                    </a:p>
                  </a:txBody>
                  <a:tcPr marL="61897" marR="86655" marT="30948" marB="30948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500">
                          <a:effectLst/>
                        </a:rPr>
                        <a:t>给开发者颁发的 </a:t>
                      </a:r>
                      <a:r>
                        <a:rPr lang="en-US" altLang="zh-CN" sz="1500">
                          <a:effectLst/>
                        </a:rPr>
                        <a:t>key</a:t>
                      </a:r>
                      <a:r>
                        <a:rPr lang="zh-CN" altLang="en-US" sz="1500">
                          <a:effectLst/>
                        </a:rPr>
                        <a:t>。</a:t>
                      </a:r>
                      <a:endParaRPr lang="zh-CN" altLang="en-US" sz="1500">
                        <a:effectLst/>
                      </a:endParaRPr>
                    </a:p>
                  </a:txBody>
                  <a:tcPr marL="61897" marR="86655" marT="30948" marB="30948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0592"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effectLst/>
                        </a:rPr>
                        <a:t>sign</a:t>
                      </a:r>
                      <a:endParaRPr lang="en-US" sz="1500">
                        <a:effectLst/>
                      </a:endParaRPr>
                    </a:p>
                  </a:txBody>
                  <a:tcPr marL="61897" marR="86655" marT="30948" marB="30948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effectLst/>
                        </a:rPr>
                        <a:t>String</a:t>
                      </a:r>
                      <a:endParaRPr lang="en-US" sz="1500">
                        <a:effectLst/>
                      </a:endParaRPr>
                    </a:p>
                  </a:txBody>
                  <a:tcPr marL="61897" marR="86655" marT="30948" marB="30948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500">
                          <a:effectLst/>
                        </a:rPr>
                        <a:t>是</a:t>
                      </a:r>
                      <a:endParaRPr lang="zh-CN" altLang="en-US" sz="1500">
                        <a:effectLst/>
                      </a:endParaRPr>
                    </a:p>
                  </a:txBody>
                  <a:tcPr marL="61897" marR="86655" marT="30948" marB="30948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500">
                          <a:effectLst/>
                        </a:rPr>
                        <a:t>请求签名，使用</a:t>
                      </a:r>
                      <a:r>
                        <a:rPr lang="en-US" altLang="zh-CN" sz="1500">
                          <a:effectLst/>
                        </a:rPr>
                        <a:t>MD5</a:t>
                      </a:r>
                      <a:r>
                        <a:rPr lang="zh-CN" altLang="en-US" sz="1500">
                          <a:effectLst/>
                        </a:rPr>
                        <a:t>，用于安全控制。</a:t>
                      </a:r>
                      <a:endParaRPr lang="zh-CN" altLang="en-US" sz="1500">
                        <a:effectLst/>
                      </a:endParaRPr>
                    </a:p>
                  </a:txBody>
                  <a:tcPr marL="61897" marR="86655" marT="30948" marB="30948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0592"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effectLst/>
                        </a:rPr>
                        <a:t>token</a:t>
                      </a:r>
                      <a:endParaRPr lang="en-US" sz="1500">
                        <a:effectLst/>
                      </a:endParaRPr>
                    </a:p>
                  </a:txBody>
                  <a:tcPr marL="61897" marR="86655" marT="30948" marB="30948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effectLst/>
                        </a:rPr>
                        <a:t>String</a:t>
                      </a:r>
                      <a:endParaRPr lang="en-US" sz="1500">
                        <a:effectLst/>
                      </a:endParaRPr>
                    </a:p>
                  </a:txBody>
                  <a:tcPr marL="61897" marR="86655" marT="30948" marB="30948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500">
                          <a:effectLst/>
                        </a:rPr>
                        <a:t>是</a:t>
                      </a:r>
                      <a:endParaRPr lang="zh-CN" altLang="en-US" sz="1500">
                        <a:effectLst/>
                      </a:endParaRPr>
                    </a:p>
                  </a:txBody>
                  <a:tcPr marL="61897" marR="86655" marT="30948" marB="30948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500">
                          <a:effectLst/>
                        </a:rPr>
                        <a:t>token </a:t>
                      </a:r>
                      <a:r>
                        <a:rPr lang="zh-CN" altLang="en-US" sz="1500">
                          <a:effectLst/>
                        </a:rPr>
                        <a:t>用于调用接口前授权检查。</a:t>
                      </a:r>
                      <a:endParaRPr lang="zh-CN" altLang="en-US" sz="1500">
                        <a:effectLst/>
                      </a:endParaRPr>
                    </a:p>
                  </a:txBody>
                  <a:tcPr marL="61897" marR="86655" marT="30948" marB="30948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0119"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effectLst/>
                        </a:rPr>
                        <a:t>timestamp</a:t>
                      </a:r>
                      <a:endParaRPr lang="en-US" sz="1500">
                        <a:effectLst/>
                      </a:endParaRPr>
                    </a:p>
                  </a:txBody>
                  <a:tcPr marL="61897" marR="86655" marT="30948" marB="30948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effectLst/>
                        </a:rPr>
                        <a:t>String</a:t>
                      </a:r>
                      <a:endParaRPr lang="en-US" sz="1500">
                        <a:effectLst/>
                      </a:endParaRPr>
                    </a:p>
                  </a:txBody>
                  <a:tcPr marL="61897" marR="86655" marT="30948" marB="30948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500">
                          <a:effectLst/>
                        </a:rPr>
                        <a:t>是</a:t>
                      </a:r>
                      <a:endParaRPr lang="zh-CN" altLang="en-US" sz="1500">
                        <a:effectLst/>
                      </a:endParaRPr>
                    </a:p>
                  </a:txBody>
                  <a:tcPr marL="61897" marR="86655" marT="30948" marB="30948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500" dirty="0">
                          <a:effectLst/>
                        </a:rPr>
                        <a:t>当前时间，精确到秒，格式需与示例保持一致</a:t>
                      </a:r>
                      <a:endParaRPr lang="zh-CN" altLang="en-US" sz="1500" dirty="0">
                        <a:effectLst/>
                      </a:endParaRPr>
                    </a:p>
                  </a:txBody>
                  <a:tcPr marL="61897" marR="86655" marT="30948" marB="30948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0119">
                <a:tc>
                  <a:txBody>
                    <a:bodyPr/>
                    <a:lstStyle/>
                    <a:p>
                      <a:pPr algn="l"/>
                      <a:r>
                        <a:rPr lang="en-US" sz="1500" dirty="0">
                          <a:effectLst/>
                        </a:rPr>
                        <a:t>format</a:t>
                      </a:r>
                      <a:endParaRPr lang="en-US" sz="1500" dirty="0">
                        <a:effectLst/>
                      </a:endParaRPr>
                    </a:p>
                  </a:txBody>
                  <a:tcPr marL="61897" marR="86655" marT="30948" marB="30948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effectLst/>
                        </a:rPr>
                        <a:t>String</a:t>
                      </a:r>
                      <a:endParaRPr lang="en-US" sz="1500">
                        <a:effectLst/>
                      </a:endParaRPr>
                    </a:p>
                  </a:txBody>
                  <a:tcPr marL="61897" marR="86655" marT="30948" marB="30948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500">
                          <a:effectLst/>
                        </a:rPr>
                        <a:t>否</a:t>
                      </a:r>
                      <a:endParaRPr lang="zh-CN" altLang="en-US" sz="1500">
                        <a:effectLst/>
                      </a:endParaRPr>
                    </a:p>
                  </a:txBody>
                  <a:tcPr marL="61897" marR="86655" marT="30948" marB="30948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500">
                          <a:effectLst/>
                        </a:rPr>
                        <a:t>响应格式。默认为</a:t>
                      </a:r>
                      <a:r>
                        <a:rPr lang="en-US" altLang="zh-CN" sz="1500">
                          <a:effectLst/>
                        </a:rPr>
                        <a:t>json</a:t>
                      </a:r>
                      <a:r>
                        <a:rPr lang="zh-CN" altLang="en-US" sz="1500">
                          <a:effectLst/>
                        </a:rPr>
                        <a:t>格式，可选值：</a:t>
                      </a:r>
                      <a:r>
                        <a:rPr lang="en-US" altLang="zh-CN" sz="1500">
                          <a:effectLst/>
                        </a:rPr>
                        <a:t>xml</a:t>
                      </a:r>
                      <a:r>
                        <a:rPr lang="zh-CN" altLang="en-US" sz="1500">
                          <a:effectLst/>
                        </a:rPr>
                        <a:t>，</a:t>
                      </a:r>
                      <a:r>
                        <a:rPr lang="en-US" altLang="zh-CN" sz="1500">
                          <a:effectLst/>
                        </a:rPr>
                        <a:t>json</a:t>
                      </a:r>
                      <a:r>
                        <a:rPr lang="zh-CN" altLang="en-US" sz="1500">
                          <a:effectLst/>
                        </a:rPr>
                        <a:t>。</a:t>
                      </a:r>
                      <a:endParaRPr lang="zh-CN" altLang="en-US" sz="1500">
                        <a:effectLst/>
                      </a:endParaRPr>
                    </a:p>
                  </a:txBody>
                  <a:tcPr marL="61897" marR="86655" marT="30948" marB="30948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0592"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effectLst/>
                        </a:rPr>
                        <a:t>version</a:t>
                      </a:r>
                      <a:endParaRPr lang="en-US" sz="1500">
                        <a:effectLst/>
                      </a:endParaRPr>
                    </a:p>
                  </a:txBody>
                  <a:tcPr marL="61897" marR="86655" marT="30948" marB="30948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effectLst/>
                        </a:rPr>
                        <a:t>String</a:t>
                      </a:r>
                      <a:endParaRPr lang="en-US" sz="1500">
                        <a:effectLst/>
                      </a:endParaRPr>
                    </a:p>
                  </a:txBody>
                  <a:tcPr marL="61897" marR="86655" marT="30948" marB="30948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500">
                          <a:effectLst/>
                        </a:rPr>
                        <a:t>是</a:t>
                      </a:r>
                      <a:endParaRPr lang="zh-CN" altLang="en-US" sz="1500">
                        <a:effectLst/>
                      </a:endParaRPr>
                    </a:p>
                  </a:txBody>
                  <a:tcPr marL="61897" marR="86655" marT="30948" marB="30948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500">
                          <a:effectLst/>
                        </a:rPr>
                        <a:t>API</a:t>
                      </a:r>
                      <a:r>
                        <a:rPr lang="zh-CN" altLang="en-US" sz="1500">
                          <a:effectLst/>
                        </a:rPr>
                        <a:t>协议版本，当前版本号</a:t>
                      </a:r>
                      <a:r>
                        <a:rPr lang="en-US" altLang="zh-CN" sz="1500">
                          <a:effectLst/>
                        </a:rPr>
                        <a:t>6.0</a:t>
                      </a:r>
                      <a:r>
                        <a:rPr lang="zh-CN" altLang="en-US" sz="1500">
                          <a:effectLst/>
                        </a:rPr>
                        <a:t>。</a:t>
                      </a:r>
                      <a:endParaRPr lang="zh-CN" altLang="en-US" sz="1500">
                        <a:effectLst/>
                      </a:endParaRPr>
                    </a:p>
                  </a:txBody>
                  <a:tcPr marL="61897" marR="86655" marT="30948" marB="30948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0592">
                <a:tc>
                  <a:txBody>
                    <a:bodyPr/>
                    <a:lstStyle/>
                    <a:p>
                      <a:pPr algn="l"/>
                      <a:r>
                        <a:rPr lang="en-US" sz="1500" dirty="0">
                          <a:effectLst/>
                        </a:rPr>
                        <a:t>type</a:t>
                      </a:r>
                      <a:endParaRPr lang="en-US" sz="1500" dirty="0">
                        <a:effectLst/>
                      </a:endParaRPr>
                    </a:p>
                  </a:txBody>
                  <a:tcPr marL="61897" marR="86655" marT="30948" marB="30948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effectLst/>
                        </a:rPr>
                        <a:t>String</a:t>
                      </a:r>
                      <a:endParaRPr lang="en-US" sz="1500">
                        <a:effectLst/>
                      </a:endParaRPr>
                    </a:p>
                  </a:txBody>
                  <a:tcPr marL="61897" marR="86655" marT="30948" marB="30948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500" dirty="0">
                          <a:effectLst/>
                        </a:rPr>
                        <a:t>否</a:t>
                      </a:r>
                      <a:endParaRPr lang="zh-CN" altLang="en-US" sz="1500" dirty="0">
                        <a:effectLst/>
                      </a:endParaRPr>
                    </a:p>
                  </a:txBody>
                  <a:tcPr marL="61897" marR="86655" marT="30948" marB="30948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500" dirty="0">
                          <a:effectLst/>
                        </a:rPr>
                        <a:t>请求类型，默认 </a:t>
                      </a:r>
                      <a:r>
                        <a:rPr lang="en-US" altLang="zh-CN" sz="1500" dirty="0">
                          <a:effectLst/>
                        </a:rPr>
                        <a:t>sync</a:t>
                      </a:r>
                      <a:r>
                        <a:rPr lang="zh-CN" altLang="en-US" sz="1500" dirty="0">
                          <a:effectLst/>
                        </a:rPr>
                        <a:t>，可选值</a:t>
                      </a:r>
                      <a:r>
                        <a:rPr lang="en-US" altLang="zh-CN" sz="1500" dirty="0" err="1">
                          <a:effectLst/>
                        </a:rPr>
                        <a:t>asyn</a:t>
                      </a:r>
                      <a:r>
                        <a:rPr lang="zh-CN" altLang="en-US" sz="1500" dirty="0">
                          <a:effectLst/>
                        </a:rPr>
                        <a:t>，</a:t>
                      </a:r>
                      <a:r>
                        <a:rPr lang="en-US" altLang="zh-CN" sz="1500" dirty="0">
                          <a:effectLst/>
                        </a:rPr>
                        <a:t>sync</a:t>
                      </a:r>
                      <a:r>
                        <a:rPr lang="zh-CN" altLang="en-US" sz="1500" dirty="0">
                          <a:effectLst/>
                        </a:rPr>
                        <a:t>。</a:t>
                      </a:r>
                      <a:endParaRPr lang="zh-CN" altLang="en-US" sz="1500" dirty="0">
                        <a:effectLst/>
                      </a:endParaRPr>
                    </a:p>
                  </a:txBody>
                  <a:tcPr marL="61897" marR="86655" marT="30948" marB="30948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807409" y="4936246"/>
            <a:ext cx="10636733" cy="1353820"/>
          </a:xfrm>
          <a:prstGeom prst="rect">
            <a:avLst/>
          </a:prstGeom>
          <a:solidFill>
            <a:srgbClr val="F5F7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600" b="0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ea typeface="PingFangSC-Regular"/>
              </a:rPr>
              <a:t>组装后的请求URL：</a:t>
            </a:r>
            <a:endParaRPr kumimoji="0" lang="zh-CN" altLang="zh-CN" b="0" i="0" u="none" strike="noStrike" cap="none" normalizeH="0" baseline="0" dirty="0" smtClean="0">
              <a:ln>
                <a:noFill/>
              </a:ln>
              <a:solidFill>
                <a:srgbClr val="687282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effectLst/>
              </a:rPr>
              <a:t>https://sandbox-openapi.baiwang.com/router/rest?method=baiwang.s.outputinvoice.invoice&amp;version=6.0&amp;appKey=1002948&amp;format=json&amp;timestamp=1718441526000&amp;token=582f166f-f245-4cde-bbef-764bea18f975&amp;type=sync&amp;sign=FF51318459320F6D4026336649002892</a:t>
            </a:r>
            <a:endParaRPr kumimoji="0" lang="zh-CN" altLang="zh-CN" b="0" i="0" u="none" strike="noStrike" cap="none" normalizeH="0" baseline="0" dirty="0" smtClean="0">
              <a:ln>
                <a:noFill/>
              </a:ln>
              <a:effectLst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43610" y="187362"/>
            <a:ext cx="8296802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600" b="1" noProof="0" dirty="0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POST</a:t>
            </a:r>
            <a:r>
              <a:rPr kumimoji="1" lang="zh-CN" altLang="en-US" sz="2600" b="1" noProof="0" dirty="0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请求</a:t>
            </a:r>
            <a:r>
              <a:rPr kumimoji="1" lang="en-US" altLang="zh-CN" sz="2600" b="1" noProof="0" dirty="0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kumimoji="1" lang="zh-CN" altLang="en-US" sz="2600" b="1" noProof="0" dirty="0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发起请求</a:t>
            </a:r>
            <a:endParaRPr kumimoji="1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rgbClr val="357FE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40105" y="911860"/>
            <a:ext cx="10972165" cy="52660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43610" y="187362"/>
            <a:ext cx="8296802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600" b="1" noProof="0" dirty="0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POST</a:t>
            </a:r>
            <a:r>
              <a:rPr kumimoji="1" lang="zh-CN" altLang="en-US" sz="2600" b="1" noProof="0" dirty="0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请求</a:t>
            </a:r>
            <a:r>
              <a:rPr kumimoji="1" lang="en-US" altLang="zh-CN" sz="2600" b="1" noProof="0" dirty="0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kumimoji="1" lang="zh-CN" altLang="en-US" sz="2600" b="1" noProof="0" dirty="0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注意事项</a:t>
            </a:r>
            <a:endParaRPr kumimoji="1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rgbClr val="357FE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43610" y="1610296"/>
            <a:ext cx="10667365" cy="36925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dirty="0" smtClean="0"/>
              <a:t>1</a:t>
            </a:r>
            <a:r>
              <a:rPr lang="zh-CN" altLang="en-US" dirty="0" smtClean="0"/>
              <a:t>、拼接</a:t>
            </a:r>
            <a:r>
              <a:rPr lang="en-US" altLang="zh-CN" dirty="0" err="1" smtClean="0"/>
              <a:t>url</a:t>
            </a:r>
            <a:r>
              <a:rPr lang="zh-CN" altLang="en-US" dirty="0" smtClean="0"/>
              <a:t>的时间戳必须跟拼签名里的时间戳一致；</a:t>
            </a:r>
            <a:endParaRPr lang="en-US" altLang="zh-CN" dirty="0" smtClean="0"/>
          </a:p>
          <a:p>
            <a:pPr algn="l">
              <a:lnSpc>
                <a:spcPct val="150000"/>
              </a:lnSpc>
            </a:pPr>
            <a:r>
              <a:rPr lang="en-US" altLang="zh-CN" dirty="0" smtClean="0"/>
              <a:t>2</a:t>
            </a:r>
            <a:r>
              <a:rPr lang="zh-CN" altLang="en-US" dirty="0" smtClean="0"/>
              <a:t>、拼接的</a:t>
            </a:r>
            <a:r>
              <a:rPr lang="zh-CN" altLang="en-US" dirty="0"/>
              <a:t>签名</a:t>
            </a:r>
            <a:r>
              <a:rPr lang="zh-CN" altLang="en-US" dirty="0" smtClean="0"/>
              <a:t>里包含</a:t>
            </a:r>
            <a:r>
              <a:rPr lang="en-US" altLang="zh-CN" dirty="0" err="1" smtClean="0">
                <a:solidFill>
                  <a:srgbClr val="FF0000"/>
                </a:solidFill>
              </a:rPr>
              <a:t>requestId</a:t>
            </a:r>
            <a:r>
              <a:rPr lang="zh-CN" altLang="en-US" dirty="0" smtClean="0">
                <a:solidFill>
                  <a:srgbClr val="FF0000"/>
                </a:solidFill>
              </a:rPr>
              <a:t>，则</a:t>
            </a:r>
            <a:r>
              <a:rPr lang="en-US" altLang="zh-CN" dirty="0" err="1" smtClean="0">
                <a:solidFill>
                  <a:srgbClr val="FF0000"/>
                </a:solidFill>
              </a:rPr>
              <a:t>url</a:t>
            </a:r>
            <a:r>
              <a:rPr lang="zh-CN" altLang="en-US" dirty="0" smtClean="0">
                <a:solidFill>
                  <a:srgbClr val="FF0000"/>
                </a:solidFill>
              </a:rPr>
              <a:t>里也必须保持一致的</a:t>
            </a:r>
            <a:r>
              <a:rPr lang="en-US" altLang="zh-CN" dirty="0" err="1" smtClean="0">
                <a:solidFill>
                  <a:srgbClr val="FF0000"/>
                </a:solidFill>
              </a:rPr>
              <a:t>requestId</a:t>
            </a:r>
            <a:r>
              <a:rPr lang="zh-CN" altLang="en-US" dirty="0" smtClean="0">
                <a:solidFill>
                  <a:srgbClr val="FF0000"/>
                </a:solidFill>
              </a:rPr>
              <a:t>，或者</a:t>
            </a:r>
            <a:r>
              <a:rPr lang="en-US" altLang="zh-CN" dirty="0" err="1" smtClean="0">
                <a:solidFill>
                  <a:srgbClr val="FF0000"/>
                </a:solidFill>
              </a:rPr>
              <a:t>url</a:t>
            </a:r>
            <a:r>
              <a:rPr lang="zh-CN" altLang="en-US" dirty="0" smtClean="0">
                <a:solidFill>
                  <a:srgbClr val="FF0000"/>
                </a:solidFill>
              </a:rPr>
              <a:t>跟签名里都不要</a:t>
            </a:r>
            <a:r>
              <a:rPr lang="en-US" altLang="zh-CN" dirty="0" err="1" smtClean="0">
                <a:solidFill>
                  <a:srgbClr val="FF0000"/>
                </a:solidFill>
              </a:rPr>
              <a:t>requestId</a:t>
            </a:r>
            <a:r>
              <a:rPr lang="zh-CN" altLang="en-US" dirty="0" err="1" smtClean="0">
                <a:solidFill>
                  <a:srgbClr val="FF0000"/>
                </a:solidFill>
              </a:rPr>
              <a:t>，</a:t>
            </a:r>
            <a:endParaRPr lang="zh-CN" altLang="en-US" dirty="0" err="1" smtClean="0">
              <a:solidFill>
                <a:srgbClr val="FF0000"/>
              </a:solidFill>
            </a:endParaRPr>
          </a:p>
          <a:p>
            <a:pPr algn="l">
              <a:lnSpc>
                <a:spcPct val="150000"/>
              </a:lnSpc>
            </a:pPr>
            <a:r>
              <a:rPr lang="zh-CN" altLang="en-US" dirty="0" smtClean="0">
                <a:sym typeface="+mn-ea"/>
              </a:rPr>
              <a:t>注意：请求</a:t>
            </a:r>
            <a:r>
              <a:rPr lang="en-US" altLang="zh-CN" dirty="0" err="1" smtClean="0">
                <a:sym typeface="+mn-ea"/>
              </a:rPr>
              <a:t>url</a:t>
            </a:r>
            <a:r>
              <a:rPr lang="zh-CN" altLang="en-US" dirty="0" smtClean="0">
                <a:sym typeface="+mn-ea"/>
              </a:rPr>
              <a:t>里</a:t>
            </a:r>
            <a:r>
              <a:rPr lang="en-US" altLang="zh-CN" dirty="0" err="1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sym typeface="+mn-ea"/>
              </a:rPr>
              <a:t>requestId</a:t>
            </a:r>
            <a:r>
              <a:rPr lang="zh-CN" altLang="en-US" dirty="0" smtClean="0">
                <a:latin typeface="Consolas" panose="020B0609020204030204" pitchFamily="49" charset="0"/>
                <a:sym typeface="+mn-ea"/>
              </a:rPr>
              <a:t>可以不要，不传的话系统会自动赋值</a:t>
            </a:r>
            <a:r>
              <a:rPr lang="zh-CN" altLang="en-US" dirty="0" smtClean="0">
                <a:solidFill>
                  <a:srgbClr val="FF0000"/>
                </a:solidFill>
              </a:rPr>
              <a:t>；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altLang="zh-CN" dirty="0"/>
              <a:t>3</a:t>
            </a:r>
            <a:r>
              <a:rPr lang="zh-CN" altLang="en-US" dirty="0" smtClean="0"/>
              <a:t>、</a:t>
            </a:r>
            <a:r>
              <a:rPr lang="zh-CN" altLang="en-US" dirty="0"/>
              <a:t>时间戳过期或者</a:t>
            </a:r>
            <a:r>
              <a:rPr lang="en-US" altLang="zh-CN" dirty="0"/>
              <a:t>5</a:t>
            </a:r>
            <a:r>
              <a:rPr lang="zh-CN" altLang="en-US" dirty="0"/>
              <a:t>分钟内重复请求相同的</a:t>
            </a:r>
            <a:r>
              <a:rPr lang="en-US" altLang="zh-CN" dirty="0" err="1"/>
              <a:t>requestId</a:t>
            </a:r>
            <a:r>
              <a:rPr lang="zh-CN" altLang="en-US" dirty="0"/>
              <a:t>会报错非法</a:t>
            </a:r>
            <a:r>
              <a:rPr lang="zh-CN" altLang="en-US" dirty="0" smtClean="0"/>
              <a:t>请求；</a:t>
            </a:r>
            <a:endParaRPr lang="en-US" altLang="zh-CN" dirty="0" smtClean="0"/>
          </a:p>
          <a:p>
            <a:pPr algn="l">
              <a:lnSpc>
                <a:spcPct val="150000"/>
              </a:lnSpc>
            </a:pPr>
            <a:r>
              <a:rPr lang="en-US" altLang="zh-CN" dirty="0" smtClean="0"/>
              <a:t>4</a:t>
            </a:r>
            <a:r>
              <a:rPr lang="zh-CN" altLang="en-US" dirty="0" smtClean="0"/>
              <a:t>、</a:t>
            </a:r>
            <a:r>
              <a:rPr lang="zh-CN" altLang="en-US" dirty="0"/>
              <a:t>请求报文必须是拼签名的报文，任意一个字符或空格变化都会报错签名错误</a:t>
            </a:r>
            <a:r>
              <a:rPr lang="zh-CN" altLang="en-US" dirty="0" smtClean="0"/>
              <a:t>；</a:t>
            </a:r>
            <a:endParaRPr lang="en-US" altLang="zh-CN" dirty="0" smtClean="0"/>
          </a:p>
          <a:p>
            <a:pPr algn="l">
              <a:lnSpc>
                <a:spcPct val="150000"/>
              </a:lnSpc>
            </a:pPr>
            <a:r>
              <a:rPr lang="en-US" altLang="zh-CN" dirty="0" smtClean="0"/>
              <a:t>5</a:t>
            </a:r>
            <a:r>
              <a:rPr lang="zh-CN" altLang="en-US" dirty="0"/>
              <a:t>、目前服务端设置报文大小限制为</a:t>
            </a:r>
            <a:r>
              <a:rPr lang="en-US" altLang="zh-CN" dirty="0" smtClean="0"/>
              <a:t>100M</a:t>
            </a:r>
            <a:r>
              <a:rPr lang="zh-CN" altLang="en-US" dirty="0" smtClean="0"/>
              <a:t>；</a:t>
            </a:r>
            <a:endParaRPr lang="en-US" altLang="zh-CN" dirty="0" smtClean="0"/>
          </a:p>
          <a:p>
            <a:pPr algn="l">
              <a:lnSpc>
                <a:spcPct val="150000"/>
              </a:lnSpc>
            </a:pPr>
            <a:r>
              <a:rPr lang="en-US" altLang="zh-CN" dirty="0" smtClean="0"/>
              <a:t>6</a:t>
            </a:r>
            <a:r>
              <a:rPr lang="zh-CN" altLang="en-US" dirty="0" smtClean="0"/>
              <a:t>、接口里字段传值，非必填项可以不传值，必填项不能省略且必须传值；</a:t>
            </a:r>
            <a:endParaRPr lang="en-US" altLang="zh-CN" dirty="0" smtClean="0"/>
          </a:p>
          <a:p>
            <a:pPr algn="l">
              <a:lnSpc>
                <a:spcPct val="150000"/>
              </a:lnSpc>
            </a:pPr>
            <a:r>
              <a:rPr lang="en-US" altLang="zh-CN" dirty="0" smtClean="0"/>
              <a:t>7</a:t>
            </a:r>
            <a:r>
              <a:rPr lang="zh-CN" altLang="en-US" dirty="0" smtClean="0"/>
              <a:t>、接口字段区分大小写，实际要与开放平台接口文档一致；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43610" y="187362"/>
            <a:ext cx="8296802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600" b="1" noProof="0" dirty="0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SDK</a:t>
            </a:r>
            <a:r>
              <a:rPr kumimoji="1" lang="zh-CN" altLang="en-US" sz="2600" b="1" noProof="0" dirty="0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调用</a:t>
            </a:r>
            <a:endParaRPr kumimoji="1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rgbClr val="357FE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703629" y="2967335"/>
            <a:ext cx="278473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0" cap="none" spc="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SDK</a:t>
            </a:r>
            <a:r>
              <a:rPr lang="zh-CN" altLang="en-US" sz="5400" b="0" cap="none" spc="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调用</a:t>
            </a:r>
            <a:endParaRPr lang="zh-CN" alt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943610" y="187362"/>
            <a:ext cx="8296802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600" b="1" dirty="0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SDK</a:t>
            </a:r>
            <a:r>
              <a:rPr kumimoji="1" lang="zh-CN" altLang="en-US" sz="2600" b="1" dirty="0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调用</a:t>
            </a:r>
            <a:endParaRPr kumimoji="1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rgbClr val="357FE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38908" y="935427"/>
            <a:ext cx="10852728" cy="27238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 smtClean="0">
                <a:solidFill>
                  <a:srgbClr val="222222"/>
                </a:solidFill>
                <a:latin typeface="PingFangSC-Regular"/>
              </a:rPr>
              <a:t>1</a:t>
            </a:r>
            <a:r>
              <a:rPr lang="zh-CN" altLang="en-US" dirty="0" smtClean="0">
                <a:solidFill>
                  <a:srgbClr val="222222"/>
                </a:solidFill>
                <a:latin typeface="PingFangSC-Regular"/>
              </a:rPr>
              <a:t>、百</a:t>
            </a:r>
            <a:r>
              <a:rPr lang="zh-CN" altLang="en-US" dirty="0">
                <a:solidFill>
                  <a:srgbClr val="222222"/>
                </a:solidFill>
                <a:latin typeface="PingFangSC-Regular"/>
              </a:rPr>
              <a:t>望云开放平台</a:t>
            </a:r>
            <a:r>
              <a:rPr lang="en-US" altLang="zh-CN" dirty="0">
                <a:solidFill>
                  <a:srgbClr val="222222"/>
                </a:solidFill>
                <a:latin typeface="PingFangSC-Regular"/>
              </a:rPr>
              <a:t>SDK</a:t>
            </a:r>
            <a:r>
              <a:rPr lang="zh-CN" altLang="en-US" dirty="0">
                <a:solidFill>
                  <a:srgbClr val="222222"/>
                </a:solidFill>
                <a:latin typeface="PingFangSC-Regular"/>
              </a:rPr>
              <a:t>提供了</a:t>
            </a:r>
            <a:r>
              <a:rPr lang="en-US" altLang="zh-CN" dirty="0">
                <a:solidFill>
                  <a:srgbClr val="222222"/>
                </a:solidFill>
                <a:latin typeface="PingFangSC-Regular"/>
              </a:rPr>
              <a:t>API</a:t>
            </a:r>
            <a:r>
              <a:rPr lang="zh-CN" altLang="en-US" dirty="0">
                <a:solidFill>
                  <a:srgbClr val="222222"/>
                </a:solidFill>
                <a:latin typeface="PingFangSC-Regular"/>
              </a:rPr>
              <a:t>的请求封装、响应封装、消息监听等功能，使用</a:t>
            </a:r>
            <a:r>
              <a:rPr lang="en-US" altLang="zh-CN" dirty="0">
                <a:solidFill>
                  <a:srgbClr val="222222"/>
                </a:solidFill>
                <a:latin typeface="PingFangSC-Regular"/>
              </a:rPr>
              <a:t>SDK</a:t>
            </a:r>
            <a:r>
              <a:rPr lang="zh-CN" altLang="en-US" dirty="0">
                <a:solidFill>
                  <a:srgbClr val="222222"/>
                </a:solidFill>
                <a:latin typeface="PingFangSC-Regular"/>
              </a:rPr>
              <a:t>可以轻松完成</a:t>
            </a:r>
            <a:r>
              <a:rPr lang="en-US" altLang="zh-CN" dirty="0">
                <a:solidFill>
                  <a:srgbClr val="222222"/>
                </a:solidFill>
                <a:latin typeface="PingFangSC-Regular"/>
              </a:rPr>
              <a:t>API</a:t>
            </a:r>
            <a:r>
              <a:rPr lang="zh-CN" altLang="en-US" dirty="0">
                <a:solidFill>
                  <a:srgbClr val="222222"/>
                </a:solidFill>
                <a:latin typeface="PingFangSC-Regular"/>
              </a:rPr>
              <a:t>的调用，</a:t>
            </a:r>
            <a:r>
              <a:rPr lang="en-US" altLang="zh-CN" dirty="0">
                <a:solidFill>
                  <a:srgbClr val="222222"/>
                </a:solidFill>
                <a:latin typeface="PingFangSC-Regular"/>
              </a:rPr>
              <a:t>API</a:t>
            </a:r>
            <a:r>
              <a:rPr lang="zh-CN" altLang="en-US" dirty="0">
                <a:solidFill>
                  <a:srgbClr val="222222"/>
                </a:solidFill>
                <a:latin typeface="PingFangSC-Regular"/>
              </a:rPr>
              <a:t>结果的获取</a:t>
            </a:r>
            <a:r>
              <a:rPr lang="zh-CN" altLang="en-US" dirty="0" smtClean="0">
                <a:solidFill>
                  <a:srgbClr val="222222"/>
                </a:solidFill>
                <a:latin typeface="PingFangSC-Regular"/>
              </a:rPr>
              <a:t>。</a:t>
            </a:r>
            <a:endParaRPr lang="en-US" altLang="zh-CN" dirty="0" smtClean="0">
              <a:solidFill>
                <a:srgbClr val="222222"/>
              </a:solidFill>
              <a:latin typeface="PingFangSC-Regular"/>
            </a:endParaRPr>
          </a:p>
          <a:p>
            <a:pPr>
              <a:lnSpc>
                <a:spcPct val="150000"/>
              </a:lnSpc>
            </a:pPr>
            <a:r>
              <a:rPr lang="en-US" altLang="zh-CN" dirty="0" smtClean="0">
                <a:solidFill>
                  <a:srgbClr val="222222"/>
                </a:solidFill>
                <a:latin typeface="PingFangSC-Regular"/>
              </a:rPr>
              <a:t>2</a:t>
            </a:r>
            <a:r>
              <a:rPr lang="zh-CN" altLang="en-US" dirty="0" smtClean="0">
                <a:solidFill>
                  <a:srgbClr val="222222"/>
                </a:solidFill>
                <a:latin typeface="PingFangSC-Regular"/>
              </a:rPr>
              <a:t>、</a:t>
            </a:r>
            <a:r>
              <a:rPr lang="en-US" altLang="zh-CN" dirty="0" smtClean="0">
                <a:solidFill>
                  <a:srgbClr val="222222"/>
                </a:solidFill>
                <a:latin typeface="PingFangSC-Regular"/>
              </a:rPr>
              <a:t>SDK</a:t>
            </a:r>
            <a:r>
              <a:rPr lang="zh-CN" altLang="en-US" dirty="0" smtClean="0">
                <a:solidFill>
                  <a:srgbClr val="222222"/>
                </a:solidFill>
                <a:latin typeface="PingFangSC-Regular"/>
              </a:rPr>
              <a:t>下载路径：</a:t>
            </a:r>
            <a:r>
              <a:rPr lang="en-US" altLang="zh-CN" dirty="0" smtClean="0">
                <a:solidFill>
                  <a:srgbClr val="222222"/>
                </a:solidFill>
                <a:latin typeface="PingFangSC-Regular"/>
              </a:rPr>
              <a:t>【</a:t>
            </a:r>
            <a:r>
              <a:rPr lang="zh-CN" altLang="en-US" dirty="0" smtClean="0">
                <a:solidFill>
                  <a:srgbClr val="222222"/>
                </a:solidFill>
                <a:latin typeface="PingFangSC-Regular"/>
              </a:rPr>
              <a:t>开发者管理</a:t>
            </a:r>
            <a:r>
              <a:rPr lang="en-US" altLang="zh-CN" dirty="0" smtClean="0">
                <a:solidFill>
                  <a:srgbClr val="222222"/>
                </a:solidFill>
                <a:latin typeface="PingFangSC-Regular"/>
              </a:rPr>
              <a:t>】</a:t>
            </a:r>
            <a:r>
              <a:rPr lang="en-US" altLang="zh-CN" dirty="0" smtClean="0">
                <a:solidFill>
                  <a:srgbClr val="222222"/>
                </a:solidFill>
                <a:latin typeface="PingFangSC-Regular"/>
              </a:rPr>
              <a:t>—</a:t>
            </a:r>
            <a:r>
              <a:rPr lang="en-US" altLang="zh-CN" dirty="0" smtClean="0">
                <a:solidFill>
                  <a:srgbClr val="222222"/>
                </a:solidFill>
                <a:latin typeface="PingFangSC-Regular"/>
              </a:rPr>
              <a:t>【</a:t>
            </a:r>
            <a:r>
              <a:rPr lang="zh-CN" altLang="en-US" dirty="0" smtClean="0">
                <a:solidFill>
                  <a:srgbClr val="222222"/>
                </a:solidFill>
                <a:latin typeface="PingFangSC-Regular"/>
              </a:rPr>
              <a:t>开发指引</a:t>
            </a:r>
            <a:r>
              <a:rPr lang="en-US" altLang="zh-CN" dirty="0" smtClean="0">
                <a:solidFill>
                  <a:srgbClr val="222222"/>
                </a:solidFill>
                <a:latin typeface="PingFangSC-Regular"/>
              </a:rPr>
              <a:t>】</a:t>
            </a:r>
            <a:r>
              <a:rPr lang="en-US" altLang="zh-CN" dirty="0" smtClean="0">
                <a:solidFill>
                  <a:srgbClr val="222222"/>
                </a:solidFill>
                <a:latin typeface="PingFangSC-Regular"/>
              </a:rPr>
              <a:t>—</a:t>
            </a:r>
            <a:r>
              <a:rPr lang="en-US" altLang="zh-CN" dirty="0" smtClean="0">
                <a:solidFill>
                  <a:srgbClr val="222222"/>
                </a:solidFill>
                <a:latin typeface="PingFangSC-Regular"/>
              </a:rPr>
              <a:t>【</a:t>
            </a:r>
            <a:r>
              <a:rPr lang="zh-CN" altLang="en-US" dirty="0" smtClean="0">
                <a:solidFill>
                  <a:srgbClr val="222222"/>
                </a:solidFill>
                <a:latin typeface="PingFangSC-Regular"/>
              </a:rPr>
              <a:t>工具下载</a:t>
            </a:r>
            <a:r>
              <a:rPr lang="en-US" altLang="zh-CN" dirty="0" smtClean="0">
                <a:solidFill>
                  <a:srgbClr val="222222"/>
                </a:solidFill>
                <a:latin typeface="PingFangSC-Regular"/>
              </a:rPr>
              <a:t>】</a:t>
            </a:r>
            <a:endParaRPr lang="en-US" altLang="zh-CN" dirty="0" smtClean="0">
              <a:solidFill>
                <a:srgbClr val="222222"/>
              </a:solidFill>
              <a:latin typeface="PingFangSC-Regular"/>
            </a:endParaRPr>
          </a:p>
          <a:p>
            <a:pPr>
              <a:lnSpc>
                <a:spcPct val="150000"/>
              </a:lnSpc>
            </a:pPr>
            <a:r>
              <a:rPr lang="en-US" altLang="zh-CN" dirty="0" smtClean="0">
                <a:solidFill>
                  <a:srgbClr val="222222"/>
                </a:solidFill>
                <a:latin typeface="PingFangSC-Regular"/>
              </a:rPr>
              <a:t>3</a:t>
            </a:r>
            <a:r>
              <a:rPr lang="zh-CN" altLang="en-US" dirty="0" smtClean="0">
                <a:solidFill>
                  <a:srgbClr val="222222"/>
                </a:solidFill>
                <a:latin typeface="PingFangSC-Regular"/>
              </a:rPr>
              <a:t>、</a:t>
            </a:r>
            <a:r>
              <a:rPr lang="en-US" altLang="zh-CN" dirty="0" smtClean="0">
                <a:solidFill>
                  <a:srgbClr val="222222"/>
                </a:solidFill>
                <a:latin typeface="PingFangSC-Regular"/>
              </a:rPr>
              <a:t>SDK</a:t>
            </a:r>
            <a:r>
              <a:rPr lang="zh-CN" altLang="en-US" dirty="0" smtClean="0">
                <a:solidFill>
                  <a:srgbClr val="222222"/>
                </a:solidFill>
                <a:latin typeface="PingFangSC-Regular"/>
              </a:rPr>
              <a:t>直接传值明文密码，无需加密；字段直接传值；</a:t>
            </a:r>
            <a:endParaRPr lang="en-US" altLang="zh-CN" dirty="0" smtClean="0">
              <a:solidFill>
                <a:srgbClr val="222222"/>
              </a:solidFill>
              <a:latin typeface="PingFangSC-Regular"/>
            </a:endParaRPr>
          </a:p>
          <a:p>
            <a:pPr>
              <a:lnSpc>
                <a:spcPct val="150000"/>
              </a:lnSpc>
            </a:pPr>
            <a:r>
              <a:rPr lang="en-US" altLang="zh-CN" dirty="0" smtClean="0">
                <a:solidFill>
                  <a:srgbClr val="222222"/>
                </a:solidFill>
                <a:latin typeface="PingFangSC-Regular"/>
              </a:rPr>
              <a:t>4</a:t>
            </a:r>
            <a:r>
              <a:rPr lang="zh-CN" altLang="en-US" dirty="0" smtClean="0">
                <a:solidFill>
                  <a:srgbClr val="222222"/>
                </a:solidFill>
                <a:latin typeface="PingFangSC-Regular"/>
              </a:rPr>
              <a:t>、</a:t>
            </a:r>
            <a:r>
              <a:rPr lang="en-US" altLang="zh-CN" dirty="0">
                <a:solidFill>
                  <a:srgbClr val="222222"/>
                </a:solidFill>
                <a:latin typeface="PingFangSC-Regular"/>
              </a:rPr>
              <a:t> </a:t>
            </a:r>
            <a:r>
              <a:rPr lang="en-US" altLang="zh-CN" dirty="0" smtClean="0">
                <a:solidFill>
                  <a:srgbClr val="222222"/>
                </a:solidFill>
                <a:latin typeface="PingFangSC-Regular"/>
              </a:rPr>
              <a:t>maven</a:t>
            </a:r>
            <a:r>
              <a:rPr lang="zh-CN" altLang="en-US" dirty="0" smtClean="0">
                <a:solidFill>
                  <a:srgbClr val="222222"/>
                </a:solidFill>
                <a:latin typeface="PingFangSC-Regular"/>
              </a:rPr>
              <a:t>库，客户无法连接到我们的</a:t>
            </a:r>
            <a:r>
              <a:rPr lang="en-US" altLang="zh-CN" dirty="0" smtClean="0">
                <a:solidFill>
                  <a:srgbClr val="222222"/>
                </a:solidFill>
                <a:latin typeface="PingFangSC-Regular"/>
              </a:rPr>
              <a:t>maven</a:t>
            </a:r>
            <a:r>
              <a:rPr lang="zh-CN" altLang="en-US" dirty="0" smtClean="0">
                <a:solidFill>
                  <a:srgbClr val="222222"/>
                </a:solidFill>
                <a:latin typeface="PingFangSC-Regular"/>
              </a:rPr>
              <a:t>私库，可以把</a:t>
            </a:r>
            <a:r>
              <a:rPr lang="en-US" altLang="zh-CN" dirty="0" smtClean="0">
                <a:solidFill>
                  <a:srgbClr val="222222"/>
                </a:solidFill>
                <a:latin typeface="PingFangSC-Regular"/>
              </a:rPr>
              <a:t>jar</a:t>
            </a:r>
            <a:r>
              <a:rPr lang="zh-CN" altLang="en-US" dirty="0" smtClean="0">
                <a:solidFill>
                  <a:srgbClr val="222222"/>
                </a:solidFill>
                <a:latin typeface="PingFangSC-Regular"/>
              </a:rPr>
              <a:t>包放到客户自己的</a:t>
            </a:r>
            <a:r>
              <a:rPr lang="en-US" altLang="zh-CN" dirty="0" smtClean="0">
                <a:solidFill>
                  <a:srgbClr val="222222"/>
                </a:solidFill>
                <a:latin typeface="PingFangSC-Regular"/>
              </a:rPr>
              <a:t>maven</a:t>
            </a:r>
            <a:r>
              <a:rPr lang="zh-CN" altLang="en-US" dirty="0" smtClean="0">
                <a:solidFill>
                  <a:srgbClr val="222222"/>
                </a:solidFill>
                <a:latin typeface="PingFangSC-Regular"/>
              </a:rPr>
              <a:t>私库里；</a:t>
            </a:r>
            <a:endParaRPr lang="en-US" altLang="zh-CN" dirty="0">
              <a:solidFill>
                <a:srgbClr val="222222"/>
              </a:solidFill>
              <a:latin typeface="PingFangSC-Regular"/>
            </a:endParaRPr>
          </a:p>
          <a:p>
            <a:br>
              <a:rPr lang="zh-CN" altLang="en-US" dirty="0"/>
            </a:br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1163782" y="2955636"/>
            <a:ext cx="4916731" cy="24468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222222"/>
                </a:solidFill>
                <a:latin typeface="PingFangSC-Regular"/>
              </a:rPr>
              <a:t>&lt;dependency&gt;</a:t>
            </a:r>
            <a:endParaRPr lang="en-US" altLang="zh-CN" dirty="0">
              <a:solidFill>
                <a:srgbClr val="222222"/>
              </a:solidFill>
              <a:latin typeface="PingFangSC-Regular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222222"/>
                </a:solidFill>
                <a:latin typeface="PingFangSC-Regular"/>
              </a:rPr>
              <a:t>  &lt;</a:t>
            </a:r>
            <a:r>
              <a:rPr lang="en-US" altLang="zh-CN" dirty="0" err="1">
                <a:solidFill>
                  <a:srgbClr val="222222"/>
                </a:solidFill>
                <a:latin typeface="PingFangSC-Regular"/>
              </a:rPr>
              <a:t>groupId</a:t>
            </a:r>
            <a:r>
              <a:rPr lang="en-US" altLang="zh-CN" dirty="0">
                <a:solidFill>
                  <a:srgbClr val="222222"/>
                </a:solidFill>
                <a:latin typeface="PingFangSC-Regular"/>
              </a:rPr>
              <a:t>&gt;</a:t>
            </a:r>
            <a:r>
              <a:rPr lang="en-US" altLang="zh-CN" dirty="0" err="1">
                <a:solidFill>
                  <a:srgbClr val="222222"/>
                </a:solidFill>
                <a:latin typeface="PingFangSC-Regular"/>
              </a:rPr>
              <a:t>com.baiwang.bop</a:t>
            </a:r>
            <a:r>
              <a:rPr lang="en-US" altLang="zh-CN" dirty="0">
                <a:solidFill>
                  <a:srgbClr val="222222"/>
                </a:solidFill>
                <a:latin typeface="PingFangSC-Regular"/>
              </a:rPr>
              <a:t>&lt;/</a:t>
            </a:r>
            <a:r>
              <a:rPr lang="en-US" altLang="zh-CN" dirty="0" err="1">
                <a:solidFill>
                  <a:srgbClr val="222222"/>
                </a:solidFill>
                <a:latin typeface="PingFangSC-Regular"/>
              </a:rPr>
              <a:t>groupId</a:t>
            </a:r>
            <a:r>
              <a:rPr lang="en-US" altLang="zh-CN" dirty="0">
                <a:solidFill>
                  <a:srgbClr val="222222"/>
                </a:solidFill>
                <a:latin typeface="PingFangSC-Regular"/>
              </a:rPr>
              <a:t>&gt;</a:t>
            </a:r>
            <a:endParaRPr lang="en-US" altLang="zh-CN" dirty="0">
              <a:solidFill>
                <a:srgbClr val="222222"/>
              </a:solidFill>
              <a:latin typeface="PingFangSC-Regular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222222"/>
                </a:solidFill>
                <a:latin typeface="PingFangSC-Regular"/>
              </a:rPr>
              <a:t>  &lt;</a:t>
            </a:r>
            <a:r>
              <a:rPr lang="en-US" altLang="zh-CN" dirty="0" err="1">
                <a:solidFill>
                  <a:srgbClr val="222222"/>
                </a:solidFill>
                <a:latin typeface="PingFangSC-Regular"/>
              </a:rPr>
              <a:t>artifactId</a:t>
            </a:r>
            <a:r>
              <a:rPr lang="en-US" altLang="zh-CN" dirty="0">
                <a:solidFill>
                  <a:srgbClr val="222222"/>
                </a:solidFill>
                <a:latin typeface="PingFangSC-Regular"/>
              </a:rPr>
              <a:t>&gt;</a:t>
            </a:r>
            <a:r>
              <a:rPr lang="en-US" altLang="zh-CN" dirty="0" err="1">
                <a:solidFill>
                  <a:srgbClr val="222222"/>
                </a:solidFill>
                <a:latin typeface="PingFangSC-Regular"/>
              </a:rPr>
              <a:t>baiwang-bopsdk</a:t>
            </a:r>
            <a:r>
              <a:rPr lang="en-US" altLang="zh-CN" dirty="0">
                <a:solidFill>
                  <a:srgbClr val="222222"/>
                </a:solidFill>
                <a:latin typeface="PingFangSC-Regular"/>
              </a:rPr>
              <a:t>&lt;/</a:t>
            </a:r>
            <a:r>
              <a:rPr lang="en-US" altLang="zh-CN" dirty="0" err="1">
                <a:solidFill>
                  <a:srgbClr val="222222"/>
                </a:solidFill>
                <a:latin typeface="PingFangSC-Regular"/>
              </a:rPr>
              <a:t>artifactId</a:t>
            </a:r>
            <a:r>
              <a:rPr lang="en-US" altLang="zh-CN" dirty="0">
                <a:solidFill>
                  <a:srgbClr val="222222"/>
                </a:solidFill>
                <a:latin typeface="PingFangSC-Regular"/>
              </a:rPr>
              <a:t>&gt;</a:t>
            </a:r>
            <a:endParaRPr lang="en-US" altLang="zh-CN" dirty="0">
              <a:solidFill>
                <a:srgbClr val="222222"/>
              </a:solidFill>
              <a:latin typeface="PingFangSC-Regular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222222"/>
                </a:solidFill>
                <a:latin typeface="PingFangSC-Regular"/>
              </a:rPr>
              <a:t>  &lt;version&gt;3.4.359&lt;/version&gt;</a:t>
            </a:r>
            <a:endParaRPr lang="en-US" altLang="zh-CN" dirty="0">
              <a:solidFill>
                <a:srgbClr val="222222"/>
              </a:solidFill>
              <a:latin typeface="PingFangSC-Regular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222222"/>
                </a:solidFill>
                <a:latin typeface="PingFangSC-Regular"/>
              </a:rPr>
              <a:t>&lt;/dependency&gt;</a:t>
            </a:r>
            <a:endParaRPr lang="zh-CN" altLang="en-US" dirty="0">
              <a:solidFill>
                <a:srgbClr val="222222"/>
              </a:solidFill>
              <a:latin typeface="PingFangSC-Regular"/>
            </a:endParaRPr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43610" y="187362"/>
            <a:ext cx="8296802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600" b="1" dirty="0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SDK</a:t>
            </a:r>
            <a:r>
              <a:rPr kumimoji="1" lang="zh-CN" altLang="en-US" sz="2600" b="1" dirty="0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获取</a:t>
            </a:r>
            <a:r>
              <a:rPr kumimoji="1" lang="en-US" altLang="zh-CN" sz="2600" b="1" dirty="0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token</a:t>
            </a:r>
            <a:r>
              <a:rPr kumimoji="1" lang="zh-CN" altLang="en-US" sz="2600" b="1" dirty="0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示例</a:t>
            </a:r>
            <a:endParaRPr kumimoji="1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rgbClr val="357FE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6840" y="1112814"/>
            <a:ext cx="9662160" cy="51810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43610" y="187362"/>
            <a:ext cx="8296802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600" b="1" dirty="0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SDK</a:t>
            </a:r>
            <a:r>
              <a:rPr kumimoji="1" lang="zh-CN" altLang="en-US" sz="2600" b="1" dirty="0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签名示例</a:t>
            </a:r>
            <a:endParaRPr kumimoji="1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rgbClr val="357FE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0308" y="975360"/>
            <a:ext cx="10157144" cy="53035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43610" y="187362"/>
            <a:ext cx="8296802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600" b="1" noProof="0" dirty="0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SDK</a:t>
            </a:r>
            <a:r>
              <a:rPr kumimoji="1" lang="zh-CN" altLang="en-US" sz="2600" b="1" noProof="0" dirty="0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发送报文日志</a:t>
            </a:r>
            <a:endParaRPr kumimoji="1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rgbClr val="357FE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86410" y="877015"/>
            <a:ext cx="1124839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6</a:t>
            </a:r>
            <a:r>
              <a:rPr lang="zh-CN" altLang="en-US" dirty="0"/>
              <a:t>月 </a:t>
            </a:r>
            <a:r>
              <a:rPr lang="en-US" altLang="zh-CN" dirty="0"/>
              <a:t>23, 2023 2:46:25 </a:t>
            </a:r>
            <a:r>
              <a:rPr lang="zh-CN" altLang="en-US" dirty="0"/>
              <a:t>下午 </a:t>
            </a:r>
            <a:r>
              <a:rPr lang="en-US" altLang="zh-CN" dirty="0"/>
              <a:t>com.baiwang.logging.jdk14.Jdk14LoggingImpl warn</a:t>
            </a:r>
            <a:endParaRPr lang="en-US" altLang="zh-CN" dirty="0"/>
          </a:p>
          <a:p>
            <a:r>
              <a:rPr lang="zh-CN" altLang="en-US" dirty="0"/>
              <a:t>警告</a:t>
            </a:r>
            <a:r>
              <a:rPr lang="en-US" altLang="zh-CN" dirty="0"/>
              <a:t>: [BOP_LOG]c0bfd0f2-d17b-46c8-909a-d75e137f3248 &gt;&gt; </a:t>
            </a:r>
            <a:r>
              <a:rPr lang="zh-CN" altLang="en-US" dirty="0">
                <a:solidFill>
                  <a:srgbClr val="FF0000"/>
                </a:solidFill>
              </a:rPr>
              <a:t>请求</a:t>
            </a:r>
            <a:r>
              <a:rPr lang="en-US" altLang="zh-CN" dirty="0">
                <a:solidFill>
                  <a:srgbClr val="FF0000"/>
                </a:solidFill>
              </a:rPr>
              <a:t>URL</a:t>
            </a:r>
            <a:r>
              <a:rPr lang="zh-CN" altLang="en-US" dirty="0">
                <a:solidFill>
                  <a:srgbClr val="FF0000"/>
                </a:solidFill>
              </a:rPr>
              <a:t>：</a:t>
            </a:r>
            <a:r>
              <a:rPr lang="en-US" altLang="zh-CN" dirty="0">
                <a:solidFill>
                  <a:srgbClr val="FF0000"/>
                </a:solidFill>
              </a:rPr>
              <a:t>https://sandbox-openapi.baiwang.com/router/rest?method=baiwang.output.invoice.issue&amp;version=6.0&amp;appKey=1000653&amp;format=json&amp;timestamp=1687502784956&amp;token=52f52350-65c8-4dbd-869c-3de8aa200b02&amp;type=sync&amp;requestId=c0bfd0f2-d17b-46c8-909a-d75e137f3248&amp;sdkVersion=3.4.338&amp;sign=610C72890BBE990E11DA0D56A734CC59</a:t>
            </a:r>
            <a:r>
              <a:rPr lang="en-US" altLang="zh-CN" dirty="0"/>
              <a:t>, </a:t>
            </a:r>
            <a:r>
              <a:rPr lang="zh-CN" altLang="en-US" dirty="0">
                <a:solidFill>
                  <a:srgbClr val="0070C0"/>
                </a:solidFill>
              </a:rPr>
              <a:t>请求报文：</a:t>
            </a:r>
            <a:r>
              <a:rPr lang="en-US" altLang="zh-CN" dirty="0">
                <a:solidFill>
                  <a:srgbClr val="0070C0"/>
                </a:solidFill>
              </a:rPr>
              <a:t>{"method":"baiwang.output.invoice.issue","taxNo":"36996300000000012","invoiceTerminalCode":"410123650001","isSplit":false,"orgCode":"","taxDiskNo":"","formatGenerate":false,"data":{"invoiceTypeCode":"026","invoiceType":"0","invoiceSpecialMark":"","taxationMethod":"0","invoiceListMark":"0","priceTaxMark":"0","serialNo":"1156526767312344443134","buyerTaxNo":"91500000747150890S","buyerName":"dasd","buyerAddressPhone":"asda","buyerBankAccount":"dasda","drawer":"</a:t>
            </a:r>
            <a:r>
              <a:rPr lang="zh-CN" altLang="en-US" dirty="0">
                <a:solidFill>
                  <a:srgbClr val="0070C0"/>
                </a:solidFill>
              </a:rPr>
              <a:t>开票人</a:t>
            </a:r>
            <a:r>
              <a:rPr lang="en-US" altLang="zh-CN" dirty="0">
                <a:solidFill>
                  <a:srgbClr val="0070C0"/>
                </a:solidFill>
              </a:rPr>
              <a:t>","checker":"","payee":"","invoiceTotalPrice":100,"invoiceTotalTax":6,"invoiceTotalPriceTax":106,"remarks":"","redInfoNo":"","originalInvoiceCode":"","originalInvoiceNo":"","deductibleAmount":0.0,"sellerAddressPhone":"","sellerBankAccount":"","ext":{},"</a:t>
            </a:r>
            <a:r>
              <a:rPr lang="en-US" altLang="zh-CN" dirty="0" err="1">
                <a:solidFill>
                  <a:srgbClr val="0070C0"/>
                </a:solidFill>
              </a:rPr>
              <a:t>systemName</a:t>
            </a:r>
            <a:r>
              <a:rPr lang="en-US" altLang="zh-CN" dirty="0">
                <a:solidFill>
                  <a:srgbClr val="0070C0"/>
                </a:solidFill>
              </a:rPr>
              <a:t>":"","</a:t>
            </a:r>
            <a:r>
              <a:rPr lang="en-US" altLang="zh-CN" dirty="0" err="1">
                <a:solidFill>
                  <a:srgbClr val="0070C0"/>
                </a:solidFill>
              </a:rPr>
              <a:t>systemId</a:t>
            </a:r>
            <a:r>
              <a:rPr lang="en-US" altLang="zh-CN" dirty="0">
                <a:solidFill>
                  <a:srgbClr val="0070C0"/>
                </a:solidFill>
              </a:rPr>
              <a:t>":"","</a:t>
            </a:r>
            <a:r>
              <a:rPr lang="en-US" altLang="zh-CN" dirty="0" err="1">
                <a:solidFill>
                  <a:srgbClr val="0070C0"/>
                </a:solidFill>
              </a:rPr>
              <a:t>invoiceDetailsList</a:t>
            </a:r>
            <a:r>
              <a:rPr lang="en-US" altLang="zh-CN" dirty="0">
                <a:solidFill>
                  <a:srgbClr val="0070C0"/>
                </a:solidFill>
              </a:rPr>
              <a:t>":[{"goodsLineNo":1,"invoiceLineNature":"0","goodsCode":"1010101070000000000","goodsPersonalCode":"","goodsName":"</a:t>
            </a:r>
            <a:r>
              <a:rPr lang="zh-CN" altLang="en-US" dirty="0">
                <a:solidFill>
                  <a:srgbClr val="0070C0"/>
                </a:solidFill>
              </a:rPr>
              <a:t>燕麦</a:t>
            </a:r>
            <a:r>
              <a:rPr lang="en-US" altLang="zh-CN" dirty="0">
                <a:solidFill>
                  <a:srgbClr val="0070C0"/>
                </a:solidFill>
              </a:rPr>
              <a:t>","goodsSpecification":"","goodsUnit":"","goodsQuantity":10,"goodsPrice":10,"goodsTotalPrice":100,"goodsTotalTax":6,"goodsTaxRate":0.06,"vatSpecialManagement":"","freeTaxMark":"","preferentialMarkFlag":"0"}]}} </a:t>
            </a:r>
            <a:r>
              <a:rPr lang="en-US" altLang="zh-CN" dirty="0"/>
              <a:t>&gt;&gt; </a:t>
            </a:r>
            <a:r>
              <a:rPr lang="zh-CN" altLang="en-US" dirty="0">
                <a:solidFill>
                  <a:srgbClr val="1DBA58"/>
                </a:solidFill>
              </a:rPr>
              <a:t>响应报文</a:t>
            </a:r>
            <a:r>
              <a:rPr lang="en-US" altLang="zh-CN" dirty="0">
                <a:solidFill>
                  <a:srgbClr val="1DBA58"/>
                </a:solidFill>
              </a:rPr>
              <a:t>:{"method":"baiwang.output.invoice.issue","requestId":"c0bfd0f2-d17b-46c8-909a-d75e137f3248","errorResponse":{"code":100006,"message":"</a:t>
            </a:r>
            <a:r>
              <a:rPr lang="zh-CN" altLang="en-US" dirty="0">
                <a:solidFill>
                  <a:srgbClr val="1DBA58"/>
                </a:solidFill>
              </a:rPr>
              <a:t>远程服务错误</a:t>
            </a:r>
            <a:r>
              <a:rPr lang="en-US" altLang="zh-CN" dirty="0">
                <a:solidFill>
                  <a:srgbClr val="1DBA58"/>
                </a:solidFill>
              </a:rPr>
              <a:t>","</a:t>
            </a:r>
            <a:r>
              <a:rPr lang="en-US" altLang="zh-CN" dirty="0" err="1">
                <a:solidFill>
                  <a:srgbClr val="1DBA58"/>
                </a:solidFill>
              </a:rPr>
              <a:t>subCode</a:t>
            </a:r>
            <a:r>
              <a:rPr lang="en-US" altLang="zh-CN" dirty="0">
                <a:solidFill>
                  <a:srgbClr val="1DBA58"/>
                </a:solidFill>
              </a:rPr>
              <a:t>":"-1","subMessage":"</a:t>
            </a:r>
            <a:r>
              <a:rPr lang="zh-CN" altLang="en-US" dirty="0">
                <a:solidFill>
                  <a:srgbClr val="1DBA58"/>
                </a:solidFill>
              </a:rPr>
              <a:t>该</a:t>
            </a:r>
            <a:r>
              <a:rPr lang="en-US" altLang="zh-CN" dirty="0" err="1">
                <a:solidFill>
                  <a:srgbClr val="1DBA58"/>
                </a:solidFill>
              </a:rPr>
              <a:t>appKey</a:t>
            </a:r>
            <a:r>
              <a:rPr lang="zh-CN" altLang="en-US" dirty="0">
                <a:solidFill>
                  <a:srgbClr val="1DBA58"/>
                </a:solidFill>
              </a:rPr>
              <a:t>无权操作此税号信息</a:t>
            </a:r>
            <a:r>
              <a:rPr lang="en-US" altLang="zh-CN" dirty="0">
                <a:solidFill>
                  <a:srgbClr val="1DBA58"/>
                </a:solidFill>
              </a:rPr>
              <a:t>—</a:t>
            </a:r>
            <a:r>
              <a:rPr lang="zh-CN" altLang="en-US" dirty="0">
                <a:solidFill>
                  <a:srgbClr val="1DBA58"/>
                </a:solidFill>
              </a:rPr>
              <a:t>税号</a:t>
            </a:r>
            <a:r>
              <a:rPr lang="en-US" altLang="zh-CN" dirty="0">
                <a:solidFill>
                  <a:srgbClr val="1DBA58"/>
                </a:solidFill>
              </a:rPr>
              <a:t>=[36996300000000012]"},"</a:t>
            </a:r>
            <a:r>
              <a:rPr lang="en-US" altLang="zh-CN" dirty="0" err="1">
                <a:solidFill>
                  <a:srgbClr val="1DBA58"/>
                </a:solidFill>
              </a:rPr>
              <a:t>success":false</a:t>
            </a:r>
            <a:r>
              <a:rPr lang="en-US" altLang="zh-CN" dirty="0">
                <a:solidFill>
                  <a:srgbClr val="1DBA58"/>
                </a:solidFill>
              </a:rPr>
              <a:t>} </a:t>
            </a:r>
            <a:r>
              <a:rPr lang="en-US" altLang="zh-CN" dirty="0"/>
              <a:t>| </a:t>
            </a:r>
            <a:r>
              <a:rPr lang="zh-CN" altLang="en-US" dirty="0"/>
              <a:t>耗时：</a:t>
            </a:r>
            <a:r>
              <a:rPr lang="en-US" altLang="zh-CN" dirty="0"/>
              <a:t>212ms!</a:t>
            </a: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9134" y="1358234"/>
            <a:ext cx="12182866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9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PART3</a:t>
            </a:r>
            <a:endParaRPr kumimoji="1" lang="zh-CN" altLang="en-US" sz="9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890" y="3418658"/>
            <a:ext cx="12192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4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接口联调</a:t>
            </a:r>
            <a:endParaRPr kumimoji="1" lang="zh-CN" sz="4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43610" y="187362"/>
            <a:ext cx="8296802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57FE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接口联调</a:t>
            </a:r>
            <a:r>
              <a:rPr kumimoji="1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57FE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</a:t>
            </a:r>
            <a:r>
              <a:rPr kumimoji="1" lang="zh-CN" altLang="en-US" sz="2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57FE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对接流程</a:t>
            </a:r>
            <a:endParaRPr kumimoji="1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rgbClr val="357FE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485185" y="1975772"/>
            <a:ext cx="9291480" cy="2552804"/>
            <a:chOff x="1725850" y="5036174"/>
            <a:chExt cx="14836300" cy="4076225"/>
          </a:xfrm>
        </p:grpSpPr>
        <p:sp>
          <p:nvSpPr>
            <p:cNvPr id="5" name="Chevron 3"/>
            <p:cNvSpPr/>
            <p:nvPr/>
          </p:nvSpPr>
          <p:spPr>
            <a:xfrm>
              <a:off x="1725850" y="6156962"/>
              <a:ext cx="2967260" cy="969515"/>
            </a:xfrm>
            <a:prstGeom prst="chevron">
              <a:avLst>
                <a:gd name="adj" fmla="val 31257"/>
              </a:avLst>
            </a:prstGeom>
            <a:solidFill>
              <a:srgbClr val="0A80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95" tIns="91448" rIns="182895" bIns="226373" rtlCol="0" anchor="b" anchorCtr="1">
              <a:normAutofit fontScale="77500"/>
            </a:bodyPr>
            <a:lstStyle/>
            <a:p>
              <a:pPr algn="ctr"/>
              <a:r>
                <a:rPr lang="zh-CN" altLang="en-US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Roboto Regular"/>
                </a:rPr>
                <a:t>确认项目需求</a:t>
              </a:r>
              <a:endParaRPr 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 Regular"/>
              </a:endParaRPr>
            </a:p>
          </p:txBody>
        </p:sp>
        <p:sp>
          <p:nvSpPr>
            <p:cNvPr id="6" name="Chevron 30"/>
            <p:cNvSpPr/>
            <p:nvPr/>
          </p:nvSpPr>
          <p:spPr>
            <a:xfrm>
              <a:off x="4693110" y="6156962"/>
              <a:ext cx="2967260" cy="969515"/>
            </a:xfrm>
            <a:prstGeom prst="chevron">
              <a:avLst>
                <a:gd name="adj" fmla="val 31257"/>
              </a:avLst>
            </a:prstGeom>
            <a:solidFill>
              <a:srgbClr val="59B6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95" tIns="91448" rIns="182895" bIns="226373" rtlCol="0" anchor="b" anchorCtr="1">
              <a:normAutofit fontScale="77500"/>
            </a:bodyPr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Roboto Regular"/>
                </a:rPr>
                <a:t>提供沙箱参数</a:t>
              </a: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 Regular"/>
              </a:endParaRPr>
            </a:p>
          </p:txBody>
        </p:sp>
        <p:sp>
          <p:nvSpPr>
            <p:cNvPr id="7" name="Chevron 31"/>
            <p:cNvSpPr/>
            <p:nvPr/>
          </p:nvSpPr>
          <p:spPr>
            <a:xfrm>
              <a:off x="7660370" y="6156962"/>
              <a:ext cx="2967260" cy="969515"/>
            </a:xfrm>
            <a:prstGeom prst="chevron">
              <a:avLst>
                <a:gd name="adj" fmla="val 31257"/>
              </a:avLst>
            </a:prstGeom>
            <a:solidFill>
              <a:srgbClr val="0A80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95" tIns="91448" rIns="182895" bIns="226373" rtlCol="0" anchor="b" anchorCtr="1">
              <a:normAutofit fontScale="77500" lnSpcReduction="20000"/>
            </a:bodyPr>
            <a:lstStyle/>
            <a:p>
              <a:pPr algn="ctr"/>
              <a:r>
                <a:rPr lang="zh-CN" altLang="en-US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Roboto Regular"/>
                </a:rPr>
                <a:t>接口测试联调</a:t>
              </a:r>
              <a:endPara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 Regular"/>
              </a:endParaRPr>
            </a:p>
          </p:txBody>
        </p:sp>
        <p:sp>
          <p:nvSpPr>
            <p:cNvPr id="8" name="Chevron 32"/>
            <p:cNvSpPr/>
            <p:nvPr/>
          </p:nvSpPr>
          <p:spPr>
            <a:xfrm>
              <a:off x="10627630" y="6156962"/>
              <a:ext cx="2967260" cy="969515"/>
            </a:xfrm>
            <a:prstGeom prst="chevron">
              <a:avLst>
                <a:gd name="adj" fmla="val 31257"/>
              </a:avLst>
            </a:prstGeom>
            <a:solidFill>
              <a:srgbClr val="59B6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95" tIns="91448" rIns="182895" bIns="226373" rtlCol="0" anchor="b" anchorCtr="1">
              <a:normAutofit fontScale="77500" lnSpcReduction="20000"/>
            </a:bodyPr>
            <a:lstStyle/>
            <a:p>
              <a:pPr algn="ctr"/>
              <a:r>
                <a:rPr lang="zh-CN" altLang="en-US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Roboto Regular"/>
                </a:rPr>
                <a:t>正式环境开通</a:t>
              </a:r>
              <a:endPara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 Regular"/>
              </a:endParaRPr>
            </a:p>
          </p:txBody>
        </p:sp>
        <p:sp>
          <p:nvSpPr>
            <p:cNvPr id="9" name="Chevron 33"/>
            <p:cNvSpPr/>
            <p:nvPr/>
          </p:nvSpPr>
          <p:spPr>
            <a:xfrm>
              <a:off x="13594890" y="6156962"/>
              <a:ext cx="2967260" cy="969515"/>
            </a:xfrm>
            <a:prstGeom prst="chevron">
              <a:avLst>
                <a:gd name="adj" fmla="val 31257"/>
              </a:avLst>
            </a:prstGeom>
            <a:solidFill>
              <a:srgbClr val="0A80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95" tIns="91448" rIns="182895" bIns="226373" rtlCol="0" anchor="b" anchorCtr="1">
              <a:normAutofit fontScale="77500" lnSpcReduction="20000"/>
            </a:bodyPr>
            <a:lstStyle/>
            <a:p>
              <a:pPr algn="ctr"/>
              <a:r>
                <a:rPr lang="zh-CN" altLang="en-US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Roboto Regular"/>
                </a:rPr>
                <a:t>生产环境验证</a:t>
              </a:r>
              <a:endPara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 Regular"/>
              </a:endParaRPr>
            </a:p>
          </p:txBody>
        </p:sp>
        <p:sp>
          <p:nvSpPr>
            <p:cNvPr id="10" name="Freeform 92"/>
            <p:cNvSpPr>
              <a:spLocks noEditPoints="1"/>
            </p:cNvSpPr>
            <p:nvPr/>
          </p:nvSpPr>
          <p:spPr bwMode="auto">
            <a:xfrm>
              <a:off x="2864032" y="5085440"/>
              <a:ext cx="677205" cy="509401"/>
            </a:xfrm>
            <a:custGeom>
              <a:avLst/>
              <a:gdLst/>
              <a:ahLst/>
              <a:cxnLst>
                <a:cxn ang="0">
                  <a:pos x="101" y="2"/>
                </a:cxn>
                <a:cxn ang="0">
                  <a:pos x="27" y="0"/>
                </a:cxn>
                <a:cxn ang="0">
                  <a:pos x="2" y="22"/>
                </a:cxn>
                <a:cxn ang="0">
                  <a:pos x="2" y="32"/>
                </a:cxn>
                <a:cxn ang="0">
                  <a:pos x="61" y="92"/>
                </a:cxn>
                <a:cxn ang="0">
                  <a:pos x="121" y="32"/>
                </a:cxn>
                <a:cxn ang="0">
                  <a:pos x="120" y="22"/>
                </a:cxn>
                <a:cxn ang="0">
                  <a:pos x="86" y="14"/>
                </a:cxn>
                <a:cxn ang="0">
                  <a:pos x="93" y="8"/>
                </a:cxn>
                <a:cxn ang="0">
                  <a:pos x="76" y="27"/>
                </a:cxn>
                <a:cxn ang="0">
                  <a:pos x="93" y="27"/>
                </a:cxn>
                <a:cxn ang="0">
                  <a:pos x="73" y="25"/>
                </a:cxn>
                <a:cxn ang="0">
                  <a:pos x="75" y="9"/>
                </a:cxn>
                <a:cxn ang="0">
                  <a:pos x="70" y="27"/>
                </a:cxn>
                <a:cxn ang="0">
                  <a:pos x="61" y="20"/>
                </a:cxn>
                <a:cxn ang="0">
                  <a:pos x="70" y="8"/>
                </a:cxn>
                <a:cxn ang="0">
                  <a:pos x="53" y="8"/>
                </a:cxn>
                <a:cxn ang="0">
                  <a:pos x="58" y="17"/>
                </a:cxn>
                <a:cxn ang="0">
                  <a:pos x="40" y="16"/>
                </a:cxn>
                <a:cxn ang="0">
                  <a:pos x="58" y="17"/>
                </a:cxn>
                <a:cxn ang="0">
                  <a:pos x="30" y="27"/>
                </a:cxn>
                <a:cxn ang="0">
                  <a:pos x="47" y="27"/>
                </a:cxn>
                <a:cxn ang="0">
                  <a:pos x="37" y="14"/>
                </a:cxn>
                <a:cxn ang="0">
                  <a:pos x="43" y="8"/>
                </a:cxn>
                <a:cxn ang="0">
                  <a:pos x="34" y="17"/>
                </a:cxn>
                <a:cxn ang="0">
                  <a:pos x="8" y="27"/>
                </a:cxn>
                <a:cxn ang="0">
                  <a:pos x="11" y="31"/>
                </a:cxn>
                <a:cxn ang="0">
                  <a:pos x="49" y="71"/>
                </a:cxn>
                <a:cxn ang="0">
                  <a:pos x="29" y="31"/>
                </a:cxn>
                <a:cxn ang="0">
                  <a:pos x="57" y="78"/>
                </a:cxn>
                <a:cxn ang="0">
                  <a:pos x="52" y="31"/>
                </a:cxn>
                <a:cxn ang="0">
                  <a:pos x="61" y="79"/>
                </a:cxn>
                <a:cxn ang="0">
                  <a:pos x="65" y="78"/>
                </a:cxn>
                <a:cxn ang="0">
                  <a:pos x="94" y="31"/>
                </a:cxn>
                <a:cxn ang="0">
                  <a:pos x="74" y="71"/>
                </a:cxn>
                <a:cxn ang="0">
                  <a:pos x="112" y="31"/>
                </a:cxn>
                <a:cxn ang="0">
                  <a:pos x="99" y="27"/>
                </a:cxn>
                <a:cxn ang="0">
                  <a:pos x="97" y="9"/>
                </a:cxn>
                <a:cxn ang="0">
                  <a:pos x="99" y="27"/>
                </a:cxn>
                <a:cxn ang="0">
                  <a:pos x="99" y="27"/>
                </a:cxn>
              </a:cxnLst>
              <a:rect l="0" t="0" r="r" b="b"/>
              <a:pathLst>
                <a:path w="123" h="92">
                  <a:moveTo>
                    <a:pt x="120" y="22"/>
                  </a:moveTo>
                  <a:cubicBezTo>
                    <a:pt x="101" y="2"/>
                    <a:pt x="101" y="2"/>
                    <a:pt x="101" y="2"/>
                  </a:cubicBezTo>
                  <a:cubicBezTo>
                    <a:pt x="100" y="1"/>
                    <a:pt x="98" y="0"/>
                    <a:pt x="96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5" y="0"/>
                    <a:pt x="23" y="1"/>
                    <a:pt x="22" y="2"/>
                  </a:cubicBezTo>
                  <a:cubicBezTo>
                    <a:pt x="2" y="22"/>
                    <a:pt x="2" y="22"/>
                    <a:pt x="2" y="22"/>
                  </a:cubicBezTo>
                  <a:cubicBezTo>
                    <a:pt x="1" y="23"/>
                    <a:pt x="0" y="25"/>
                    <a:pt x="0" y="27"/>
                  </a:cubicBezTo>
                  <a:cubicBezTo>
                    <a:pt x="0" y="29"/>
                    <a:pt x="1" y="31"/>
                    <a:pt x="2" y="32"/>
                  </a:cubicBezTo>
                  <a:cubicBezTo>
                    <a:pt x="56" y="90"/>
                    <a:pt x="56" y="90"/>
                    <a:pt x="56" y="90"/>
                  </a:cubicBezTo>
                  <a:cubicBezTo>
                    <a:pt x="57" y="91"/>
                    <a:pt x="59" y="92"/>
                    <a:pt x="61" y="92"/>
                  </a:cubicBezTo>
                  <a:cubicBezTo>
                    <a:pt x="64" y="92"/>
                    <a:pt x="66" y="91"/>
                    <a:pt x="67" y="90"/>
                  </a:cubicBezTo>
                  <a:cubicBezTo>
                    <a:pt x="121" y="32"/>
                    <a:pt x="121" y="32"/>
                    <a:pt x="121" y="32"/>
                  </a:cubicBezTo>
                  <a:cubicBezTo>
                    <a:pt x="122" y="31"/>
                    <a:pt x="123" y="29"/>
                    <a:pt x="123" y="27"/>
                  </a:cubicBezTo>
                  <a:cubicBezTo>
                    <a:pt x="123" y="25"/>
                    <a:pt x="122" y="23"/>
                    <a:pt x="120" y="22"/>
                  </a:cubicBezTo>
                  <a:close/>
                  <a:moveTo>
                    <a:pt x="93" y="8"/>
                  </a:moveTo>
                  <a:cubicBezTo>
                    <a:pt x="86" y="14"/>
                    <a:pt x="86" y="14"/>
                    <a:pt x="86" y="14"/>
                  </a:cubicBezTo>
                  <a:cubicBezTo>
                    <a:pt x="79" y="8"/>
                    <a:pt x="79" y="8"/>
                    <a:pt x="79" y="8"/>
                  </a:cubicBezTo>
                  <a:lnTo>
                    <a:pt x="93" y="8"/>
                  </a:lnTo>
                  <a:close/>
                  <a:moveTo>
                    <a:pt x="93" y="27"/>
                  </a:moveTo>
                  <a:cubicBezTo>
                    <a:pt x="76" y="27"/>
                    <a:pt x="76" y="27"/>
                    <a:pt x="76" y="27"/>
                  </a:cubicBezTo>
                  <a:cubicBezTo>
                    <a:pt x="85" y="19"/>
                    <a:pt x="85" y="19"/>
                    <a:pt x="85" y="19"/>
                  </a:cubicBezTo>
                  <a:lnTo>
                    <a:pt x="93" y="27"/>
                  </a:lnTo>
                  <a:close/>
                  <a:moveTo>
                    <a:pt x="83" y="16"/>
                  </a:moveTo>
                  <a:cubicBezTo>
                    <a:pt x="73" y="25"/>
                    <a:pt x="73" y="25"/>
                    <a:pt x="73" y="25"/>
                  </a:cubicBezTo>
                  <a:cubicBezTo>
                    <a:pt x="64" y="17"/>
                    <a:pt x="64" y="17"/>
                    <a:pt x="64" y="17"/>
                  </a:cubicBezTo>
                  <a:cubicBezTo>
                    <a:pt x="75" y="9"/>
                    <a:pt x="75" y="9"/>
                    <a:pt x="75" y="9"/>
                  </a:cubicBezTo>
                  <a:lnTo>
                    <a:pt x="83" y="16"/>
                  </a:lnTo>
                  <a:close/>
                  <a:moveTo>
                    <a:pt x="70" y="27"/>
                  </a:moveTo>
                  <a:cubicBezTo>
                    <a:pt x="53" y="27"/>
                    <a:pt x="53" y="27"/>
                    <a:pt x="53" y="27"/>
                  </a:cubicBezTo>
                  <a:cubicBezTo>
                    <a:pt x="61" y="20"/>
                    <a:pt x="61" y="20"/>
                    <a:pt x="61" y="20"/>
                  </a:cubicBezTo>
                  <a:lnTo>
                    <a:pt x="70" y="27"/>
                  </a:lnTo>
                  <a:close/>
                  <a:moveTo>
                    <a:pt x="70" y="8"/>
                  </a:moveTo>
                  <a:cubicBezTo>
                    <a:pt x="61" y="15"/>
                    <a:pt x="61" y="15"/>
                    <a:pt x="61" y="15"/>
                  </a:cubicBezTo>
                  <a:cubicBezTo>
                    <a:pt x="53" y="8"/>
                    <a:pt x="53" y="8"/>
                    <a:pt x="53" y="8"/>
                  </a:cubicBezTo>
                  <a:lnTo>
                    <a:pt x="70" y="8"/>
                  </a:lnTo>
                  <a:close/>
                  <a:moveTo>
                    <a:pt x="58" y="17"/>
                  </a:moveTo>
                  <a:cubicBezTo>
                    <a:pt x="50" y="25"/>
                    <a:pt x="50" y="25"/>
                    <a:pt x="50" y="25"/>
                  </a:cubicBezTo>
                  <a:cubicBezTo>
                    <a:pt x="40" y="16"/>
                    <a:pt x="40" y="16"/>
                    <a:pt x="40" y="16"/>
                  </a:cubicBezTo>
                  <a:cubicBezTo>
                    <a:pt x="48" y="9"/>
                    <a:pt x="48" y="9"/>
                    <a:pt x="48" y="9"/>
                  </a:cubicBezTo>
                  <a:lnTo>
                    <a:pt x="58" y="17"/>
                  </a:lnTo>
                  <a:close/>
                  <a:moveTo>
                    <a:pt x="47" y="27"/>
                  </a:moveTo>
                  <a:cubicBezTo>
                    <a:pt x="30" y="27"/>
                    <a:pt x="30" y="27"/>
                    <a:pt x="30" y="27"/>
                  </a:cubicBezTo>
                  <a:cubicBezTo>
                    <a:pt x="37" y="19"/>
                    <a:pt x="37" y="19"/>
                    <a:pt x="37" y="19"/>
                  </a:cubicBezTo>
                  <a:lnTo>
                    <a:pt x="47" y="27"/>
                  </a:lnTo>
                  <a:close/>
                  <a:moveTo>
                    <a:pt x="43" y="8"/>
                  </a:moveTo>
                  <a:cubicBezTo>
                    <a:pt x="37" y="14"/>
                    <a:pt x="37" y="14"/>
                    <a:pt x="37" y="14"/>
                  </a:cubicBezTo>
                  <a:cubicBezTo>
                    <a:pt x="30" y="8"/>
                    <a:pt x="30" y="8"/>
                    <a:pt x="30" y="8"/>
                  </a:cubicBezTo>
                  <a:lnTo>
                    <a:pt x="43" y="8"/>
                  </a:lnTo>
                  <a:close/>
                  <a:moveTo>
                    <a:pt x="26" y="9"/>
                  </a:moveTo>
                  <a:cubicBezTo>
                    <a:pt x="34" y="17"/>
                    <a:pt x="34" y="17"/>
                    <a:pt x="34" y="17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8" y="27"/>
                    <a:pt x="8" y="27"/>
                    <a:pt x="8" y="27"/>
                  </a:cubicBezTo>
                  <a:lnTo>
                    <a:pt x="26" y="9"/>
                  </a:lnTo>
                  <a:close/>
                  <a:moveTo>
                    <a:pt x="11" y="31"/>
                  </a:moveTo>
                  <a:cubicBezTo>
                    <a:pt x="25" y="31"/>
                    <a:pt x="25" y="31"/>
                    <a:pt x="25" y="31"/>
                  </a:cubicBezTo>
                  <a:cubicBezTo>
                    <a:pt x="49" y="71"/>
                    <a:pt x="49" y="71"/>
                    <a:pt x="49" y="71"/>
                  </a:cubicBezTo>
                  <a:lnTo>
                    <a:pt x="11" y="31"/>
                  </a:lnTo>
                  <a:close/>
                  <a:moveTo>
                    <a:pt x="29" y="31"/>
                  </a:moveTo>
                  <a:cubicBezTo>
                    <a:pt x="48" y="31"/>
                    <a:pt x="48" y="31"/>
                    <a:pt x="48" y="31"/>
                  </a:cubicBezTo>
                  <a:cubicBezTo>
                    <a:pt x="57" y="78"/>
                    <a:pt x="57" y="78"/>
                    <a:pt x="57" y="78"/>
                  </a:cubicBezTo>
                  <a:lnTo>
                    <a:pt x="29" y="31"/>
                  </a:lnTo>
                  <a:close/>
                  <a:moveTo>
                    <a:pt x="52" y="31"/>
                  </a:moveTo>
                  <a:cubicBezTo>
                    <a:pt x="71" y="31"/>
                    <a:pt x="71" y="31"/>
                    <a:pt x="71" y="31"/>
                  </a:cubicBezTo>
                  <a:cubicBezTo>
                    <a:pt x="61" y="79"/>
                    <a:pt x="61" y="79"/>
                    <a:pt x="61" y="79"/>
                  </a:cubicBezTo>
                  <a:lnTo>
                    <a:pt x="52" y="31"/>
                  </a:lnTo>
                  <a:close/>
                  <a:moveTo>
                    <a:pt x="65" y="78"/>
                  </a:moveTo>
                  <a:cubicBezTo>
                    <a:pt x="75" y="31"/>
                    <a:pt x="75" y="31"/>
                    <a:pt x="75" y="31"/>
                  </a:cubicBezTo>
                  <a:cubicBezTo>
                    <a:pt x="94" y="31"/>
                    <a:pt x="94" y="31"/>
                    <a:pt x="94" y="31"/>
                  </a:cubicBezTo>
                  <a:lnTo>
                    <a:pt x="65" y="78"/>
                  </a:lnTo>
                  <a:close/>
                  <a:moveTo>
                    <a:pt x="74" y="71"/>
                  </a:moveTo>
                  <a:cubicBezTo>
                    <a:pt x="98" y="31"/>
                    <a:pt x="98" y="31"/>
                    <a:pt x="98" y="31"/>
                  </a:cubicBezTo>
                  <a:cubicBezTo>
                    <a:pt x="112" y="31"/>
                    <a:pt x="112" y="31"/>
                    <a:pt x="112" y="31"/>
                  </a:cubicBezTo>
                  <a:lnTo>
                    <a:pt x="74" y="71"/>
                  </a:lnTo>
                  <a:close/>
                  <a:moveTo>
                    <a:pt x="99" y="27"/>
                  </a:moveTo>
                  <a:cubicBezTo>
                    <a:pt x="88" y="17"/>
                    <a:pt x="88" y="17"/>
                    <a:pt x="88" y="17"/>
                  </a:cubicBezTo>
                  <a:cubicBezTo>
                    <a:pt x="97" y="9"/>
                    <a:pt x="97" y="9"/>
                    <a:pt x="97" y="9"/>
                  </a:cubicBezTo>
                  <a:cubicBezTo>
                    <a:pt x="115" y="27"/>
                    <a:pt x="115" y="27"/>
                    <a:pt x="115" y="27"/>
                  </a:cubicBezTo>
                  <a:lnTo>
                    <a:pt x="99" y="27"/>
                  </a:lnTo>
                  <a:close/>
                  <a:moveTo>
                    <a:pt x="99" y="27"/>
                  </a:moveTo>
                  <a:cubicBezTo>
                    <a:pt x="99" y="27"/>
                    <a:pt x="99" y="27"/>
                    <a:pt x="99" y="27"/>
                  </a:cubicBezTo>
                </a:path>
              </a:pathLst>
            </a:custGeom>
            <a:solidFill>
              <a:srgbClr val="0A80FB"/>
            </a:solidFill>
            <a:ln w="9525">
              <a:noFill/>
              <a:round/>
            </a:ln>
          </p:spPr>
          <p:txBody>
            <a:bodyPr vert="horz" wrap="square" lIns="68598" tIns="34299" rIns="68598" bIns="34299" numCol="1" anchor="t" anchorCtr="0" compatLnSpc="1"/>
            <a:lstStyle/>
            <a:p>
              <a:endParaRPr lang="en-US" sz="2700" dirty="0">
                <a:latin typeface="Roboto Light"/>
              </a:endParaRPr>
            </a:p>
          </p:txBody>
        </p:sp>
        <p:grpSp>
          <p:nvGrpSpPr>
            <p:cNvPr id="11" name="Group 73"/>
            <p:cNvGrpSpPr>
              <a:grpSpLocks noChangeAspect="1"/>
            </p:cNvGrpSpPr>
            <p:nvPr/>
          </p:nvGrpSpPr>
          <p:grpSpPr>
            <a:xfrm>
              <a:off x="14817555" y="5064292"/>
              <a:ext cx="441806" cy="589941"/>
              <a:chOff x="754063" y="1211263"/>
              <a:chExt cx="269875" cy="360363"/>
            </a:xfrm>
            <a:solidFill>
              <a:schemeClr val="accent5"/>
            </a:solidFill>
          </p:grpSpPr>
          <p:sp>
            <p:nvSpPr>
              <p:cNvPr id="23" name="Freeform 9"/>
              <p:cNvSpPr>
                <a:spLocks noEditPoints="1"/>
              </p:cNvSpPr>
              <p:nvPr/>
            </p:nvSpPr>
            <p:spPr bwMode="auto">
              <a:xfrm>
                <a:off x="754063" y="1211263"/>
                <a:ext cx="269875" cy="360363"/>
              </a:xfrm>
              <a:custGeom>
                <a:avLst/>
                <a:gdLst/>
                <a:ahLst/>
                <a:cxnLst>
                  <a:cxn ang="0">
                    <a:pos x="80" y="50"/>
                  </a:cxn>
                  <a:cxn ang="0">
                    <a:pos x="80" y="35"/>
                  </a:cxn>
                  <a:cxn ang="0">
                    <a:pos x="46" y="0"/>
                  </a:cxn>
                  <a:cxn ang="0">
                    <a:pos x="11" y="35"/>
                  </a:cxn>
                  <a:cxn ang="0">
                    <a:pos x="11" y="50"/>
                  </a:cxn>
                  <a:cxn ang="0">
                    <a:pos x="0" y="61"/>
                  </a:cxn>
                  <a:cxn ang="0">
                    <a:pos x="0" y="88"/>
                  </a:cxn>
                  <a:cxn ang="0">
                    <a:pos x="34" y="123"/>
                  </a:cxn>
                  <a:cxn ang="0">
                    <a:pos x="57" y="123"/>
                  </a:cxn>
                  <a:cxn ang="0">
                    <a:pos x="92" y="88"/>
                  </a:cxn>
                  <a:cxn ang="0">
                    <a:pos x="92" y="61"/>
                  </a:cxn>
                  <a:cxn ang="0">
                    <a:pos x="80" y="50"/>
                  </a:cxn>
                  <a:cxn ang="0">
                    <a:pos x="19" y="35"/>
                  </a:cxn>
                  <a:cxn ang="0">
                    <a:pos x="46" y="8"/>
                  </a:cxn>
                  <a:cxn ang="0">
                    <a:pos x="73" y="35"/>
                  </a:cxn>
                  <a:cxn ang="0">
                    <a:pos x="73" y="50"/>
                  </a:cxn>
                  <a:cxn ang="0">
                    <a:pos x="65" y="50"/>
                  </a:cxn>
                  <a:cxn ang="0">
                    <a:pos x="65" y="35"/>
                  </a:cxn>
                  <a:cxn ang="0">
                    <a:pos x="46" y="15"/>
                  </a:cxn>
                  <a:cxn ang="0">
                    <a:pos x="27" y="35"/>
                  </a:cxn>
                  <a:cxn ang="0">
                    <a:pos x="27" y="50"/>
                  </a:cxn>
                  <a:cxn ang="0">
                    <a:pos x="19" y="50"/>
                  </a:cxn>
                  <a:cxn ang="0">
                    <a:pos x="19" y="35"/>
                  </a:cxn>
                  <a:cxn ang="0">
                    <a:pos x="61" y="35"/>
                  </a:cxn>
                  <a:cxn ang="0">
                    <a:pos x="61" y="50"/>
                  </a:cxn>
                  <a:cxn ang="0">
                    <a:pos x="31" y="50"/>
                  </a:cxn>
                  <a:cxn ang="0">
                    <a:pos x="31" y="35"/>
                  </a:cxn>
                  <a:cxn ang="0">
                    <a:pos x="46" y="19"/>
                  </a:cxn>
                  <a:cxn ang="0">
                    <a:pos x="61" y="35"/>
                  </a:cxn>
                  <a:cxn ang="0">
                    <a:pos x="84" y="73"/>
                  </a:cxn>
                  <a:cxn ang="0">
                    <a:pos x="84" y="88"/>
                  </a:cxn>
                  <a:cxn ang="0">
                    <a:pos x="57" y="115"/>
                  </a:cxn>
                  <a:cxn ang="0">
                    <a:pos x="34" y="115"/>
                  </a:cxn>
                  <a:cxn ang="0">
                    <a:pos x="8" y="88"/>
                  </a:cxn>
                  <a:cxn ang="0">
                    <a:pos x="8" y="61"/>
                  </a:cxn>
                  <a:cxn ang="0">
                    <a:pos x="11" y="58"/>
                  </a:cxn>
                  <a:cxn ang="0">
                    <a:pos x="80" y="58"/>
                  </a:cxn>
                  <a:cxn ang="0">
                    <a:pos x="84" y="61"/>
                  </a:cxn>
                  <a:cxn ang="0">
                    <a:pos x="84" y="73"/>
                  </a:cxn>
                  <a:cxn ang="0">
                    <a:pos x="84" y="73"/>
                  </a:cxn>
                  <a:cxn ang="0">
                    <a:pos x="84" y="73"/>
                  </a:cxn>
                </a:cxnLst>
                <a:rect l="0" t="0" r="r" b="b"/>
                <a:pathLst>
                  <a:path w="92" h="123">
                    <a:moveTo>
                      <a:pt x="80" y="50"/>
                    </a:moveTo>
                    <a:cubicBezTo>
                      <a:pt x="80" y="35"/>
                      <a:pt x="80" y="35"/>
                      <a:pt x="80" y="35"/>
                    </a:cubicBezTo>
                    <a:cubicBezTo>
                      <a:pt x="80" y="16"/>
                      <a:pt x="65" y="0"/>
                      <a:pt x="46" y="0"/>
                    </a:cubicBezTo>
                    <a:cubicBezTo>
                      <a:pt x="27" y="0"/>
                      <a:pt x="11" y="16"/>
                      <a:pt x="11" y="35"/>
                    </a:cubicBezTo>
                    <a:cubicBezTo>
                      <a:pt x="11" y="50"/>
                      <a:pt x="11" y="50"/>
                      <a:pt x="11" y="50"/>
                    </a:cubicBezTo>
                    <a:cubicBezTo>
                      <a:pt x="5" y="50"/>
                      <a:pt x="0" y="55"/>
                      <a:pt x="0" y="61"/>
                    </a:cubicBezTo>
                    <a:cubicBezTo>
                      <a:pt x="0" y="88"/>
                      <a:pt x="0" y="88"/>
                      <a:pt x="0" y="88"/>
                    </a:cubicBezTo>
                    <a:cubicBezTo>
                      <a:pt x="0" y="107"/>
                      <a:pt x="15" y="123"/>
                      <a:pt x="34" y="123"/>
                    </a:cubicBezTo>
                    <a:cubicBezTo>
                      <a:pt x="57" y="123"/>
                      <a:pt x="57" y="123"/>
                      <a:pt x="57" y="123"/>
                    </a:cubicBezTo>
                    <a:cubicBezTo>
                      <a:pt x="76" y="123"/>
                      <a:pt x="92" y="107"/>
                      <a:pt x="92" y="88"/>
                    </a:cubicBezTo>
                    <a:cubicBezTo>
                      <a:pt x="92" y="61"/>
                      <a:pt x="92" y="61"/>
                      <a:pt x="92" y="61"/>
                    </a:cubicBezTo>
                    <a:cubicBezTo>
                      <a:pt x="92" y="55"/>
                      <a:pt x="87" y="50"/>
                      <a:pt x="80" y="50"/>
                    </a:cubicBezTo>
                    <a:close/>
                    <a:moveTo>
                      <a:pt x="19" y="35"/>
                    </a:moveTo>
                    <a:cubicBezTo>
                      <a:pt x="19" y="20"/>
                      <a:pt x="31" y="8"/>
                      <a:pt x="46" y="8"/>
                    </a:cubicBezTo>
                    <a:cubicBezTo>
                      <a:pt x="61" y="8"/>
                      <a:pt x="73" y="20"/>
                      <a:pt x="73" y="35"/>
                    </a:cubicBezTo>
                    <a:cubicBezTo>
                      <a:pt x="73" y="50"/>
                      <a:pt x="73" y="50"/>
                      <a:pt x="73" y="50"/>
                    </a:cubicBezTo>
                    <a:cubicBezTo>
                      <a:pt x="65" y="50"/>
                      <a:pt x="65" y="50"/>
                      <a:pt x="65" y="50"/>
                    </a:cubicBezTo>
                    <a:cubicBezTo>
                      <a:pt x="65" y="35"/>
                      <a:pt x="65" y="35"/>
                      <a:pt x="65" y="35"/>
                    </a:cubicBezTo>
                    <a:cubicBezTo>
                      <a:pt x="65" y="24"/>
                      <a:pt x="56" y="15"/>
                      <a:pt x="46" y="15"/>
                    </a:cubicBezTo>
                    <a:cubicBezTo>
                      <a:pt x="35" y="15"/>
                      <a:pt x="27" y="24"/>
                      <a:pt x="27" y="35"/>
                    </a:cubicBezTo>
                    <a:cubicBezTo>
                      <a:pt x="27" y="50"/>
                      <a:pt x="27" y="50"/>
                      <a:pt x="27" y="50"/>
                    </a:cubicBezTo>
                    <a:cubicBezTo>
                      <a:pt x="19" y="50"/>
                      <a:pt x="19" y="50"/>
                      <a:pt x="19" y="50"/>
                    </a:cubicBezTo>
                    <a:lnTo>
                      <a:pt x="19" y="35"/>
                    </a:lnTo>
                    <a:close/>
                    <a:moveTo>
                      <a:pt x="61" y="35"/>
                    </a:moveTo>
                    <a:cubicBezTo>
                      <a:pt x="61" y="50"/>
                      <a:pt x="61" y="50"/>
                      <a:pt x="61" y="50"/>
                    </a:cubicBezTo>
                    <a:cubicBezTo>
                      <a:pt x="31" y="50"/>
                      <a:pt x="31" y="50"/>
                      <a:pt x="31" y="50"/>
                    </a:cubicBezTo>
                    <a:cubicBezTo>
                      <a:pt x="31" y="35"/>
                      <a:pt x="31" y="35"/>
                      <a:pt x="31" y="35"/>
                    </a:cubicBezTo>
                    <a:cubicBezTo>
                      <a:pt x="31" y="26"/>
                      <a:pt x="37" y="19"/>
                      <a:pt x="46" y="19"/>
                    </a:cubicBezTo>
                    <a:cubicBezTo>
                      <a:pt x="54" y="19"/>
                      <a:pt x="61" y="26"/>
                      <a:pt x="61" y="35"/>
                    </a:cubicBezTo>
                    <a:close/>
                    <a:moveTo>
                      <a:pt x="84" y="73"/>
                    </a:moveTo>
                    <a:cubicBezTo>
                      <a:pt x="84" y="88"/>
                      <a:pt x="84" y="88"/>
                      <a:pt x="84" y="88"/>
                    </a:cubicBezTo>
                    <a:cubicBezTo>
                      <a:pt x="84" y="103"/>
                      <a:pt x="72" y="115"/>
                      <a:pt x="57" y="115"/>
                    </a:cubicBezTo>
                    <a:cubicBezTo>
                      <a:pt x="34" y="115"/>
                      <a:pt x="34" y="115"/>
                      <a:pt x="34" y="115"/>
                    </a:cubicBezTo>
                    <a:cubicBezTo>
                      <a:pt x="20" y="115"/>
                      <a:pt x="8" y="103"/>
                      <a:pt x="8" y="88"/>
                    </a:cubicBezTo>
                    <a:cubicBezTo>
                      <a:pt x="8" y="61"/>
                      <a:pt x="8" y="61"/>
                      <a:pt x="8" y="61"/>
                    </a:cubicBezTo>
                    <a:cubicBezTo>
                      <a:pt x="8" y="59"/>
                      <a:pt x="9" y="58"/>
                      <a:pt x="11" y="58"/>
                    </a:cubicBezTo>
                    <a:cubicBezTo>
                      <a:pt x="80" y="58"/>
                      <a:pt x="80" y="58"/>
                      <a:pt x="80" y="58"/>
                    </a:cubicBezTo>
                    <a:cubicBezTo>
                      <a:pt x="83" y="58"/>
                      <a:pt x="84" y="59"/>
                      <a:pt x="84" y="61"/>
                    </a:cubicBezTo>
                    <a:lnTo>
                      <a:pt x="84" y="73"/>
                    </a:lnTo>
                    <a:close/>
                    <a:moveTo>
                      <a:pt x="84" y="73"/>
                    </a:moveTo>
                    <a:cubicBezTo>
                      <a:pt x="84" y="73"/>
                      <a:pt x="84" y="73"/>
                      <a:pt x="84" y="73"/>
                    </a:cubicBezTo>
                  </a:path>
                </a:pathLst>
              </a:custGeom>
              <a:solidFill>
                <a:srgbClr val="0A80FB"/>
              </a:solidFill>
              <a:ln w="9525">
                <a:noFill/>
                <a:round/>
              </a:ln>
            </p:spPr>
            <p:txBody>
              <a:bodyPr vert="horz" wrap="square" lIns="68598" tIns="34299" rIns="68598" bIns="34299" numCol="1" anchor="t" anchorCtr="0" compatLnSpc="1"/>
              <a:lstStyle/>
              <a:p>
                <a:endParaRPr lang="en-US" sz="2700" dirty="0">
                  <a:latin typeface="Roboto Light"/>
                </a:endParaRPr>
              </a:p>
            </p:txBody>
          </p:sp>
          <p:sp>
            <p:nvSpPr>
              <p:cNvPr id="24" name="Freeform 10"/>
              <p:cNvSpPr>
                <a:spLocks noEditPoints="1"/>
              </p:cNvSpPr>
              <p:nvPr/>
            </p:nvSpPr>
            <p:spPr bwMode="auto">
              <a:xfrm>
                <a:off x="865188" y="1425576"/>
                <a:ext cx="47625" cy="66675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0" y="8"/>
                  </a:cxn>
                  <a:cxn ang="0">
                    <a:pos x="3" y="18"/>
                  </a:cxn>
                  <a:cxn ang="0">
                    <a:pos x="8" y="23"/>
                  </a:cxn>
                  <a:cxn ang="0">
                    <a:pos x="13" y="18"/>
                  </a:cxn>
                  <a:cxn ang="0">
                    <a:pos x="16" y="8"/>
                  </a:cxn>
                  <a:cxn ang="0">
                    <a:pos x="8" y="0"/>
                  </a:cxn>
                  <a:cxn ang="0">
                    <a:pos x="8" y="0"/>
                  </a:cxn>
                  <a:cxn ang="0">
                    <a:pos x="8" y="0"/>
                  </a:cxn>
                </a:cxnLst>
                <a:rect l="0" t="0" r="r" b="b"/>
                <a:pathLst>
                  <a:path w="16" h="23">
                    <a:moveTo>
                      <a:pt x="8" y="0"/>
                    </a:moveTo>
                    <a:cubicBezTo>
                      <a:pt x="4" y="0"/>
                      <a:pt x="0" y="3"/>
                      <a:pt x="0" y="8"/>
                    </a:cubicBezTo>
                    <a:cubicBezTo>
                      <a:pt x="0" y="10"/>
                      <a:pt x="1" y="14"/>
                      <a:pt x="3" y="18"/>
                    </a:cubicBezTo>
                    <a:cubicBezTo>
                      <a:pt x="4" y="21"/>
                      <a:pt x="5" y="23"/>
                      <a:pt x="8" y="23"/>
                    </a:cubicBezTo>
                    <a:cubicBezTo>
                      <a:pt x="11" y="23"/>
                      <a:pt x="12" y="21"/>
                      <a:pt x="13" y="18"/>
                    </a:cubicBezTo>
                    <a:cubicBezTo>
                      <a:pt x="14" y="14"/>
                      <a:pt x="16" y="10"/>
                      <a:pt x="16" y="8"/>
                    </a:cubicBezTo>
                    <a:cubicBezTo>
                      <a:pt x="16" y="3"/>
                      <a:pt x="12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0A80FB"/>
              </a:solidFill>
              <a:ln w="9525">
                <a:noFill/>
                <a:round/>
              </a:ln>
            </p:spPr>
            <p:txBody>
              <a:bodyPr vert="horz" wrap="square" lIns="68598" tIns="34299" rIns="68598" bIns="34299" numCol="1" anchor="t" anchorCtr="0" compatLnSpc="1"/>
              <a:lstStyle/>
              <a:p>
                <a:endParaRPr lang="en-US" sz="2700" dirty="0">
                  <a:latin typeface="Roboto Light"/>
                </a:endParaRPr>
              </a:p>
            </p:txBody>
          </p:sp>
        </p:grpSp>
        <p:grpSp>
          <p:nvGrpSpPr>
            <p:cNvPr id="12" name="Group 79"/>
            <p:cNvGrpSpPr>
              <a:grpSpLocks noChangeAspect="1"/>
            </p:cNvGrpSpPr>
            <p:nvPr/>
          </p:nvGrpSpPr>
          <p:grpSpPr>
            <a:xfrm>
              <a:off x="8820239" y="5080097"/>
              <a:ext cx="669085" cy="562502"/>
              <a:chOff x="4856163" y="2736851"/>
              <a:chExt cx="358775" cy="301625"/>
            </a:xfrm>
            <a:solidFill>
              <a:schemeClr val="accent3"/>
            </a:solidFill>
          </p:grpSpPr>
          <p:sp>
            <p:nvSpPr>
              <p:cNvPr id="20" name="Freeform 128"/>
              <p:cNvSpPr>
                <a:spLocks noEditPoints="1"/>
              </p:cNvSpPr>
              <p:nvPr/>
            </p:nvSpPr>
            <p:spPr bwMode="auto">
              <a:xfrm>
                <a:off x="4946650" y="2814638"/>
                <a:ext cx="177800" cy="179388"/>
              </a:xfrm>
              <a:custGeom>
                <a:avLst/>
                <a:gdLst/>
                <a:ahLst/>
                <a:cxnLst>
                  <a:cxn ang="0">
                    <a:pos x="31" y="0"/>
                  </a:cxn>
                  <a:cxn ang="0">
                    <a:pos x="0" y="30"/>
                  </a:cxn>
                  <a:cxn ang="0">
                    <a:pos x="31" y="61"/>
                  </a:cxn>
                  <a:cxn ang="0">
                    <a:pos x="61" y="30"/>
                  </a:cxn>
                  <a:cxn ang="0">
                    <a:pos x="31" y="0"/>
                  </a:cxn>
                  <a:cxn ang="0">
                    <a:pos x="48" y="45"/>
                  </a:cxn>
                  <a:cxn ang="0">
                    <a:pos x="16" y="48"/>
                  </a:cxn>
                  <a:cxn ang="0">
                    <a:pos x="13" y="15"/>
                  </a:cxn>
                  <a:cxn ang="0">
                    <a:pos x="46" y="13"/>
                  </a:cxn>
                  <a:cxn ang="0">
                    <a:pos x="48" y="45"/>
                  </a:cxn>
                  <a:cxn ang="0">
                    <a:pos x="48" y="45"/>
                  </a:cxn>
                  <a:cxn ang="0">
                    <a:pos x="48" y="45"/>
                  </a:cxn>
                </a:cxnLst>
                <a:rect l="0" t="0" r="r" b="b"/>
                <a:pathLst>
                  <a:path w="61" h="61">
                    <a:moveTo>
                      <a:pt x="31" y="0"/>
                    </a:moveTo>
                    <a:cubicBezTo>
                      <a:pt x="14" y="0"/>
                      <a:pt x="0" y="13"/>
                      <a:pt x="0" y="30"/>
                    </a:cubicBezTo>
                    <a:cubicBezTo>
                      <a:pt x="0" y="47"/>
                      <a:pt x="14" y="61"/>
                      <a:pt x="31" y="61"/>
                    </a:cubicBezTo>
                    <a:cubicBezTo>
                      <a:pt x="48" y="61"/>
                      <a:pt x="61" y="47"/>
                      <a:pt x="61" y="30"/>
                    </a:cubicBezTo>
                    <a:cubicBezTo>
                      <a:pt x="61" y="13"/>
                      <a:pt x="48" y="0"/>
                      <a:pt x="31" y="0"/>
                    </a:cubicBezTo>
                    <a:close/>
                    <a:moveTo>
                      <a:pt x="48" y="45"/>
                    </a:moveTo>
                    <a:cubicBezTo>
                      <a:pt x="40" y="55"/>
                      <a:pt x="25" y="56"/>
                      <a:pt x="16" y="48"/>
                    </a:cubicBezTo>
                    <a:cubicBezTo>
                      <a:pt x="6" y="39"/>
                      <a:pt x="5" y="25"/>
                      <a:pt x="13" y="15"/>
                    </a:cubicBezTo>
                    <a:cubicBezTo>
                      <a:pt x="22" y="6"/>
                      <a:pt x="36" y="5"/>
                      <a:pt x="46" y="13"/>
                    </a:cubicBezTo>
                    <a:cubicBezTo>
                      <a:pt x="55" y="21"/>
                      <a:pt x="57" y="36"/>
                      <a:pt x="48" y="45"/>
                    </a:cubicBezTo>
                    <a:close/>
                    <a:moveTo>
                      <a:pt x="48" y="45"/>
                    </a:moveTo>
                    <a:cubicBezTo>
                      <a:pt x="48" y="45"/>
                      <a:pt x="48" y="45"/>
                      <a:pt x="48" y="45"/>
                    </a:cubicBezTo>
                  </a:path>
                </a:pathLst>
              </a:custGeom>
              <a:solidFill>
                <a:srgbClr val="0A80FB"/>
              </a:solidFill>
              <a:ln w="9525">
                <a:noFill/>
                <a:round/>
              </a:ln>
            </p:spPr>
            <p:txBody>
              <a:bodyPr vert="horz" wrap="square" lIns="68598" tIns="34299" rIns="68598" bIns="34299" numCol="1" anchor="t" anchorCtr="0" compatLnSpc="1"/>
              <a:lstStyle/>
              <a:p>
                <a:endParaRPr lang="en-US" sz="2700" dirty="0">
                  <a:latin typeface="Roboto Light"/>
                </a:endParaRPr>
              </a:p>
            </p:txBody>
          </p:sp>
          <p:sp>
            <p:nvSpPr>
              <p:cNvPr id="21" name="Freeform 129"/>
              <p:cNvSpPr>
                <a:spLocks noEditPoints="1"/>
              </p:cNvSpPr>
              <p:nvPr/>
            </p:nvSpPr>
            <p:spPr bwMode="auto">
              <a:xfrm>
                <a:off x="4989513" y="2859088"/>
                <a:ext cx="53975" cy="50800"/>
              </a:xfrm>
              <a:custGeom>
                <a:avLst/>
                <a:gdLst/>
                <a:ahLst/>
                <a:cxnLst>
                  <a:cxn ang="0">
                    <a:pos x="16" y="0"/>
                  </a:cxn>
                  <a:cxn ang="0">
                    <a:pos x="0" y="15"/>
                  </a:cxn>
                  <a:cxn ang="0">
                    <a:pos x="2" y="17"/>
                  </a:cxn>
                  <a:cxn ang="0">
                    <a:pos x="4" y="15"/>
                  </a:cxn>
                  <a:cxn ang="0">
                    <a:pos x="16" y="4"/>
                  </a:cxn>
                  <a:cxn ang="0">
                    <a:pos x="18" y="2"/>
                  </a:cxn>
                  <a:cxn ang="0">
                    <a:pos x="16" y="0"/>
                  </a:cxn>
                  <a:cxn ang="0">
                    <a:pos x="16" y="0"/>
                  </a:cxn>
                  <a:cxn ang="0">
                    <a:pos x="16" y="0"/>
                  </a:cxn>
                </a:cxnLst>
                <a:rect l="0" t="0" r="r" b="b"/>
                <a:pathLst>
                  <a:path w="18" h="17">
                    <a:moveTo>
                      <a:pt x="16" y="0"/>
                    </a:moveTo>
                    <a:cubicBezTo>
                      <a:pt x="7" y="0"/>
                      <a:pt x="0" y="7"/>
                      <a:pt x="0" y="15"/>
                    </a:cubicBezTo>
                    <a:cubicBezTo>
                      <a:pt x="0" y="16"/>
                      <a:pt x="1" y="17"/>
                      <a:pt x="2" y="17"/>
                    </a:cubicBezTo>
                    <a:cubicBezTo>
                      <a:pt x="3" y="17"/>
                      <a:pt x="4" y="16"/>
                      <a:pt x="4" y="15"/>
                    </a:cubicBezTo>
                    <a:cubicBezTo>
                      <a:pt x="4" y="9"/>
                      <a:pt x="9" y="4"/>
                      <a:pt x="16" y="4"/>
                    </a:cubicBezTo>
                    <a:cubicBezTo>
                      <a:pt x="17" y="4"/>
                      <a:pt x="18" y="3"/>
                      <a:pt x="18" y="2"/>
                    </a:cubicBezTo>
                    <a:cubicBezTo>
                      <a:pt x="18" y="1"/>
                      <a:pt x="17" y="0"/>
                      <a:pt x="16" y="0"/>
                    </a:cubicBezTo>
                    <a:close/>
                    <a:moveTo>
                      <a:pt x="16" y="0"/>
                    </a:moveTo>
                    <a:cubicBezTo>
                      <a:pt x="16" y="0"/>
                      <a:pt x="16" y="0"/>
                      <a:pt x="16" y="0"/>
                    </a:cubicBezTo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68598" tIns="34299" rIns="68598" bIns="34299" numCol="1" anchor="t" anchorCtr="0" compatLnSpc="1"/>
              <a:lstStyle/>
              <a:p>
                <a:endParaRPr lang="en-US" sz="2700" dirty="0">
                  <a:latin typeface="Roboto Light"/>
                </a:endParaRPr>
              </a:p>
            </p:txBody>
          </p:sp>
          <p:sp>
            <p:nvSpPr>
              <p:cNvPr id="22" name="Freeform 130"/>
              <p:cNvSpPr>
                <a:spLocks noEditPoints="1"/>
              </p:cNvSpPr>
              <p:nvPr/>
            </p:nvSpPr>
            <p:spPr bwMode="auto">
              <a:xfrm>
                <a:off x="4856163" y="2736851"/>
                <a:ext cx="358775" cy="301625"/>
              </a:xfrm>
              <a:custGeom>
                <a:avLst/>
                <a:gdLst/>
                <a:ahLst/>
                <a:cxnLst>
                  <a:cxn ang="0">
                    <a:pos x="114" y="23"/>
                  </a:cxn>
                  <a:cxn ang="0">
                    <a:pos x="97" y="20"/>
                  </a:cxn>
                  <a:cxn ang="0">
                    <a:pos x="92" y="7"/>
                  </a:cxn>
                  <a:cxn ang="0">
                    <a:pos x="81" y="0"/>
                  </a:cxn>
                  <a:cxn ang="0">
                    <a:pos x="43" y="0"/>
                  </a:cxn>
                  <a:cxn ang="0">
                    <a:pos x="32" y="7"/>
                  </a:cxn>
                  <a:cxn ang="0">
                    <a:pos x="27" y="20"/>
                  </a:cxn>
                  <a:cxn ang="0">
                    <a:pos x="10" y="23"/>
                  </a:cxn>
                  <a:cxn ang="0">
                    <a:pos x="0" y="34"/>
                  </a:cxn>
                  <a:cxn ang="0">
                    <a:pos x="0" y="92"/>
                  </a:cxn>
                  <a:cxn ang="0">
                    <a:pos x="12" y="103"/>
                  </a:cxn>
                  <a:cxn ang="0">
                    <a:pos x="112" y="103"/>
                  </a:cxn>
                  <a:cxn ang="0">
                    <a:pos x="123" y="92"/>
                  </a:cxn>
                  <a:cxn ang="0">
                    <a:pos x="123" y="34"/>
                  </a:cxn>
                  <a:cxn ang="0">
                    <a:pos x="114" y="23"/>
                  </a:cxn>
                  <a:cxn ang="0">
                    <a:pos x="115" y="92"/>
                  </a:cxn>
                  <a:cxn ang="0">
                    <a:pos x="112" y="96"/>
                  </a:cxn>
                  <a:cxn ang="0">
                    <a:pos x="12" y="96"/>
                  </a:cxn>
                  <a:cxn ang="0">
                    <a:pos x="8" y="92"/>
                  </a:cxn>
                  <a:cxn ang="0">
                    <a:pos x="8" y="34"/>
                  </a:cxn>
                  <a:cxn ang="0">
                    <a:pos x="11" y="30"/>
                  </a:cxn>
                  <a:cxn ang="0">
                    <a:pos x="32" y="27"/>
                  </a:cxn>
                  <a:cxn ang="0">
                    <a:pos x="39" y="10"/>
                  </a:cxn>
                  <a:cxn ang="0">
                    <a:pos x="43" y="7"/>
                  </a:cxn>
                  <a:cxn ang="0">
                    <a:pos x="81" y="7"/>
                  </a:cxn>
                  <a:cxn ang="0">
                    <a:pos x="85" y="10"/>
                  </a:cxn>
                  <a:cxn ang="0">
                    <a:pos x="91" y="27"/>
                  </a:cxn>
                  <a:cxn ang="0">
                    <a:pos x="112" y="30"/>
                  </a:cxn>
                  <a:cxn ang="0">
                    <a:pos x="115" y="34"/>
                  </a:cxn>
                  <a:cxn ang="0">
                    <a:pos x="115" y="92"/>
                  </a:cxn>
                  <a:cxn ang="0">
                    <a:pos x="115" y="92"/>
                  </a:cxn>
                  <a:cxn ang="0">
                    <a:pos x="115" y="92"/>
                  </a:cxn>
                </a:cxnLst>
                <a:rect l="0" t="0" r="r" b="b"/>
                <a:pathLst>
                  <a:path w="123" h="103">
                    <a:moveTo>
                      <a:pt x="114" y="23"/>
                    </a:moveTo>
                    <a:cubicBezTo>
                      <a:pt x="97" y="20"/>
                      <a:pt x="97" y="20"/>
                      <a:pt x="97" y="20"/>
                    </a:cubicBezTo>
                    <a:cubicBezTo>
                      <a:pt x="92" y="7"/>
                      <a:pt x="92" y="7"/>
                      <a:pt x="92" y="7"/>
                    </a:cubicBezTo>
                    <a:cubicBezTo>
                      <a:pt x="90" y="3"/>
                      <a:pt x="86" y="0"/>
                      <a:pt x="81" y="0"/>
                    </a:cubicBezTo>
                    <a:cubicBezTo>
                      <a:pt x="43" y="0"/>
                      <a:pt x="43" y="0"/>
                      <a:pt x="43" y="0"/>
                    </a:cubicBezTo>
                    <a:cubicBezTo>
                      <a:pt x="38" y="0"/>
                      <a:pt x="34" y="3"/>
                      <a:pt x="32" y="7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4" y="24"/>
                      <a:pt x="0" y="29"/>
                      <a:pt x="0" y="34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98"/>
                      <a:pt x="6" y="103"/>
                      <a:pt x="12" y="103"/>
                    </a:cubicBezTo>
                    <a:cubicBezTo>
                      <a:pt x="112" y="103"/>
                      <a:pt x="112" y="103"/>
                      <a:pt x="112" y="103"/>
                    </a:cubicBezTo>
                    <a:cubicBezTo>
                      <a:pt x="118" y="103"/>
                      <a:pt x="123" y="98"/>
                      <a:pt x="123" y="92"/>
                    </a:cubicBezTo>
                    <a:cubicBezTo>
                      <a:pt x="123" y="34"/>
                      <a:pt x="123" y="34"/>
                      <a:pt x="123" y="34"/>
                    </a:cubicBezTo>
                    <a:cubicBezTo>
                      <a:pt x="123" y="29"/>
                      <a:pt x="119" y="24"/>
                      <a:pt x="114" y="23"/>
                    </a:cubicBezTo>
                    <a:close/>
                    <a:moveTo>
                      <a:pt x="115" y="92"/>
                    </a:moveTo>
                    <a:cubicBezTo>
                      <a:pt x="115" y="94"/>
                      <a:pt x="114" y="96"/>
                      <a:pt x="112" y="96"/>
                    </a:cubicBezTo>
                    <a:cubicBezTo>
                      <a:pt x="12" y="96"/>
                      <a:pt x="12" y="96"/>
                      <a:pt x="12" y="96"/>
                    </a:cubicBezTo>
                    <a:cubicBezTo>
                      <a:pt x="10" y="96"/>
                      <a:pt x="8" y="94"/>
                      <a:pt x="8" y="92"/>
                    </a:cubicBezTo>
                    <a:cubicBezTo>
                      <a:pt x="8" y="34"/>
                      <a:pt x="8" y="34"/>
                      <a:pt x="8" y="34"/>
                    </a:cubicBezTo>
                    <a:cubicBezTo>
                      <a:pt x="8" y="32"/>
                      <a:pt x="9" y="31"/>
                      <a:pt x="11" y="30"/>
                    </a:cubicBezTo>
                    <a:cubicBezTo>
                      <a:pt x="32" y="27"/>
                      <a:pt x="32" y="27"/>
                      <a:pt x="32" y="27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40" y="8"/>
                      <a:pt x="41" y="7"/>
                      <a:pt x="43" y="7"/>
                    </a:cubicBezTo>
                    <a:cubicBezTo>
                      <a:pt x="81" y="7"/>
                      <a:pt x="81" y="7"/>
                      <a:pt x="81" y="7"/>
                    </a:cubicBezTo>
                    <a:cubicBezTo>
                      <a:pt x="83" y="7"/>
                      <a:pt x="84" y="8"/>
                      <a:pt x="85" y="10"/>
                    </a:cubicBezTo>
                    <a:cubicBezTo>
                      <a:pt x="91" y="27"/>
                      <a:pt x="91" y="27"/>
                      <a:pt x="91" y="27"/>
                    </a:cubicBezTo>
                    <a:cubicBezTo>
                      <a:pt x="112" y="30"/>
                      <a:pt x="112" y="30"/>
                      <a:pt x="112" y="30"/>
                    </a:cubicBezTo>
                    <a:cubicBezTo>
                      <a:pt x="114" y="31"/>
                      <a:pt x="115" y="32"/>
                      <a:pt x="115" y="34"/>
                    </a:cubicBezTo>
                    <a:lnTo>
                      <a:pt x="115" y="92"/>
                    </a:lnTo>
                    <a:close/>
                    <a:moveTo>
                      <a:pt x="115" y="92"/>
                    </a:moveTo>
                    <a:cubicBezTo>
                      <a:pt x="115" y="92"/>
                      <a:pt x="115" y="92"/>
                      <a:pt x="115" y="92"/>
                    </a:cubicBezTo>
                  </a:path>
                </a:pathLst>
              </a:custGeom>
              <a:solidFill>
                <a:srgbClr val="0A80FB"/>
              </a:solidFill>
              <a:ln w="9525">
                <a:noFill/>
                <a:round/>
              </a:ln>
            </p:spPr>
            <p:txBody>
              <a:bodyPr vert="horz" wrap="square" lIns="68598" tIns="34299" rIns="68598" bIns="34299" numCol="1" anchor="t" anchorCtr="0" compatLnSpc="1"/>
              <a:lstStyle/>
              <a:p>
                <a:endParaRPr lang="en-US" sz="2700" dirty="0">
                  <a:latin typeface="Roboto Light"/>
                </a:endParaRPr>
              </a:p>
            </p:txBody>
          </p:sp>
        </p:grpSp>
        <p:sp>
          <p:nvSpPr>
            <p:cNvPr id="13" name="Freeform 144"/>
            <p:cNvSpPr>
              <a:spLocks noChangeAspect="1" noEditPoints="1"/>
            </p:cNvSpPr>
            <p:nvPr/>
          </p:nvSpPr>
          <p:spPr bwMode="auto">
            <a:xfrm>
              <a:off x="5992727" y="5036174"/>
              <a:ext cx="574891" cy="562502"/>
            </a:xfrm>
            <a:custGeom>
              <a:avLst/>
              <a:gdLst/>
              <a:ahLst/>
              <a:cxnLst>
                <a:cxn ang="0">
                  <a:pos x="90" y="0"/>
                </a:cxn>
                <a:cxn ang="0">
                  <a:pos x="53" y="26"/>
                </a:cxn>
                <a:cxn ang="0">
                  <a:pos x="53" y="26"/>
                </a:cxn>
                <a:cxn ang="0">
                  <a:pos x="13" y="66"/>
                </a:cxn>
                <a:cxn ang="0">
                  <a:pos x="0" y="106"/>
                </a:cxn>
                <a:cxn ang="0">
                  <a:pos x="13" y="123"/>
                </a:cxn>
                <a:cxn ang="0">
                  <a:pos x="50" y="114"/>
                </a:cxn>
                <a:cxn ang="0">
                  <a:pos x="115" y="51"/>
                </a:cxn>
                <a:cxn ang="0">
                  <a:pos x="61" y="91"/>
                </a:cxn>
                <a:cxn ang="0">
                  <a:pos x="95" y="45"/>
                </a:cxn>
                <a:cxn ang="0">
                  <a:pos x="91" y="64"/>
                </a:cxn>
                <a:cxn ang="0">
                  <a:pos x="61" y="94"/>
                </a:cxn>
                <a:cxn ang="0">
                  <a:pos x="56" y="78"/>
                </a:cxn>
                <a:cxn ang="0">
                  <a:pos x="43" y="66"/>
                </a:cxn>
                <a:cxn ang="0">
                  <a:pos x="88" y="34"/>
                </a:cxn>
                <a:cxn ang="0">
                  <a:pos x="56" y="78"/>
                </a:cxn>
                <a:cxn ang="0">
                  <a:pos x="29" y="61"/>
                </a:cxn>
                <a:cxn ang="0">
                  <a:pos x="76" y="28"/>
                </a:cxn>
                <a:cxn ang="0">
                  <a:pos x="16" y="115"/>
                </a:cxn>
                <a:cxn ang="0">
                  <a:pos x="7" y="110"/>
                </a:cxn>
                <a:cxn ang="0">
                  <a:pos x="12" y="93"/>
                </a:cxn>
                <a:cxn ang="0">
                  <a:pos x="30" y="111"/>
                </a:cxn>
                <a:cxn ang="0">
                  <a:pos x="34" y="110"/>
                </a:cxn>
                <a:cxn ang="0">
                  <a:pos x="13" y="89"/>
                </a:cxn>
                <a:cxn ang="0">
                  <a:pos x="18" y="72"/>
                </a:cxn>
                <a:cxn ang="0">
                  <a:pos x="49" y="106"/>
                </a:cxn>
                <a:cxn ang="0">
                  <a:pos x="34" y="110"/>
                </a:cxn>
                <a:cxn ang="0">
                  <a:pos x="103" y="52"/>
                </a:cxn>
                <a:cxn ang="0">
                  <a:pos x="93" y="29"/>
                </a:cxn>
                <a:cxn ang="0">
                  <a:pos x="77" y="13"/>
                </a:cxn>
                <a:cxn ang="0">
                  <a:pos x="107" y="16"/>
                </a:cxn>
                <a:cxn ang="0">
                  <a:pos x="110" y="45"/>
                </a:cxn>
                <a:cxn ang="0">
                  <a:pos x="110" y="45"/>
                </a:cxn>
              </a:cxnLst>
              <a:rect l="0" t="0" r="r" b="b"/>
              <a:pathLst>
                <a:path w="126" h="123">
                  <a:moveTo>
                    <a:pt x="112" y="10"/>
                  </a:moveTo>
                  <a:cubicBezTo>
                    <a:pt x="106" y="4"/>
                    <a:pt x="98" y="0"/>
                    <a:pt x="90" y="0"/>
                  </a:cubicBezTo>
                  <a:cubicBezTo>
                    <a:pt x="83" y="0"/>
                    <a:pt x="76" y="3"/>
                    <a:pt x="72" y="7"/>
                  </a:cubicBezTo>
                  <a:cubicBezTo>
                    <a:pt x="53" y="26"/>
                    <a:pt x="53" y="26"/>
                    <a:pt x="53" y="26"/>
                  </a:cubicBezTo>
                  <a:cubicBezTo>
                    <a:pt x="53" y="26"/>
                    <a:pt x="53" y="26"/>
                    <a:pt x="53" y="26"/>
                  </a:cubicBezTo>
                  <a:cubicBezTo>
                    <a:pt x="53" y="26"/>
                    <a:pt x="53" y="26"/>
                    <a:pt x="53" y="26"/>
                  </a:cubicBezTo>
                  <a:cubicBezTo>
                    <a:pt x="53" y="26"/>
                    <a:pt x="53" y="26"/>
                    <a:pt x="53" y="26"/>
                  </a:cubicBezTo>
                  <a:cubicBezTo>
                    <a:pt x="13" y="66"/>
                    <a:pt x="13" y="66"/>
                    <a:pt x="13" y="66"/>
                  </a:cubicBezTo>
                  <a:cubicBezTo>
                    <a:pt x="11" y="68"/>
                    <a:pt x="10" y="70"/>
                    <a:pt x="9" y="73"/>
                  </a:cubicBezTo>
                  <a:cubicBezTo>
                    <a:pt x="0" y="106"/>
                    <a:pt x="0" y="106"/>
                    <a:pt x="0" y="106"/>
                  </a:cubicBezTo>
                  <a:cubicBezTo>
                    <a:pt x="0" y="106"/>
                    <a:pt x="0" y="108"/>
                    <a:pt x="0" y="110"/>
                  </a:cubicBezTo>
                  <a:cubicBezTo>
                    <a:pt x="0" y="117"/>
                    <a:pt x="6" y="123"/>
                    <a:pt x="13" y="123"/>
                  </a:cubicBezTo>
                  <a:cubicBezTo>
                    <a:pt x="15" y="123"/>
                    <a:pt x="17" y="122"/>
                    <a:pt x="18" y="122"/>
                  </a:cubicBezTo>
                  <a:cubicBezTo>
                    <a:pt x="50" y="114"/>
                    <a:pt x="50" y="114"/>
                    <a:pt x="50" y="114"/>
                  </a:cubicBezTo>
                  <a:cubicBezTo>
                    <a:pt x="52" y="113"/>
                    <a:pt x="55" y="112"/>
                    <a:pt x="57" y="110"/>
                  </a:cubicBezTo>
                  <a:cubicBezTo>
                    <a:pt x="115" y="51"/>
                    <a:pt x="115" y="51"/>
                    <a:pt x="115" y="51"/>
                  </a:cubicBezTo>
                  <a:cubicBezTo>
                    <a:pt x="126" y="40"/>
                    <a:pt x="125" y="22"/>
                    <a:pt x="112" y="10"/>
                  </a:cubicBezTo>
                  <a:close/>
                  <a:moveTo>
                    <a:pt x="61" y="91"/>
                  </a:moveTo>
                  <a:cubicBezTo>
                    <a:pt x="61" y="88"/>
                    <a:pt x="60" y="85"/>
                    <a:pt x="58" y="81"/>
                  </a:cubicBezTo>
                  <a:cubicBezTo>
                    <a:pt x="95" y="45"/>
                    <a:pt x="95" y="45"/>
                    <a:pt x="95" y="45"/>
                  </a:cubicBezTo>
                  <a:cubicBezTo>
                    <a:pt x="97" y="52"/>
                    <a:pt x="96" y="59"/>
                    <a:pt x="91" y="64"/>
                  </a:cubicBezTo>
                  <a:cubicBezTo>
                    <a:pt x="91" y="64"/>
                    <a:pt x="91" y="64"/>
                    <a:pt x="91" y="64"/>
                  </a:cubicBezTo>
                  <a:cubicBezTo>
                    <a:pt x="91" y="64"/>
                    <a:pt x="91" y="64"/>
                    <a:pt x="91" y="64"/>
                  </a:cubicBezTo>
                  <a:cubicBezTo>
                    <a:pt x="61" y="94"/>
                    <a:pt x="61" y="94"/>
                    <a:pt x="61" y="94"/>
                  </a:cubicBezTo>
                  <a:cubicBezTo>
                    <a:pt x="61" y="93"/>
                    <a:pt x="61" y="92"/>
                    <a:pt x="61" y="91"/>
                  </a:cubicBezTo>
                  <a:close/>
                  <a:moveTo>
                    <a:pt x="56" y="78"/>
                  </a:moveTo>
                  <a:cubicBezTo>
                    <a:pt x="55" y="76"/>
                    <a:pt x="53" y="73"/>
                    <a:pt x="51" y="71"/>
                  </a:cubicBezTo>
                  <a:cubicBezTo>
                    <a:pt x="49" y="69"/>
                    <a:pt x="46" y="67"/>
                    <a:pt x="43" y="66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3" y="30"/>
                    <a:pt x="86" y="32"/>
                    <a:pt x="88" y="34"/>
                  </a:cubicBezTo>
                  <a:cubicBezTo>
                    <a:pt x="90" y="37"/>
                    <a:pt x="92" y="39"/>
                    <a:pt x="93" y="41"/>
                  </a:cubicBezTo>
                  <a:lnTo>
                    <a:pt x="56" y="78"/>
                  </a:lnTo>
                  <a:close/>
                  <a:moveTo>
                    <a:pt x="40" y="64"/>
                  </a:moveTo>
                  <a:cubicBezTo>
                    <a:pt x="36" y="62"/>
                    <a:pt x="33" y="61"/>
                    <a:pt x="29" y="61"/>
                  </a:cubicBezTo>
                  <a:cubicBezTo>
                    <a:pt x="58" y="32"/>
                    <a:pt x="58" y="32"/>
                    <a:pt x="58" y="32"/>
                  </a:cubicBezTo>
                  <a:cubicBezTo>
                    <a:pt x="63" y="27"/>
                    <a:pt x="69" y="26"/>
                    <a:pt x="76" y="28"/>
                  </a:cubicBezTo>
                  <a:lnTo>
                    <a:pt x="40" y="64"/>
                  </a:lnTo>
                  <a:close/>
                  <a:moveTo>
                    <a:pt x="16" y="115"/>
                  </a:moveTo>
                  <a:cubicBezTo>
                    <a:pt x="15" y="115"/>
                    <a:pt x="14" y="115"/>
                    <a:pt x="13" y="115"/>
                  </a:cubicBezTo>
                  <a:cubicBezTo>
                    <a:pt x="10" y="115"/>
                    <a:pt x="7" y="113"/>
                    <a:pt x="7" y="110"/>
                  </a:cubicBezTo>
                  <a:cubicBezTo>
                    <a:pt x="7" y="109"/>
                    <a:pt x="8" y="108"/>
                    <a:pt x="8" y="107"/>
                  </a:cubicBezTo>
                  <a:cubicBezTo>
                    <a:pt x="12" y="93"/>
                    <a:pt x="12" y="93"/>
                    <a:pt x="12" y="93"/>
                  </a:cubicBezTo>
                  <a:cubicBezTo>
                    <a:pt x="16" y="93"/>
                    <a:pt x="21" y="94"/>
                    <a:pt x="25" y="98"/>
                  </a:cubicBezTo>
                  <a:cubicBezTo>
                    <a:pt x="28" y="102"/>
                    <a:pt x="30" y="107"/>
                    <a:pt x="30" y="111"/>
                  </a:cubicBezTo>
                  <a:lnTo>
                    <a:pt x="16" y="115"/>
                  </a:lnTo>
                  <a:close/>
                  <a:moveTo>
                    <a:pt x="34" y="110"/>
                  </a:moveTo>
                  <a:cubicBezTo>
                    <a:pt x="34" y="105"/>
                    <a:pt x="31" y="100"/>
                    <a:pt x="27" y="95"/>
                  </a:cubicBezTo>
                  <a:cubicBezTo>
                    <a:pt x="23" y="91"/>
                    <a:pt x="18" y="89"/>
                    <a:pt x="13" y="89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7" y="74"/>
                    <a:pt x="17" y="73"/>
                    <a:pt x="18" y="72"/>
                  </a:cubicBezTo>
                  <a:cubicBezTo>
                    <a:pt x="26" y="67"/>
                    <a:pt x="38" y="68"/>
                    <a:pt x="46" y="77"/>
                  </a:cubicBezTo>
                  <a:cubicBezTo>
                    <a:pt x="55" y="85"/>
                    <a:pt x="56" y="98"/>
                    <a:pt x="49" y="106"/>
                  </a:cubicBezTo>
                  <a:cubicBezTo>
                    <a:pt x="49" y="106"/>
                    <a:pt x="48" y="106"/>
                    <a:pt x="48" y="106"/>
                  </a:cubicBezTo>
                  <a:lnTo>
                    <a:pt x="34" y="110"/>
                  </a:lnTo>
                  <a:close/>
                  <a:moveTo>
                    <a:pt x="110" y="45"/>
                  </a:moveTo>
                  <a:cubicBezTo>
                    <a:pt x="103" y="52"/>
                    <a:pt x="103" y="52"/>
                    <a:pt x="103" y="52"/>
                  </a:cubicBezTo>
                  <a:cubicBezTo>
                    <a:pt x="103" y="51"/>
                    <a:pt x="103" y="50"/>
                    <a:pt x="103" y="49"/>
                  </a:cubicBezTo>
                  <a:cubicBezTo>
                    <a:pt x="103" y="42"/>
                    <a:pt x="99" y="35"/>
                    <a:pt x="93" y="29"/>
                  </a:cubicBezTo>
                  <a:cubicBezTo>
                    <a:pt x="87" y="23"/>
                    <a:pt x="79" y="19"/>
                    <a:pt x="71" y="19"/>
                  </a:cubicBezTo>
                  <a:cubicBezTo>
                    <a:pt x="77" y="13"/>
                    <a:pt x="77" y="13"/>
                    <a:pt x="77" y="13"/>
                  </a:cubicBezTo>
                  <a:cubicBezTo>
                    <a:pt x="80" y="10"/>
                    <a:pt x="85" y="8"/>
                    <a:pt x="90" y="8"/>
                  </a:cubicBezTo>
                  <a:cubicBezTo>
                    <a:pt x="96" y="8"/>
                    <a:pt x="102" y="11"/>
                    <a:pt x="107" y="16"/>
                  </a:cubicBezTo>
                  <a:cubicBezTo>
                    <a:pt x="112" y="20"/>
                    <a:pt x="114" y="26"/>
                    <a:pt x="115" y="32"/>
                  </a:cubicBezTo>
                  <a:cubicBezTo>
                    <a:pt x="115" y="37"/>
                    <a:pt x="113" y="42"/>
                    <a:pt x="110" y="45"/>
                  </a:cubicBezTo>
                  <a:close/>
                  <a:moveTo>
                    <a:pt x="110" y="45"/>
                  </a:moveTo>
                  <a:cubicBezTo>
                    <a:pt x="110" y="45"/>
                    <a:pt x="110" y="45"/>
                    <a:pt x="110" y="45"/>
                  </a:cubicBezTo>
                </a:path>
              </a:pathLst>
            </a:custGeom>
            <a:solidFill>
              <a:srgbClr val="59B663"/>
            </a:solidFill>
            <a:ln w="9525">
              <a:noFill/>
              <a:round/>
            </a:ln>
          </p:spPr>
          <p:txBody>
            <a:bodyPr vert="horz" wrap="square" lIns="68598" tIns="34299" rIns="68598" bIns="34299" numCol="1" anchor="t" anchorCtr="0" compatLnSpc="1"/>
            <a:lstStyle/>
            <a:p>
              <a:endParaRPr lang="en-US" sz="2700" dirty="0">
                <a:latin typeface="Roboto Light"/>
              </a:endParaRPr>
            </a:p>
          </p:txBody>
        </p:sp>
        <p:sp>
          <p:nvSpPr>
            <p:cNvPr id="14" name="Freeform 153"/>
            <p:cNvSpPr>
              <a:spLocks noChangeAspect="1" noEditPoints="1"/>
            </p:cNvSpPr>
            <p:nvPr/>
          </p:nvSpPr>
          <p:spPr bwMode="auto">
            <a:xfrm>
              <a:off x="11707099" y="5091731"/>
              <a:ext cx="554829" cy="562502"/>
            </a:xfrm>
            <a:custGeom>
              <a:avLst/>
              <a:gdLst/>
              <a:ahLst/>
              <a:cxnLst>
                <a:cxn ang="0">
                  <a:pos x="0" y="59"/>
                </a:cxn>
                <a:cxn ang="0">
                  <a:pos x="118" y="59"/>
                </a:cxn>
                <a:cxn ang="0">
                  <a:pos x="111" y="57"/>
                </a:cxn>
                <a:cxn ang="0">
                  <a:pos x="83" y="33"/>
                </a:cxn>
                <a:cxn ang="0">
                  <a:pos x="111" y="57"/>
                </a:cxn>
                <a:cxn ang="0">
                  <a:pos x="41" y="91"/>
                </a:cxn>
                <a:cxn ang="0">
                  <a:pos x="57" y="111"/>
                </a:cxn>
                <a:cxn ang="0">
                  <a:pos x="61" y="8"/>
                </a:cxn>
                <a:cxn ang="0">
                  <a:pos x="61" y="34"/>
                </a:cxn>
                <a:cxn ang="0">
                  <a:pos x="61" y="8"/>
                </a:cxn>
                <a:cxn ang="0">
                  <a:pos x="95" y="22"/>
                </a:cxn>
                <a:cxn ang="0">
                  <a:pos x="67" y="8"/>
                </a:cxn>
                <a:cxn ang="0">
                  <a:pos x="57" y="34"/>
                </a:cxn>
                <a:cxn ang="0">
                  <a:pos x="57" y="8"/>
                </a:cxn>
                <a:cxn ang="0">
                  <a:pos x="36" y="30"/>
                </a:cxn>
                <a:cxn ang="0">
                  <a:pos x="50" y="8"/>
                </a:cxn>
                <a:cxn ang="0">
                  <a:pos x="38" y="35"/>
                </a:cxn>
                <a:cxn ang="0">
                  <a:pos x="57" y="57"/>
                </a:cxn>
                <a:cxn ang="0">
                  <a:pos x="38" y="35"/>
                </a:cxn>
                <a:cxn ang="0">
                  <a:pos x="57" y="84"/>
                </a:cxn>
                <a:cxn ang="0">
                  <a:pos x="34" y="61"/>
                </a:cxn>
                <a:cxn ang="0">
                  <a:pos x="50" y="110"/>
                </a:cxn>
                <a:cxn ang="0">
                  <a:pos x="38" y="92"/>
                </a:cxn>
                <a:cxn ang="0">
                  <a:pos x="61" y="111"/>
                </a:cxn>
                <a:cxn ang="0">
                  <a:pos x="77" y="91"/>
                </a:cxn>
                <a:cxn ang="0">
                  <a:pos x="61" y="111"/>
                </a:cxn>
                <a:cxn ang="0">
                  <a:pos x="93" y="99"/>
                </a:cxn>
                <a:cxn ang="0">
                  <a:pos x="80" y="92"/>
                </a:cxn>
                <a:cxn ang="0">
                  <a:pos x="61" y="84"/>
                </a:cxn>
                <a:cxn ang="0">
                  <a:pos x="84" y="61"/>
                </a:cxn>
                <a:cxn ang="0">
                  <a:pos x="61" y="57"/>
                </a:cxn>
                <a:cxn ang="0">
                  <a:pos x="80" y="35"/>
                </a:cxn>
                <a:cxn ang="0">
                  <a:pos x="61" y="57"/>
                </a:cxn>
                <a:cxn ang="0">
                  <a:pos x="35" y="33"/>
                </a:cxn>
                <a:cxn ang="0">
                  <a:pos x="7" y="57"/>
                </a:cxn>
                <a:cxn ang="0">
                  <a:pos x="7" y="61"/>
                </a:cxn>
                <a:cxn ang="0">
                  <a:pos x="36" y="89"/>
                </a:cxn>
                <a:cxn ang="0">
                  <a:pos x="7" y="61"/>
                </a:cxn>
                <a:cxn ang="0">
                  <a:pos x="82" y="89"/>
                </a:cxn>
                <a:cxn ang="0">
                  <a:pos x="111" y="61"/>
                </a:cxn>
                <a:cxn ang="0">
                  <a:pos x="95" y="96"/>
                </a:cxn>
              </a:cxnLst>
              <a:rect l="0" t="0" r="r" b="b"/>
              <a:pathLst>
                <a:path w="118" h="119">
                  <a:moveTo>
                    <a:pt x="59" y="0"/>
                  </a:moveTo>
                  <a:cubicBezTo>
                    <a:pt x="26" y="0"/>
                    <a:pt x="0" y="27"/>
                    <a:pt x="0" y="59"/>
                  </a:cubicBezTo>
                  <a:cubicBezTo>
                    <a:pt x="0" y="92"/>
                    <a:pt x="26" y="119"/>
                    <a:pt x="59" y="119"/>
                  </a:cubicBezTo>
                  <a:cubicBezTo>
                    <a:pt x="92" y="119"/>
                    <a:pt x="118" y="92"/>
                    <a:pt x="118" y="59"/>
                  </a:cubicBezTo>
                  <a:cubicBezTo>
                    <a:pt x="118" y="27"/>
                    <a:pt x="92" y="0"/>
                    <a:pt x="59" y="0"/>
                  </a:cubicBezTo>
                  <a:close/>
                  <a:moveTo>
                    <a:pt x="111" y="57"/>
                  </a:moveTo>
                  <a:cubicBezTo>
                    <a:pt x="88" y="57"/>
                    <a:pt x="88" y="57"/>
                    <a:pt x="88" y="57"/>
                  </a:cubicBezTo>
                  <a:cubicBezTo>
                    <a:pt x="87" y="49"/>
                    <a:pt x="86" y="41"/>
                    <a:pt x="83" y="33"/>
                  </a:cubicBezTo>
                  <a:cubicBezTo>
                    <a:pt x="88" y="31"/>
                    <a:pt x="93" y="28"/>
                    <a:pt x="98" y="25"/>
                  </a:cubicBezTo>
                  <a:cubicBezTo>
                    <a:pt x="105" y="34"/>
                    <a:pt x="110" y="45"/>
                    <a:pt x="111" y="57"/>
                  </a:cubicBezTo>
                  <a:close/>
                  <a:moveTo>
                    <a:pt x="57" y="111"/>
                  </a:moveTo>
                  <a:cubicBezTo>
                    <a:pt x="50" y="106"/>
                    <a:pt x="45" y="99"/>
                    <a:pt x="41" y="91"/>
                  </a:cubicBezTo>
                  <a:cubicBezTo>
                    <a:pt x="46" y="89"/>
                    <a:pt x="52" y="88"/>
                    <a:pt x="57" y="88"/>
                  </a:cubicBezTo>
                  <a:cubicBezTo>
                    <a:pt x="57" y="111"/>
                    <a:pt x="57" y="111"/>
                    <a:pt x="57" y="111"/>
                  </a:cubicBezTo>
                  <a:cubicBezTo>
                    <a:pt x="57" y="111"/>
                    <a:pt x="57" y="111"/>
                    <a:pt x="57" y="111"/>
                  </a:cubicBezTo>
                  <a:close/>
                  <a:moveTo>
                    <a:pt x="61" y="8"/>
                  </a:moveTo>
                  <a:cubicBezTo>
                    <a:pt x="68" y="14"/>
                    <a:pt x="74" y="22"/>
                    <a:pt x="78" y="31"/>
                  </a:cubicBezTo>
                  <a:cubicBezTo>
                    <a:pt x="73" y="33"/>
                    <a:pt x="67" y="34"/>
                    <a:pt x="61" y="34"/>
                  </a:cubicBezTo>
                  <a:cubicBezTo>
                    <a:pt x="61" y="8"/>
                    <a:pt x="61" y="8"/>
                    <a:pt x="61" y="8"/>
                  </a:cubicBezTo>
                  <a:cubicBezTo>
                    <a:pt x="61" y="8"/>
                    <a:pt x="61" y="8"/>
                    <a:pt x="61" y="8"/>
                  </a:cubicBezTo>
                  <a:close/>
                  <a:moveTo>
                    <a:pt x="67" y="8"/>
                  </a:moveTo>
                  <a:cubicBezTo>
                    <a:pt x="78" y="10"/>
                    <a:pt x="88" y="15"/>
                    <a:pt x="95" y="22"/>
                  </a:cubicBezTo>
                  <a:cubicBezTo>
                    <a:pt x="91" y="25"/>
                    <a:pt x="87" y="28"/>
                    <a:pt x="82" y="30"/>
                  </a:cubicBezTo>
                  <a:cubicBezTo>
                    <a:pt x="78" y="22"/>
                    <a:pt x="73" y="14"/>
                    <a:pt x="67" y="8"/>
                  </a:cubicBezTo>
                  <a:close/>
                  <a:moveTo>
                    <a:pt x="57" y="8"/>
                  </a:moveTo>
                  <a:cubicBezTo>
                    <a:pt x="57" y="34"/>
                    <a:pt x="57" y="34"/>
                    <a:pt x="57" y="34"/>
                  </a:cubicBezTo>
                  <a:cubicBezTo>
                    <a:pt x="51" y="34"/>
                    <a:pt x="45" y="33"/>
                    <a:pt x="40" y="31"/>
                  </a:cubicBezTo>
                  <a:cubicBezTo>
                    <a:pt x="44" y="22"/>
                    <a:pt x="50" y="14"/>
                    <a:pt x="57" y="8"/>
                  </a:cubicBezTo>
                  <a:cubicBezTo>
                    <a:pt x="57" y="8"/>
                    <a:pt x="57" y="8"/>
                    <a:pt x="57" y="8"/>
                  </a:cubicBezTo>
                  <a:close/>
                  <a:moveTo>
                    <a:pt x="36" y="30"/>
                  </a:moveTo>
                  <a:cubicBezTo>
                    <a:pt x="31" y="28"/>
                    <a:pt x="27" y="25"/>
                    <a:pt x="23" y="22"/>
                  </a:cubicBezTo>
                  <a:cubicBezTo>
                    <a:pt x="30" y="15"/>
                    <a:pt x="40" y="10"/>
                    <a:pt x="50" y="8"/>
                  </a:cubicBezTo>
                  <a:cubicBezTo>
                    <a:pt x="45" y="14"/>
                    <a:pt x="40" y="22"/>
                    <a:pt x="36" y="30"/>
                  </a:cubicBezTo>
                  <a:close/>
                  <a:moveTo>
                    <a:pt x="38" y="35"/>
                  </a:moveTo>
                  <a:cubicBezTo>
                    <a:pt x="44" y="37"/>
                    <a:pt x="50" y="38"/>
                    <a:pt x="57" y="38"/>
                  </a:cubicBezTo>
                  <a:cubicBezTo>
                    <a:pt x="57" y="57"/>
                    <a:pt x="57" y="57"/>
                    <a:pt x="57" y="57"/>
                  </a:cubicBezTo>
                  <a:cubicBezTo>
                    <a:pt x="34" y="57"/>
                    <a:pt x="34" y="57"/>
                    <a:pt x="34" y="57"/>
                  </a:cubicBezTo>
                  <a:cubicBezTo>
                    <a:pt x="34" y="49"/>
                    <a:pt x="36" y="42"/>
                    <a:pt x="38" y="35"/>
                  </a:cubicBezTo>
                  <a:close/>
                  <a:moveTo>
                    <a:pt x="57" y="61"/>
                  </a:moveTo>
                  <a:cubicBezTo>
                    <a:pt x="57" y="84"/>
                    <a:pt x="57" y="84"/>
                    <a:pt x="57" y="84"/>
                  </a:cubicBezTo>
                  <a:cubicBezTo>
                    <a:pt x="51" y="85"/>
                    <a:pt x="45" y="86"/>
                    <a:pt x="40" y="87"/>
                  </a:cubicBezTo>
                  <a:cubicBezTo>
                    <a:pt x="36" y="79"/>
                    <a:pt x="34" y="71"/>
                    <a:pt x="34" y="61"/>
                  </a:cubicBezTo>
                  <a:lnTo>
                    <a:pt x="57" y="61"/>
                  </a:lnTo>
                  <a:close/>
                  <a:moveTo>
                    <a:pt x="50" y="110"/>
                  </a:moveTo>
                  <a:cubicBezTo>
                    <a:pt x="41" y="109"/>
                    <a:pt x="32" y="105"/>
                    <a:pt x="25" y="99"/>
                  </a:cubicBezTo>
                  <a:cubicBezTo>
                    <a:pt x="29" y="96"/>
                    <a:pt x="33" y="94"/>
                    <a:pt x="38" y="92"/>
                  </a:cubicBezTo>
                  <a:cubicBezTo>
                    <a:pt x="41" y="99"/>
                    <a:pt x="45" y="105"/>
                    <a:pt x="50" y="110"/>
                  </a:cubicBezTo>
                  <a:close/>
                  <a:moveTo>
                    <a:pt x="61" y="111"/>
                  </a:moveTo>
                  <a:cubicBezTo>
                    <a:pt x="61" y="88"/>
                    <a:pt x="61" y="88"/>
                    <a:pt x="61" y="88"/>
                  </a:cubicBezTo>
                  <a:cubicBezTo>
                    <a:pt x="66" y="88"/>
                    <a:pt x="72" y="89"/>
                    <a:pt x="77" y="91"/>
                  </a:cubicBezTo>
                  <a:cubicBezTo>
                    <a:pt x="73" y="99"/>
                    <a:pt x="67" y="106"/>
                    <a:pt x="61" y="111"/>
                  </a:cubicBezTo>
                  <a:cubicBezTo>
                    <a:pt x="61" y="111"/>
                    <a:pt x="61" y="111"/>
                    <a:pt x="61" y="111"/>
                  </a:cubicBezTo>
                  <a:close/>
                  <a:moveTo>
                    <a:pt x="80" y="92"/>
                  </a:moveTo>
                  <a:cubicBezTo>
                    <a:pt x="85" y="94"/>
                    <a:pt x="89" y="96"/>
                    <a:pt x="93" y="99"/>
                  </a:cubicBezTo>
                  <a:cubicBezTo>
                    <a:pt x="86" y="105"/>
                    <a:pt x="77" y="109"/>
                    <a:pt x="67" y="110"/>
                  </a:cubicBezTo>
                  <a:cubicBezTo>
                    <a:pt x="73" y="105"/>
                    <a:pt x="77" y="99"/>
                    <a:pt x="80" y="92"/>
                  </a:cubicBezTo>
                  <a:close/>
                  <a:moveTo>
                    <a:pt x="78" y="87"/>
                  </a:moveTo>
                  <a:cubicBezTo>
                    <a:pt x="73" y="86"/>
                    <a:pt x="67" y="85"/>
                    <a:pt x="61" y="84"/>
                  </a:cubicBezTo>
                  <a:cubicBezTo>
                    <a:pt x="61" y="61"/>
                    <a:pt x="61" y="61"/>
                    <a:pt x="61" y="61"/>
                  </a:cubicBezTo>
                  <a:cubicBezTo>
                    <a:pt x="84" y="61"/>
                    <a:pt x="84" y="61"/>
                    <a:pt x="84" y="61"/>
                  </a:cubicBezTo>
                  <a:cubicBezTo>
                    <a:pt x="84" y="71"/>
                    <a:pt x="82" y="79"/>
                    <a:pt x="78" y="87"/>
                  </a:cubicBezTo>
                  <a:close/>
                  <a:moveTo>
                    <a:pt x="61" y="57"/>
                  </a:moveTo>
                  <a:cubicBezTo>
                    <a:pt x="61" y="38"/>
                    <a:pt x="61" y="38"/>
                    <a:pt x="61" y="38"/>
                  </a:cubicBezTo>
                  <a:cubicBezTo>
                    <a:pt x="67" y="38"/>
                    <a:pt x="74" y="37"/>
                    <a:pt x="80" y="35"/>
                  </a:cubicBezTo>
                  <a:cubicBezTo>
                    <a:pt x="82" y="42"/>
                    <a:pt x="84" y="49"/>
                    <a:pt x="84" y="57"/>
                  </a:cubicBezTo>
                  <a:lnTo>
                    <a:pt x="61" y="57"/>
                  </a:lnTo>
                  <a:close/>
                  <a:moveTo>
                    <a:pt x="20" y="25"/>
                  </a:moveTo>
                  <a:cubicBezTo>
                    <a:pt x="25" y="28"/>
                    <a:pt x="30" y="31"/>
                    <a:pt x="35" y="33"/>
                  </a:cubicBezTo>
                  <a:cubicBezTo>
                    <a:pt x="32" y="41"/>
                    <a:pt x="30" y="49"/>
                    <a:pt x="30" y="57"/>
                  </a:cubicBezTo>
                  <a:cubicBezTo>
                    <a:pt x="7" y="57"/>
                    <a:pt x="7" y="57"/>
                    <a:pt x="7" y="57"/>
                  </a:cubicBezTo>
                  <a:cubicBezTo>
                    <a:pt x="8" y="45"/>
                    <a:pt x="13" y="34"/>
                    <a:pt x="20" y="25"/>
                  </a:cubicBezTo>
                  <a:close/>
                  <a:moveTo>
                    <a:pt x="7" y="61"/>
                  </a:moveTo>
                  <a:cubicBezTo>
                    <a:pt x="30" y="61"/>
                    <a:pt x="30" y="61"/>
                    <a:pt x="30" y="61"/>
                  </a:cubicBezTo>
                  <a:cubicBezTo>
                    <a:pt x="31" y="71"/>
                    <a:pt x="33" y="80"/>
                    <a:pt x="36" y="89"/>
                  </a:cubicBezTo>
                  <a:cubicBezTo>
                    <a:pt x="31" y="91"/>
                    <a:pt x="27" y="93"/>
                    <a:pt x="22" y="96"/>
                  </a:cubicBezTo>
                  <a:cubicBezTo>
                    <a:pt x="13" y="87"/>
                    <a:pt x="8" y="75"/>
                    <a:pt x="7" y="61"/>
                  </a:cubicBezTo>
                  <a:close/>
                  <a:moveTo>
                    <a:pt x="95" y="96"/>
                  </a:moveTo>
                  <a:cubicBezTo>
                    <a:pt x="91" y="93"/>
                    <a:pt x="87" y="91"/>
                    <a:pt x="82" y="89"/>
                  </a:cubicBezTo>
                  <a:cubicBezTo>
                    <a:pt x="85" y="80"/>
                    <a:pt x="87" y="71"/>
                    <a:pt x="88" y="61"/>
                  </a:cubicBezTo>
                  <a:cubicBezTo>
                    <a:pt x="111" y="61"/>
                    <a:pt x="111" y="61"/>
                    <a:pt x="111" y="61"/>
                  </a:cubicBezTo>
                  <a:cubicBezTo>
                    <a:pt x="110" y="75"/>
                    <a:pt x="104" y="87"/>
                    <a:pt x="95" y="96"/>
                  </a:cubicBezTo>
                  <a:close/>
                  <a:moveTo>
                    <a:pt x="95" y="96"/>
                  </a:moveTo>
                  <a:cubicBezTo>
                    <a:pt x="95" y="96"/>
                    <a:pt x="95" y="96"/>
                    <a:pt x="95" y="96"/>
                  </a:cubicBezTo>
                </a:path>
              </a:pathLst>
            </a:custGeom>
            <a:solidFill>
              <a:srgbClr val="59B663"/>
            </a:solidFill>
            <a:ln w="9525">
              <a:noFill/>
              <a:round/>
            </a:ln>
          </p:spPr>
          <p:txBody>
            <a:bodyPr vert="horz" wrap="square" lIns="68598" tIns="34299" rIns="68598" bIns="34299" numCol="1" anchor="t" anchorCtr="0" compatLnSpc="1"/>
            <a:lstStyle/>
            <a:p>
              <a:endParaRPr lang="en-US" sz="2700" dirty="0">
                <a:latin typeface="Roboto Light"/>
              </a:endParaRPr>
            </a:p>
          </p:txBody>
        </p:sp>
        <p:sp>
          <p:nvSpPr>
            <p:cNvPr id="18" name="Rectangle 37"/>
            <p:cNvSpPr/>
            <p:nvPr/>
          </p:nvSpPr>
          <p:spPr>
            <a:xfrm>
              <a:off x="1923684" y="7456627"/>
              <a:ext cx="2554956" cy="1655772"/>
            </a:xfrm>
            <a:prstGeom prst="rect">
              <a:avLst/>
            </a:prstGeom>
          </p:spPr>
          <p:txBody>
            <a:bodyPr wrap="square" lIns="137168" tIns="68584" rIns="137168" bIns="68584">
              <a:spAutoFit/>
            </a:bodyPr>
            <a:lstStyle/>
            <a:p>
              <a:pPr>
                <a:lnSpc>
                  <a:spcPct val="150000"/>
                </a:lnSpc>
                <a:buNone/>
                <a:defRPr/>
              </a:pPr>
              <a:r>
                <a:rPr lang="zh-CN" altLang="en-US" sz="1300" dirty="0" smtClean="0">
                  <a:solidFill>
                    <a:srgbClr val="22222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根据客户需求，确认项目调用哪些接口</a:t>
              </a:r>
              <a:endParaRPr lang="en-US" altLang="zh-CN" sz="130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6" name="Rectangle 37"/>
          <p:cNvSpPr/>
          <p:nvPr/>
        </p:nvSpPr>
        <p:spPr>
          <a:xfrm>
            <a:off x="3361566" y="3491621"/>
            <a:ext cx="1600084" cy="737235"/>
          </a:xfrm>
          <a:prstGeom prst="rect">
            <a:avLst/>
          </a:prstGeom>
        </p:spPr>
        <p:txBody>
          <a:bodyPr wrap="square" lIns="137168" tIns="68584" rIns="137168" bIns="68584">
            <a:spAutoFit/>
          </a:bodyPr>
          <a:lstStyle/>
          <a:p>
            <a:pPr>
              <a:lnSpc>
                <a:spcPct val="150000"/>
              </a:lnSpc>
              <a:buNone/>
              <a:defRPr/>
            </a:pPr>
            <a:r>
              <a:rPr lang="zh-CN" altLang="en-US" sz="130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提供沙箱开发者参数及接口文档</a:t>
            </a:r>
            <a:endParaRPr lang="zh-CN" altLang="en-US" sz="1300" dirty="0">
              <a:solidFill>
                <a:srgbClr val="22222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Rectangle 37"/>
          <p:cNvSpPr/>
          <p:nvPr/>
        </p:nvSpPr>
        <p:spPr>
          <a:xfrm>
            <a:off x="5277956" y="3456227"/>
            <a:ext cx="1600084" cy="1638918"/>
          </a:xfrm>
          <a:prstGeom prst="rect">
            <a:avLst/>
          </a:prstGeom>
        </p:spPr>
        <p:txBody>
          <a:bodyPr wrap="square" lIns="137168" tIns="68584" rIns="137168" bIns="68584">
            <a:spAutoFit/>
          </a:bodyPr>
          <a:lstStyle/>
          <a:p>
            <a:pPr>
              <a:lnSpc>
                <a:spcPct val="150000"/>
              </a:lnSpc>
              <a:buNone/>
              <a:defRPr/>
            </a:pPr>
            <a:r>
              <a:rPr lang="zh-CN" altLang="en-US" sz="1300" dirty="0" smtClean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对客户对接过程中遇到的问题进行处理，比如接口报错，报文检查，错误处理；</a:t>
            </a:r>
            <a:endParaRPr lang="en-US" altLang="zh-CN" sz="1300" dirty="0">
              <a:solidFill>
                <a:srgbClr val="22222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Rectangle 37"/>
          <p:cNvSpPr/>
          <p:nvPr/>
        </p:nvSpPr>
        <p:spPr>
          <a:xfrm>
            <a:off x="7109801" y="3456227"/>
            <a:ext cx="1600084" cy="1937385"/>
          </a:xfrm>
          <a:prstGeom prst="rect">
            <a:avLst/>
          </a:prstGeom>
        </p:spPr>
        <p:txBody>
          <a:bodyPr wrap="square" lIns="137168" tIns="68584" rIns="137168" bIns="68584">
            <a:spAutoFit/>
          </a:bodyPr>
          <a:lstStyle/>
          <a:p>
            <a:pPr>
              <a:lnSpc>
                <a:spcPct val="150000"/>
              </a:lnSpc>
              <a:buNone/>
              <a:defRPr/>
            </a:pPr>
            <a:r>
              <a:rPr lang="zh-CN" altLang="en-US" sz="1300" dirty="0" smtClean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测试联调完成，下单接口相关</a:t>
            </a:r>
            <a:r>
              <a:rPr lang="en-US" altLang="zh-CN" sz="1300" dirty="0" smtClean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SKU</a:t>
            </a:r>
            <a:r>
              <a:rPr lang="zh-CN" altLang="en-US" sz="1300" dirty="0" smtClean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，自动开通正式开发者参数，租户管理员账密登录开放平台获取正式参数。</a:t>
            </a:r>
            <a:endParaRPr lang="zh-CN" altLang="en-US" sz="1300" dirty="0" smtClean="0">
              <a:solidFill>
                <a:srgbClr val="22222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Rectangle 37"/>
          <p:cNvSpPr/>
          <p:nvPr/>
        </p:nvSpPr>
        <p:spPr>
          <a:xfrm>
            <a:off x="8941646" y="3456227"/>
            <a:ext cx="1600084" cy="1338836"/>
          </a:xfrm>
          <a:prstGeom prst="rect">
            <a:avLst/>
          </a:prstGeom>
        </p:spPr>
        <p:txBody>
          <a:bodyPr wrap="square" lIns="137168" tIns="68584" rIns="137168" bIns="68584">
            <a:spAutoFit/>
          </a:bodyPr>
          <a:lstStyle/>
          <a:p>
            <a:pPr>
              <a:lnSpc>
                <a:spcPct val="150000"/>
              </a:lnSpc>
              <a:buNone/>
              <a:defRPr/>
            </a:pPr>
            <a:r>
              <a:rPr lang="zh-CN" altLang="en-US" sz="1300" dirty="0" smtClean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将测试环境参数改为生产环境参数，验证生产环境接口调用是否正常</a:t>
            </a:r>
            <a:endParaRPr lang="en-US" altLang="zh-CN" sz="1300" dirty="0">
              <a:solidFill>
                <a:srgbClr val="22222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43610" y="187362"/>
            <a:ext cx="8296802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57FE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接口联调</a:t>
            </a:r>
            <a:r>
              <a:rPr kumimoji="1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57FE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kumimoji="1" lang="zh-CN" altLang="en-US" sz="2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57FE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直开发票及冲红</a:t>
            </a:r>
            <a:endParaRPr kumimoji="1" lang="zh-CN" altLang="en-US" sz="2600" b="1" i="0" u="none" strike="noStrike" kern="1200" cap="none" spc="0" normalizeH="0" baseline="0" noProof="0" dirty="0" smtClean="0">
              <a:ln>
                <a:noFill/>
              </a:ln>
              <a:solidFill>
                <a:srgbClr val="357FE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3" name="ECB019B1-382A-4266-B25C-5B523AA43C14-1" descr="C:/Users/PC/AppData/Local/Temp/wpp.rgDdmswp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4561" y="824548"/>
            <a:ext cx="6416675" cy="59150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43610" y="187362"/>
            <a:ext cx="8296802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kern="1200" cap="none" spc="0" normalizeH="0" baseline="0" noProof="0" dirty="0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接口联调</a:t>
            </a:r>
            <a:r>
              <a:rPr kumimoji="1" lang="en-US" altLang="zh-CN" sz="2600" b="1" i="0" kern="1200" cap="none" spc="0" normalizeH="0" baseline="0" noProof="0" dirty="0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kumimoji="1" lang="zh-CN" altLang="en-US" sz="2600" b="1" i="0" kern="1200" cap="none" spc="0" normalizeH="0" baseline="0" noProof="0" dirty="0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扫码开票</a:t>
            </a:r>
            <a:endParaRPr kumimoji="1" lang="zh-CN" altLang="en-US" sz="2600" b="1" i="0" kern="1200" cap="none" spc="0" normalizeH="0" baseline="0" noProof="0" dirty="0" smtClean="0">
              <a:solidFill>
                <a:srgbClr val="357FE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943610" y="833755"/>
            <a:ext cx="11005185" cy="63309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indent="304800"/>
            <a:r>
              <a:rPr lang="zh-CN" b="0">
                <a:ea typeface="宋体" panose="02010600030101010101" pitchFamily="2" charset="-122"/>
              </a:rPr>
              <a:t>业务场景：在餐饮、商超等场景下商家实时将订单数据推送到销项系统，百望发票返回开票二维码，消费者通过扫描二维码进行开票操作，开具成功发票自动推送到消费者邮箱或手机。</a:t>
            </a:r>
            <a:endParaRPr lang="zh-CN" altLang="en-US" b="0">
              <a:ea typeface="宋体" panose="02010600030101010101" pitchFamily="2" charset="-122"/>
            </a:endParaRPr>
          </a:p>
        </p:txBody>
      </p:sp>
      <p:pic>
        <p:nvPicPr>
          <p:cNvPr id="3" name="ECB019B1-382A-4266-B25C-5B523AA43C14-2" descr="C:/Users/PC/AppData/Local/Temp/wpp.yBvSNEwp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145" y="1428433"/>
            <a:ext cx="5858510" cy="536194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857490" y="2193290"/>
            <a:ext cx="3594100" cy="33788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/>
              <a:t>扫码开票优点：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>
                <a:solidFill>
                  <a:schemeClr val="accent6">
                    <a:lumMod val="75000"/>
                  </a:schemeClr>
                </a:solidFill>
              </a:rPr>
              <a:t>业务系统无需传入购买方信息，扫码跳转</a:t>
            </a:r>
            <a:r>
              <a:rPr lang="en-US" altLang="zh-CN" sz="1600">
                <a:solidFill>
                  <a:schemeClr val="accent6">
                    <a:lumMod val="75000"/>
                  </a:schemeClr>
                </a:solidFill>
              </a:rPr>
              <a:t>H5</a:t>
            </a:r>
            <a:r>
              <a:rPr lang="zh-CN" altLang="en-US" sz="1600">
                <a:solidFill>
                  <a:schemeClr val="accent6">
                    <a:lumMod val="75000"/>
                  </a:schemeClr>
                </a:solidFill>
              </a:rPr>
              <a:t>页面自带购方抬头模糊匹配功能</a:t>
            </a:r>
            <a:endParaRPr lang="zh-CN" altLang="en-US" sz="1600">
              <a:solidFill>
                <a:schemeClr val="accent6">
                  <a:lumMod val="75000"/>
                </a:schemeClr>
              </a:solidFill>
            </a:endParaRPr>
          </a:p>
          <a:p>
            <a:endParaRPr lang="zh-CN" altLang="en-US" sz="1600"/>
          </a:p>
          <a:p>
            <a:endParaRPr lang="zh-CN" altLang="en-US" sz="1600"/>
          </a:p>
          <a:p>
            <a:r>
              <a:rPr lang="zh-CN" altLang="en-US" sz="1600"/>
              <a:t>已支持特定业务：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>
                <a:solidFill>
                  <a:schemeClr val="accent6">
                    <a:lumMod val="75000"/>
                  </a:schemeClr>
                </a:solidFill>
              </a:rPr>
              <a:t>成品油和不动产经营租赁服务。</a:t>
            </a:r>
            <a:endParaRPr lang="zh-CN" altLang="en-US" sz="1600"/>
          </a:p>
          <a:p>
            <a:endParaRPr lang="zh-CN" altLang="en-US" sz="1600"/>
          </a:p>
          <a:p>
            <a:endParaRPr lang="zh-CN" altLang="en-US" sz="16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43610" y="187362"/>
            <a:ext cx="8296802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57FE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接口联调</a:t>
            </a:r>
            <a:r>
              <a:rPr kumimoji="1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57FE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kumimoji="1" lang="zh-CN" altLang="en-US" sz="2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57FE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订单开票</a:t>
            </a:r>
            <a:endParaRPr kumimoji="1" lang="zh-CN" altLang="en-US" sz="2600" b="1" i="0" u="none" strike="noStrike" kern="1200" cap="none" spc="0" normalizeH="0" baseline="0" noProof="0" dirty="0" smtClean="0">
              <a:ln>
                <a:noFill/>
              </a:ln>
              <a:solidFill>
                <a:srgbClr val="357FE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4" name="ECB019B1-382A-4266-B25C-5B523AA43C14-3" descr="C:/Users/PC/AppData/Local/Temp/wpp.QCCBmnwp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1908" y="761683"/>
            <a:ext cx="5678170" cy="600329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211820" y="1511935"/>
            <a:ext cx="3707130" cy="46799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开票申请单接口优点：</a:t>
            </a:r>
            <a:endParaRPr lang="zh-CN" altLang="en-US" sz="16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 sz="16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 sz="160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160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、订单传入百望发票，可在百望发票对订单进项合并、补全、转换后开具发票；</a:t>
            </a:r>
            <a:endParaRPr lang="zh-CN" altLang="en-US" sz="160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buFont typeface="Wingdings" panose="05000000000000000000" charset="0"/>
              <a:buChar char="l"/>
            </a:pPr>
            <a:endParaRPr lang="zh-CN" altLang="en-US" sz="160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 sz="160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160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如果订单开票失败，删除失败记录后，会回退到开票申请单待开列表，允许用户到百望发票修改订单信息，同一申请单号允许重复调用创建开票申请单接口，通过orderNoDuplicationProcessMethod字段控制信息是否覆盖，从而达到修改同一订单报文的目的。</a:t>
            </a:r>
            <a:endParaRPr lang="zh-CN" altLang="en-US" sz="160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43610" y="187362"/>
            <a:ext cx="8296802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57FE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接口联调</a:t>
            </a:r>
            <a:r>
              <a:rPr kumimoji="1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57FE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kumimoji="1" lang="zh-CN" altLang="en-US" sz="2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57FE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关单开票</a:t>
            </a:r>
            <a:endParaRPr kumimoji="1" lang="zh-CN" altLang="en-US" sz="2600" b="1" i="0" u="none" strike="noStrike" kern="1200" cap="none" spc="0" normalizeH="0" baseline="0" noProof="0" dirty="0" smtClean="0">
              <a:ln>
                <a:noFill/>
              </a:ln>
              <a:solidFill>
                <a:srgbClr val="357FE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005840" y="802005"/>
            <a:ext cx="8774430" cy="496506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36220" y="6053455"/>
            <a:ext cx="11863070" cy="5835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accent6">
                    <a:lumMod val="75000"/>
                  </a:schemeClr>
                </a:solidFill>
              </a:rPr>
              <a:t>1</a:t>
            </a:r>
            <a:r>
              <a:rPr lang="zh-CN" altLang="en-US">
                <a:solidFill>
                  <a:schemeClr val="accent6">
                    <a:lumMod val="75000"/>
                  </a:schemeClr>
                </a:solidFill>
              </a:rPr>
              <a:t>、查询报关单接口：baiwang.s.orderinvoice.queryDeclaration》》</a:t>
            </a:r>
            <a:r>
              <a:rPr lang="en-US" altLang="zh-CN">
                <a:solidFill>
                  <a:schemeClr val="accent6">
                    <a:lumMod val="75000"/>
                  </a:schemeClr>
                </a:solidFill>
              </a:rPr>
              <a:t>2</a:t>
            </a:r>
            <a:r>
              <a:rPr lang="zh-CN" altLang="en-US">
                <a:solidFill>
                  <a:schemeClr val="accent6">
                    <a:lumMod val="75000"/>
                  </a:schemeClr>
                </a:solidFill>
              </a:rPr>
              <a:t>、开具发票接口：baiwang.s.outputinvoice.invoice</a:t>
            </a:r>
            <a:endParaRPr lang="zh-CN" altLang="en-US">
              <a:solidFill>
                <a:schemeClr val="accent6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43610" y="187362"/>
            <a:ext cx="8296802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57FE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接口联调</a:t>
            </a:r>
            <a:r>
              <a:rPr kumimoji="1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57FE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kumimoji="1" lang="zh-CN" altLang="en-US" sz="2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57FE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数电账号登录认证</a:t>
            </a:r>
            <a:endParaRPr kumimoji="1" lang="zh-CN" altLang="en-US" sz="2600" b="1" i="0" u="none" strike="noStrike" kern="1200" cap="none" spc="0" normalizeH="0" baseline="0" noProof="0" dirty="0" smtClean="0">
              <a:ln>
                <a:noFill/>
              </a:ln>
              <a:solidFill>
                <a:srgbClr val="357FE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3" name="ECB019B1-382A-4266-B25C-5B523AA43C14-4" descr="C:/Users/PC/AppData/Local/Temp/wpp.BLMnZzwp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180" y="1298575"/>
            <a:ext cx="6007100" cy="4461510"/>
          </a:xfrm>
          <a:prstGeom prst="rect">
            <a:avLst/>
          </a:prstGeom>
        </p:spPr>
      </p:pic>
      <p:pic>
        <p:nvPicPr>
          <p:cNvPr id="4" name="ECB019B1-382A-4266-B25C-5B523AA43C14-5" descr="C:/Users/PC/AppData/Local/Temp/wpp.DEdCGhwp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535" y="955040"/>
            <a:ext cx="5715000" cy="50641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43610" y="187362"/>
            <a:ext cx="8296802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57FE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接口联调</a:t>
            </a:r>
            <a:r>
              <a:rPr kumimoji="1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57FE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kumimoji="1" lang="zh-CN" altLang="en-US" sz="2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57FE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统一登录接口流程</a:t>
            </a:r>
            <a:endParaRPr kumimoji="1" lang="zh-CN" altLang="en-US" sz="2600" b="1" i="0" u="none" strike="noStrike" kern="1200" cap="none" spc="0" normalizeH="0" baseline="0" noProof="0" dirty="0" smtClean="0">
              <a:ln>
                <a:noFill/>
              </a:ln>
              <a:solidFill>
                <a:srgbClr val="357FE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5" name="图片 4" descr="登录流程终版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35710"/>
            <a:ext cx="12192000" cy="48075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43610" y="187362"/>
            <a:ext cx="8296802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57FE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接口联调</a:t>
            </a:r>
            <a:r>
              <a:rPr kumimoji="1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57FE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kumimoji="1" lang="zh-CN" altLang="en-US" sz="2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57FE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实人认证接口调用流程</a:t>
            </a:r>
            <a:endParaRPr kumimoji="1" lang="zh-CN" altLang="en-US" sz="2600" b="1" i="0" u="none" strike="noStrike" kern="1200" cap="none" spc="0" normalizeH="0" baseline="0" noProof="0" dirty="0" smtClean="0">
              <a:ln>
                <a:noFill/>
              </a:ln>
              <a:solidFill>
                <a:srgbClr val="357FE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5" name="图片 4" descr="实人认证调用流程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57475" y="859155"/>
            <a:ext cx="6845300" cy="58851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43610" y="187362"/>
            <a:ext cx="8296802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57FE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接口联调</a:t>
            </a:r>
            <a:r>
              <a:rPr kumimoji="1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57FE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kumimoji="1" lang="zh-CN" altLang="en-US" sz="2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57FE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小微接口沙箱参数</a:t>
            </a:r>
            <a:endParaRPr kumimoji="1" lang="zh-CN" altLang="en-US" sz="2600" b="1" i="0" u="none" strike="noStrike" kern="1200" cap="none" spc="0" normalizeH="0" baseline="0" noProof="0" dirty="0" smtClean="0">
              <a:ln>
                <a:noFill/>
              </a:ln>
              <a:solidFill>
                <a:srgbClr val="357FE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83310" y="1167130"/>
            <a:ext cx="9849485" cy="43700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开发者信息：</a:t>
            </a:r>
            <a:endParaRPr lang="zh-CN" altLang="en-US"/>
          </a:p>
          <a:p>
            <a:r>
              <a:rPr lang="zh-CN" altLang="en-US"/>
              <a:t>请求沙箱环境：https://sandbox-openapi.baiwang.com/router/rest</a:t>
            </a:r>
            <a:endParaRPr lang="zh-CN" altLang="en-US"/>
          </a:p>
          <a:p>
            <a:r>
              <a:rPr lang="zh-CN" altLang="en-US"/>
              <a:t>销方税号：338888888888SMB</a:t>
            </a:r>
            <a:endParaRPr lang="zh-CN" altLang="en-US"/>
          </a:p>
          <a:p>
            <a:r>
              <a:rPr lang="zh-CN" altLang="en-US"/>
              <a:t>税控终端：202312120001</a:t>
            </a:r>
            <a:endParaRPr lang="zh-CN" altLang="en-US"/>
          </a:p>
          <a:p>
            <a:r>
              <a:rPr lang="zh-CN" altLang="en-US"/>
              <a:t>数电账号：15888888888</a:t>
            </a:r>
            <a:endParaRPr lang="zh-CN" altLang="en-US"/>
          </a:p>
          <a:p>
            <a:r>
              <a:rPr lang="zh-CN" altLang="en-US"/>
              <a:t>租户管理员账号：admin_3sylog6ryv8cs</a:t>
            </a:r>
            <a:endParaRPr lang="zh-CN" altLang="en-US"/>
          </a:p>
          <a:p>
            <a:r>
              <a:rPr lang="zh-CN" altLang="en-US"/>
              <a:t>租户管理员密码：Aa2345678@</a:t>
            </a:r>
            <a:endParaRPr lang="zh-CN" altLang="en-US"/>
          </a:p>
          <a:p>
            <a:r>
              <a:rPr lang="zh-CN" altLang="en-US"/>
              <a:t>appkey:1002948</a:t>
            </a:r>
            <a:endParaRPr lang="zh-CN" altLang="en-US"/>
          </a:p>
          <a:p>
            <a:r>
              <a:rPr lang="zh-CN" altLang="en-US"/>
              <a:t>盐值: 521c0eea19f04367ad20a3be12c9b4bc</a:t>
            </a:r>
            <a:endParaRPr lang="zh-CN" altLang="en-US"/>
          </a:p>
          <a:p>
            <a:r>
              <a:rPr lang="zh-CN" altLang="en-US"/>
              <a:t>APP-secret:223998c6-5b76-4724-b5c9-666ff4215b45</a:t>
            </a:r>
            <a:endParaRPr lang="zh-CN" altLang="en-US"/>
          </a:p>
          <a:p>
            <a:r>
              <a:rPr lang="zh-CN" altLang="en-US"/>
              <a:t>页面开具账号：admin_3sylog6ryv8cs   密码：Aa2345678@</a:t>
            </a:r>
            <a:endParaRPr lang="zh-CN" altLang="en-US"/>
          </a:p>
          <a:p>
            <a:r>
              <a:rPr lang="zh-CN" altLang="en-US"/>
              <a:t>页面登录地址：https://work-pre.baiwang.com/smb/sales/write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沙箱环境接口调试请勿压测！！！</a:t>
            </a:r>
            <a:endParaRPr lang="zh-CN" altLang="en-US">
              <a:solidFill>
                <a:srgbClr val="FF0000"/>
              </a:solidFill>
            </a:endParaRPr>
          </a:p>
          <a:p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43610" y="187362"/>
            <a:ext cx="8296802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57FE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接口联调</a:t>
            </a:r>
            <a:r>
              <a:rPr kumimoji="1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57FE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kumimoji="1" lang="zh-CN" altLang="en-US" sz="2600" b="1" dirty="0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接口文档</a:t>
            </a:r>
            <a:endParaRPr kumimoji="1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rgbClr val="357FE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39756" y="987345"/>
            <a:ext cx="7292975" cy="1476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、开放平台上可以查看跟下载接口文档；</a:t>
            </a:r>
            <a:endParaRPr lang="en-US" altLang="zh-CN" dirty="0" smtClean="0"/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、接口文档有注明接口适用</a:t>
            </a:r>
            <a:r>
              <a:rPr lang="en-US" altLang="zh-CN" dirty="0" smtClean="0"/>
              <a:t>SDK</a:t>
            </a:r>
            <a:r>
              <a:rPr lang="zh-CN" altLang="en-US" dirty="0" smtClean="0"/>
              <a:t>版本，</a:t>
            </a:r>
            <a:r>
              <a:rPr lang="en-US" altLang="zh-CN" dirty="0" smtClean="0"/>
              <a:t>SDK</a:t>
            </a:r>
            <a:r>
              <a:rPr lang="zh-CN" altLang="en-US" dirty="0" smtClean="0"/>
              <a:t>调用的下载最新</a:t>
            </a:r>
            <a:r>
              <a:rPr lang="en-US" altLang="zh-CN" dirty="0" smtClean="0"/>
              <a:t>jar</a:t>
            </a:r>
            <a:r>
              <a:rPr lang="zh-CN" altLang="en-US" dirty="0" smtClean="0"/>
              <a:t>包即可；</a:t>
            </a:r>
            <a:endParaRPr lang="en-US" altLang="zh-CN" dirty="0" smtClean="0"/>
          </a:p>
          <a:p>
            <a:r>
              <a:rPr lang="en-US" altLang="zh-CN" dirty="0" smtClean="0"/>
              <a:t>3</a:t>
            </a:r>
            <a:r>
              <a:rPr lang="zh-CN" altLang="en-US" dirty="0" smtClean="0"/>
              <a:t>、接口简介有说明接口作用跟使用场景；</a:t>
            </a:r>
            <a:endParaRPr lang="en-US" altLang="zh-CN" dirty="0" smtClean="0"/>
          </a:p>
          <a:p>
            <a:r>
              <a:rPr lang="en-US" altLang="zh-CN" dirty="0" smtClean="0"/>
              <a:t>4</a:t>
            </a:r>
            <a:r>
              <a:rPr lang="zh-CN" altLang="en-US" dirty="0" smtClean="0"/>
              <a:t>、接口文档里有具体字段解释说明及长度限制，以及是否必填；</a:t>
            </a:r>
            <a:endParaRPr lang="en-US" altLang="zh-CN" dirty="0" smtClean="0"/>
          </a:p>
          <a:p>
            <a:r>
              <a:rPr lang="en-US" altLang="zh-CN" dirty="0" smtClean="0"/>
              <a:t>5</a:t>
            </a:r>
            <a:r>
              <a:rPr lang="zh-CN" altLang="en-US" dirty="0" smtClean="0"/>
              <a:t>、文档里有示例报文可参考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39470" y="2464435"/>
            <a:ext cx="9835515" cy="41878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43610" y="187362"/>
            <a:ext cx="8296802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57FE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接口联调</a:t>
            </a:r>
            <a:r>
              <a:rPr kumimoji="1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57FE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kumimoji="1" lang="zh-CN" altLang="en-US" sz="2600" b="1" dirty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请求</a:t>
            </a:r>
            <a:r>
              <a:rPr kumimoji="1" lang="zh-CN" altLang="en-US" sz="2600" b="1" dirty="0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公共参数</a:t>
            </a:r>
            <a:endParaRPr kumimoji="1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rgbClr val="357FE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628453" y="38258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797695" y="1679721"/>
          <a:ext cx="10626448" cy="4366264"/>
        </p:xfrm>
        <a:graphic>
          <a:graphicData uri="http://schemas.openxmlformats.org/drawingml/2006/table">
            <a:tbl>
              <a:tblPr/>
              <a:tblGrid>
                <a:gridCol w="2656612"/>
                <a:gridCol w="2656612"/>
                <a:gridCol w="2656612"/>
                <a:gridCol w="2656612"/>
              </a:tblGrid>
              <a:tr h="229018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b="1">
                          <a:solidFill>
                            <a:srgbClr val="01081A"/>
                          </a:solidFill>
                          <a:effectLst/>
                        </a:rPr>
                        <a:t>名称</a:t>
                      </a:r>
                      <a:endParaRPr lang="zh-CN" altLang="en-US" sz="1200" b="1">
                        <a:solidFill>
                          <a:srgbClr val="01081A"/>
                        </a:solidFill>
                        <a:effectLst/>
                      </a:endParaRPr>
                    </a:p>
                  </a:txBody>
                  <a:tcPr marL="48727" marR="68218" marT="29236" marB="24364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b="1">
                          <a:solidFill>
                            <a:srgbClr val="01081A"/>
                          </a:solidFill>
                          <a:effectLst/>
                        </a:rPr>
                        <a:t>类型</a:t>
                      </a:r>
                      <a:endParaRPr lang="zh-CN" altLang="en-US" sz="1200" b="1">
                        <a:solidFill>
                          <a:srgbClr val="01081A"/>
                        </a:solidFill>
                        <a:effectLst/>
                      </a:endParaRPr>
                    </a:p>
                  </a:txBody>
                  <a:tcPr marL="48727" marR="68218" marT="29236" marB="24364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b="1">
                          <a:solidFill>
                            <a:srgbClr val="01081A"/>
                          </a:solidFill>
                          <a:effectLst/>
                        </a:rPr>
                        <a:t>是否必须</a:t>
                      </a:r>
                      <a:endParaRPr lang="zh-CN" altLang="en-US" sz="1200" b="1">
                        <a:solidFill>
                          <a:srgbClr val="01081A"/>
                        </a:solidFill>
                        <a:effectLst/>
                      </a:endParaRPr>
                    </a:p>
                  </a:txBody>
                  <a:tcPr marL="48727" marR="68218" marT="29236" marB="24364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b="1">
                          <a:solidFill>
                            <a:srgbClr val="01081A"/>
                          </a:solidFill>
                          <a:effectLst/>
                        </a:rPr>
                        <a:t>描述</a:t>
                      </a:r>
                      <a:endParaRPr lang="zh-CN" altLang="en-US" sz="1200" b="1">
                        <a:solidFill>
                          <a:srgbClr val="01081A"/>
                        </a:solidFill>
                        <a:effectLst/>
                      </a:endParaRPr>
                    </a:p>
                  </a:txBody>
                  <a:tcPr marL="48727" marR="68218" marT="29236" marB="24364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224145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</a:rPr>
                        <a:t>method</a:t>
                      </a:r>
                      <a:endParaRPr lang="en-US" sz="1200">
                        <a:effectLst/>
                      </a:endParaRPr>
                    </a:p>
                  </a:txBody>
                  <a:tcPr marL="48727" marR="68218" marT="24364" marB="24364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</a:rPr>
                        <a:t>String</a:t>
                      </a:r>
                      <a:endParaRPr lang="en-US" sz="1200">
                        <a:effectLst/>
                      </a:endParaRPr>
                    </a:p>
                  </a:txBody>
                  <a:tcPr marL="48727" marR="68218" marT="24364" marB="24364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>
                          <a:effectLst/>
                        </a:rPr>
                        <a:t>是</a:t>
                      </a:r>
                      <a:endParaRPr lang="zh-CN" altLang="en-US" sz="1200">
                        <a:effectLst/>
                      </a:endParaRPr>
                    </a:p>
                  </a:txBody>
                  <a:tcPr marL="48727" marR="68218" marT="24364" marB="24364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>
                          <a:effectLst/>
                        </a:rPr>
                        <a:t>接口名称。</a:t>
                      </a:r>
                      <a:endParaRPr lang="zh-CN" altLang="en-US" sz="1200">
                        <a:effectLst/>
                      </a:endParaRPr>
                    </a:p>
                  </a:txBody>
                  <a:tcPr marL="48727" marR="68218" marT="24364" marB="24364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9563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</a:rPr>
                        <a:t>appKey</a:t>
                      </a:r>
                      <a:endParaRPr lang="en-US" sz="1200">
                        <a:effectLst/>
                      </a:endParaRPr>
                    </a:p>
                  </a:txBody>
                  <a:tcPr marL="48727" marR="68218" marT="24364" marB="24364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effectLst/>
                        </a:rPr>
                        <a:t>String</a:t>
                      </a:r>
                      <a:endParaRPr lang="en-US" sz="1200" dirty="0">
                        <a:effectLst/>
                      </a:endParaRPr>
                    </a:p>
                  </a:txBody>
                  <a:tcPr marL="48727" marR="68218" marT="24364" marB="24364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>
                          <a:effectLst/>
                        </a:rPr>
                        <a:t>是</a:t>
                      </a:r>
                      <a:endParaRPr lang="zh-CN" altLang="en-US" sz="1200">
                        <a:effectLst/>
                      </a:endParaRPr>
                    </a:p>
                  </a:txBody>
                  <a:tcPr marL="48727" marR="68218" marT="24364" marB="24364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dirty="0">
                          <a:effectLst/>
                        </a:rPr>
                        <a:t>给开发者颁发的 </a:t>
                      </a:r>
                      <a:r>
                        <a:rPr lang="en-US" altLang="zh-CN" sz="1200" dirty="0">
                          <a:effectLst/>
                        </a:rPr>
                        <a:t>key</a:t>
                      </a:r>
                      <a:r>
                        <a:rPr lang="zh-CN" altLang="en-US" sz="1200" dirty="0">
                          <a:effectLst/>
                        </a:rPr>
                        <a:t>。</a:t>
                      </a:r>
                      <a:endParaRPr lang="zh-CN" altLang="en-US" sz="1200" dirty="0">
                        <a:effectLst/>
                      </a:endParaRPr>
                    </a:p>
                  </a:txBody>
                  <a:tcPr marL="48727" marR="68218" marT="24364" marB="24364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4981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</a:rPr>
                        <a:t>sign</a:t>
                      </a:r>
                      <a:endParaRPr lang="en-US" sz="1200">
                        <a:effectLst/>
                      </a:endParaRPr>
                    </a:p>
                  </a:txBody>
                  <a:tcPr marL="48727" marR="68218" marT="24364" marB="24364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</a:rPr>
                        <a:t>String</a:t>
                      </a:r>
                      <a:endParaRPr lang="en-US" sz="1200">
                        <a:effectLst/>
                      </a:endParaRPr>
                    </a:p>
                  </a:txBody>
                  <a:tcPr marL="48727" marR="68218" marT="24364" marB="24364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dirty="0">
                          <a:effectLst/>
                        </a:rPr>
                        <a:t>是</a:t>
                      </a:r>
                      <a:endParaRPr lang="zh-CN" altLang="en-US" sz="1200" dirty="0">
                        <a:effectLst/>
                      </a:endParaRPr>
                    </a:p>
                  </a:txBody>
                  <a:tcPr marL="48727" marR="68218" marT="24364" marB="24364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>
                          <a:effectLst/>
                        </a:rPr>
                        <a:t>请求签名，使用</a:t>
                      </a:r>
                      <a:r>
                        <a:rPr lang="en-US" altLang="zh-CN" sz="1200">
                          <a:effectLst/>
                        </a:rPr>
                        <a:t>MD5</a:t>
                      </a:r>
                      <a:r>
                        <a:rPr lang="zh-CN" altLang="en-US" sz="1200">
                          <a:effectLst/>
                        </a:rPr>
                        <a:t>，用于安全控制。</a:t>
                      </a:r>
                      <a:endParaRPr lang="zh-CN" altLang="en-US" sz="1200">
                        <a:effectLst/>
                      </a:endParaRPr>
                    </a:p>
                  </a:txBody>
                  <a:tcPr marL="48727" marR="68218" marT="24364" marB="24364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9563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</a:rPr>
                        <a:t>token</a:t>
                      </a:r>
                      <a:endParaRPr lang="en-US" sz="1200">
                        <a:effectLst/>
                      </a:endParaRPr>
                    </a:p>
                  </a:txBody>
                  <a:tcPr marL="48727" marR="68218" marT="24364" marB="24364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</a:rPr>
                        <a:t>String</a:t>
                      </a:r>
                      <a:endParaRPr lang="en-US" sz="1200">
                        <a:effectLst/>
                      </a:endParaRPr>
                    </a:p>
                  </a:txBody>
                  <a:tcPr marL="48727" marR="68218" marT="24364" marB="24364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>
                          <a:effectLst/>
                        </a:rPr>
                        <a:t>是</a:t>
                      </a:r>
                      <a:endParaRPr lang="zh-CN" altLang="en-US" sz="1200">
                        <a:effectLst/>
                      </a:endParaRPr>
                    </a:p>
                  </a:txBody>
                  <a:tcPr marL="48727" marR="68218" marT="24364" marB="24364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dirty="0">
                          <a:effectLst/>
                        </a:rPr>
                        <a:t>token </a:t>
                      </a:r>
                      <a:r>
                        <a:rPr lang="zh-CN" altLang="en-US" sz="1200" dirty="0">
                          <a:effectLst/>
                        </a:rPr>
                        <a:t>用于调用接口前授权检查。</a:t>
                      </a:r>
                      <a:endParaRPr lang="zh-CN" altLang="en-US" sz="1200" dirty="0">
                        <a:effectLst/>
                      </a:endParaRPr>
                    </a:p>
                  </a:txBody>
                  <a:tcPr marL="48727" marR="68218" marT="24364" marB="24364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9563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</a:rPr>
                        <a:t>timestamp</a:t>
                      </a:r>
                      <a:endParaRPr lang="en-US" sz="1200">
                        <a:effectLst/>
                      </a:endParaRPr>
                    </a:p>
                  </a:txBody>
                  <a:tcPr marL="48727" marR="68218" marT="24364" marB="24364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</a:rPr>
                        <a:t>String</a:t>
                      </a:r>
                      <a:endParaRPr lang="en-US" sz="1200">
                        <a:effectLst/>
                      </a:endParaRPr>
                    </a:p>
                  </a:txBody>
                  <a:tcPr marL="48727" marR="68218" marT="24364" marB="24364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>
                          <a:effectLst/>
                        </a:rPr>
                        <a:t>是</a:t>
                      </a:r>
                      <a:endParaRPr lang="zh-CN" altLang="en-US" sz="1200">
                        <a:effectLst/>
                      </a:endParaRPr>
                    </a:p>
                  </a:txBody>
                  <a:tcPr marL="48727" marR="68218" marT="24364" marB="24364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>
                          <a:effectLst/>
                        </a:rPr>
                        <a:t>Unix</a:t>
                      </a:r>
                      <a:r>
                        <a:rPr lang="zh-CN" altLang="en-US" sz="1200">
                          <a:effectLst/>
                        </a:rPr>
                        <a:t>时间戳，例如：</a:t>
                      </a:r>
                      <a:r>
                        <a:rPr lang="en-US" altLang="zh-CN" sz="1200">
                          <a:effectLst/>
                        </a:rPr>
                        <a:t>1506304524</a:t>
                      </a:r>
                      <a:r>
                        <a:rPr lang="zh-CN" altLang="en-US" sz="1200">
                          <a:effectLst/>
                        </a:rPr>
                        <a:t>。</a:t>
                      </a:r>
                      <a:endParaRPr lang="zh-CN" altLang="en-US" sz="1200">
                        <a:effectLst/>
                      </a:endParaRPr>
                    </a:p>
                  </a:txBody>
                  <a:tcPr marL="48727" marR="68218" marT="24364" marB="24364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4981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</a:rPr>
                        <a:t>format</a:t>
                      </a:r>
                      <a:endParaRPr lang="en-US" sz="1200">
                        <a:effectLst/>
                      </a:endParaRPr>
                    </a:p>
                  </a:txBody>
                  <a:tcPr marL="48727" marR="68218" marT="24364" marB="24364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</a:rPr>
                        <a:t>String</a:t>
                      </a:r>
                      <a:endParaRPr lang="en-US" sz="1200">
                        <a:effectLst/>
                      </a:endParaRPr>
                    </a:p>
                  </a:txBody>
                  <a:tcPr marL="48727" marR="68218" marT="24364" marB="24364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>
                          <a:effectLst/>
                        </a:rPr>
                        <a:t>否</a:t>
                      </a:r>
                      <a:endParaRPr lang="zh-CN" altLang="en-US" sz="1200">
                        <a:effectLst/>
                      </a:endParaRPr>
                    </a:p>
                  </a:txBody>
                  <a:tcPr marL="48727" marR="68218" marT="24364" marB="24364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>
                          <a:effectLst/>
                        </a:rPr>
                        <a:t>响应格式。默认为</a:t>
                      </a:r>
                      <a:r>
                        <a:rPr lang="en-US" altLang="zh-CN" sz="1200">
                          <a:effectLst/>
                        </a:rPr>
                        <a:t>json</a:t>
                      </a:r>
                      <a:r>
                        <a:rPr lang="zh-CN" altLang="en-US" sz="1200">
                          <a:effectLst/>
                        </a:rPr>
                        <a:t>格式，可选值：</a:t>
                      </a:r>
                      <a:r>
                        <a:rPr lang="en-US" altLang="zh-CN" sz="1200">
                          <a:effectLst/>
                        </a:rPr>
                        <a:t>xml</a:t>
                      </a:r>
                      <a:r>
                        <a:rPr lang="zh-CN" altLang="en-US" sz="1200">
                          <a:effectLst/>
                        </a:rPr>
                        <a:t>，</a:t>
                      </a:r>
                      <a:r>
                        <a:rPr lang="en-US" altLang="zh-CN" sz="1200">
                          <a:effectLst/>
                        </a:rPr>
                        <a:t>json</a:t>
                      </a:r>
                      <a:r>
                        <a:rPr lang="zh-CN" altLang="en-US" sz="1200">
                          <a:effectLst/>
                        </a:rPr>
                        <a:t>。</a:t>
                      </a:r>
                      <a:endParaRPr lang="zh-CN" altLang="en-US" sz="1200">
                        <a:effectLst/>
                      </a:endParaRPr>
                    </a:p>
                  </a:txBody>
                  <a:tcPr marL="48727" marR="68218" marT="24364" marB="24364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9563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</a:rPr>
                        <a:t>version</a:t>
                      </a:r>
                      <a:endParaRPr lang="en-US" sz="1200">
                        <a:effectLst/>
                      </a:endParaRPr>
                    </a:p>
                  </a:txBody>
                  <a:tcPr marL="48727" marR="68218" marT="24364" marB="24364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</a:rPr>
                        <a:t>String</a:t>
                      </a:r>
                      <a:endParaRPr lang="en-US" sz="1200">
                        <a:effectLst/>
                      </a:endParaRPr>
                    </a:p>
                  </a:txBody>
                  <a:tcPr marL="48727" marR="68218" marT="24364" marB="24364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>
                          <a:effectLst/>
                        </a:rPr>
                        <a:t>是</a:t>
                      </a:r>
                      <a:endParaRPr lang="zh-CN" altLang="en-US" sz="1200">
                        <a:effectLst/>
                      </a:endParaRPr>
                    </a:p>
                  </a:txBody>
                  <a:tcPr marL="48727" marR="68218" marT="24364" marB="24364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>
                          <a:effectLst/>
                        </a:rPr>
                        <a:t>API</a:t>
                      </a:r>
                      <a:r>
                        <a:rPr lang="zh-CN" altLang="en-US" sz="1200">
                          <a:effectLst/>
                        </a:rPr>
                        <a:t>协议版本，当前版本号</a:t>
                      </a:r>
                      <a:r>
                        <a:rPr lang="en-US" altLang="zh-CN" sz="1200">
                          <a:effectLst/>
                        </a:rPr>
                        <a:t>6.0</a:t>
                      </a:r>
                      <a:r>
                        <a:rPr lang="zh-CN" altLang="en-US" sz="1200">
                          <a:effectLst/>
                        </a:rPr>
                        <a:t>。</a:t>
                      </a:r>
                      <a:endParaRPr lang="zh-CN" altLang="en-US" sz="1200">
                        <a:effectLst/>
                      </a:endParaRPr>
                    </a:p>
                  </a:txBody>
                  <a:tcPr marL="48727" marR="68218" marT="24364" marB="24364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4981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</a:rPr>
                        <a:t>type</a:t>
                      </a:r>
                      <a:endParaRPr lang="en-US" sz="1200">
                        <a:effectLst/>
                      </a:endParaRPr>
                    </a:p>
                  </a:txBody>
                  <a:tcPr marL="48727" marR="68218" marT="24364" marB="24364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</a:rPr>
                        <a:t>String</a:t>
                      </a:r>
                      <a:endParaRPr lang="en-US" sz="1200">
                        <a:effectLst/>
                      </a:endParaRPr>
                    </a:p>
                  </a:txBody>
                  <a:tcPr marL="48727" marR="68218" marT="24364" marB="24364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>
                          <a:effectLst/>
                        </a:rPr>
                        <a:t>否</a:t>
                      </a:r>
                      <a:endParaRPr lang="zh-CN" altLang="en-US" sz="1200">
                        <a:effectLst/>
                      </a:endParaRPr>
                    </a:p>
                  </a:txBody>
                  <a:tcPr marL="48727" marR="68218" marT="24364" marB="24364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>
                          <a:effectLst/>
                        </a:rPr>
                        <a:t>请求类型，默认 </a:t>
                      </a:r>
                      <a:r>
                        <a:rPr lang="en-US" altLang="zh-CN" sz="1200">
                          <a:effectLst/>
                        </a:rPr>
                        <a:t>sync</a:t>
                      </a:r>
                      <a:r>
                        <a:rPr lang="zh-CN" altLang="en-US" sz="1200">
                          <a:effectLst/>
                        </a:rPr>
                        <a:t>，可选值</a:t>
                      </a:r>
                      <a:r>
                        <a:rPr lang="en-US" altLang="zh-CN" sz="1200">
                          <a:effectLst/>
                        </a:rPr>
                        <a:t>asyn</a:t>
                      </a:r>
                      <a:r>
                        <a:rPr lang="zh-CN" altLang="en-US" sz="1200">
                          <a:effectLst/>
                        </a:rPr>
                        <a:t>，</a:t>
                      </a:r>
                      <a:r>
                        <a:rPr lang="en-US" altLang="zh-CN" sz="1200">
                          <a:effectLst/>
                        </a:rPr>
                        <a:t>sync</a:t>
                      </a:r>
                      <a:r>
                        <a:rPr lang="zh-CN" altLang="en-US" sz="1200">
                          <a:effectLst/>
                        </a:rPr>
                        <a:t>。</a:t>
                      </a:r>
                      <a:endParaRPr lang="zh-CN" altLang="en-US" sz="1200">
                        <a:effectLst/>
                      </a:endParaRPr>
                    </a:p>
                  </a:txBody>
                  <a:tcPr marL="48727" marR="68218" marT="24364" marB="24364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4981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</a:rPr>
                        <a:t>requestId</a:t>
                      </a:r>
                      <a:endParaRPr lang="en-US" sz="1200">
                        <a:effectLst/>
                      </a:endParaRPr>
                    </a:p>
                  </a:txBody>
                  <a:tcPr marL="48727" marR="68218" marT="24364" marB="24364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</a:rPr>
                        <a:t>String</a:t>
                      </a:r>
                      <a:endParaRPr lang="en-US" sz="1200">
                        <a:effectLst/>
                      </a:endParaRPr>
                    </a:p>
                  </a:txBody>
                  <a:tcPr marL="48727" marR="68218" marT="24364" marB="24364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>
                          <a:effectLst/>
                        </a:rPr>
                        <a:t>否</a:t>
                      </a:r>
                      <a:endParaRPr lang="zh-CN" altLang="en-US" sz="1200">
                        <a:effectLst/>
                      </a:endParaRPr>
                    </a:p>
                  </a:txBody>
                  <a:tcPr marL="48727" marR="68218" marT="24364" marB="24364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dirty="0">
                          <a:effectLst/>
                        </a:rPr>
                        <a:t>请求唯一标识，标识唯一请求，默认</a:t>
                      </a:r>
                      <a:r>
                        <a:rPr lang="en-US" altLang="zh-CN" sz="1200" dirty="0">
                          <a:effectLst/>
                        </a:rPr>
                        <a:t>UUID</a:t>
                      </a:r>
                      <a:r>
                        <a:rPr lang="zh-CN" altLang="en-US" sz="1200" dirty="0">
                          <a:effectLst/>
                        </a:rPr>
                        <a:t>。</a:t>
                      </a:r>
                      <a:endParaRPr lang="zh-CN" altLang="en-US" sz="1200" dirty="0">
                        <a:effectLst/>
                      </a:endParaRPr>
                    </a:p>
                  </a:txBody>
                  <a:tcPr marL="48727" marR="68218" marT="24364" marB="24364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868559" y="944971"/>
            <a:ext cx="8446903" cy="7347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26960" rIns="0" bIns="82524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600" b="1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ea typeface="PingFangSC-Regular"/>
              </a:rPr>
              <a:t>一、</a:t>
            </a:r>
            <a:r>
              <a:rPr kumimoji="0" lang="zh-CN" altLang="en-US" sz="1600" b="1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ea typeface="PingFangSC-Regular"/>
              </a:rPr>
              <a:t>请求</a:t>
            </a:r>
            <a:r>
              <a:rPr kumimoji="0" lang="zh-CN" altLang="zh-CN" sz="1600" b="1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ea typeface="PingFangSC-Regular"/>
              </a:rPr>
              <a:t>公共参数</a:t>
            </a:r>
            <a:endParaRPr kumimoji="0" lang="zh-CN" altLang="zh-CN" sz="1600" b="1" i="0" u="none" strike="noStrike" cap="none" normalizeH="0" baseline="0" dirty="0" smtClean="0">
              <a:ln>
                <a:noFill/>
              </a:ln>
              <a:solidFill>
                <a:srgbClr val="222222"/>
              </a:solidFill>
              <a:effectLst/>
              <a:latin typeface="Arial" panose="020B0604020202020204" pitchFamily="34" charset="0"/>
              <a:ea typeface="PingFangSC-Regular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43610" y="187362"/>
            <a:ext cx="8296802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1" lang="zh-CN" altLang="en-US" sz="2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57FE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接口联调</a:t>
            </a:r>
            <a:r>
              <a:rPr kumimoji="1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57FE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kumimoji="1" lang="zh-CN" altLang="en-US" sz="2600" b="1" dirty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响应公共参数</a:t>
            </a:r>
            <a:endParaRPr kumimoji="1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rgbClr val="357FE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628453" y="38258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868559" y="854594"/>
            <a:ext cx="8446903" cy="4577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26960" rIns="0" bIns="82524" numCol="1" anchor="ctr" anchorCtr="0" compatLnSpc="1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1600" b="1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ea typeface="PingFangSC-Regular"/>
              </a:rPr>
              <a:t>一、</a:t>
            </a:r>
            <a:r>
              <a:rPr lang="zh-CN" altLang="en-US" sz="1600" b="1" dirty="0">
                <a:solidFill>
                  <a:srgbClr val="222222"/>
                </a:solidFill>
                <a:latin typeface="Arial" panose="020B0604020202020204" pitchFamily="34" charset="0"/>
                <a:ea typeface="PingFangSC-Regular"/>
              </a:rPr>
              <a:t>响应公共参数</a:t>
            </a:r>
            <a:endParaRPr kumimoji="0" lang="zh-CN" altLang="zh-CN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868558" y="1488087"/>
          <a:ext cx="10590624" cy="4864030"/>
        </p:xfrm>
        <a:graphic>
          <a:graphicData uri="http://schemas.openxmlformats.org/drawingml/2006/table">
            <a:tbl>
              <a:tblPr/>
              <a:tblGrid>
                <a:gridCol w="2759859"/>
                <a:gridCol w="1926077"/>
                <a:gridCol w="5904688"/>
              </a:tblGrid>
              <a:tr h="23722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>
                          <a:solidFill>
                            <a:srgbClr val="01081A"/>
                          </a:solidFill>
                          <a:effectLst/>
                        </a:rPr>
                        <a:t>名称</a:t>
                      </a:r>
                      <a:endParaRPr lang="zh-CN" altLang="en-US" sz="1600" b="1">
                        <a:solidFill>
                          <a:srgbClr val="01081A"/>
                        </a:solidFill>
                        <a:effectLst/>
                      </a:endParaRPr>
                    </a:p>
                  </a:txBody>
                  <a:tcPr marL="46839" marR="65575" marT="28103" marB="23419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>
                          <a:solidFill>
                            <a:srgbClr val="01081A"/>
                          </a:solidFill>
                          <a:effectLst/>
                        </a:rPr>
                        <a:t>类型</a:t>
                      </a:r>
                      <a:endParaRPr lang="zh-CN" altLang="en-US" sz="1600" b="1">
                        <a:solidFill>
                          <a:srgbClr val="01081A"/>
                        </a:solidFill>
                        <a:effectLst/>
                      </a:endParaRPr>
                    </a:p>
                  </a:txBody>
                  <a:tcPr marL="46839" marR="65575" marT="28103" marB="23419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>
                          <a:solidFill>
                            <a:srgbClr val="01081A"/>
                          </a:solidFill>
                          <a:effectLst/>
                        </a:rPr>
                        <a:t>描述</a:t>
                      </a:r>
                      <a:endParaRPr lang="zh-CN" altLang="en-US" sz="1600" b="1">
                        <a:solidFill>
                          <a:srgbClr val="01081A"/>
                        </a:solidFill>
                        <a:effectLst/>
                      </a:endParaRPr>
                    </a:p>
                  </a:txBody>
                  <a:tcPr marL="46839" marR="65575" marT="28103" marB="23419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595574"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success</a:t>
                      </a:r>
                      <a:endParaRPr lang="en-US" sz="1600">
                        <a:effectLst/>
                      </a:endParaRPr>
                    </a:p>
                  </a:txBody>
                  <a:tcPr marL="46839" marR="65575" marT="23419" marB="23419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effectLst/>
                        </a:rPr>
                        <a:t>Boolean</a:t>
                      </a:r>
                      <a:endParaRPr lang="en-US" sz="1600" dirty="0">
                        <a:effectLst/>
                      </a:endParaRPr>
                    </a:p>
                  </a:txBody>
                  <a:tcPr marL="46839" marR="65575" marT="23419" marB="23419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>
                          <a:effectLst/>
                        </a:rPr>
                        <a:t>接口调用成功或失败的标志 </a:t>
                      </a:r>
                      <a:r>
                        <a:rPr lang="en-US" altLang="zh-CN" sz="1600">
                          <a:effectLst/>
                        </a:rPr>
                        <a:t>true</a:t>
                      </a:r>
                      <a:r>
                        <a:rPr lang="zh-CN" altLang="en-US" sz="1600">
                          <a:effectLst/>
                        </a:rPr>
                        <a:t>：成功，</a:t>
                      </a:r>
                      <a:r>
                        <a:rPr lang="en-US" altLang="zh-CN" sz="1600">
                          <a:effectLst/>
                        </a:rPr>
                        <a:t>false</a:t>
                      </a:r>
                      <a:r>
                        <a:rPr lang="zh-CN" altLang="en-US" sz="1600">
                          <a:effectLst/>
                        </a:rPr>
                        <a:t>：失败</a:t>
                      </a:r>
                      <a:endParaRPr lang="zh-CN" altLang="en-US" sz="1600">
                        <a:effectLst/>
                      </a:endParaRPr>
                    </a:p>
                  </a:txBody>
                  <a:tcPr marL="46839" marR="65575" marT="23419" marB="23419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2172"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method</a:t>
                      </a:r>
                      <a:endParaRPr lang="en-US" sz="1600">
                        <a:effectLst/>
                      </a:endParaRPr>
                    </a:p>
                  </a:txBody>
                  <a:tcPr marL="46839" marR="65575" marT="23419" marB="23419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String</a:t>
                      </a:r>
                      <a:endParaRPr lang="en-US" sz="1600">
                        <a:effectLst/>
                      </a:endParaRPr>
                    </a:p>
                  </a:txBody>
                  <a:tcPr marL="46839" marR="65575" marT="23419" marB="23419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>
                          <a:effectLst/>
                        </a:rPr>
                        <a:t>接口的唯一标识</a:t>
                      </a:r>
                      <a:endParaRPr lang="zh-CN" altLang="en-US" sz="1600">
                        <a:effectLst/>
                      </a:endParaRPr>
                    </a:p>
                  </a:txBody>
                  <a:tcPr marL="46839" marR="65575" marT="23419" marB="23419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872"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requestId</a:t>
                      </a:r>
                      <a:endParaRPr lang="en-US" sz="1600">
                        <a:effectLst/>
                      </a:endParaRPr>
                    </a:p>
                  </a:txBody>
                  <a:tcPr marL="46839" marR="65575" marT="23419" marB="23419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String</a:t>
                      </a:r>
                      <a:endParaRPr lang="en-US" sz="1600">
                        <a:effectLst/>
                      </a:endParaRPr>
                    </a:p>
                  </a:txBody>
                  <a:tcPr marL="46839" marR="65575" marT="23419" marB="23419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>
                          <a:effectLst/>
                        </a:rPr>
                        <a:t>请求唯一标识， 与调用接口时传入的</a:t>
                      </a:r>
                      <a:r>
                        <a:rPr lang="en-US" altLang="zh-CN" sz="1600">
                          <a:effectLst/>
                        </a:rPr>
                        <a:t>request_id</a:t>
                      </a:r>
                      <a:r>
                        <a:rPr lang="zh-CN" altLang="en-US" sz="1600">
                          <a:effectLst/>
                        </a:rPr>
                        <a:t>一致</a:t>
                      </a:r>
                      <a:endParaRPr lang="zh-CN" altLang="en-US" sz="1600">
                        <a:effectLst/>
                      </a:endParaRPr>
                    </a:p>
                  </a:txBody>
                  <a:tcPr marL="46839" marR="65575" marT="23419" marB="23419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5574"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response</a:t>
                      </a:r>
                      <a:endParaRPr lang="en-US" sz="1600">
                        <a:effectLst/>
                      </a:endParaRPr>
                    </a:p>
                  </a:txBody>
                  <a:tcPr marL="46839" marR="65575" marT="23419" marB="23419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600">
                        <a:effectLst/>
                      </a:endParaRPr>
                    </a:p>
                  </a:txBody>
                  <a:tcPr marL="46839" marR="65575" marT="23419" marB="23419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effectLst/>
                        </a:rPr>
                        <a:t>业务接口调用成功后返回的具体响应信息，不同的接口返回的</a:t>
                      </a:r>
                      <a:r>
                        <a:rPr lang="en-US" altLang="zh-CN" sz="1600" dirty="0">
                          <a:effectLst/>
                        </a:rPr>
                        <a:t>model</a:t>
                      </a:r>
                      <a:r>
                        <a:rPr lang="zh-CN" altLang="en-US" sz="1600" dirty="0">
                          <a:effectLst/>
                        </a:rPr>
                        <a:t>不同</a:t>
                      </a:r>
                      <a:endParaRPr lang="zh-CN" altLang="en-US" sz="1600" dirty="0">
                        <a:effectLst/>
                      </a:endParaRPr>
                    </a:p>
                  </a:txBody>
                  <a:tcPr marL="46839" marR="65575" marT="23419" marB="23419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2172"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errorResponse</a:t>
                      </a:r>
                      <a:endParaRPr lang="en-US" sz="1600">
                        <a:effectLst/>
                      </a:endParaRPr>
                    </a:p>
                  </a:txBody>
                  <a:tcPr marL="46839" marR="65575" marT="23419" marB="23419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600">
                        <a:effectLst/>
                      </a:endParaRPr>
                    </a:p>
                  </a:txBody>
                  <a:tcPr marL="46839" marR="65575" marT="23419" marB="23419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>
                          <a:effectLst/>
                        </a:rPr>
                        <a:t>错误响应信息</a:t>
                      </a:r>
                      <a:endParaRPr lang="zh-CN" altLang="en-US" sz="1600">
                        <a:effectLst/>
                      </a:endParaRPr>
                    </a:p>
                  </a:txBody>
                  <a:tcPr marL="46839" marR="65575" marT="23419" marB="23419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872"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└ code</a:t>
                      </a:r>
                      <a:endParaRPr lang="en-US" sz="1600">
                        <a:effectLst/>
                      </a:endParaRPr>
                    </a:p>
                  </a:txBody>
                  <a:tcPr marL="46839" marR="65575" marT="23419" marB="23419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String</a:t>
                      </a:r>
                      <a:endParaRPr lang="en-US" sz="1600">
                        <a:effectLst/>
                      </a:endParaRPr>
                    </a:p>
                  </a:txBody>
                  <a:tcPr marL="46839" marR="65575" marT="23419" marB="23419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>
                          <a:effectLst/>
                        </a:rPr>
                        <a:t>调用失败后，返回的错误码（开放平台错误码）</a:t>
                      </a:r>
                      <a:endParaRPr lang="zh-CN" altLang="en-US" sz="1600">
                        <a:effectLst/>
                      </a:endParaRPr>
                    </a:p>
                  </a:txBody>
                  <a:tcPr marL="46839" marR="65575" marT="23419" marB="23419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872"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└ message</a:t>
                      </a:r>
                      <a:endParaRPr lang="en-US" sz="1600">
                        <a:effectLst/>
                      </a:endParaRPr>
                    </a:p>
                  </a:txBody>
                  <a:tcPr marL="46839" marR="65575" marT="23419" marB="23419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String</a:t>
                      </a:r>
                      <a:endParaRPr lang="en-US" sz="1600">
                        <a:effectLst/>
                      </a:endParaRPr>
                    </a:p>
                  </a:txBody>
                  <a:tcPr marL="46839" marR="65575" marT="23419" marB="23419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>
                          <a:effectLst/>
                        </a:rPr>
                        <a:t>调用失败后，返回的错误信息（开放平台错误信息）</a:t>
                      </a:r>
                      <a:endParaRPr lang="zh-CN" altLang="en-US" sz="1600">
                        <a:effectLst/>
                      </a:endParaRPr>
                    </a:p>
                  </a:txBody>
                  <a:tcPr marL="46839" marR="65575" marT="23419" marB="23419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74"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└ subCode</a:t>
                      </a:r>
                      <a:endParaRPr lang="en-US" sz="1600">
                        <a:effectLst/>
                      </a:endParaRPr>
                    </a:p>
                  </a:txBody>
                  <a:tcPr marL="46839" marR="65575" marT="23419" marB="23419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String</a:t>
                      </a:r>
                      <a:endParaRPr lang="en-US" sz="1600">
                        <a:effectLst/>
                      </a:endParaRPr>
                    </a:p>
                  </a:txBody>
                  <a:tcPr marL="46839" marR="65575" marT="23419" marB="23419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effectLst/>
                        </a:rPr>
                        <a:t>调用失败后，返回的错误码（业务端返回错误码</a:t>
                      </a:r>
                      <a:r>
                        <a:rPr lang="en-US" altLang="zh-CN" sz="1600" dirty="0">
                          <a:effectLst/>
                        </a:rPr>
                        <a:t>——</a:t>
                      </a:r>
                      <a:r>
                        <a:rPr lang="zh-CN" altLang="en-US" sz="1600" dirty="0">
                          <a:effectLst/>
                        </a:rPr>
                        <a:t>详</a:t>
                      </a:r>
                      <a:r>
                        <a:rPr lang="zh-CN" altLang="en-US" sz="1600" dirty="0" smtClean="0">
                          <a:effectLst/>
                        </a:rPr>
                        <a:t>见开放平台</a:t>
                      </a:r>
                      <a:r>
                        <a:rPr lang="en-US" altLang="zh-CN" sz="1600" dirty="0" smtClean="0">
                          <a:effectLst/>
                        </a:rPr>
                        <a:t>【</a:t>
                      </a:r>
                      <a:r>
                        <a:rPr lang="zh-CN" altLang="en-US" sz="1600" dirty="0">
                          <a:effectLst/>
                        </a:rPr>
                        <a:t>五、错误码</a:t>
                      </a:r>
                      <a:r>
                        <a:rPr lang="en-US" altLang="zh-CN" sz="1600" dirty="0">
                          <a:effectLst/>
                        </a:rPr>
                        <a:t>】</a:t>
                      </a:r>
                      <a:r>
                        <a:rPr lang="zh-CN" altLang="en-US" sz="1600" dirty="0">
                          <a:effectLst/>
                        </a:rPr>
                        <a:t>部分）</a:t>
                      </a:r>
                      <a:endParaRPr lang="zh-CN" altLang="en-US" sz="1600" dirty="0">
                        <a:effectLst/>
                      </a:endParaRPr>
                    </a:p>
                  </a:txBody>
                  <a:tcPr marL="46839" marR="65575" marT="23419" marB="23419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74"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└ subMessage</a:t>
                      </a:r>
                      <a:endParaRPr lang="en-US" sz="1600">
                        <a:effectLst/>
                      </a:endParaRPr>
                    </a:p>
                  </a:txBody>
                  <a:tcPr marL="46839" marR="65575" marT="23419" marB="23419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String</a:t>
                      </a:r>
                      <a:endParaRPr lang="en-US" sz="1600">
                        <a:effectLst/>
                      </a:endParaRPr>
                    </a:p>
                  </a:txBody>
                  <a:tcPr marL="46839" marR="65575" marT="23419" marB="23419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effectLst/>
                        </a:rPr>
                        <a:t>调用失败后，返回的错误信息（业务端返回错误信息</a:t>
                      </a:r>
                      <a:r>
                        <a:rPr lang="en-US" altLang="zh-CN" sz="1600" dirty="0">
                          <a:effectLst/>
                        </a:rPr>
                        <a:t>——</a:t>
                      </a:r>
                      <a:r>
                        <a:rPr lang="zh-CN" altLang="en-US" sz="1600" dirty="0">
                          <a:effectLst/>
                        </a:rPr>
                        <a:t>详</a:t>
                      </a:r>
                      <a:r>
                        <a:rPr lang="zh-CN" altLang="en-US" sz="1600" dirty="0" smtClean="0">
                          <a:effectLst/>
                        </a:rPr>
                        <a:t>见开放平台</a:t>
                      </a:r>
                      <a:r>
                        <a:rPr lang="en-US" altLang="zh-CN" sz="1600" dirty="0" smtClean="0">
                          <a:effectLst/>
                        </a:rPr>
                        <a:t>【</a:t>
                      </a:r>
                      <a:r>
                        <a:rPr lang="zh-CN" altLang="en-US" sz="1600" dirty="0">
                          <a:effectLst/>
                        </a:rPr>
                        <a:t>五、错误码</a:t>
                      </a:r>
                      <a:r>
                        <a:rPr lang="en-US" altLang="zh-CN" sz="1600" dirty="0">
                          <a:effectLst/>
                        </a:rPr>
                        <a:t>】</a:t>
                      </a:r>
                      <a:r>
                        <a:rPr lang="zh-CN" altLang="en-US" sz="1600" dirty="0">
                          <a:effectLst/>
                        </a:rPr>
                        <a:t>部分）</a:t>
                      </a:r>
                      <a:endParaRPr lang="zh-CN" altLang="en-US" sz="1600" dirty="0">
                        <a:effectLst/>
                      </a:endParaRPr>
                    </a:p>
                  </a:txBody>
                  <a:tcPr marL="46839" marR="65575" marT="23419" marB="23419" anchor="ctr">
                    <a:lnL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43610" y="187362"/>
            <a:ext cx="8296802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57FE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接口联调</a:t>
            </a:r>
            <a:r>
              <a:rPr kumimoji="1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57FE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kumimoji="1" lang="zh-CN" altLang="en-US" sz="2600" b="1" dirty="0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失败返回示例</a:t>
            </a:r>
            <a:endParaRPr kumimoji="1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rgbClr val="357FE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628453" y="38258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76201" y="5527675"/>
            <a:ext cx="10908725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t>{"method":"baiwang.s.outputinvoice.invoice","requestId":"a51b43a3-499b-4d32-89cb-cd71692f43db","errorResponse":{"code":100006,"message":"远程服务错误","subCode":"A0253",</a:t>
            </a:r>
            <a:r>
              <a:rPr>
                <a:solidFill>
                  <a:srgbClr val="FF0000"/>
                </a:solidFill>
              </a:rPr>
              <a:t>"subMessage":"开票单号不能重复"</a:t>
            </a:r>
            <a:r>
              <a:t>},"success":false}</a:t>
            </a: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628453" y="1494115"/>
            <a:ext cx="11004223" cy="3046730"/>
          </a:xfrm>
          <a:prstGeom prst="rect">
            <a:avLst/>
          </a:prstGeom>
          <a:solidFill>
            <a:srgbClr val="F5F7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687282"/>
                </a:solidFill>
                <a:effectLst/>
                <a:latin typeface="Consolas" panose="020B0609020204030204" pitchFamily="49" charset="0"/>
              </a:rPr>
              <a:t>{ </a:t>
            </a:r>
            <a:endParaRPr kumimoji="0" lang="en-US" altLang="zh-CN" b="0" i="0" u="none" strike="noStrike" cap="none" normalizeH="0" baseline="0" dirty="0" smtClean="0">
              <a:ln>
                <a:noFill/>
              </a:ln>
              <a:solidFill>
                <a:srgbClr val="687282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dirty="0">
                <a:solidFill>
                  <a:srgbClr val="687282"/>
                </a:solidFill>
                <a:latin typeface="Consolas" panose="020B0609020204030204" pitchFamily="49" charset="0"/>
              </a:rPr>
              <a:t>	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687282"/>
                </a:solidFill>
                <a:effectLst/>
                <a:latin typeface="Consolas" panose="020B0609020204030204" pitchFamily="49" charset="0"/>
              </a:rPr>
              <a:t>"method": "baiwang.s.outputinvoice.invoice", 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rgbClr val="687282"/>
                </a:solidFill>
                <a:effectLst/>
                <a:latin typeface="Consolas" panose="020B0609020204030204" pitchFamily="49" charset="0"/>
              </a:rPr>
              <a:t>              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687282"/>
                </a:solidFill>
                <a:effectLst/>
                <a:latin typeface="Consolas" panose="020B0609020204030204" pitchFamily="49" charset="0"/>
              </a:rPr>
              <a:t>--请求方法名称 </a:t>
            </a:r>
            <a:endParaRPr kumimoji="0" lang="en-US" altLang="zh-CN" b="0" i="0" u="none" strike="noStrike" cap="none" normalizeH="0" baseline="0" dirty="0" smtClean="0">
              <a:ln>
                <a:noFill/>
              </a:ln>
              <a:solidFill>
                <a:srgbClr val="687282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dirty="0">
                <a:solidFill>
                  <a:srgbClr val="687282"/>
                </a:solidFill>
                <a:latin typeface="Consolas" panose="020B0609020204030204" pitchFamily="49" charset="0"/>
              </a:rPr>
              <a:t>	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687282"/>
                </a:solidFill>
                <a:effectLst/>
                <a:latin typeface="Consolas" panose="020B0609020204030204" pitchFamily="49" charset="0"/>
              </a:rPr>
              <a:t>"requestId": "</a:t>
            </a:r>
            <a:r>
              <a:rPr lang="zh-CN" altLang="zh-CN" dirty="0" smtClean="0">
                <a:ln>
                  <a:noFill/>
                </a:ln>
                <a:solidFill>
                  <a:srgbClr val="687282"/>
                </a:solidFill>
                <a:effectLst/>
                <a:latin typeface="Consolas" panose="020B0609020204030204" pitchFamily="49" charset="0"/>
                <a:sym typeface="+mn-ea"/>
              </a:rPr>
              <a:t>a51b43a3-499b-4d32-89cb-cd71692f43db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687282"/>
                </a:solidFill>
                <a:effectLst/>
                <a:latin typeface="Consolas" panose="020B0609020204030204" pitchFamily="49" charset="0"/>
              </a:rPr>
              <a:t>", --请求ID 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rgbClr val="687282"/>
                </a:solidFill>
                <a:effectLst/>
                <a:latin typeface="Consolas" panose="020B0609020204030204" pitchFamily="49" charset="0"/>
              </a:rPr>
              <a:t>	</a:t>
            </a:r>
            <a:endParaRPr kumimoji="0" lang="en-US" altLang="zh-CN" b="0" i="0" u="none" strike="noStrike" cap="none" normalizeH="0" baseline="0" dirty="0" smtClean="0">
              <a:ln>
                <a:noFill/>
              </a:ln>
              <a:solidFill>
                <a:srgbClr val="687282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dirty="0">
                <a:solidFill>
                  <a:srgbClr val="687282"/>
                </a:solidFill>
                <a:latin typeface="Consolas" panose="020B0609020204030204" pitchFamily="49" charset="0"/>
              </a:rPr>
              <a:t>	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687282"/>
                </a:solidFill>
                <a:effectLst/>
                <a:latin typeface="Consolas" panose="020B0609020204030204" pitchFamily="49" charset="0"/>
              </a:rPr>
              <a:t>"errorResponse": { 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rgbClr val="687282"/>
                </a:solidFill>
                <a:effectLst/>
                <a:latin typeface="Consolas" panose="020B0609020204030204" pitchFamily="49" charset="0"/>
              </a:rPr>
              <a:t>                                  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687282"/>
                </a:solidFill>
                <a:effectLst/>
                <a:latin typeface="Consolas" panose="020B0609020204030204" pitchFamily="49" charset="0"/>
              </a:rPr>
              <a:t>--成功返回节点，包含失败内容 </a:t>
            </a:r>
            <a:endParaRPr kumimoji="0" lang="en-US" altLang="zh-CN" b="0" i="0" u="none" strike="noStrike" cap="none" normalizeH="0" baseline="0" dirty="0" smtClean="0">
              <a:ln>
                <a:noFill/>
              </a:ln>
              <a:solidFill>
                <a:srgbClr val="687282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dirty="0">
                <a:solidFill>
                  <a:srgbClr val="687282"/>
                </a:solidFill>
                <a:latin typeface="Consolas" panose="020B0609020204030204" pitchFamily="49" charset="0"/>
              </a:rPr>
              <a:t>	</a:t>
            </a:r>
            <a:r>
              <a:rPr lang="en-US" altLang="zh-CN" dirty="0" smtClean="0">
                <a:solidFill>
                  <a:srgbClr val="687282"/>
                </a:solidFill>
                <a:latin typeface="Consolas" panose="020B0609020204030204" pitchFamily="49" charset="0"/>
              </a:rPr>
              <a:t>	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687282"/>
                </a:solidFill>
                <a:effectLst/>
                <a:latin typeface="Consolas" panose="020B0609020204030204" pitchFamily="49" charset="0"/>
              </a:rPr>
              <a:t>"code": XXX,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rgbClr val="687282"/>
                </a:solidFill>
                <a:effectLst/>
                <a:latin typeface="Consolas" panose="020B0609020204030204" pitchFamily="49" charset="0"/>
              </a:rPr>
              <a:t>					</a:t>
            </a:r>
            <a:r>
              <a:rPr kumimoji="0" lang="en-US" altLang="zh-CN" b="0" i="0" u="none" strike="noStrike" cap="none" normalizeH="0" dirty="0" smtClean="0">
                <a:ln>
                  <a:noFill/>
                </a:ln>
                <a:solidFill>
                  <a:srgbClr val="68728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687282"/>
                </a:solidFill>
                <a:effectLst/>
                <a:latin typeface="Consolas" panose="020B0609020204030204" pitchFamily="49" charset="0"/>
              </a:rPr>
              <a:t> --开放平台操作代码 </a:t>
            </a:r>
            <a:endParaRPr kumimoji="0" lang="en-US" altLang="zh-CN" b="0" i="0" u="none" strike="noStrike" cap="none" normalizeH="0" baseline="0" dirty="0" smtClean="0">
              <a:ln>
                <a:noFill/>
              </a:ln>
              <a:solidFill>
                <a:srgbClr val="687282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dirty="0">
                <a:solidFill>
                  <a:srgbClr val="687282"/>
                </a:solidFill>
                <a:latin typeface="Consolas" panose="020B0609020204030204" pitchFamily="49" charset="0"/>
              </a:rPr>
              <a:t>	</a:t>
            </a:r>
            <a:r>
              <a:rPr lang="en-US" altLang="zh-CN" dirty="0" smtClean="0">
                <a:solidFill>
                  <a:srgbClr val="687282"/>
                </a:solidFill>
                <a:latin typeface="Consolas" panose="020B0609020204030204" pitchFamily="49" charset="0"/>
              </a:rPr>
              <a:t>	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687282"/>
                </a:solidFill>
                <a:effectLst/>
                <a:latin typeface="Consolas" panose="020B0609020204030204" pitchFamily="49" charset="0"/>
              </a:rPr>
              <a:t>"message": "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rgbClr val="687282"/>
                </a:solidFill>
                <a:effectLst/>
                <a:latin typeface="Consolas" panose="020B0609020204030204" pitchFamily="49" charset="0"/>
              </a:rPr>
              <a:t>XXX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687282"/>
                </a:solidFill>
                <a:effectLst/>
                <a:latin typeface="Consolas" panose="020B0609020204030204" pitchFamily="49" charset="0"/>
              </a:rPr>
              <a:t>", 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rgbClr val="687282"/>
                </a:solidFill>
                <a:effectLst/>
                <a:latin typeface="Consolas" panose="020B0609020204030204" pitchFamily="49" charset="0"/>
              </a:rPr>
              <a:t>                            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687282"/>
                </a:solidFill>
                <a:effectLst/>
                <a:latin typeface="Consolas" panose="020B0609020204030204" pitchFamily="49" charset="0"/>
              </a:rPr>
              <a:t>--开放平台操作提示 </a:t>
            </a:r>
            <a:endParaRPr kumimoji="0" lang="en-US" altLang="zh-CN" b="0" i="0" u="none" strike="noStrike" cap="none" normalizeH="0" baseline="0" dirty="0" smtClean="0">
              <a:ln>
                <a:noFill/>
              </a:ln>
              <a:solidFill>
                <a:srgbClr val="687282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dirty="0">
                <a:solidFill>
                  <a:srgbClr val="687282"/>
                </a:solidFill>
                <a:latin typeface="Consolas" panose="020B0609020204030204" pitchFamily="49" charset="0"/>
              </a:rPr>
              <a:t>	</a:t>
            </a:r>
            <a:r>
              <a:rPr lang="en-US" altLang="zh-CN" dirty="0" smtClean="0">
                <a:solidFill>
                  <a:srgbClr val="687282"/>
                </a:solidFill>
                <a:latin typeface="Consolas" panose="020B0609020204030204" pitchFamily="49" charset="0"/>
              </a:rPr>
              <a:t>	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687282"/>
                </a:solidFill>
                <a:effectLst/>
                <a:latin typeface="Consolas" panose="020B0609020204030204" pitchFamily="49" charset="0"/>
              </a:rPr>
              <a:t>"subCode": null, 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rgbClr val="687282"/>
                </a:solidFill>
                <a:effectLst/>
                <a:latin typeface="Consolas" panose="020B0609020204030204" pitchFamily="49" charset="0"/>
              </a:rPr>
              <a:t>				</a:t>
            </a:r>
            <a:r>
              <a:rPr kumimoji="0" lang="en-US" altLang="zh-CN" b="0" i="0" u="none" strike="noStrike" cap="none" normalizeH="0" dirty="0" smtClean="0">
                <a:ln>
                  <a:noFill/>
                </a:ln>
                <a:solidFill>
                  <a:srgbClr val="687282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687282"/>
                </a:solidFill>
                <a:effectLst/>
                <a:latin typeface="Consolas" panose="020B0609020204030204" pitchFamily="49" charset="0"/>
              </a:rPr>
              <a:t>--业务系统操作代码 </a:t>
            </a:r>
            <a:endParaRPr kumimoji="0" lang="en-US" altLang="zh-CN" b="0" i="0" u="none" strike="noStrike" cap="none" normalizeH="0" baseline="0" dirty="0" smtClean="0">
              <a:ln>
                <a:noFill/>
              </a:ln>
              <a:solidFill>
                <a:srgbClr val="687282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dirty="0">
                <a:solidFill>
                  <a:srgbClr val="687282"/>
                </a:solidFill>
                <a:latin typeface="Consolas" panose="020B0609020204030204" pitchFamily="49" charset="0"/>
              </a:rPr>
              <a:t>	</a:t>
            </a:r>
            <a:r>
              <a:rPr lang="en-US" altLang="zh-CN" dirty="0" smtClean="0">
                <a:solidFill>
                  <a:srgbClr val="687282"/>
                </a:solidFill>
                <a:latin typeface="Consolas" panose="020B0609020204030204" pitchFamily="49" charset="0"/>
              </a:rPr>
              <a:t>	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687282"/>
                </a:solidFill>
                <a:effectLst/>
                <a:latin typeface="Consolas" panose="020B0609020204030204" pitchFamily="49" charset="0"/>
              </a:rPr>
              <a:t>"subMessage": null 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rgbClr val="687282"/>
                </a:solidFill>
                <a:effectLst/>
                <a:latin typeface="Consolas" panose="020B0609020204030204" pitchFamily="49" charset="0"/>
              </a:rPr>
              <a:t>                           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687282"/>
                </a:solidFill>
                <a:effectLst/>
                <a:latin typeface="Consolas" panose="020B0609020204030204" pitchFamily="49" charset="0"/>
              </a:rPr>
              <a:t>--业务系统操作提示</a:t>
            </a:r>
            <a:endParaRPr kumimoji="0" lang="en-US" altLang="zh-CN" b="0" i="0" u="none" strike="noStrike" cap="none" normalizeH="0" baseline="0" dirty="0" smtClean="0">
              <a:ln>
                <a:noFill/>
              </a:ln>
              <a:solidFill>
                <a:srgbClr val="687282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dirty="0">
                <a:solidFill>
                  <a:srgbClr val="687282"/>
                </a:solidFill>
                <a:latin typeface="Consolas" panose="020B0609020204030204" pitchFamily="49" charset="0"/>
              </a:rPr>
              <a:t>	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687282"/>
                </a:solidFill>
                <a:effectLst/>
                <a:latin typeface="Consolas" panose="020B0609020204030204" pitchFamily="49" charset="0"/>
              </a:rPr>
              <a:t> }</a:t>
            </a:r>
            <a:endParaRPr kumimoji="0" lang="zh-CN" altLang="zh-CN" b="0" i="0" u="none" strike="noStrike" cap="none" normalizeH="0" baseline="0" dirty="0" smtClean="0">
              <a:ln>
                <a:noFill/>
              </a:ln>
              <a:solidFill>
                <a:srgbClr val="687282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rgbClr val="687282"/>
                </a:solidFill>
                <a:effectLst/>
                <a:latin typeface="Consolas" panose="020B0609020204030204" pitchFamily="49" charset="0"/>
              </a:rPr>
              <a:t>       "success": false</a:t>
            </a:r>
            <a:endParaRPr kumimoji="0" lang="en-US" altLang="zh-CN" b="0" i="0" u="none" strike="noStrike" cap="none" normalizeH="0" baseline="0" dirty="0" smtClean="0">
              <a:ln>
                <a:noFill/>
              </a:ln>
              <a:solidFill>
                <a:srgbClr val="687282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687282"/>
                </a:solidFill>
                <a:effectLst/>
                <a:latin typeface="Consolas" panose="020B0609020204030204" pitchFamily="49" charset="0"/>
              </a:rPr>
              <a:t> }</a:t>
            </a:r>
            <a:r>
              <a:rPr kumimoji="0" lang="zh-CN" altLang="zh-CN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99363" y="1066827"/>
            <a:ext cx="29546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222222"/>
                </a:solidFill>
                <a:latin typeface="PingFangSC-Regular"/>
              </a:rPr>
              <a:t>错误返回的具体格式</a:t>
            </a:r>
            <a:r>
              <a:rPr lang="zh-CN" altLang="en-US" dirty="0" smtClean="0">
                <a:solidFill>
                  <a:srgbClr val="222222"/>
                </a:solidFill>
                <a:latin typeface="PingFangSC-Regular"/>
              </a:rPr>
              <a:t>如下：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799363" y="4597320"/>
            <a:ext cx="956063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</a:t>
            </a:r>
            <a:r>
              <a:rPr lang="en-US" altLang="zh-CN" dirty="0" smtClean="0"/>
              <a:t>ode</a:t>
            </a:r>
            <a:r>
              <a:rPr lang="zh-CN" altLang="en-US" dirty="0" smtClean="0"/>
              <a:t>：开放平台错误码及相关说明可以在</a:t>
            </a:r>
            <a:r>
              <a:rPr lang="en-US" altLang="zh-CN" dirty="0" smtClean="0"/>
              <a:t>【</a:t>
            </a:r>
            <a:r>
              <a:rPr lang="zh-CN" altLang="en-US" dirty="0" smtClean="0"/>
              <a:t>开发者管理</a:t>
            </a:r>
            <a:r>
              <a:rPr lang="en-US" altLang="zh-CN" dirty="0" smtClean="0"/>
              <a:t>】</a:t>
            </a:r>
            <a:r>
              <a:rPr lang="en-US" altLang="zh-CN" dirty="0" smtClean="0"/>
              <a:t>—</a:t>
            </a:r>
            <a:r>
              <a:rPr lang="en-US" altLang="zh-CN" dirty="0" smtClean="0"/>
              <a:t>【</a:t>
            </a:r>
            <a:r>
              <a:rPr lang="zh-CN" altLang="en-US" dirty="0" smtClean="0"/>
              <a:t>开发指引</a:t>
            </a:r>
            <a:r>
              <a:rPr lang="en-US" altLang="zh-CN" dirty="0" smtClean="0"/>
              <a:t>】-【</a:t>
            </a:r>
            <a:r>
              <a:rPr lang="zh-CN" altLang="en-US" dirty="0" smtClean="0"/>
              <a:t>错误码</a:t>
            </a:r>
            <a:r>
              <a:rPr lang="en-US" altLang="zh-CN" dirty="0" smtClean="0"/>
              <a:t>】</a:t>
            </a:r>
            <a:r>
              <a:rPr lang="zh-CN" altLang="en-US" dirty="0" smtClean="0"/>
              <a:t>里查看</a:t>
            </a:r>
            <a:endParaRPr lang="en-US" altLang="zh-CN" dirty="0" smtClean="0"/>
          </a:p>
          <a:p>
            <a:r>
              <a:rPr lang="zh-CN" altLang="zh-CN" dirty="0" smtClean="0">
                <a:solidFill>
                  <a:srgbClr val="687282"/>
                </a:solidFill>
                <a:latin typeface="Consolas" panose="020B0609020204030204" pitchFamily="49" charset="0"/>
              </a:rPr>
              <a:t>subCode</a:t>
            </a:r>
            <a:r>
              <a:rPr lang="zh-CN" altLang="en-US" dirty="0" smtClean="0">
                <a:solidFill>
                  <a:srgbClr val="687282"/>
                </a:solidFill>
                <a:latin typeface="Consolas" panose="020B0609020204030204" pitchFamily="49" charset="0"/>
              </a:rPr>
              <a:t>：</a:t>
            </a:r>
            <a:r>
              <a:rPr lang="zh-CN" altLang="en-US" dirty="0" smtClean="0"/>
              <a:t>业务返回错误吗及</a:t>
            </a:r>
            <a:r>
              <a:rPr lang="zh-CN" altLang="en-US" dirty="0"/>
              <a:t>相关说明</a:t>
            </a:r>
            <a:r>
              <a:rPr lang="zh-CN" altLang="en-US" dirty="0" smtClean="0"/>
              <a:t>可以在接口文档</a:t>
            </a:r>
            <a:r>
              <a:rPr lang="zh-CN" altLang="en-US" dirty="0"/>
              <a:t>里</a:t>
            </a:r>
            <a:r>
              <a:rPr lang="zh-CN" altLang="en-US" dirty="0" smtClean="0"/>
              <a:t>查看；</a:t>
            </a:r>
            <a:endParaRPr lang="en-US" altLang="zh-CN" dirty="0" smtClean="0"/>
          </a:p>
          <a:p>
            <a:r>
              <a:rPr lang="zh-CN" altLang="zh-CN" dirty="0" smtClean="0">
                <a:solidFill>
                  <a:srgbClr val="FF0000"/>
                </a:solidFill>
                <a:latin typeface="Consolas" panose="020B0609020204030204" pitchFamily="49" charset="0"/>
              </a:rPr>
              <a:t>subMessage</a:t>
            </a:r>
            <a:r>
              <a:rPr lang="zh-CN" altLang="en-US" dirty="0" smtClean="0">
                <a:solidFill>
                  <a:srgbClr val="FF0000"/>
                </a:solidFill>
                <a:latin typeface="Consolas" panose="020B0609020204030204" pitchFamily="49" charset="0"/>
              </a:rPr>
              <a:t>：</a:t>
            </a:r>
            <a:r>
              <a:rPr lang="zh-CN" altLang="en-US" dirty="0" smtClean="0">
                <a:solidFill>
                  <a:srgbClr val="FF0000"/>
                </a:solidFill>
              </a:rPr>
              <a:t>接口</a:t>
            </a:r>
            <a:r>
              <a:rPr lang="zh-CN" altLang="en-US" dirty="0">
                <a:solidFill>
                  <a:srgbClr val="FF0000"/>
                </a:solidFill>
              </a:rPr>
              <a:t>报错可以根据</a:t>
            </a:r>
            <a:r>
              <a:rPr lang="en-US" altLang="zh-CN" dirty="0" err="1">
                <a:solidFill>
                  <a:srgbClr val="FF0000"/>
                </a:solidFill>
              </a:rPr>
              <a:t>subMessage</a:t>
            </a:r>
            <a:r>
              <a:rPr lang="zh-CN" altLang="en-US" dirty="0">
                <a:solidFill>
                  <a:srgbClr val="FF0000"/>
                </a:solidFill>
              </a:rPr>
              <a:t>返回信息查看报错</a:t>
            </a:r>
            <a:r>
              <a:rPr lang="zh-CN" altLang="en-US" dirty="0" smtClean="0">
                <a:solidFill>
                  <a:srgbClr val="FF0000"/>
                </a:solidFill>
              </a:rPr>
              <a:t>原因</a:t>
            </a:r>
            <a:r>
              <a:rPr lang="zh-CN" altLang="en-US" dirty="0" smtClean="0"/>
              <a:t>；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43610" y="187362"/>
            <a:ext cx="8296802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noProof="0" dirty="0" smtClean="0">
                <a:ln>
                  <a:noFill/>
                </a:ln>
                <a:solidFill>
                  <a:srgbClr val="357FE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接口联调</a:t>
            </a:r>
            <a:r>
              <a:rPr kumimoji="1" lang="en-US" altLang="zh-CN" sz="2600" b="1" noProof="0" dirty="0" smtClean="0">
                <a:ln>
                  <a:noFill/>
                </a:ln>
                <a:solidFill>
                  <a:srgbClr val="357FE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</a:t>
            </a:r>
            <a:r>
              <a:rPr kumimoji="1" lang="zh-CN" altLang="en-US" sz="2600" b="1" noProof="0" dirty="0" smtClean="0">
                <a:ln>
                  <a:noFill/>
                </a:ln>
                <a:solidFill>
                  <a:srgbClr val="357FE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成功</a:t>
            </a:r>
            <a:r>
              <a:rPr kumimoji="1" lang="zh-CN" altLang="en-US" sz="2600" b="1" dirty="0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返回示例</a:t>
            </a:r>
            <a:endParaRPr kumimoji="1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rgbClr val="357FE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628453" y="38258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57580" y="1402080"/>
            <a:ext cx="8968105" cy="33966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t>业务接口调用成功后</a:t>
            </a:r>
            <a:r>
              <a:rPr lang="en-US"/>
              <a:t>,</a:t>
            </a:r>
            <a:r>
              <a:rPr lang="en-US" altLang="zh-CN">
                <a:sym typeface="+mn-ea"/>
              </a:rPr>
              <a:t>response</a:t>
            </a:r>
            <a:r>
              <a:t>返回的具体响应信息，不同的接口返回的model不同</a:t>
            </a:r>
            <a:r>
              <a:rPr lang="zh-CN"/>
              <a:t>，看接口文档响应业务参数说明。</a:t>
            </a:r>
            <a:endParaRPr lang="zh-CN"/>
          </a:p>
          <a:p/>
          <a:p>
            <a:r>
              <a:rPr lang="zh-CN" altLang="en-US">
                <a:sym typeface="+mn-ea"/>
              </a:rPr>
              <a:t>以发票开具接口为例：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{</a:t>
            </a:r>
            <a:endParaRPr lang="zh-CN" altLang="en-US"/>
          </a:p>
          <a:p>
            <a:r>
              <a:rPr lang="zh-CN" altLang="en-US"/>
              <a:t>    "method": "baiwang.s.outputinvoice.invoice",</a:t>
            </a:r>
            <a:endParaRPr lang="zh-CN" altLang="en-US"/>
          </a:p>
          <a:p>
            <a:r>
              <a:rPr lang="zh-CN" altLang="en-US"/>
              <a:t>    "requestId": "c6cdfad1-b530-4c4e-9aaf-f50e511746f4",</a:t>
            </a:r>
            <a:endParaRPr lang="zh-CN" altLang="en-US"/>
          </a:p>
          <a:p>
            <a:r>
              <a:rPr lang="zh-CN" altLang="en-US"/>
              <a:t>    "response": {</a:t>
            </a:r>
            <a:endParaRPr lang="zh-CN" altLang="en-US"/>
          </a:p>
          <a:p>
            <a:r>
              <a:rPr lang="zh-CN" altLang="en-US"/>
              <a:t>        "serialNo": "</a:t>
            </a:r>
            <a:r>
              <a:rPr lang="zh-CN" altLang="en-US">
                <a:solidFill>
                  <a:srgbClr val="FF0000"/>
                </a:solidFill>
              </a:rPr>
              <a:t>24061517171901000063</a:t>
            </a:r>
            <a:r>
              <a:rPr lang="zh-CN" altLang="en-US"/>
              <a:t>"</a:t>
            </a:r>
            <a:endParaRPr lang="zh-CN" altLang="en-US"/>
          </a:p>
          <a:p>
            <a:r>
              <a:rPr lang="zh-CN" altLang="en-US"/>
              <a:t>    },</a:t>
            </a:r>
            <a:endParaRPr lang="zh-CN" altLang="en-US"/>
          </a:p>
          <a:p>
            <a:r>
              <a:rPr lang="zh-CN" altLang="en-US"/>
              <a:t>    "success": true</a:t>
            </a:r>
            <a:endParaRPr lang="zh-CN" altLang="en-US"/>
          </a:p>
          <a:p>
            <a:r>
              <a:rPr lang="zh-CN" altLang="en-US"/>
              <a:t>}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43610" y="187362"/>
            <a:ext cx="8296802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57FE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接口联调</a:t>
            </a:r>
            <a:r>
              <a:rPr kumimoji="1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57FE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kumimoji="1" lang="zh-CN" altLang="en-US" sz="2600" b="1" dirty="0" smtClean="0">
                <a:solidFill>
                  <a:srgbClr val="357F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以开具为例</a:t>
            </a:r>
            <a:endParaRPr kumimoji="1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rgbClr val="357FE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628453" y="38258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93338" y="902190"/>
            <a:ext cx="11280742" cy="5539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00000"/>
              </a:lnSpc>
              <a:buFont typeface="Wingdings" panose="05000000000000000000" charset="0"/>
              <a:buChar char="l"/>
            </a:pPr>
            <a:r>
              <a:rPr lang="zh-CN" altLang="en-US" sz="1600" dirty="0"/>
              <a:t>请求URL：https://sandbox-openapi.baiwang.com/router/rest?method=baiwang.s.outputinvoice.invoice&amp;version=6.0&amp;appKey=1002948&amp;format=json&amp;timestamp=1718443591000&amp;token=582f166f-f245-4cde-bbef-764bea18f975&amp;type=sync&amp;sign=E8930261C62B5079375EE04D4AE43493,</a:t>
            </a:r>
            <a:endParaRPr lang="zh-CN" altLang="en-US" sz="1600" dirty="0"/>
          </a:p>
          <a:p>
            <a:pPr>
              <a:lnSpc>
                <a:spcPct val="100000"/>
              </a:lnSpc>
            </a:pPr>
            <a:endParaRPr lang="zh-CN" altLang="en-US" sz="1600" dirty="0"/>
          </a:p>
          <a:p>
            <a:pPr marL="285750" indent="-285750">
              <a:lnSpc>
                <a:spcPct val="100000"/>
              </a:lnSpc>
              <a:buFont typeface="Wingdings" panose="05000000000000000000" charset="0"/>
              <a:buChar char="l"/>
            </a:pPr>
            <a:r>
              <a:rPr lang="zh-CN" altLang="en-US" sz="1600" dirty="0"/>
              <a:t>请求报文：{</a:t>
            </a:r>
            <a:r>
              <a:rPr lang="zh-CN" altLang="en-US" sz="1600" dirty="0">
                <a:solidFill>
                  <a:schemeClr val="accent6">
                    <a:lumMod val="75000"/>
                  </a:schemeClr>
                </a:solidFill>
              </a:rPr>
              <a:t>"orderNo":"20240618010103"</a:t>
            </a:r>
            <a:r>
              <a:rPr lang="zh-CN" altLang="en-US" sz="1600" dirty="0"/>
              <a:t>,"orderDateTime":"2024-06-18 14:35:30","invoiceTerminalCode":"","taxNo":"338888888888SMB","sellerName":"","sellerAddress":"","sellerPhone":"","sellerBankName":"","sellerBankNumber":"","drawer":"","payee":"","checker":"","buyerTaxNo":"","buyerName":"张三","buyerAddress":"","buyerTelephone":"","buyerBankName":"","buyerBankNumber":"","invoiceType":"1","invoiceTypeCode":"02","invoiceSpecialMark":"","remarks":"","priceTaxMark":"1","invoiceListMark":"","naturalMark":"1","pushEmail":"","pushPhone":"","callBackUrl":"","redInfoNo":"","originalInvoiceCode":"","originalInvoiceNo":"","originalDigitInvoiceNo":"","redInvoiceLabel":"","customField1":"","customField2":"","customField3":"","invoiceDetailList":[{"goodsName":"旅游服务","goodsPersonalCode":"","goodsCode":"3070301000000000000","goodsQuantity":"1","goodsPrice":"100","goodsTaxRate":"0.13","goodsTotalPriceTax":"","goodsTotalPrice":"","goodsTotalTax":"","goodsSpecification":"","goodsUnit":"","invoiceLineNature":"","deductibleAmount":"","freeTaxMark":"","preferentialMark":"","vatSpecialManagement":"","detailCustomField1":"","detailCustomField2":"","detailCustomField3":"","detailCustomField4":"","detailCustomField5":""}]}</a:t>
            </a:r>
            <a:endParaRPr lang="zh-CN" altLang="en-US" sz="1600" dirty="0"/>
          </a:p>
          <a:p>
            <a:pPr>
              <a:lnSpc>
                <a:spcPct val="100000"/>
              </a:lnSpc>
            </a:pPr>
            <a:endParaRPr lang="zh-CN" altLang="en-US" sz="1600" dirty="0"/>
          </a:p>
          <a:p>
            <a:pPr marL="285750" indent="-285750">
              <a:lnSpc>
                <a:spcPct val="100000"/>
              </a:lnSpc>
              <a:buFont typeface="Wingdings" panose="05000000000000000000" charset="0"/>
              <a:buChar char="l"/>
            </a:pPr>
            <a:r>
              <a:rPr lang="zh-CN" altLang="en-US" sz="1600" dirty="0"/>
              <a:t>响应报文:{"method":"baiwang.s.outputinvoice.invoice","requestId":"4f5158ec-47aa-4465-8b83-c161d018cfe7","errorResponse":{"code":100006,"message":"</a:t>
            </a:r>
            <a:r>
              <a:rPr lang="zh-CN" altLang="en-US" sz="1600" dirty="0">
                <a:solidFill>
                  <a:srgbClr val="FF0000"/>
                </a:solidFill>
              </a:rPr>
              <a:t>远程服务错误</a:t>
            </a:r>
            <a:r>
              <a:rPr lang="zh-CN" altLang="en-US" sz="1600" dirty="0"/>
              <a:t>","subCode":"A0253","subMessage":"</a:t>
            </a:r>
            <a:r>
              <a:rPr lang="zh-CN" altLang="en-US" sz="1600" dirty="0">
                <a:solidFill>
                  <a:srgbClr val="FF0000"/>
                </a:solidFill>
              </a:rPr>
              <a:t>开票单号不能重复</a:t>
            </a:r>
            <a:r>
              <a:rPr lang="zh-CN" altLang="en-US" sz="1600" dirty="0"/>
              <a:t>"},"success":false}</a:t>
            </a:r>
            <a:r>
              <a:rPr lang="zh-CN" altLang="en-US" sz="1600" dirty="0" smtClean="0"/>
              <a:t> </a:t>
            </a:r>
            <a:r>
              <a:rPr lang="zh-CN" altLang="en-US" sz="1600" dirty="0"/>
              <a:t> </a:t>
            </a:r>
            <a:endParaRPr lang="zh-CN" altLang="en-US" sz="1600" dirty="0"/>
          </a:p>
          <a:p>
            <a:pPr>
              <a:lnSpc>
                <a:spcPct val="100000"/>
              </a:lnSpc>
            </a:pPr>
            <a:endParaRPr lang="zh-CN" altLang="en-US" sz="1600" dirty="0"/>
          </a:p>
          <a:p>
            <a:r>
              <a:rPr lang="zh-CN" altLang="en-US" b="1" dirty="0">
                <a:solidFill>
                  <a:srgbClr val="C00000"/>
                </a:solidFill>
              </a:rPr>
              <a:t>哪个是开票单号？应该改成什么？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43610" y="187362"/>
            <a:ext cx="8296802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57FE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部分接口响应示例</a:t>
            </a:r>
            <a:endParaRPr kumimoji="1" lang="en-US" altLang="zh-CN" sz="2600" b="1" i="0" u="none" strike="noStrike" kern="1200" cap="none" spc="0" normalizeH="0" baseline="0" noProof="0" dirty="0" smtClean="0">
              <a:ln>
                <a:noFill/>
              </a:ln>
              <a:solidFill>
                <a:srgbClr val="357FE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628453" y="38258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9285" y="933450"/>
            <a:ext cx="1100328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接口请求失败示例：输出</a:t>
            </a:r>
            <a:r>
              <a:rPr lang="en-US" altLang="zh-CN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subMessage</a:t>
            </a:r>
            <a:endParaRPr sz="14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{"method":"baiwang.s.outputinvoice.invoice","requestId":"b9d015ca-a8fd-43e2-9be5-7e3d8d429003","errorResponse":{"code":100006,"message":"</a:t>
            </a:r>
            <a:r>
              <a:rPr sz="140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远程服务错误</a:t>
            </a:r>
            <a:r>
              <a:rPr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","subCode":"-1","</a:t>
            </a:r>
            <a:r>
              <a:rPr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subMessage</a:t>
            </a:r>
            <a:r>
              <a:rPr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":"</a:t>
            </a:r>
            <a:r>
              <a:rPr sz="140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该appKey无权操作此税号信息—税号=[3388888888]</a:t>
            </a:r>
            <a:r>
              <a:rPr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"},</a:t>
            </a:r>
            <a:r>
              <a:rPr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"success":false</a:t>
            </a:r>
            <a:r>
              <a:rPr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  <a:endParaRPr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29285" y="2861945"/>
            <a:ext cx="11104245" cy="37973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接口调用成功示例：关注状态字段，输出</a:t>
            </a:r>
            <a:r>
              <a:rPr lang="en-US" altLang="zh-CN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errorMessage</a:t>
            </a:r>
            <a:endParaRPr lang="zh-CN" altLang="en-US" sz="14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{"method":"baiwang.s.outputinvoice.query","requestId":"457b10e4-258a-4c1d-8c18-b87d5524a6f2","</a:t>
            </a:r>
            <a:r>
              <a:rPr lang="zh-CN" altLang="en-US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response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":[{"serialNo":"3464564565","orderNo":"566756",</a:t>
            </a:r>
            <a:r>
              <a:rPr lang="zh-CN" altLang="en-US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"status":"02"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,"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statusMessage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":"开票失败","</a:t>
            </a:r>
            <a:r>
              <a:rPr lang="zh-CN" altLang="en-US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errorMessage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":"</a:t>
            </a:r>
            <a:r>
              <a:rPr lang="zh-CN" altLang="en-US" sz="140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[70031]当前操作需登录电子税局，请使用135数电账号进行电子税局的登录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","xmlUrl":"","pdfUrl":"","orderDateTime":"2024-06-17 13:59:32","invoiceTime":"","invoiceCode":"","invoiceNo":"","invoiceTotalPrice":"6221.29","invoiceTotalTax":"373.28","invoiceTotalPriceTax":"6594.57","priceTaxMark":"","buyerName":"重庆","certificateType":"","buyerTaxNo":"","buyerAddress":"","buyerTelephone":"","buyerBankName":"","buyerBankNumber":"","invoiceTypeCode":"02","drawer":"张三","payee":"","checker":"","sellerBankNumber":"7842106","sellerBankName":"支行","sellerPhone":"1318671","sellerAddress":"座","taxNo":"","sellerName":"","remarks":"","requestSource":0,"invoiceSpecialMark":"00","paperInvoiceType":"","invoiceTerminalCode":"135","drawerAccount":"","originalInvoiceCode":"","originalInvoiceNo":"","invoiceListMark":"0","invoiceListName":"","pushPhone":"","pushEmail":"2134","statusUpdateTime":"2024-06-17 13:59:33","invoiceType":"1","naturalMark":"0","invoiceDetailList":[],"mulPurchaserMark":"0"}],</a:t>
            </a:r>
            <a:r>
              <a:rPr lang="zh-CN" altLang="en-US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"success":true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43610" y="187362"/>
            <a:ext cx="8296802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57FE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工具</a:t>
            </a:r>
            <a:endParaRPr kumimoji="1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rgbClr val="357FE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628453" y="38258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35842" y="1057724"/>
            <a:ext cx="10594798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工具推荐：</a:t>
            </a:r>
            <a:endParaRPr lang="en-US" altLang="zh-CN" dirty="0" smtClean="0"/>
          </a:p>
          <a:p>
            <a:r>
              <a:rPr lang="zh-CN" altLang="en-US" dirty="0" smtClean="0"/>
              <a:t>时间戳获取及转换：</a:t>
            </a:r>
            <a:r>
              <a:rPr lang="en-US" altLang="zh-CN" dirty="0" smtClean="0">
                <a:hlinkClick r:id="rId1"/>
              </a:rPr>
              <a:t>https</a:t>
            </a:r>
            <a:r>
              <a:rPr lang="en-US" altLang="zh-CN" dirty="0">
                <a:hlinkClick r:id="rId1"/>
              </a:rPr>
              <a:t>://</a:t>
            </a:r>
            <a:r>
              <a:rPr lang="en-US" altLang="zh-CN" dirty="0" smtClean="0">
                <a:hlinkClick r:id="rId1"/>
              </a:rPr>
              <a:t>www.sojson.com/unixtime.html</a:t>
            </a:r>
            <a:endParaRPr lang="en-US" altLang="zh-CN" dirty="0" smtClean="0"/>
          </a:p>
          <a:p>
            <a:r>
              <a:rPr lang="en-US" altLang="zh-CN" dirty="0" smtClean="0"/>
              <a:t>MD5</a:t>
            </a:r>
            <a:r>
              <a:rPr lang="zh-CN" altLang="en-US" dirty="0" smtClean="0"/>
              <a:t>：</a:t>
            </a:r>
            <a:r>
              <a:rPr lang="en-US" altLang="zh-CN" dirty="0">
                <a:hlinkClick r:id="rId2"/>
              </a:rPr>
              <a:t>https://</a:t>
            </a:r>
            <a:r>
              <a:rPr lang="en-US" altLang="zh-CN" dirty="0" smtClean="0">
                <a:hlinkClick r:id="rId2"/>
              </a:rPr>
              <a:t>tool.chinaz.com/Tools/md5.aspx</a:t>
            </a:r>
            <a:endParaRPr lang="en-US" altLang="zh-CN" dirty="0" smtClean="0"/>
          </a:p>
          <a:p>
            <a:r>
              <a:rPr lang="en-US" altLang="zh-CN" dirty="0" smtClean="0"/>
              <a:t>MD5</a:t>
            </a:r>
            <a:r>
              <a:rPr lang="zh-CN" altLang="en-US" dirty="0" smtClean="0"/>
              <a:t>、</a:t>
            </a:r>
            <a:r>
              <a:rPr lang="en-US" altLang="zh-CN" dirty="0" smtClean="0"/>
              <a:t>SHA</a:t>
            </a:r>
            <a:r>
              <a:rPr lang="zh-CN" altLang="en-US" dirty="0" smtClean="0"/>
              <a:t>加密：</a:t>
            </a:r>
            <a:r>
              <a:rPr lang="en-US" altLang="zh-CN" dirty="0" smtClean="0">
                <a:hlinkClick r:id="rId3"/>
              </a:rPr>
              <a:t>https</a:t>
            </a:r>
            <a:r>
              <a:rPr lang="en-US" altLang="zh-CN" dirty="0">
                <a:hlinkClick r:id="rId3"/>
              </a:rPr>
              <a:t>://</a:t>
            </a:r>
            <a:r>
              <a:rPr lang="en-US" altLang="zh-CN" dirty="0" smtClean="0">
                <a:hlinkClick r:id="rId3"/>
              </a:rPr>
              <a:t>www.wetools.com/md5</a:t>
            </a:r>
            <a:endParaRPr lang="en-US" altLang="zh-CN" dirty="0" smtClean="0"/>
          </a:p>
          <a:p>
            <a:r>
              <a:rPr lang="en-US" altLang="zh-CN" dirty="0" smtClean="0"/>
              <a:t>Base64</a:t>
            </a:r>
            <a:r>
              <a:rPr lang="zh-CN" altLang="en-US" dirty="0" smtClean="0"/>
              <a:t>图片在线转化：</a:t>
            </a:r>
            <a:r>
              <a:rPr lang="en-US" altLang="zh-CN" dirty="0">
                <a:hlinkClick r:id="rId4"/>
              </a:rPr>
              <a:t>https://tool.chinaz.com/tools/imgtobase</a:t>
            </a:r>
            <a:r>
              <a:rPr lang="en-US" altLang="zh-CN" dirty="0" smtClean="0">
                <a:hlinkClick r:id="rId4"/>
              </a:rPr>
              <a:t>/</a:t>
            </a:r>
            <a:endParaRPr lang="en-US" altLang="zh-CN" dirty="0" smtClean="0"/>
          </a:p>
          <a:p>
            <a:r>
              <a:rPr lang="en-US" altLang="zh-CN" dirty="0" smtClean="0"/>
              <a:t>Post</a:t>
            </a:r>
            <a:r>
              <a:rPr lang="zh-CN" altLang="en-US" dirty="0" smtClean="0"/>
              <a:t>在线请求：</a:t>
            </a:r>
            <a:r>
              <a:rPr lang="en-US" altLang="zh-CN" dirty="0" smtClean="0"/>
              <a:t>ttps</a:t>
            </a:r>
            <a:r>
              <a:rPr lang="en-US" altLang="zh-CN" dirty="0"/>
              <a:t>://v7.apipost.cn/apis?utm_source=10124&amp;bd_vid=10503511693880400106#/</a:t>
            </a:r>
            <a:r>
              <a:rPr lang="en-US" altLang="zh-CN" dirty="0" smtClean="0"/>
              <a:t>apis/run</a:t>
            </a:r>
            <a:endParaRPr lang="en-US" altLang="zh-CN" dirty="0" smtClean="0"/>
          </a:p>
          <a:p>
            <a:r>
              <a:rPr lang="zh-CN" altLang="en-US" dirty="0" smtClean="0"/>
              <a:t>字数统计：</a:t>
            </a:r>
            <a:r>
              <a:rPr lang="en-US" altLang="zh-CN" dirty="0">
                <a:hlinkClick r:id="rId5"/>
              </a:rPr>
              <a:t>https://</a:t>
            </a:r>
            <a:r>
              <a:rPr lang="en-US" altLang="zh-CN" dirty="0" smtClean="0">
                <a:hlinkClick r:id="rId5"/>
              </a:rPr>
              <a:t>tool.lu/wordcount/</a:t>
            </a:r>
            <a:endParaRPr lang="en-US" altLang="zh-CN" dirty="0" smtClean="0"/>
          </a:p>
          <a:p>
            <a:r>
              <a:rPr lang="en-US" altLang="zh-CN" dirty="0" err="1" smtClean="0"/>
              <a:t>Json</a:t>
            </a:r>
            <a:r>
              <a:rPr lang="zh-CN" altLang="en-US" dirty="0" smtClean="0"/>
              <a:t>格式化：</a:t>
            </a:r>
            <a:r>
              <a:rPr lang="en-US" altLang="zh-CN" dirty="0"/>
              <a:t> https://www.bejson.com/</a:t>
            </a:r>
            <a:endParaRPr lang="en-US" altLang="zh-CN" dirty="0" smtClean="0"/>
          </a:p>
          <a:p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C:\Users\Administrator\Desktop\bt88\图片3.png"/>
          <p:cNvPicPr>
            <a:picLocks noChangeAspect="1" noChangeArrowheads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" y="1587"/>
            <a:ext cx="12187592" cy="6856414"/>
          </a:xfrm>
          <a:prstGeom prst="rect">
            <a:avLst/>
          </a:prstGeom>
          <a:noFill/>
        </p:spPr>
      </p:pic>
      <p:sp>
        <p:nvSpPr>
          <p:cNvPr id="13" name="矩形 12"/>
          <p:cNvSpPr/>
          <p:nvPr/>
        </p:nvSpPr>
        <p:spPr>
          <a:xfrm>
            <a:off x="2205" y="1587"/>
            <a:ext cx="12187592" cy="6858000"/>
          </a:xfrm>
          <a:prstGeom prst="rect">
            <a:avLst/>
          </a:prstGeom>
          <a:solidFill>
            <a:srgbClr val="0070C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Rectangle 5"/>
          <p:cNvSpPr/>
          <p:nvPr/>
        </p:nvSpPr>
        <p:spPr>
          <a:xfrm>
            <a:off x="3063128" y="2706686"/>
            <a:ext cx="5933366" cy="1446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8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THANKS</a:t>
            </a:r>
            <a:endParaRPr lang="en-US" sz="2000" dirty="0">
              <a:solidFill>
                <a:schemeClr val="bg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38" name="Group 38"/>
          <p:cNvGrpSpPr/>
          <p:nvPr/>
        </p:nvGrpSpPr>
        <p:grpSpPr>
          <a:xfrm>
            <a:off x="5303475" y="5209077"/>
            <a:ext cx="1574695" cy="160767"/>
            <a:chOff x="5548426" y="3343939"/>
            <a:chExt cx="833173" cy="85061"/>
          </a:xfrm>
        </p:grpSpPr>
        <p:sp>
          <p:nvSpPr>
            <p:cNvPr id="39" name="Oval 31"/>
            <p:cNvSpPr/>
            <p:nvPr/>
          </p:nvSpPr>
          <p:spPr>
            <a:xfrm>
              <a:off x="5548426" y="3343939"/>
              <a:ext cx="85061" cy="85061"/>
            </a:xfrm>
            <a:prstGeom prst="ellipse">
              <a:avLst/>
            </a:prstGeom>
            <a:solidFill>
              <a:srgbClr val="27C5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2"/>
            <p:cNvSpPr/>
            <p:nvPr/>
          </p:nvSpPr>
          <p:spPr>
            <a:xfrm>
              <a:off x="5698049" y="3343939"/>
              <a:ext cx="85061" cy="85061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33"/>
            <p:cNvSpPr/>
            <p:nvPr/>
          </p:nvSpPr>
          <p:spPr>
            <a:xfrm>
              <a:off x="5847671" y="3343939"/>
              <a:ext cx="85061" cy="8506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34"/>
            <p:cNvSpPr/>
            <p:nvPr/>
          </p:nvSpPr>
          <p:spPr>
            <a:xfrm>
              <a:off x="5997294" y="3343939"/>
              <a:ext cx="85061" cy="85061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35"/>
            <p:cNvSpPr/>
            <p:nvPr/>
          </p:nvSpPr>
          <p:spPr>
            <a:xfrm>
              <a:off x="6146917" y="3343939"/>
              <a:ext cx="85061" cy="85061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36"/>
            <p:cNvSpPr/>
            <p:nvPr/>
          </p:nvSpPr>
          <p:spPr>
            <a:xfrm>
              <a:off x="6296538" y="3343939"/>
              <a:ext cx="85061" cy="8506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3" name="图片 32" descr="百望云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8699" y="1266614"/>
            <a:ext cx="2485658" cy="8576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TABLE_ENDDRAG_ORIGIN_RECT" val="801*254"/>
  <p:tag name="TABLE_ENDDRAG_RECT" val="75*123*801*254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COMMONDATA" val="eyJoZGlkIjoiNzk0NTkwNDkwZmM2MzU5NWEyMmU3NWIzNmY4MjAxNDQ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ECB019B1-382A-4266-B25C-5B523AA43C14-1">
      <extobjdata type="ECB019B1-382A-4266-B25C-5B523AA43C14" data="ewoJIkZpbGVJZCIgOiAiMzA0Mjc3OTAxMTUzIiwKCSJHcm91cElkIiA6ICIzMjM0MDQ1MCIsCgkiSW1hZ2UiIDogImlWQk9SdzBLR2dvQUFBQU5TVWhFVWdBQUJISUFBQVJ5Q0FZQUFBRExTOUxzQUFBQUFYTlNSMElBcnM0YzZRQUFJQUJKUkVGVWVKenMzVmx3WFBkNTkvbGY3MmpzTzBBc0pMaFRKQ1ZTdTJTSmtpemFrcnhFeVd0YmswcnN1Q2FwVktVcWN6TTFjNU5jVFRJWFU3bnhSYXB5OTViTGxibndwR0xuZFp6WGxtMXQxbTV0bENoSzRyNkFBTEh2TzlEclhEeDlkSG81alkwQWdTYS9ueW9FN05PblQvLzc5SUdTODh2emYvNitkRHFkRmdBQUFBQUFBTFk5LzFZUEFBQUFBQUFBQUt0RGtBTUFBQUFBQUZBaUNISUFBQUFBQUFCS0JFRU9BQUFBQUFCQWlTRElBUUFBQUFBQUtCRUVPUUFBQUFBQUFDV0NJQWNBQUFBQUFLQkVFT1FBQUFBQUFBQ1VDSUljQUFBQUFBQ0FFa0dRQXdBQUFBQUFVQ0lJY2dBQUFBQUFBRW9FUVE0QUFBQUFBRUNKSU1nQkFBQUFBQUFvRVFRNUFBQUFBQUFBSllJZ0J3QUFBQUFBb0VRUTVBQUFBQUFBQUpRSWdod0FBQUFBQUlBU1FaQURBQUFBQUFCUUlnaHlBQUFBQUFBQVNnUkJEZ0FBQUFBQVFJa2d5QUVBQUFBQUFDZ1JCRGtBQUFBQUFBQWxnaUFIQUFBQUFBQ2dSQkRrQUFBQUFBQUFsQWlDSEFBQUFBQUFnQkpCa0FNQUFBQUFBRkFpQ0hJQUFBQUFBQUJLQkVFT0FBQUFBQUJBaVNESUFRQUFBQUFBS0JFRU9RQUFBQUFBQUNXQ0lBY0FBQUFBQUtCRUVPUUFBQUFBQUFDVUNJSWNBQUFBQUFDQUVrR1FBd0FBQUFBQVVDSUljZ0FBQUFBQUFFcEVjS3NIQUd3WDQ3TngvZWJNdUM0UEwyejFVQUJzUTEyTlpmcm1QZlZxcWc1djlWQUFBQUJ3QnlQSUFUSmVQeitwLy9QZnJtaG9PcmJWUXdHd0RUVlVodVR6U1Q5OHJIV3Jod0lBQUlBN0dGT3JnSXplOFNWQ0hBQkZqYzNHZFcxa2NhdUhBUUFBZ0RzY0ZUbUFoLzA3cW5WOGQvMVdEd1BBTnZCRjc2VE85azV1OVRBQUFBQUFTUVE1Z0tmOWJkVjY0Ykd1clI0R2dPM2duVzZDSEFBQUFHd2JUSzBDQUFBQUFBQW9FUVE1QUFBQUFBQUFKWUlnQndBQUFBQUFvRVFRNUFBQUFBQUFBSlFJZ2h3QUFBQUFBSUFTUVpBREFBQUFBQUJRSWdoeUFBQUFBQUFBU2dSQkRnQUFBQUFBUUlrZ3lBRUFBQUFBQUNnUkJEa0FBQUFBQUFBbGdpQUhBQUFBQUFDZ1JCRGtBQUFBQUFBQWxBaUNIQUFBQUFBQWdCSkJrQU1BQUFBQUFGQWlDSElBM1BaQ2VmK2wyMU1uSFcxMkgwY0NVbFA1NW82aHZWcHFxL0orcmo0cTdhM2YzUGNIQUFBQWNIc0lidlVBQU55ZWZMTHdZajNHRjZUNXVQMjdPaUk5dTIvMXIvMm9YN28yNFQ0TytxVnZINVErR1pDNkoyMWJXNVdVVEx2N05GZElEM1ZJVjhhbE0wTlNLdXU1Sjd1a3BvcjFmWTQzcmtrajgvYnZqbW9wbVpMNlp3cjNDL2lsNDYzUzRJdzBGL2MrVnRBditYMXJlLzlZY20zN0F3QUFBTmorQ0hJQWJJcWdYM3F3M1gzczkwaytuNFVaMlh3K0tlQ3pZQ1dkQ1ZBK0hwQ3VUK2J1OS90ckt3Y1RKM1lWYnV1c3NmZm9tM2EzVlpkSlY4ZmR4NzNUMHRKMTZaRk9xYUZjZXZXcSs5eWIzWVhIL09ZQjZWUy9ORFJyajcrMlY3b3dLdlZPNWU2WExueXBKQXVPOWpjVWJuKzRVMXBLdUkvN1o5eFE2b0UyK3l5cmxVaEp2emkzK3YwQkFBQUFsQWFDSEFDYklwNFhKQnh2bFdxajB1dlhjdmVyajBvbjkwZ3ZYcFFXRXlvcW1jNnRsRm10M1hWUy83U0ZPZUdBRkFwSUZTR3JmQWtIM1AwbUY2VTN1cVhLc0xzOWxyUXc1cUVPS1p3MVBTc1NsSTQwUy9zeTA2RXF3dExCUm1sblZ0QnlhZHlDbnFZS203cFZIckx4ZDFUYnVSbVprNkloQzF6aVNYc3NXZUJWRVpabWxxVFpXTzVuR1ptWFByaXg4bWZ1cXJYeEFBQUFBTGo5RU9RQUtBbFBkYTI4VDlDajYxZDFSR3FJRmxhelBOS3g4dkYrZFVGYVNFZ3RGZEs1RVdsNnliYlhSYTNDWjN6QkhsZEZwSUVaYVRnVHhoeHJ0ZUJHa25iWDJ2N1JrRlVjSFdtMmFWNFh4NndDS09DVDN1bHgzL1BlSFRiMTY3ZURGdmhrUzZiY0tXZkxZVW9WQUFBQWNQc2l5QUZRRW41OWNlV0E0aHY3QzdmOTlwTDE2M0VjMzJFaHk3czloZnZteTY0UUdsOXdnNXRVMmlwNG5PQW1rWkttbHR6SDJlUDhvTTkrUDl4aFFjeEgvZTV6SC9kTGorK1NhaUwyK3ZacXErcDVvN3N3eEFFQUFBQUFpU0FIUUluNDFvR1Y5L0dxeU1rT1kzeXkvalJuUjZ6U1ppMk90ZG9VS01sN2F0V2hSbWxYcHVxbnBrelNsT2RoSkVsZjNTM1Zscm1Qbjk1anZ3Tis5M25Kd3B4ZlhWamJPQUVBQUFEYzNnaHlBR3lLbGtyckRlT29pa2hsZ2R3K01wTDFwSkdzR2lXZVZjbHlZenEzSjg1cW1oMDdBVWd4clpYVy8rYnVsdHpseC9POWRWMGFuWGNmVHl4S042YmNhVTBYeDNMM3ozKzhPNVhidE5nUkR0clM1NmNIcEtYTVovSDdySi9OdFlubGV3UUJBQUFBZ0VTUUEyQ1Q3S3UzUnNhT1VNQXFZbzYxNXU3bkxLbDlwTmxkdFVxU0JtYzN2dGZML2dhYi90UlFiazJEblo0M2p2WnFHOGRjWHBQaEQyOVlzK1RWK25UUURhV2FLcVFkbFZZSlZCYVVxc01XRkRtaDBQNEdlOS9QaHVodEF3QUFBR0JsQkRrQU5zVTdlVDFvSG1pemhyOXZYYy9kN3F4YTlkTGw1U3RTVnFxMmtieW5WbVcvVDB1bDlOcFZxYXRPNnFpUjNzOWFBY3J2cyszWEpncW5YVDNSWlNITVdudzJKSFZQU2crMVcvVk5QQ1VOVFZyUG5LL3RsYW95bFVqT2RDcXZxV1BUUzdsTG9RTUFBQUFBUVE2QVc2SXM2RDNkYUxYVzIrelljWGVMVmVPTUxkalM0OC90bHpxcnBkNXBlLzYrSFJZRWZUYVUrN3FnMzZaMXJZZmZKNzE4eGNiOWNJYzdWZXlkNjFiaDgxQ0hsRWhLSHcrNHIzbDhseTFGZm1GMGZjdXRBd0FBQUxpOUVlUUF1Q1hxb3RLbHNaWDNjM1JVVy9qaVRMMzYydDdjcVZkZXlrUDJta09OMHZWSmEyb3NTWHZyYllyVFM1ZnQ4V0pDK3JEUHdoWDF1Y3VUdjM0dGQ3V29nRS82bzRQRjN5L2d0ekVWQzF5dVR0ZzBxM3dMQ1dsWHJkUlVuanZOcXIzS2VnYTkyVTIvSEFBQUFBRGVDSElBYkxyT2FxdklHWmhaL1d2R0Z3cERrS0RmcG1mTlpQVzJpWWFrV0VKSzVvVXBUcCtiNm9oMFQ0dDBmaVMzSjA3ZnRIUnVSSHFrd3g2L2ZkMmFHbWRMcHFWZm5ITWZONVhiNTNDcWVCN2ZhY3VRZno1czA3YmlTWGVKOHBVTXpVcm5SNlZIT3UwWWZkUFdnUG1UZ2VJaFRqaGdnZFJLbkFiU0FBQUFBRzQvQkRrQU5sVmp1WFIvdTRVZlUwc3I3KytZajd1VktoVWhhVitEdEx0T1dvaGJaWTJUMjV6Y1l5dGk5VTlMdlZQV0pObDVyaUprL1cwbUY2VXZodDFqMTVaWmxVNVhyVTIzaWdRdFVMa3libFZEK1QxeUlwbVZycnJxck5MSENYS3k3YWkwTVE3T1NsOE1GWVpDK1JZVE5vM3I2cmowNUc3cGVLdFY5cFFGTGJEeG1rWldGN1h3YUNWK0g5T3lBQUFBZ05zVlFRNkFUUkgwUzNjMTJkTGF3N08yOHROYStIMFczT3lzc1RCb1ppblRRSGpDRFdva213NjFvOHFtS24xbHA1UklTZjB6MHVkRDl0N3hwRFZlYmlpMy9kcXJyZEh3Nkx6MGJvODBNR3ZIMlYxbksxWWRiTFRBYVdqV0tuWU9OVnBBTTdWb2paSVRLYW11ek1aWEc3VWdTSkpPRDFxajVIdGFiUnBZLzR4VkZKVUY3VncwUkcyYlQxWWwxRkF1dFZaWkFEU3pKTDNSSjBXRDBxRW1PMjg5azdhc2VYWVYwZEJzWWJOb0wvdnFMWGdDQUFBQWNQc2h5QUd3S1pvckxGRDRmTWltRUsxVk9pM3RxWk1tRml6QUdaMzMzaStabG01TTIwODRZRlUyN2RWVzBYSm15RUtVV05KNjRIUlVXOVhPSHlZdG1NbDJiY0txYlRxcXJWb25scFNTS1F1UlR2VkoxNmRzdjJPdDBvRUdDNU1tRjZXZUtmY1lVMHNXdExSV1NvZWJMZlE1a0ZsZWZDRmh4NjhNUzEvZlo4Y2ZtTEVwWFVOejdqR3VUOWtZampiYmE1eEtvdDRweWIvTXFselp4dWJkL2tBQUFBQUFiaThFT1FBMlJmK005S3NMdWMyRHZZd3ZTRC83b25CN1dyYmkwMXJFa2xiRmN0RnBxcHkyTUVXU1RnOVkvNW5scE5JV3pHU0hNNi9sclZqMTZhQjNBK05zZzdQMkkwbnY5aFkrLytKRmQ5cVlseHZUMWpQSDUzTzM5YTJodjlERTRzcFR1d0FBQUFDVUpvSWNBSnRtcFJEblZ0cE9MV09XQzNFY2FhMjhTaGNBQUFDQU84OHFDL1VCQUFBQUFBQ3cxUWh5QUFBQUFBQUFTZ1JCRGdBQUFBQUFRSWtneUFFQUFBQUFBQ2dSQkRuQU5sSVdsSGJXMkpMWmp1ZjJTMDkyYmN6eE82cWwvM2FYMUZLNU1jZkQxdnY2M28yN1B0YnJWbDFYWEw4QUFBQUFRUTZ3YmZna1Bkb3B0VmE2UzJadnRGVGFWcEpLc1JyU2hnajVwYTVhcVR5MCtlOVZIcEwyTnhSdWo2YzI3M3BaclZ0MVhYSDlBZ0FBQUN3L0Rtd2JCeHFseXJEMDF2WE5lNC8rR2FuL3d1WWQvMDdUV2lVOTJDNjllblYxUzRyZmpMdWFMRFM2TkphNy9mVnJtL3UrcTNHcnJpdXVYd0FBQUlDS0hHQmJDUGlrZzQzU2hkR3RyNjRBQUFBQUFHeGZWT1FBMjBCSGpSUU9TTmNtaXU5VEU1R083NUFheWkzczZadVdQaDEwZzUreW9JVkJPNnBzR3M1U1F1cVprcjRZZHFlaWROWklqM1JJdjc4bUxTYWtiK3lYUGh1U3pvKzY3L1AwYnFtbVRQcmxlZmQxSGRVMjdldWx5OUxVa3RSV1pkTjhhc29zaEpwY3RMR01MN2pIZVc2L3RCQzNZOS9kSWxWSDdQRzVFYWw3TXZlejdhNlREalJZUmRKQ1Fqby9ZcCtqTGlyOWFwa0tqQU1OMHA0NnFUeHM1NkY3UWpvelZIei9xb2gwcEZscXJyQnBVUXNKcVhkS09qc3NKVE9mdGJuQ2VzNjgzU01OekdSOVI1bHo4RWEzTkR3bmZldUFPNlhxNUI3N2ZYclFLbWFjejM1MjJENTdiVlJLWnI2ejAxbmYyZEZtcTdUNXhibmNBTy9lSGRLK2V1bm5YMGpSa0wyWDQ0VWo5dnZsSzNiZW5mZDZvOXUyMzk5bTUvTzNsNlRqclZKVGhVMUg2cDJTemd4S2FkbDFjaytMKzFrY0FaLzB4M2ZaT04rL1lkdGFLNlZEamZaZCtIM1M5SkowZVR6M1dzMitya2JuM2UyN2F1MXoxSlJKNmJRMHNTaTkxZTJlNjVveUcwZGp1WTFyZU5iT1Q3SHFwdnozS1F0S2YzUlErbnpZenUrK2Vxa3NKRTB0U3A4TTVGNlBBQUFBd08yQ0lBZllCbG9ycGJGNXUrSDJFZzFLaisreW0rZXJFN2IvbmpxN2tYMm54ejFHUTdsMGNkUUNpcFlLdXdHUEozT0RHc2Rzekg1YUt0M25RMzZwdnR6KzNWanUzdVMzVk5yTjlkU1NQVDdhWWpmZGw4ZWtnTi9Da2NkM1NiKzVtUHNacWlQUzRTYnA0MzRieHoydE5oVnBha21heU54a0gyaVFqclZLUTNOV2tSVHdTNGVhYkN6SlpYcWhIRzZTRGpkYldES3hhS0ZLeFRLOWF1cktwS2QyUzdHa0JVVUxDYW1wM0VLTmhxajBlbmZ4MTNyNTRJWk5yVHJVYU9IRHpKS0ZISTZxaUFVeW53NUpzMHRTYzZVOWptUjlaNnV4bExEcGR2c2E3RHQxWGpzYksvNGFuNlJIT3UzY2ZESmdnY3FSWmd0OExvNUoxeWN0WU9xc3lRMXkycXN0ekxtYUNXbjIxRmt3TkRwdlFWMHFiYTk1b00zTzl4ZkR4Y2R3dk5YQ3ZvRVorLzRsQytjQ2ZpbVpsR3JMcEsvdWx1YmkwcWwrQzRtT05FdFBkRW0vdTJUQnptcnRyYmYzZWV1NkJhSVBkdGoxK09zTHkxOURBQUFBUUNraXlBRzJnYnBvYnZWSHZxcUlCUTBqbVp2dTNpbXJjTmhkWnpmRWs0dldQeVM3MG1WZ3hxb3gycXU5Z3h4bm43MzFkdk9lVEZzWUZFdGFTTkJhNmQ3a04xZmtqdS8xYTdhZkk1R1NIdHRwUWRMZ3JMczlGSkRlN1pHV012dCsxQ2M5ZjhoVzVwcFlzTERtYUl0OXJqZXpncFMrYWFzV1d1NG12TFhLd3BPekk4WDN5WFp2bXdVUnIxeHh4OU03WlFIVjNTMVNlNVhVdDh4M2tHOWszcW8vSkF2aDhxcy9JZ0U3VDA3Z2NtM0NncmVqemU1M3Rockp0SjNUOW1wN25IMStsM04yMks0SnljNVJaNDIwczlhQ25NV0VlOHlQKzkzUVpHZXRqWGRrenI2Ylk2MzJPYlA3OEhSUFNpZDJXWUIxZWN3OWw5bnFveGJpWEJtWFBoN0lmYTNqdmgzMjJiS3ZwWmtsNmVrOU50YWVxZFY5VHNrK3o2bCs5L0huUTFZOTFWeTUvTjhWQUFBQVVJcm9rUU5zQTVHQVZWNFVNeE56UXh6SDljeU5ibTJaL1hadWhxc2lkb04rc05HV01ZOHVVNlhTUDJPVkVJMFY5bmhIbGQzZ2o4eTVTenhIZ3pibEtmdUdPSmEwWXpkVldKaTBveXF6Yjk1N1RTM20zdWd2SmUzSDJhK3B3a0treStPNXIxdE1TR01yVEl1WldMQ0tuM3Qzckx4cVZEaGdWVGM5VTRYQmcxTjkwcnpCUzFwUEx4Vld6UXhsUWhqbk85dE1RM21Cei9SUzdubnFuckRyenZuYzRZQlYvRnpMT2g5QmYyRnpaY25PbWQ5bjM1K1h6aHI3WFN4a0N3Y3M5THN4WlNHZzMyYy9rNHNXN3RSRlYvODVKYXNPeStaVVJ0MksxY1FBQUFDQVc0MktIR0FiQ1BxWGIzSzg0TkV6SkpZSmZpS1p2K0xXU3BzR0V3MjUwNlo4UHB0bVU4ekluRTJGYXFtd0cvK1dTcHVLczVpd2lvdXlvTjNRSjlOdWRVN0FKejNRYmpmcjhhU0ZUTTVZOHQvTDZ6TWxVM1lNeVExMDVqeW1DU1ZYYVByczlBZmFWMjlWUlgzVDB1a0JtektWcnl4empyeDZyOFNTVnFrVERpei9mbXNWODZoVWNYb09SVGI1djd4cEZWWXpPWUdKbzMvR3h0aFpiZDk5WjQxZEwwN1Z6SExuekxrZWk1Mno4cEM5LzJLUmNOSTU5dDdNZDVkdnVmRFJTLzZVUk9lNjh5OTM4UU1BQUFBbGlpQUgyQVppeWVWdjdyMXVTSjJiM1lXNFRZTjV0Tk9xV0Y2KzRvWUlYOWxwbFNqRnBPVUdPSFZUZG1NK09Hc2hTanhsMjFzcXJPTEJDUWJ1YXJLYi9uZDczS2s3TldWdVZjNWFMT1dGVWRuS1Z2aXZVeXB0alpyUGpWZ1BtTHRicEsvdXNUNDkrVE95blBNUjlUaG1PR0RuMXhtTDh6a0RlZWM4dU1iNnhaREgvcFZoKyswRUlkbnZsWjE1clBXOTFpT1Z0cWxsblRVMkxXbG5qWDJmVHZqaW5MUHlvSlRmZzl1NTlvb0ZOZkdrZmFhUTM3dnZVenh6N081Sm0zNlZ6eXNFQXdBQUFHQ1lXZ1ZzQXd0eDc1REJVVnRXV1Ayd3M5WnV4b2ZuTENBSStxV2VTZmNtMk8rekJyOHI2Wit4NCsrc3RRcWRSTXBkUWFpMTBpcHkrck9tVmRXVzJYaXp0eldXci9xajVuRDZ4T3l1eTkxZUhWbjk5SnBFeXNLQUM2UFc3TmlybW1NeFlkTzhkdFlXbnNldVd2dnRmQjRuWktuSk8zZGUwNGhTbVpEQ0szaXBLWk9xd3JuYjl0VzczNW5rVnJ0a3Y1ZFAzdWN6bVZxNXdtcXR1aWZ0Zk95cXRmZThtaFdxak16WldQYzFGTDV1ZDYyZDkvenBmZzVuV3BmWGF5V3JtcHFOMmVlZVdMRCtRdGsveXpWeUJnQUFBTzUwVk9RQTI4REl2TnZNMW92UEp6MiswMVpIaWlVdGZOaFZZOVVvaXdtN3lVK2tMQkFabmJlYi9hTXRGakNrVmxpMVozREdncHV1MnR4VmlBWm1iV25vY0NDM1A4N2tvbFhmN0txMUcvYkdjdWxna1J2MmxjekdMRXpvcXJWbHBXOU0yN1NjL1EzMlhIWkEwbEV0UGRSaHEwWGRtSmFlMkdXQnlOU2lGTXlFRVROTGJqank5YjMyKytVcjl2dVRBVnNSNld0N2JXV3Z4WVNOZlYrRHJlS1VIYTZNemx2b01yRmd4Mit2OXE0NGNucXhIR3kwNnBQNXVLMmdKVmtseXBPN2JZV3NXTkpDcEtZS084ZE9KY3ZBak8xM3JGWDZxRjlLSkszaXlXdkswdlNTZmEvM3RGcHo1ZEg1NGhVeHF6VytZT2ZzY0xPRks5bDlkUllUTnRhN1cydzU5dXVUN3FwVk82cHN2TVZXV2JzeGJlZnphTE9GaklPelZxSFRVU085MzJ1diszeklWdFo2YXJmMTNJa25iZCt1T210SW5VcGIvNk9kTmRJclY3Mm4zd0VBQUFCM0lvSWNZQnZvbTdabHVHc2k3aExmMmNibWJaOUhPcTF5Wnk1dXdZVFRKRGlla3Q3dHRlRGwyWDEyVTM1aDFGYTJLdGFRMXJHVXRCdjZobWh1bGMzZ2pDMHpQYldZMjNmbTNJaE5lenJlYWt0SkQ4MUtwd1lzV0ZtUFU1bWx5WGZXU20zVkZoUzlmOE1DamNxOGlwWjBWaWcxc1dqOVZjcUM5aG1HWmkwYytITGZ2UGNabVpkZXV5WWRhYktRSytDenNPalR3Y0tHdnUvMVN2ZTEyVkxwUHA4MTVUMHphSSt6emNSc2V0ZUJSZ3VaUHVwM2c1eXBSYXNVT3RwaWxVTDUzNWxrQWMvYjF5M0krV3BtYWZUTFkvWjk3c3ZySGRNOWFhdUg3YW16ME9xMXE2cyt4Y3Zxeml4RmZuYWs4SnlkSDdWeEgyaXc4eUZadVBYMmRRdjZpa25MbGdJLzNHVGY2ODRhKzJ4RFdWUDBlcWVsWkk5OXovZG5WaFNialZsVmtCTStwdE9aTWJHRU9BQUFBUEFsWHpxZDV2OUVCaVQ5ODBzMzlMLy85TElrNlp2M2QraC9mWHJmTFgzL3AvZllqZXdITjI3cDIyNWIzOWh2MDV4ZTcxNTUzKzNtdWN6WTN5akJzYVBRejk3cDFzL2V0Uy96SC82a1MvL1huM1J0OFlnQUFBQndKNk5IRHJCTmZEcG9Ld2l0cHEvTjdjU3I1MHRiVldiSjgyV3FQZ0FBQUFEZ1RzVFVLbUNiR0p1WFBoKzJwYjFmdTFxNGZQVHQ2c2t1bTZJME5tOVRhaHJLYmZyUTlKTDNpa1lBQUFBQWNDY2p5QUcya1F1ajluTW42WjIyNEthenh2cld6TWV0ajh6WllXdmdEQUFBQUFCd0VlUUEyRkpYeG0rL3lwdmZYdHJxRVFBQUFBQzRYZEVqQndBQUFBQUFvRVFRNUFBQUFBQUFBSlFJZ2h3QUFBQUFBSUFTUVpBRDRJNzE5YjIyYXRaR3E0OUtyWlViZjF3QUFBQUFJTWdCY01lS3B6Wm5aYXhZVW5xa1UycXIydmhqQXdBQUFMaXpFZVFBdUdPOWZrMTZwMmZqanpzYms4NE1TZysyU3lIK0t3c0FBQUJnQTNHTEFRQ2JvSHZTcW4wT05HNzFTQUFBQUFEY1RvSmJQUUFBV0EyL1QvcWpnOUwwa3ZUN2E3blBIV21XRGpkSnY3bGsxVEFodjIxcnE1YWlRWnRDTlRRcmZUWWt6Y2ZkMXoyM1gxcUlTMjkwdTlzQ1B1bFFrOVJaSTFXRUxJenBuWkkrSHJEbmZiTG5kOWZac2VmaTBzVlI2ZXBFN3BoU2FlbmFoTFMzWHZwaWVGTk9DUUFBQUlBN0VFRU9nSktRU2x1Z3NyZmVBcFNGaFB2Y3pocHBaTjROY1U3dWtjckQwcVV4YVhKQnFveElCeHVsNWdycDVTdlNZc0w3UGZ3KzZhbmRVbDFVdWpwdXh3d0hySG14NDZFT0Mza3Vqa3BqODFKcmxYUi9td1UrUFZPNXh4dWF0VUNwSmlKTkxXMzhPUUVBQUFCdzV5SElBVkF5cmsxYWtOTlJZeUdOWktGTFpkaXRlam5VSkZWRnJNcG1lTTU5N2ZDczlQUWU2VkNqZEhyUSsvZ0hHaXkwK1VPdmRHUGEzWDRsODd1bHdrS2p6NGVsY3lPMnJXL0dLbmVPTkJjR09ST0w5cnMyU3BBREFBQUFZR1BRSXdkQXlaaFlzS2xWblRYdXRsMDFOblhLQ1Y1MlZGbG9raDNpU05MWWdtMXZXV1paOEk0YXErckpEbkd5dFZYYjcrNEpxOTV4ZmtibUxVd0s1djBYTlpXMnNVVUNhL3VjQUFBQUFGQU1GVGtBU2tyM3BIUlBpMVFlc240M0hUWFM5VWtMVFNTcExDaU5MM2kvZGlFdTFaWVZQM1o1eU1LaVlzb3kvOFg4OWtIdjU2TWhhU2F2OGlhWmtnSkU1Z0FBQUFBMkNFRU9nSkp5ZlZLNnUwWHFxSlltRjYxZlRuYWo0VmhTS2kveVg3Wm9xSGgvSEVtS0o5MndwdGp6YWRteTVVNXdsRzArVnJndEhMQXhBUUFBQU1CRzRQOVBES0NrTENhc2lYQm5qWVU1NHd2UzFLTDcvT0NNVkZNbU5aYm52cTR1YWsySCsyZUtIM3RvMWlwMjhsL3JHSjZ6VmF2Q0FYdmYvSjlrWHJoVEZyU3BWOWtyWlFFQUFBREF6YUFpQjBESjZaNlVIdW13b01ScE91dzROeUsxVjBzbmRra1h4NnhxcHpKc1RZNm5sNlFMbzhXUGV6YnJ0WmZHckZseE5DZzFsRXZ2MzdEZU9RY1hwWWM3N1BueEJWc2xxNm5DVnRIS1gyYTh1Y0lxZUViblBOOE9BQUFBQU5hTUlBZEF5ZW1idGliQzRVRGhTbEZMU2VuVnE5TFJabWxQbmUyem1MQXBXVjhNMnpMaHhTd21wRmV1Mk5TdFBmVVcwc3pIM2FsYnFiU3RoblYzaTdTN3pwWTBYMHhJby9PRjQ1Q2t0aXA3THI3TWV3SUFBQURBV2hEa0FDZzVxYlQwbitlS1A3K1lrRDdxWC9rNHY3MVV1RzBoSVgzUVYvdzFzYVIwcWw4NnRjS3hLOExXaVBudDZ5dVBBd0FBQUFCV2l4NDVBTEFKN21teG5qcURzMXM5RWdBQUFBQzNFNEljQU5oZ3UycXN1Zkw3dlZzOUVnQUFBQUMzRzZaV0FjQUd1ejVsUHdBQUFBQ3cwYWpJQVFBQUFBQUFLQkVFT1FBQUFBQUFBQ1dDSUFjQUFBQUFBS0JFRU9RQUFBQUFBQUNVQ0lJY0FBQUFBQUNBRWtHUUF3QUFBQUFBVUNJSWNnQUFBQUFBQUVvRVFRNEFBQUFBQUVDSklNZ0JBQUFBQUFBb0VRUTVBQUFBQUFBQUpZSWdCd0FBQUFBQW9FUVE1QUFBQUFBQUFKUUlnaHdBQUFBQUFJQVNRWkFEQUFBQUFBQlFJb0piUFFCZ083clVQNjJmdmRPOTFjTUFzQTE4MFR1NTFVTUFBQUFBdmtTUUEzaTROREN0U3dQVFd6ME1BQUFBQUFCeU1MVUt5TmhSRTFaOUJka21BRzgxMFlBNjZ5TmJQUXdBQUFEYzRYenBkRHE5MVlNQXRvUHgyYmhlUERPdUs4TUxXejBVQU50UVYyT1p2bmxQdlpxcXcxczlGQUFBQU56QkNISUFvSWgwT3EyVEowL3FlOS83bnY3MmIvOTJxNGNEQUFBQUFFeXRBb0JpRW9tRTNuampEWFYzMC9nYUFBQUF3UFpBa0FNQVJjUmlNVWxTSUJEWTRwRUFBQUFBZ0NISUFZQWk0dkc0ZkQ2ZmdrR2FZQU1BQUFEWUhnaHlBS0NJV0N3bW44OUhSUTRBQUFDQWJZTWdCd0NLb0NJSEFBQUF3SFpEa0FNQVJSRGtBQUFBQU5odUNISUFvQWluMlRGQkRnQUFBSUR0Z2lBSEFJcHdLbkxva1FNQUFBQmd1eURJQVlBaW5HYkhWT1FBQUFBQTJDNEljZ0NnQ0NweUFBQUFBR3czQkRrQVVBUVZPUUFBQUFDMkc0SWNBQ2dpSG85TG90a3hBQUFBZ08yRElBY0FpbUJxRlFBQUFJRHRoaUFIQUlwZ2FoVUFBQUNBN1lZZ0J3Q0tjQ3B5Q0hJQUFBQUFiQmNFT1FCUUJGT3JBQUFBQUd3M0JEa0FVRVFzRnBORXMyTUFBQUFBMndkQkRnQVV3ZFFxQUFBQUFOc05RUTRBRk9FME8yWnFGUUFBQUlEdGdpQUhBSXBJSkJKVTVBQUFBQURZVmdoeUFLQUlLbklBQUFBQWJEY0VPUUJRUkR3ZWwwU3pZd0FBQUFEYkIwRU9BQlJCczJNQUFBQUEydzFCRGdBVXdkUXFBQUFBQU5zTlFRNEFGRUZGRGdBQUFJRHRoaUFIQUlydytYeVNwSFE2dmNVakFRQUFBQUJEa0FNQVJZUkNJYVhUYVNXVHlhMGVDZ0FBQUFCSUlzZ0JnS0xDNGJEUzZiUVNpY1JXRHdVQUFBQUFKQkhrQUVCUlRrVU9RUTRBQUFDQTdZSWdCd0NLSU1nQkFBQUFzTjBRNUFCQUVlRndXSkxva1FNQUFBQmcyeURJQVlBaXFNZ0JBQUFBc04wUTVBQkFFWkZJaENBSEFBQUF3TFpDa0FNQVJiRDhPQUFBQUlEdGhpQUhBQ1NOalkzcDBVY2ZsYy9uKy9MbnovLzh6elU5UGEzdmZPYzdPZHQ5UHAvKzd1LyticXVIREFBQUFPQU9SSkFEQUpLcXFxcjAyR09QclhyL0gvemdCNXM0R2dBQUFBRHdScEFEQUxJVnFrNmNPS0hxNnVvVjl6MXg0b1NPSGoxNkMwWUZBQUFBQUxrSWNnQWc0K2pSbzJwb2FGaHh2eGRlZU9FV2pBWUFBQUFBQ2hIa0FFQkdaMmVuOXV6WnMrdytsWldWT25IaXhDMGFFUUFBQUFEa0lzZ0JnSXh3T0t5LytJdS9XSGFmNDhlUHE2MnQ3UmFOQ0FBQUFBQnlFZVFBUUpadmYvdmJxcWlvOEh6TzcvZnIrUEhqcXErdnY4V2pBZ0FBQUFCRGtBTUFXUm9hR3ZUODg4OTdQbGRSVWFFVEowNG9HQXplNGxFQkFBQUFnQ0hJQVlBOGYvVlhmK1c1dmJxNldrOCsrZVF0SGcwQUFBQUF1QWh5QUNEUDNYZmZyVU9IRGhWc1AzbnlwRnBhV3JaZ1JBQUFBQUJnQ0hJQUlFOTFkYlhueWxSLzh6ZC9zd1dqQVFBQUFBQVhRUTRBNUlsR283ci8vdnNWRG9lLzNOYlMwcUtISDM1NEMwY0ZBQUFBQUFRNUFPRHArUEhqYW1obytQTHhkNzd6SFFVQ2dTMGNFUUFBQUFBUTVBQ0FwM3Z1dVVlN2QrK1dKSldWbGVuUC91elB0bmhFQUFBQUFFQ1FBd0Nlb3RHb25ubm1HVW5TL3YzN3Z3eDFBQUFBQUdBckVlUUFRQkUvL09FUEZRNkg5ZUNERDZxcHFXbXJod01BQUFBQThxWFQ2ZlJXRHdMWUNpUFRNYjE0Wmx6ZG80dGJQUlJzWXovOTZVOTE2TkFoM1hmZmZWczlGR3d6SFhVUmZmdDRnMXBxd2l2dkRBQUFBR3dRZ2h6Y3NmN2Zkd2IxZi94L1Z6UTJHOS9xb1FBb1FUWFJnUDZmNyszUjM1NkE2WmZRQUFBZ0FFbEVRVlJzMytxaEFBQUE0QTRTM09vQkFGdmwyc2dpSVE2QWRadGFTT3JTME1LR0gzZGhZVUdKUkdMRGp3c0FBTFplSkJKUk9FdzFMMjRPUVE0ZzZYQm5yWTUwMW03MU1BQ1VnSXY5MC9xMGUzeFRqbjMxNmxYOTVDYy8wY1RFeEtZY0h3QUFiSzBqUjQ3bys5Ly92cXFycTdkNktDaGhCRG1BcENPZHRYcmhzYTZ0SGdhQUV2RHJqMjVzV3BEejJtdXY2Y1VYWDl5VVl3TUFnSzEzK2ZKbGZlVXJYOUd4WThlMmVpZ29ZUVE1QUFCc0V3c0xObFhyeUpFamV2YlpaN2Q0TkFBQVlLUDA5dmJxeFJkZlZDcVZVanhPZXdmY0hJSWNBQUMybVQxNzl1ajczLy8rVmc4REFBQnNrSTgrK2tpdnZmYmFWZzhEdHduL1ZnOEFBQUFBQUFBQXEwT1FBd0FBQUFBQVVDSUljZ0FBQUFBQUFFb0VRUTRBQUFBQUFFQ0pJTWdCQUFBQUFBQW9FUVE1QUFBQUFBQUFKWUlnQndBQUFBQUFvRVFRNUFBQUFBQUFBSlFJZ2h3QUFBQUFBSUFTUVpBREFBQUFBQUJRSWdoeUFBQUFBQUFBU2dSQkRnQUFBQUFBUUlrZ3lBRUFBQUFBQUNnUkJEa0FBQUFBQUFBbGdpQUhBQUFBQUFDZ1JCRGtBQUFBQUFBQWxBaUNIQUFBQUFBQWdCSkJrQU1BQUFBQUFGQWlDSElBQUFBQUFBQktCRUVPQUFBQUFBQkFpU0RJQVFBQUFBQUFLQkVFT1FBQUFBQUFBQ1dDSUFjQUFBQUFBS0JFRU9RQUFBQUFBQUNVQ0lJY0FBQUFBQUNBRWtHUUF3QUFBQUFBVUNJSWNnQUFBQUFBQUVvRVFRNEFBQUFBQUVDSklNZ0JOa0hJTDkyN1E2cUszUHl4SG1xWG50aGwvejdXS2pWWDNQd3hid2Q3NnFTS3NQZHpiVlZTUi9XdEhjOWFkZFpJQWQ5V2p5SlhXNVgwclFOU1hYVDl4M2hzcDdTM2Z1UEd0SkpvVUdxdHZIWHZCd0FBQUd5MTRGWVBBTGdkSmROMmMxa1RrVjd2dnZsaitUSTMvUE54NllrdTZjeWdkSEhzNXNlNUZqNUo3ZXNNUjhZWGJPeFBka2xONnd5aTNyZ21qY3pidjZzajB2MXQwcXRYcFRtUGZkdXJMU1M1TWUxOXJNNXE2WUgyMWIvM1hFeDY2WXI3K0ZzSHBIQmc5YTkzdkhKVm1sbVMvRDdwcmlhcHExWjYrN3FVbHZUNFRxbHhoWE16T2llOTNiUDI5NVdrbWpLcE1pVDF6WGcvdjZ0V2VxQk5PamNpVFN6WXRqMTFVbjFVK21UQXJzUFZLQXRha09ubDdoYXBkMHFhWEhTUGY2eDFiWjlEc3Mvd3dRMzdkMU9GOUdDNzlPWjFhV1JPYWl5WEh0KzE4akhldmk2TnpxLzl2UUVBQUlDdFJwQURiSUpVV3Zwc1NEcmFZaFVEQzRuMUh5dVpjb09jUzJOU0xDazFsWHZ2Ni9kSisrcWxmUTNTaXhmWC81NWVnbjY3WWM1K0w1L1B4cGZONTdNUUpabVcwcG1iLzQ4SHBPdVQwcHNlb2RZM0QwaW4rcVdoV1h2OHRiM1NoVkc3NGMrV25TTWNhcEw2Wnl3ZzhxbXdNaWZrdC9GVjVtMmZqOXQzNC9QWmVjd2Z6eE5kMHVWeHFUOHJBR3F2bG5iWEZaNkxheFBGZzZKOGxXRTdkMDRCVGlvdHZkVXRmWDJmZEh5SEJTWEJnSFI1ek02VGxBbUtmRklzYyszc3FsMDU2Q21tTEdnaDJwbkJ3dWQ4c29CbGQ1MzBicTgwa0JYMERNNUtlK3B0bk8vMXVnR01JeEt3N3k5YndDL1ZsbGxRSlZrSTl2SVY2YUVPQ3plemorL1BuSkMzcnEvK3M5emRrbHZKMURObElkVlhPaTNZYy81V1hzMEViejZmVkI2eTc5NjVIay91ZGZjREFBQUFTZzFCRG5BVFR1eXlDb0JpZkQ3cHVmM2V6NDB2V0JpeDBqU1VTTUJ1anZPUDg5eCs2ZU4rYVhqT3dxSmR0WGFzOHBDMGVCUEJVVEh4bFBTTGMrN2o0NjFTYlZSNi9WcnVmdlZSNmVRZUM1THl4NUdXM2RDSHN5bzJJa0hwU0xNRlVKS0ZNZ2NicFowMTdqNlh4dDJncHlwc0ZUVXZYYkd3SStTWHZsSGtITytveW4zOHU4dlM5Skk3RnEveHhaTzUyK041UVpWakxyNzZpbzZFeHpFV0V0SzdQZlk1blV4aE1TSE54T3pmeDFzdE1QcW8zMzF1dlI1c2w4Ym5wZTdKM08wVklRdXZLc05XN2RSVmExVXlBWjlkY3dHZm5kL0tzUFQwSHVtalBndE9ITEdraFRUWkh1MjA3K3JxaEQwTytLeENwakpzUWN0c0xIZi90TlpXR1JOTEZtNzdiTWorVGlLWi80MldUcnZuTWVTWG50MG4vZXFDRzZpbVYxbGRCQUFBQUd4SEJEbkFUZmhpT0hlS1RVdWx0TC9CcG0yc0pKYTBxcFdsRlc3UTI2cHMrc2paNGNMblpqS2h4SUZHdXdtL01pNVZsMGtOTjlIalpMTzFWTmowSFNkUXFZdEtmZE1XYkVuV1YyaGd4Z0lxeWFiZWxJZmMxeDlydFpCZ1pza0Npb3F3OVBNdmN0L2p3WGJKNzVmZTc4M2RubjMvWGhHUy92aXUzT2Q5a3U1cnM1OXNjM25oUXphL3IvZzBxMWpTcW0rS0daMHZEREdlN0xLS2xvRGZuYzQyTm0vVk1ldFJIN1ZLbUZldUZENDNIM2NEeFhqU0FxY0RqVllaTkxsbzFWYUp6RTlYblYyTDJVRk9Xb1hCVENwdG4zczJabFBndnJMVFFxaFhyM3FITU5uQ0FiZEt4K3VZeTNFQ0wyZnFYa3VsOUVpSCsvd3orK3ozTyt1Y21nWUFBQUJzRndRNXdFMXd3Z2RIUmRodWV0ZHkwejIxdVB6em9ZQk5xZW1aS3I3UDVUR3JTa2lsYzI5ZXQ2dnhCZmZjcGRJV0dqakJUU0lsVFMyNWo3TnY0TnVycFlaeTZaT3JGbERzcXJVcFN2bFpTVHJ6UDVZcnZKaU5TYis1bEx2dEcvc3RuTXMrMTEyMTdqUWhMNjJWMXVEWHkzczNDcWVJMVphNVU5Ukc1cVRUZWRPZDN1dTFNT05JczRVNVp3YnRISFhXYUYzMjF0dTVuc2k3enNxQzlqNmZEYm5iT211c3NtVjAza0tlYkZmRzNXbEtzYVMwbzlLbXVPV3JpdGcrblRYMjc0RFB4djlrbDd0UFd0N0JraE5pNVp1SlNiKzlWTGo5L2phN0RpUTdiek5ab2RMSW5QVFNaZnY3ZVhhZlRhTmJURWhMS3dSQ0FBQUF3SFpIa0FOc29KRGZibHJyUEc1R0hiR2tUY3RaclZoeTVjYTZhem5lZG5DczFTcEFKTytwVlljYXBWMlo0S0ttVEZJbURHbXJzblB4emN4VXFodlQwdENjVGR1SlpsWHRPQ0ZGZG1QbHhYanVqYjdmWjlPMHN2bDlkcHpzN1dXcitLOWtJaVg5OG56dXRqODY2TDF2UEdraFEzMTVZVzhmbjg5Q2ptUW1oSEwrN1R5M0hpMlZVdmRFNGZhSDJpMFVjemdWUUltVVRSbVVpdmRCK25UUXdzclBQYXJFcXNJV2ZGVkZMSVR5dWphWG05cjAyVkJ1SSsrOTljV25IenBWUS9zYmJQelovSmsrVGY3TTJGUHB6R042NHdBQUFLREVFZVFBR3lnY3NJcUdyKzB0dmsvM3BQUmhuL3Y0eEs3Y3FVUFp4dWF0K2EzVHE2Ull2NVpib2FYU1BwdWpLaUtWQlhKNzJVaHVnK0gyYWplc2tTeDBTYVd0TXVUR2xGdnhrYi82VnY3ajNTbDMrdG1aUVp1V1ZSKzFhb3pUQTdaOVY2YTNTNzdzNnFTZUtRc2dIT1dod3U4cDZKZU9Oa3VIc3lwTi9MN0M2aFF2eTAyaHlqWVh0eXFjdTVyY2FoSkhWZGhXeE1yV251bnpjejJ2djgxcWxBV3RmMUorNVpoa3F6dzVkdFZLOSsydzY5SnA0RndSc2hEbnE3dWxzeU5Xa1pNdis3d0UvVzRnbDVZMXNCNzM2SDJUMHZKVDFWTHAzSE81WE9qampHbGZRK0Z6OTdXNTV5NlJzaDQvVXZGVnV3QUFBSUJTUVpBRGJDQ252MHV4SmFLZjNaY2Jia2pXNzhWWnJubC9nNFUxVGdYRlFzS3RhQ2dQcnp3TmF6UHRxODhOSGtJQnErRElYejdhcVhnNDBweDdFejQ0YTlWRkg5NVlXM1hKcDRQdU9Wdks5Snk1dThXMk84MXJ2eGkybjlXYVhMU2c0V3BlcFlyWDFLcWFTRzdseW1hYVdzcHRLSjF0WDczMVAxb0xKM2dyMWlqWjc1UHV5VnF4YW1qV3FvUU9OOW5VcURldTJZcFNqKyt5bGRJK0dTaWNtaFQwMit2dmFuTGZMNVcyWU1qTGZOeWFUbSttdE56bHliMzg4YUhOZlg4QUFBQmdNeEhrQUJ1b3BrenFXYVp5SXVoUlZkT1h0WVIxUjdYZGRPZXZMcFJNVytQWXJReHk4cHZFUHRCbTA1RHlsNDUyVnExNjZiSjNnUEJFMStxbUsyWDdiTWc5SncrMFczK2JheE5XL1ZNV2xDWVdMRVJiem16TUtqTnF5eXlBbWxnb25BSVg4RnVRa2IvZDJYY2hVVHdVV1duNjIwb0NtU2xNOTdRVVRpWDYxR1BaOE5VSVpnTEMvS2xSa2xWTUhXdTE1OTdvdG1EdTBVNjNvZkZ2TXF1T1ZVZHNLZStIT3FSdkhaU3Vqa3ZYSnExS2FuK0RqVFhrdCt0NGFNNUN0dDljWEg4dm1xQS85MXptVDVsYWlYTWVRMzdwMjNuVDIySko2ZGNYMXpjdUFBQUFZTHNneUFFMlNFM0VwcU40VFdOeGhBSXJyNzdqWldMQmxqblBiNXk3bGNxQ0s2KzRsUy9vbDM1L2JlWDl2UGg5dHB4NFI3V0ZCTjg1YkpVOWZkUFNwVEdiQWxSczZsbkliMkhGOEp4TlpRdm1oUU0rbndVQWtqdTF5bXVxMU5rUjZjS285K2RhYjVWSFZkaWFXVWVDOXJuOFB2dWV6MlNhRUQvU3NmNitMczYxRmc1S1duSzNod01XNGx5ZmxBWm43SndrMHhaQ3ZuVFpxc0E2cTZYRHpSWjZ2WFRGemw5WHJXMkxwK3g4N2EyMzBPZlNtSzFDZHQ4TzIrNnNFSlh2NVNzckw2TitwTmwrc3Mwc014VXIyMTFOVnIzbGhFaEJ2elcwamlVdHdIdTBjM1hIQVFBQUFMWXpnaHhnZyt4dnNKdlVZaXRXK1dTQndsckREOGtDaVB4ZU5IdnI3U1o4cXhvZDEwWHRCbjYxQXI3aURZQWxxN3hJcDR2M21yazY0YTdPTlJPejVjZG5ZN1ovWTJicTB5L1BlYTlVOWIwajdyLy81NFhjNThJQjZaRk9LWld5aXFxeGVXdEUvSWVld3BXZXZLUmx3Y0dMZVpVZXorNWJ2bTlPMEcvaHd0ZjIybWNyRDBtelM3WThlekpydWUzVjl0N3hzcEN3OFpYbi9aYytsclNxR2VmUTcvWktvM05XMWJTcjFxWktwV1doMVpWeDY3UFRXV05WVUU2dkhwL1AraFZsaDJmblJncW5xMG5XZFBwWTY4clhmakp0QVZaMlA1NnVXbHY2dkJpL3ovNjJIdTZ3b0hSa3pzNWo5bWVOSlF1bk5BSUFBQUNsaWlBSDJBRE9VdGpuUjR2ZmVFY3lmMjNMVFRueFpWWk42cXExbStxcXNGV2MzSmkyS3BHbUNydFJsV3dLVGpJbHphMnlDVzdBSisycHR6RGtKcklCU1ZhdFVSYTBma0NybFV6bjluOXBLcmRqOUdhbWxqMiswM3JYZkQ1c2paWGpTZS9xcHZOWkZUR1JnSjM3OVRhQmJxK1M3bTJUK3FldC84dHorNlgrR1FzclRuVFpOS0p6SSs3S1VWNEdacVQvT2wrNGZhVXBQRzFWZGsxODFHZEJ4R0xDclR6WlUyZlhnR1FCMTFxV3M4K1dTTms1YmE2VXJ1ZFZjemtmcWIxYWFxNnc1dEdWWVdsNDFzNUYzN1NGWEVlYXBRTU45amx2VExubjJpdDBXMGk0Zll1eU5aWmJiNXlWcnJ2WHJoWnV1enh1UDhXMFpSb2FMeWFrMTY5WlUrUHNhOFJwSHUyMStoWUFBQUJRaWdoeWdKc1V6dlFXbVkxSjUwZUs3MWVUNmJzeW56Vk5wQ0VxSFdxeXZpd1ZJWGZLVDMzVWpqY1RzNHFicVVVTGNJNjMyczF1ZVdiZjFWU01PQ296VFd4Yks2VS85TnBOL25vMGxrdjN0MXNBTTdXMDh2NzVJZ0hybzlKVlo0Rko3M1RoUGpzcWJTV2l3Vm5waXlIM2M5WkhMY3lxajlwUGVjaW05SnpxWDlzWW1pc3NvS2dJdTZGRnRvRlp0eS9Ndm9iTU9LY3NXSExDaTJqUUttcFdJMytaYzhuQ2lmRjVDMXFlM2VmMlZvcW43TGx6V2RkU0l1VzlLdGRxOUU5YjlaWlAza0ZLZTdVOWNYN0VRcXhZMHI3akJ6c3NzSnRhdEQ1SXczUHJlMy9KcXJkbWkxd3JQcTMrUEVxWnFyYXNNSFI0enM3VkY4TldOUlFOMldkT3kwS2wxNit0YnpvakFBQUFzRjBSNUFBM29USnNLL3FFQTNhejYxUnUrSDNTd1VacElXNDNrUUdmOVJhWmorZjIrM0NxR3dabWJLclF6Skk5NzNYaitmR0FOUkgrNmg1M3VvaFg4K1AzaXF6V003VWt2WHBWZXJKTGVtcTM5R2IzMm01d2czN3JRWEt3MGFvMlBseG1WU0F2b2N6cjl6WFl1Ris3YWdGRlhabWRyOXFvR3hhY0hyUnBQUGUwMnRTai9obHIrTnRWYXdITzZMeDBlc3FtQXkwbDNhbFYzejNpL2Q1T2k1bVEzODVmZWNncWs5NjZYanpRbW90YlA1KzJLdWxBbzYwYWRXYkk3WkZ6b05HbTA2MlhNMzNvM2gwV1BqaFZKTm1yYjVVRjdibGt5Z0tzOVlSdmw4ZnRPK3VxczNPYTc0TWJGbWpWUjIzNjA0NHFPMC85TTlZWFo5UmpDZkhsN0tpeWtDdVJzdXU3SW1RQnkrZEQzdnNIL1haZHI1YlRGOGtSUzFvVlYyVllPcjdEcHZzNVFjK3ZzcWJSMVVmdFBOYVcyUlNzOVFhWkFBQUF3RllqeUFIV3lTZWJEaFQwMi8vWGZ6cXI0aUNWdGlxSWFOWmYyRXlzTUdTWlhpcGNEYXFZNlNWN24vdmJMYmc0czQ2VmpHWmpkb3lIT3kxOFdrdVEwMXhoWWNiblE3bFRWMWJMNldWenFzK2Q1bk9zMWFidHBHV1ZLZG5MZms4dFdkRFNXbWtoV0NKbFlkWnlmbmZKdStya3VmMzJPNTZTUHV5ejZwRFZUc2ZxbjdHZnNtQnVvOTVQQjFmZkk2aTJUUHI2M3NMdFFiOVZINzNYNi8xZDFKUlpJMktmN1BOLzJMZTY5OHNXUzFxVDVzTk51Vk9qSkp1KzkvUnV1eFptWXhiYW5PcTNaY2pYRzNUVWxibE5raVg3M3Z0bWlrK1BpcWVrL3l5eTVMcVh4M1o2YjIrdHRMK1JZc3ZRSDJ0MUE3L1JlV2x5bWFia0FBQUF3SFpHa0FPc1Uxb1d6Q3dWNlF2aVZBTTRxeUV0MTJkbHRTWVdwVmV1M053eDV1TGV2VWhXMGo5am4ybWxBR1I4UWZyWkY0WGJrMm5wdGJ3VnF6NGRYSGxwN2NIWmxYdkVqTTU3djZmajUxblBUU3h6QS8rYlM4V2Z5dzV4ZnVuUkUyYzVrNHZlNDB1a3BOOWRMbjV0RE0zbWpuMjlMb3hhaUhGOFIyNFlOSk1KeTJiV0VHeXQ1T3lJL2ZoazFUUExOV3RlcWYrTmwyTEI1K1Z4cXpncTluN3JYUzBOQUFBQTJHNEljb0NiTUxtS0hqVWJFZUJzRnh0MXN3L1hyYm8raWdVZ1hnMmxOMEphMWhENVZycWQvdFlBQUFDQVl2eGJQUUFBQUFBQUFBQ3NEa0VPQUFBQUFBQkFpU0RJQVRiQWdRYXBKdUw5M000YXFhWHkxbzVIc3BXSGpyZDZMMzN0cFNvaVBkUmUvUGxEamJacTFPMmdzZHhXT2JvZHRGVzVUWHp6MVpiWnRiblovRDVwZDUwMWI3NVowYURiS05rbisvc3BZeEl3QUFBQThDWCt6Mk5nQXh4b3RHYTRVMHVGejFWRnBNTTF4VmRVa216Vm9MVklwVmRlVlNpUmtscXJiT1dqTjdwWFBtWWtZRXRIUzlhZytlNFdhMXJycktaVUY3WGwweDB0bFJaZVhWemx5azBiNWFFT3FiMXE3YS83ZEZDNm1sbCt1NnZXeHYvcVZmdmVEalZLaDVwV1BvYXp1bEp6eGRxL004a2FUVThzMkFwU2g1dlgvbnBKT2p0czM0dGtRY2Q5YmJaNmx0Y3k0YlZsdHZSNHNlK29MQ2g5WS8vYTN2ODNsM0liUDB2V0MrZGdveTAxL25uZXFsRkhtcjNQMVJmRGhTdDErWDNTazd1dHlmTW5tUlhLRGpkTERWbVA4L2w5VWtlMUxWMmZQeTRBQUFEZ2RrU1FBMnl3L1ExMm8rOEkrcTM2NC9GZHVTdnFuQnR4RzgwK3UyOXRWUWNETTlMYkt5eGJucFl0VVg2czFhb2N2RmJXS2lhWmxocktwZnQyRkM2WkxsbUFjTHpWZ3AzOGtNRHZzMlhLOXpWSUwxNWMvWHRtaXdRc1NBcjZDOTgvNExNbTA1OE5yZjU0SjNiWnVCeW4raTB3ZUd5bkxjY2U4RXZqODI1WUVQQmIrTENRQ2E0cUk3YlV2T05vaTF1QjVmUFptTHlDdGFEZnZuUG5lKytka2o1YXNDRG0zRWp1dmcrMld4RGhmSzVqclRhT2ovdHo5OHNPQTd2cTdMdTRuUGtPeWtPNW56TVN0UEhsVng4dEpheHh0Uzh6eHRldjVZWWdSMXZzOStkWjV6Z2FrcDdzY3F0bElnRzdSaHdqY3hhT1pUZFBIcHUzMEd3MkpzM0ZiRnRObVZRZnRaVzA4b09jSTgxMnJaNGZjVC9yMldFN041ZkhiWFd0Zk02eTl2c2JiRFUyK2gwREFBRGdka2VRQTl5RWptcjdIZkRaeldrcWJUZXNJN0pLSE9mR2MyREdma2REVWpKbE43RDVON0VYUmxlM0ZQUDliYm1QVCt3cVByVkdzaHY1NTRwVVhRek5TYWY2cEZEQWJxQWw5NmIvOUlEMDFUMVMrNVRVTjVQN3VnT05GaHE4ZGQzZEZnMUt1MnFsdmZYMjNIcXFJMnJMN01iZm1hYlRPK1c5WHl6cFhZRlNUUDdOZlZyU0gzcWtlM2U0MVNMeGxEU1RDUnZhcWl4SWNaWWo5L2x5WDUrOWZIdGJsUVZDdnpoWCtMN2ZQU3g5ME9mOU9RNDBTazFaMzF0dDFLNk42a3hBVkYxbW9jbGpXUUhTOEp3Ym5Qa2szZFZrRlRDcHRBV0JUM1I1VDZYTHI3cjVaQ0QzV2x0SzVuNWZ5VXdvbGIzTm4zY09Lc0pXaFpNdGxhbk04Zm1zU3VkTVptbjVxeFB1T1hoNmp3VTgyZFZka2xXREhXcVVQdXJQRFIxN3B1eDZlR3luOU1vVjc4RHM5S0I5eHNQTlZ1a0RBQUFBM000SWNvQjE4c2txQ0NRTFFqcHEzT2s2ZzdOMll6bXo1TjU0KzMzUzA3dWx4YVQwOXZYQzQ4V1NoVGUzWGhJcEM0NGNudzNaKzB0Mkl4endGNytadmFmRlh1OU16WWtsTEF6WVhlZFdsbng5cnozMy9nM3A0cWhOM1JuTXFxd0pCK3h6ZnpxWU85NERtUjQ2VjhZdGhHaUlydnhaOGozUWJyMTlQdTZYN21sZDNXdUtWVElsVXN0UFAxdEtGbGI3SEdtMmFpSy96ODdqSHgreTdhK3ZZbXJhV3RXVldWRFNrd2s0RGpYYU5lQk0vM0xHNFZ3L3UycHRlcHRqZjRPVVNFcmRFL2JjOFIxV0FSWFBDZ2gzMVZwbDA2OHU1TDUzZnJEMXpMN2N4ODdsdFhPWm5rampDOUtiM1ZiWjlNRU5xN3B4UHRlam5mWjNzSlFYVnRaSDdicDRNKy82cnkyVEh1NlFyazlLMXlZSzMrdjlHemJHeDNkSjcxeTMwQzFiS20wVlR2ZTAyaldiL3p3QUFBQndPeUhJQWRZcExlbDNsKzNmM3o1bzFRYzlXWlVYZitpMXFvNHI0elpWNlZpcmhTWHY5MjdzT0NZWDNYOVhoaTJNR0puejNyY3liQ0ZQOXZPbkIrM25ZS09GQ2I4ODd6NDNOR3MzMThtc08vOVlVdnI5VldraTYzMGxtOTd6MlpEZFZEL1NzYjdQOG42dld4V3ptaUFuNUpmKzZLRDNjMWNuYkFwVnZxL3R0YUFpa1pKK2Z5MzN1WXVqMHRWeDZ5MTBWNU45VHNrTnlqYmFiTXlxYkNRTFhSWVQ3dU8yS2d1VG5NY041VzYxVG5uSXZ1ZjNidGowcWNQTmR2N3pxN3djSzAwMyt2V0YzQ3FZQnpKVlh4OWxuYi95a1BTdEE3bXZTNll0ckh5ZzNhWm5TVGF1c1lYQ0VFZXlQa1REYzNaZE9XckxiTXJXMUtMMzl5WFplWG1yMnlxT1R1NlIzdWt0bkdiVlBXbGhWbWVORzRZQkFBQUF0eU9DSEdBREJYelM4NGR5dHptUG5YNHAzODRFRHdNejN2MW5ic2JnakUyOXFvL205aXFSTEFnSUIzSnZvclB0ck1uc0Y3VWI4YS92dFp0M1I5QnZnVUQyeWxWWHh0M210bk9ycUNaYWlSUGlyTlZyZWNIU2NrSFN5Sng5THErVnhIdytDeWRTbVlvT0o4QXE4eFh1dXhHNmF0MXBjYzdVcXBxOHFWVk9iNTdLaURWS2xxU21DdnMrbk9mbTQxYVJFZzVZRHhwSFZjU3FlcHF5ZWpZbFU0WFhSbVU0ZDhVcEo3aktucVlWRGVXK0poeXcxMXdadDVDeXBzeU8wMXhwb1U1NUtMY2lxaVppVGFwZnZ1SnVhNisybGRLbWwyeWFYbktaeEdsaTBZNTdva3Q2WnE5TkRmdDh5SDFOS2kyTnprbXRsUVE1QUFBQXVMMFI1QUFicENwaS9XR2NLaDNKYm9SYk1qZVdxYnliMU9RbVRQOVlTRWo5TXpidDV2MjhrR2h2dmZXVjhRcExLc051dGNlVHU2VVArK3dudnk5S3RxTXRHN1BjOUViSWJpZ3NMVitCOHVtZ2hTZGVRYzdYOSthdXNPUlVvSFJQdXR0cXluS1htcS9QVEhkeWdyQjhqZVh1VkNYSnZvUDV1Rlhqek1TS1YwL2xhNjV3UDllTktXdk83UGZiZEwxUEJpelFhSXBhWStCcytSVlNjL0hjSGorU2hTUHBySk1XeUh5dnJWbm5LTDlQMEQwdFZ2M2llSHEzL1U2bnJjSkd5cHNtNWJQS21uMzFicVZQWjJhMXFaNHB0OS9VY2hJcFcvM3R2allMaXZLRG40bkYzREVCQUFBQXR5T0NIR0NkL0Q2Yi90SmFhU3Y0M05XVTI0eFdzcWtlSWI4MHU0WVZsbTdXK1JGcktIdHB6SzI4cUlsWTBQQnVrWld1RGpWYUFOUmNZVUhIUSsyMktsYXg2aDNKK3V2Y2JuNWRaSld0Nm9nRkVKSjkzd2NhM09lYzBPT1l4MVF3djgrbVRHV0hGQi8xVzVCellkUjk3V3BNTDduaFh6SnRJZEJqTzYyeXF6L1RqSHB3VnZxZkY0b2ZJMTg4WmRQaExvL25Wczk0VGEwSytTME1kUHJQZk5TZiszd3g3Wm5QUHJWb1U5bE83ckhQY25ITUdrR24wdElqblc3MVQyWFl0dVgzaTRvRWJZdzNwaTJrOU1vWUZ4UDJ0d2dBQUFEY3pnaHlnSFdLQnExQjYvQ2MzWGgrMG04MzFmL3RMbmNmWnpwVjlqYkgxUWtMVFRiYStJSTF3SDJ3M1JyT3B0TFd3MlI0MXIzaHoxWWRzYWEyNy9WYWtOTTlhU3NTYlVaUTAxUWhQZFdWdSszc3lNMnZOQlFLNUZiU0xGZEo1TVZaUG54SFZlRzByTDRaZHpsc3lRS1lDNlB1NDEwMTB2M3QzZ0hLZHc5YjN4ZXZWYXVPdHF5dUNpWGJ3SXdibnV5cnQrbHl2N3RrRForckkxYnRVeFh4RGprY2l3bjdxUXhiT0RNMFc3alNWU1R6dnhucXluSzNPL3ZHVTFaUlZCbTI5L015cytRMlFIYk14cVF6UTFiTmMzbmNyYUo2TDZ0djFEUDc3SFBtTHk5L3NERzM2c21yNmlxWldsczRCZ0FBQUpRaWdoeGduZWJqMG4rZHQ1dmFieCswbTlKWTBxWldoZncyUmVuOHNEVUxsaXhvT0xuSHBpeU56aSsvb3RMTk9qMW83L1g0VGh0VGVVaDZ0VWlUNVVPTkZ2eGtOOHI5WXRpVzVuNXFtVldMQW41cnNMc1dFd3U1UFZLazlTMVRudS9KcnNKdHErbVRFdkxiTkxSSTBENi9UOUpDWEhvdDA3aDNYMzF1enhrdmthQzB0TWJQRVBCWlVKRWZWcXoydFVHL1ZYc2xVdEkzRDlqanhZU0ZTVi9mYTRHR1Y5QVI5RnNvOWZtd3JXYlY2akc5TEh1NjNJNHE3eW1BSTNOV3NkVlpZd0ZMZnVQaHFvaUZYZWRHQ2wvYlAyMFZQNVZocTh6SlZ4a3VQSjR6cnBYK1pwenZFUUFBQUxpZEVlUUE2NVJXNFRMSGFWbkE4MkM3aFFMWEp0eWc0a0NEM2FEMmVGUm5iTFJFeWlwQnZwcnBXL0p1Yi9HbHpRZG5yYXFvTXE4cTQ5ekk4a0hOc1Izckc5Zms0c3I3cmZXWWIxNjNxVHVPQjlxVzcwRVU4THRMcmMvR0xBQzRNbTdQcGVXR0Fhc0oyK3FqM29IRWNwN29zdFdhdlBoOW1hYkxSZDU3ZXNrcXJjNE9aL3JzTE5rMHEreXh2dFBqcm5hVkxUdncra05lc09lVGhUdnQxZFpIeHllcElpUjlNZUtHa1Y3RzVxMVJjVGFuQ2JPWC9GNDcyVm9xN1hzWm5TOThialZCVG5tbytIVU9BQUFBM0M0SWNvQk5jR25NYnNpL2VVRHFtNWJtWXRLZWV1blZLOFZmVXhIT1hWMm9tRWhRU2l4VGRlRDNXUytUSTgzMnZtbFp6NXNMRVp2T2tsK3g0QVJMK1VIT1lrSmFMbk5aYmd5M1Nqd2wvZUpjNGZhVlZnTnJxN0x6MURkajUrU2IreTM0cUk1WU5Za3pGYzd2ODU2TzVpZ1BTVzNWdHZUOFdtUXZlMTRlc2lsV1RtK2xBdzBXcHZ6K21uMG50V1hXRnliZjJheHFsNkJmYWlwZmU2RGtxSW5ZOUx0VTJ0NzNhTE50UDlVdlBiN0xLblBPREs0L0pLa0tXK1ZUUEdtZmJTbFpPTzFLc3M4K3Z1RDlYRGl3Y29QdzVvcmx2Ni90YkhSMFZPUGo0MXM5REFBQUFKUUFnaHhnRTB3dVdrUFcxa3JwS3p1dHltQStMdFZGclhvaWZ3VXJ5WmFpTHJieVViYUEzNVlaenhjTlNydnJMTVFKQnl4TWNuclBIRzJ4WnN3SEd5MFV1RDVwMDJPV1c5MXBPd3Y1aTFlMGVNa3ZBdW1kc3NEZytxUlY3MHhrd29PS3NGV0RaRGVGVHFWemwyRjNSSU1XY2l6R2MxZTFXaTIvejhLTkk4MTJ2ZlJNRlU0enE0L2FjdktIbTYwQ3h3bDBLakxMcHplVTJ6NVZFUXZvWHI5VytEN0xxWXJZZGRGZUpaMGZ0V2xYMmRmRWJFeDY1WXAwdkZYNnhuNExTWnhyeDZsR0Mvb0xlK3prcjJibTgwbUhtK3d6ejhhc0owNyszOENoUnZ0N2VhUGJlNnpWRWF2K0tmcFp3aFo4bFZxUTg4a25uK2puUC8rNVhudnROVDM3N0xOcWFHaFkrVVVBQUFDNG94SGtvT1QxOVBTb3NySlM5ZlgxdC9SOWZaSmFxNlNnejVyTkpsTjJBMXNUa1JvcnJPcWpzZHh1TEw4WXRxcUdlMXB0K3NxVmNmdFp5dXRMYzM2MDZOdDk2ZEZPQzRZY08yc3N3R21xc0RGY203RCtKQXRab2NDbmd4YnNIR3kwd0tpcjFtN0V6dzducnJMbGFLMjA5MW5PY2oxeVZxcUlXWTNsVmw5cXJMQWVRS3VWMy94NGRONStPcXFscmpwM2F0RFFyTHRTVjhCbllWRTgwd1E1ZTZucnJscGJwU3Fla21UMHFDNEFBQ0FBU1VSQlZON3NYbnUvbzczMUZxQkkwa2Q5Rm95VWgrdzZhcW0weWhYSndwMmhXUXR5SHVtVXBoZnR1NHdFN2JzY25iZnZlaXh2V2ZrblBIb0dTWGJOT21ISXd4M1c0NlozU25ycHNrMm44cEpJV1lQbFMyTTI1a2M2clhycDdjdzVheWlYdnJZMzl6VUJ2elNVTmJWcmVrbjY1WG52NDRjeS9YNjZhcTBSOHZDYy9SMjFWZG5mUnlwdDFVYjEwZVdiWWg5cXNuQnV0Y3U1YjRWNFBLNGJOMjZvdjc5ZkgzNzRvVjUvL1hYMTlmVXBsZHJFaGxrQUFBQzQ3UkRrb09UOTEzLzlsMzc4NHgvcjVNbVQrc3UvL0VzZE9YTGtscnl2TTJVcEhMQWJ5S0U1dXpGK29NMnFEdnFtYldxS005MWxjbEc2T0dwVkdBY2JwWkY1OTZiei9LZzB2a3kxUWJhZUtTbTc0Q0dSc2xXYlBobVFlaVlMKy9ZNDV1TzJ6MmRETnM2MnF0emVKK20wRzBpTXp1ZE8vL0Z5ZDh2cXhyc1pCbWFzRDh4cS9ZbkhxbUdTaFdBWFJvc3ZzLzdVYmd1QjBySWdRN0xBNVZpck5EQnJLNVVWTzkvTGFTaTN3TzM4aUFWRU82cmN2akx6Y1Z1VzI3R1V0Ty90OHJoVnh2aDhkZzBzMTJ2cHd6N3Y2cFdIMnQxL2Z6Wmt3WWpYTkNZdlUwc1cwQVg5ZHExSWRyMzBUbG4xV2JZSDI5MHdham1ONWRLSlhSYld2SGZEWGQzTFdXbk5DU3hqU1J2cllKSHZxYmJNdnN0aTFUeGI3Y2FORzNyMzNYZjE5dHR2cTZlbkp5ZThTV2RPcG0rNTVrRUFBQUJBRm9JY2xMeloyVm1kUG4xYXAwK2YxbzkrOUNQdDNMbFRMN3p3Z3Y3MFQvOVU3ZTN0YW14c1ZEZ2NYdmxBNjVCZlpkQTlZZE9lRm9xc1lwUk1XMmh6YVN5M3d1UFNHbFovNnN2cmw5SS9zN2JwSklsTTFjNjF2RldkeGhha1gxOTA5MW1wS1hGK2c5dGJKYjlKNzJyOHAwY2ZIY2tDaUdTUitXWEp0UFFmWnd1M3o4ZWxGeSt1THNEeGVyMGtmWkFYZkF6TVNELzdZdmxqelN5dDdwei9mSm5qdkpZVnppM1g3OFpaNHR4TGR2VlJzZXYydzZ3Z3lybW12SXpPU3g4UDJFcFcyZWN6bFpiK1IrYmMrYlQ4Rk1DQXo0S2pzeVBlVFpLM1Npd1cwL3Z2djY5Lys3ZC8wM3Z2dlZmd3ZCUGdTSVE0QUFBQVdCdUNITngyZW5wNjlLTWYvVWovOGkvL292dnZ2MStQUHZxb0hubmtFVDN3d0FQcTZpb3k1MlNEcEZVOHhNbFdMRHpBcmJYZTcyRTlWVGp3dHR5S1dOTEtmWnlTNmNJbDdiZkM3T3lzWG43NVpiMzExbHZxNit0VGIyK3ZscGFzSEM4N3RIRjRoVGVuVHAzYXROQVpBQUFBdHcrQ25CTHl2ZTk5VDZkT25kcnFZV3c3VTFQZWMweVdscGIwN3J2djZyMzMzbE0wR2xWVlZaWEt5cXhEN2ovLzh6OUx1dWNXamhMQWJTZWQwdXp3ZGYzMy8vNTdmZkRCQnpwejVvemk4ZmlYSWMxcUF4eEhmNzliQ3ZYdi8vN3YrdGQvL2RlTkh6TUFiQ01WRlJYNngzLzhSMzMzdTkvZDZxRUFRRWtoeUNraC8vRWYvNkg2K25ydDNMbHpxNGV5cmNSaU1VMU1UQlI5UHBWS2FXNXVUbk56YmhmVUgvN3doN3I3NUo5TGdaTlNPYXZFQUZpSGRGcUxzK042K2QyWGRlV0tsUVVWQzJwV00zM0tDWDdTNmJRaWtZZ2lrY2pHalJVQXRxSFRwMC9yODg4L0o4Z0JnRFVpeUNreHp6Ly92SDd5azU5czlUQzJsWC82cDMvUzMvLzkzNis0bjkvdlYydHJxKzY5OTE0OTlOQkR1cExlbzdjdlJtL0JDQUhjbHZ3QjFYZmRvLy90ZnptbVYxNTVSUysvL0xKNmVucTB1TGlvVUNpa1FDQWd5WUtaL09vY3IyRG4rZWVmMXovOHd6L2NrcUVEd0haQWp6QUFXQitDSE56MnlzcktkUExrU2YzZ0J6L1FrMDgrcWNyS1NsVldWdXIvL3VWMTZkcm1MSE1UOGt0SFcyeWxvWm1sbXp2V1ErMjJMUFdiMXpPckpjM1lFczNiU1ZPRjFGbHRqV3VYRXduWWt1MzVmVkYyMTBsNzZxVFhycTdjRTJVNzJWTm5xNVhOZWF6ODFGWmxLMTdkbUM1OGJxTzBWOXNLVWw3TnJ1dWpVbDNVbHJuSDV2SDdBenB3WUo4T0hEaWd2LzdydjliWTJKZ3VYTGlnbi83MHAzcnJyYmVVVHFkVlVWRWhLWGVxRmMyT0FRQUFzRjRFT2JqdFJDSVJOVFkyZnJsNjFRc3Z2S0NPam81Yk9vWmtXbXF0bEdvaTB1czNtUlVsMDdia3RHUXJEVDNSSlowWmxDNnVZYVdyalZMc2RqTWFsT3JMaXo4dldVRFRXR0hCVk5EdkJndytTWGMxMmNwRks0VTRQbGw0c1I3akMzYitudXl5NEdrOTNyaG15OFpMVW5WRXVyOU5ldldxNUpXcnRWZmJpa3JGZ3B6T2FsdGllN1htWXRKTGVVMTlPNnFsWk1vN3lBbjRiYm55d1JscHJzZ0tWVUcvaFUxckVWdkZzdUozcW5BNHJCMDdkbWpIamgxNjZxbW5KRWt2dmZTU2Z2empIK3ZjdVhNS2hVSUZyM0dxZFFoekFBQUFzRm9FT2JndEJJTkI3ZCsvWDQ4Ly9yaU9IajJxQng5OFVBODg4SURuamRPdGtFcExudzFaVlU0MHVMcVZySXBKcHR3ZzU5S1kzVWczbGVmdUV3bElSNW90UEFnRkxMRG9tWlF1akc3Y0NsbjFVZW5rbnVYMytkNFI3KzJqODlMdnI5blM2V2VHcFB0MlNJbWtkSDFLNnFxVEtrTDJlMWR0OFdQLzZvS0ZEZzltaFI5K241MmJaTjRxVWo2ZmhTakp0RldzU0ZZdGRIMVNldE1qV1B2bUFlbFV2elEwYTQrL3R0Zk9YVzllSCszc1UzbW95UUtVOFFVTG1DcnlGaHNLWlVLU3lyenQ4M0c3UG53Kyt5N3p4L05FbDFWeTlXY0ZRTzNWVnJXMG5PWUthYjlIdTZlSE82V2xyT3V2ZjhaZGV2NkJOcW16WnZualprdWtwRjhVV2NvZDNwNTU1aGs5ODh3ejZ1bnAwZHR2djYyWFgzNVo1OCtmMS9UMHRNckt5dVQzK3oyYklnTUFBQURGRU9TZzVEMzQ0SU42OWRWWGRkZGRkNm1tcHVhV0x0OTdZcGZVV0Y3OGVaOVBlbTYvOTNQakMzWlR2YmQrK2ZlSUJLeTZJdjg0eisyWFB1NjNhVmFQZEZwMXhka1JLWmF3aXBNanpUYTE1cDJldFgybVlpWVdwUC9NdTRtdkRPdi9aKy9PbytNNnkzVFJQN3ZtVVNyTjgyUkxuc2ZFc1IzSHN4Tm5nT0NRaERRa0VFSkRhRUlEVGRNWFRoOHVaelVIdWpuZDNFWERwVy8zb1NFbmtFQW5RRUlHTXRxSm5kaU9uY1R6UEZ1ak5ZK2xVcW5tcXZ2SFc2VWFWQ1hKc215cHBPZTNsckJyMTY2OXY5cFZkcndmM3UvOWNHdVpCRlZtblFRcTlYM0FwWVJxb2RqYjFQTmRVczBTZ2t3Wlcxd2c0NDZFS0lreURSTDhoQ0RMZnNjR0Njc0tBWnNSZUs4dS9qV1IwT21OQzRBN0lVUUxBVmhaQ3VoVTBXMTZqVnl2NnZCbllkWUJjM09COHBpUTQySlBkSXhXblZUVTdMZ002TlFTMnR5ZDRuTXVzc1kvM240SjZQZEV4NUpzZkw1QS9QYkU1Yzd6elBLOU1Ha2xGQ3JOa0gwNm5ZQlJLNEdMTHlDUEFRbVV6RHFaNWplUU1BMnNjeEE0Y0NYNTJHTlYydVNhMFBpVWw1Zmo0WWNmeHFjLy9XazRIQTdVMWRYaGd3OCtRQ2dVd3BFalIzRHk1TW5KSGlJUkVSRVJwUWtHT1pUMnRtelpNbW5uUHQwaE4vSVJCUmFwaW5pL1lmVFhlZ05TTWVJWnBWcW4yQ28zN21jNmhqOFg2Yjl6b1Z0NjUwUTA5VXVJTkN0THdwTEVzR0E4SWtFS0lCVW9OVGxTbFhLaVRkN0gzRnlwTHJtMVRLYVZIVytUc0NxWmc4M3k2N29Ld09XVDk1YXFKaUV5OVNjNGdVVUxCV2JnYkdjMFVNa3lTclZRWkx4V2ZYd3ZvcVdGRXBwRUxDMEVhbnZsK3Q5U0lpSEpDNmZqejNGTENhQlNBUjgxeFcrUGZSdG1MYkJ0ZnZ6ekNvQ2JpdVVuVm13Zm5pcWJqTm1vbFlxamhmbkEwVmI1SHF3dWsycWsyQUJ2ZVpGOGo5NXFHeDRLQllKU0pUUWFUcW1hR0NxVkNwbVptVmkyYkJtV0xWczJ0TDJwcVFuTnpjMlRPRElpSWlJaVNoY01jb2l1UVdKUVlkWkpOVVJiaXVxU1pPenVrWi9YcXFXM1RLTTk5VDZ0U1hxazlJV1BxMVlOZjI2OE5DcVovalEzVndLbzNYV0EzUk9kbmhPWktsU1RJeUZOdndlbzdaSEtvMkFvR29ZRVErSDNaWkpBWlUzNThIUFY5MG00b2xJbU5zU0o2SEZGUDc5Z1NLNVhKTGp4QitWOVJSN0hoaGdsR1VDT0NUaGFLNVUvRlRaZ2IvM3dJQ29VL3ArUmhqN2dCZDY4R0wvdDdob0pDR00vNzBxYjlCR0tPQkMrMzE5VktrSE1vWmJvYzBkYWdMVVYwcC9KN3BIeGxtY0N1K3VIaHpnMGRaU1ZsYUdzckd5eWgwRkVSRVJFYVlCQkR0RUUwcW9rRk1neXBON0hHMGpkZkRiVi9yRlZQMk9WYjViWERpWlpVV2s4cXJObEdsUUkwa0Mzdms4cVFveGFxUUJwYzBnbERpQUJ6cEZXQ1hTV0Z3UExRaEl3ckM2TFByLzlFdkQ2QlFrWk12VHhxeXRWWmNuMEplRDZCVGxMQzJYNkVaQjhhdFc4WEtBaUhGQmxHZ0NFZzVWaXEzd2U5NFNuVWwzcGw1V3JMRHE1RmhFR2pZdzl0ckd5MndjNFlqNFBsUko5bjdIYmpOcjQ3WVl4L0UyOXFRcXd4WHp2Tm9mN0dVV0N2RTFWOHFzdktQMkdpSWlJaUlnb1BUSElJWnBBT3JYMExybDlkdXA5NnZ1aVU0c0FxVnd4cGVqSjNEMG9EWHJWaW9SRVk2Mm9tSjB0ZlZPT3RrN2NjdDdOL1RLOVI2V1M2Vk9aU2NLcTJCV2x0R29KU2w0OUo4Rkl2d2RvT2kxaFNhUXZVS1RTWmRBWHZ3cFhiUGloVXFJTm13c3NjbjBqckhyQW9JN3ZaUU5FR3d5WFpFVERHa0JDbDJBSTZIVURWK3pSS1VXSks0QWxQcTRLUnFmQW5XaVRLcUpzbzZ4YWRTeTg1SHFGVGFheUpWb2RzMkJhbzEybW5FV1l0TU8vS3hvVnNDZ2ZXQkJUZ2FOU1VrOS8wbW5rdk1kYUFVOGd1di9jWEdscVBCSFQ2b2lJaUlpSWFPcGdrRU0wZ1NLOVZkNVAwV0Q0enVyNFlBR1FYaXZhY05WRVRZNkVOZlhoVllWYy9tajFqa2szK2pRc3RTTDlVQ3F6Z0ZNZHN2clJSSEg1QWRlQVZLVDRBbEpSTTVKWldmSitBcUZvTDVwVTlHbzVia1JzQlVwc1JVNTF0Z1FvRVZxMTlKUlpXaGgvdkVoZm5ZWDUwVldyQUpueTVnMEFCNjlFVndJYmkrTnQwYy9ORTVEeExDNlE3WkVWeVU1M3lNOVk5YmxscGF6YTN2anR5YVpXWmVwbE9sZEVuaGtvc2tqVmxVRURaT2lBdlEzUnNLY21SMEtzayszc2JVTkVSRVJFTk4wd3lDR2FRSmtHV2ZZN0ZVMlNxcHJtbUdXbVN6T2tncUkrNFJpQmtFdy9HaW5JeVRSSXBZeGFrVDQxa2Y0dTE0Tk9EWHh5L3NqN3FKVGhLeVNsWXRJQmMySldSSXBkc2x1dEFvTGhhNWE0QXRlS1lwbUd0RGVodVhSazFhb2RsNUpYcEt5dkhOdDBwVmduMjZPZnk0b1NlVzkxdlRKV2cwWlc5YkxxUno3R2dGZjY3OWdNRWtEMXVvWlB3MU9ycElJcGNYdGtYNWNmV0ZraWdaSXZDTFQzU2MrYzIyZEhwMk5GcGxOOWJNN3dNZlI3Z0oyMVYvZmVpWWlJaUlobzZtQ1FRelJCTXZXeUNsR3FsWm9BcVNBWlQ0VkVyMHNhQXplbGFIaWNiUVEyVkVwVDRjTXRFaFpjVDk3QTZHRkFXZWJ3S1UrcDlMcWtHVy9FYlRITmo5VXhVNnNTR1RTanIvcVZTS01DM3EwYmZiOWtWSW9zSjE2YUlVSEsvUXVrc3FlNUg3allMWDFvVWsxLzA2cmtQWFk0WlRxZEpxRUp0YUxJZXdXaVU2dVM5UVk2MHdtOGZWaytnMVdsMFgzMk5jZ3hWcFlDL29EMEtJcFlXeUZMa1ovdnVqNzlob2lJaUlpSTZNWmhrRU0wUVdweXBQb2oxWXBWQ3VSbS9tcURCMEJ1L2hORGtkblowbUI0MENkOVdEcWN3RWRYcnY3WTQ2RW84bjVHM09jcWpxZFdTY1ZSUkd6SW9WYWxEbkt5akJLZ2pQazhDbkR2M0pISEVRcWxEanRxZTRGTDNWS2Q0L0RLOHVNRFh0ay9OenoxNlpXenlmc1NQYmd3K3Z0WEU1b042OVRTQ0RvWWxNcXE3a0VnMndSODBDajlmTWJDNVpjK1BYbW0rR2xXSlZhcEd0cFR6MzQ1UkVSRVJFVFRBWU1jb2drUVdZYjYzQWdWRC9yd256YlBDQlU1U25qRm9rcWJUTk94NnFUYTQwcS9WR2prbWFXeUFnQ1dGTWpTMDNhM1RNWHBjc25yRXZWN3BFcElyUUN6c2lXSXVOYWlESzFxNUliT3dOaW1WbVdHdzVzc1EzUlZwWWpJbERPTlN0NW5vcklNcWNoSnR2UjZLb0VROE5MWjZPTThreHlqS1h5dXRlWFN1K1pVaHpSVzlnV1NWMWlkNjRyK1hxK1d6Mys4UzN1WFdHVmxyNVorYVU1OVY0MVVWalgwQWVzcVpmbjJzNTJwdzZ4WTdRTXl0dFZsOGo2YSs2VzY1MmhyNmhCSHA0NXZMcDJLUlRmNlBrUkVSRVJFZFAweHlDRzZSanExOUtZWjhBTG5PbFB2RjFubEtYWTU4QndqTUM5UGdoaXpObHFKa20yVTR6bTgwdXpZN3BZQVoxa2hzS3RXVmp2U3FLUmF3eGorVTF5UkdWMHVPOWJGYmdrakxEb0pnd290d0FkTjQ1OSs1ZkZMUUxDL2FlVDlDaTN4cTFoRktJcGNzMDFWTW9ZTDNUSmQ2R3lLYTJmUkRhOWl5alVCTjVkSUFHTWZwWkZ5TW5xMU5DdXV6SkxBcEtsLytENUZGcUE2Unlxc1RyZEhLMk95alJKOFpCdmx4NlNWc094d3k5V05JZDhzelpqTk9nbGFtaFBHMERvQTdMd3NVNldxYzhManRNdG5tU29zZFB1bFdxaTJCOWhRSmQrWFlFakNLbDJLYVgxWlJnbXdSbk85bG9FbklpSWlJcUtyd3lDSDZCcFlkTkovUktlVzZTeVJxb25JOHM4dW45dzhxeFZnUWI1TWQzSEVCRG1SS281V2gwelRjWGprK1dRMzNFZGFwWUh2cGxueXZEY2dBWThkd1BPblJ4K3JQZHprZGtNbHNMRktwdHBjVGIrZXhRWFNHeWJpN3BxeHZTNnkzenVYNWYxR1ZscnFHZ1FPTlljYjlzWk1SOHMzUjBNSHMwN0NvRlB0OHB4R0JjelBrMnZiTVNDclQxME5iZmoxMVRseTdYYlZTcGlVWlpEUHpHYU1Ob2srMWliTmpKY1VTdlZSaTBOV3FhcTBTWURUTlFnY3N3TmRUcW15aWt5dGVtQmg4bk5IcHBwcFZmSVptclJTSGJXM0lYV281dlJKUDU5aXF6U0RyczRHVHJUTDFDdU5Tb0xBRm9jY095TzhzbFdoVlVJb2h3ZlkzU3hCMzd3OGVkK05mUktjeGE0aTFqNHd2RmwwTXRYWjhoMGdJaUlpSXFMSnhTQ0hhSndVU0NXRFJnVzhWeGQvY3h3TVNROGJZOHlmTUljWCtEQWhlT2ozREYrSktaVitqNXpuNWhJSkRVNjBYZjJZQjd4eWpGVmxxU3MwVW1uc2svQml2Q0poaGRNcklVbXEzalpXdlN5aHJrQ3VZNHNEdUJ4ZVJqM2ZMSUhDcWZiNDZVMWpGZWxsYzdnWmFBZzNqbDVhQ016SmtlbG1mZTc0WmIvdEhnazVDaTBTeFBtRDhVMkVrOWwrTWZuVXRidkNnWll2Q0J4c0JnWThZNStPMWVLUUg0TkdxbTdXbEVuQTVmSkxwWTVGQjl4UkxaOW5xd040dndGb2oxbTFyTUV1SWR5aWZIbE5aSm4wSmp1Z1VpVS9aNkx1UWFtY0lpSWlJaUtpeWNVZ2gyaWNRcEJneHVPWG0rTkVyNFViMmtaV0locExqNVBSOUxxbHN1VmFPSDFTaVhLMTdKN3hUV05LZEd5VUFPcHlqL3drbThyVDRwRHJPbG9BMHVOS1hxVVVDQUc3RWxhc090NG1QeU5wRzBqZHhEcWlhM0RreXFnWFlwN3JIV0Zsc3pjdnBuNHUwdWNtMmJTMk55NUVHeHduYzZWZnBtOHBNVjJvbTYraXYxQ3ZlK3lObDRtSWlJaUk2UHBoa0VOMERmckdjR003RVFIT1RKU3FIOHQ0bXdwUGR5T0ZPQkVoeUtwY1JFUkVSRVNVdnNaWVZFOUVSRVJFUkVSRVJKT05RUTRSRVJFUkVSRVJVWnBna0VORVJFUkVSRVJFbENZWTVCQmRvN3RxWkVudmlWQ2FBWHh5UGxCZ21aamowZVM3WS9iRWZUL0dpOThySWlJaUlxTHBnMEVPMFJRU0RFa3ozMVNOZnVucWFGVkFwUTB3YWEvL3VVeGFvQ1puK0haZk1McjArbVRoOTRxSWlJaUlhUHJncWxWRVUwaUxBMmc1UDltam1ENEtyY0F0SmNETzJyR3Q2blF0NXVkSmFIU3hPMzc3ZTNYSjk3K1IrTDBpSWlJaUlwbytXSkZEUkVUVGpqTFpBeUFpSWlJaXVrNVlrVU0wUVRMMXdMSWlJTWNrVTJtYSs0SGpiZEZwTlFZTk1EY1hLTExLTkJ5UEgyaTBBNmM3b2xOZXlqS0IxYVhBdTNXQTJ3L2NYUU9jYkFmT2RVWFBzN2tLeURRQXI1eUx2cTQwQTdpMUROaHhDYkI3Z0dLclRQUEpOQUJxQmVoenkxaDZYTkhqM0ZVRHVIeHk3TVVGUUlaZUhwL3RCT3I3NHQ5YmprbjJ5VFlDZ1NEUTBBZTQvTUNTQXVETmk4Q0FOL2sxS2JKS3BVcW1IZ2hCeGpGU2hZcFZEeXpNQi9MTk1pM0s1UWVhN01DWkRpQVFmcS81WnVrNTgzNGowT3FJdmpaeURYYlhBeDFPNEdOem9sT3F0c3lTWDQrMVNjVk01TDJmNlpEM1pRdS9yK1orMlNmeW1TM0tsL0cvZERaK2V0VHlJcUE2RzNqaE5HRFV5cmtpUHJWUWZuMzdzcnpmeUxsMjE4djJtNHVCcWl6Z3JZdkFza0lnenl6VG5wcnN3SWsydVU1emMrWGFSdDVMaEZvQnRzMlhjWDUwUmJZVldvQjV1VUNXRVZBcFFMOEh1TlFEMVBWR1h4Zjd2ZW9halA5YzUrY0J1U1k1dHNNTEhMd0M5THJsK1V5RGpDUFhKT1BxR0pEck0xSjFrMGtycnltd0FHb1YwT21VOGF3dEJ3NjF5TGdVQUE4dUJDNTB5L2N5UXFjR3RzMlQ3K0NwanVqMjBjWVJlWDk3RzREWjJYSk5UclRMdWUrWUxkL3hrKzN4NDF4WkNoUlpnRmZQYzhvWkVSRVJFYVVYQmpsRUU4Q29BZFpXeUUxcWJhL2NTTTdLa3ZCbVg2UHNVMmlSRytjTFhSSlFGSmpsQnR3WGlBOXFJZ2E4OGxOZ2lUNnZWUUhaSnZsOXJpbDZrMTlna1p0YXUwY2VMeXFRbTkxTDNYSXp2VEJmeHZmbUJRa05Jakwwd0lJODRFaUxqR05Kb1V4RnNudUEzbkRvazJNRU5sYks4VSsweWVzcmJVQzVZZVJya21jR2JpdVhnT0pzSjZCVEFjVVpxZmZQTWdBYnF3QnZBRGpYS2Rjb3p5U2hSbzRSZUs5KzVQTWxPbkJGcGxiTnk1V2Jmb2RIUW80SXExNENtZVB0d0lBSHlMZklZMzNNWnpZV0hyOEVDTlU1OHBsR1hwc3EzQUlreUZoZEprSFMwVmFnd2lhZmtjc240VVpEbndSTVpabnhRVTVKaGdRdXRlR1FabGFXQkVOZGd4S0lCRVB5bWhYRkVxaWM3a2g2ZWdBU2ZLMHVrK3R5cWgzd0JPUTY2OFAvVmJBWmdFMVZnTk1ISEc2UmtHaGhQckMrRXRoK1VRS1ZSRG8xc0htV2ZFL1BkWVcvdjJiNVRvM1gxWXhqY1lHRU4vc2FKUWp0YzBzb1ZaNFpIK1JvVkVDSlZmNjhNc1FoSWlJaW9uVERJSWRvQWxqMUVqUjBobSs2bSt4QUtDU1ZGemFEM0ZDMk9PSXJYVm9kRW5hVVpDUVBjaUw3ek02V20vZEFTTUlnYjBCdWtBc3QwWnY4ZkhOOGRjcDdkYkpmaEQ4b29VcU9DV2diaUc3WHFvSDlqWElURHdDSG1vRlB6Sk1iMzBpUXM3UklYcit6Tm5yTXhqNjVZZGNiVTErVFFvc0VGc2RhbzhkdnNLZmVmM214M0ZTL2N6bTZmNU5kQXFURkJYTGozZXhJL2ZwRW5ZT0FJVnlSMHowWVg0MEVBSHExWEtkSTRGTFhLOEhib3Z6b1p6WVdnWkJjMDVKd1NCVjdmVWR5cGtPK0V3QndwbE1DbUhLYkJEbHVmL1NZUjFxaVlVVzVUY2JiNlpTd1pHbWh2TS9ZS3FmNlBtQmRoUVJZbDdxajF6S1dXcEVBeU82V3p6VVNaalRGZkQ0M0ZjbDdpLzB1T1R6eXVaZGxTalZab25tNUVtcStWeWZqaWh4emFSQ1lrNlFSOUZoY3pUZ0d2QkxheGFydGtmZWFZNUx2QVNEWFZhTUNMdmVDaUlpSWlDanRzRWNPMFFSd2VLTWhUa1FrdExDRksxY2lONkZXdmR4SXpzMlZtMG5qQ0NzcXRUaWtBaUhYTEkrTHJIS0QzK21NTGlWdDFBQVdYWHlRNHczSXNmUE1FaVlWV2NQN0pwekw3bzYvMGZjRTVDZXluMVlsVlJwTjl2aGdLSVJvQ0pGS0pEaFpWU2JIR0lsT0xmczAyb2NIRDVIcWsvd0pYanE3M3pPOGFxWTlITUxZUnFrMm1nanRDWUZQdnlkK2RhMzZYZ21iSXU5YnA1YnFscnFZNjZGUkRXK3VETWcxVXlueStTZVRiNUhqbmU5S1hwR2lVMHZ3Y2NVdUlaNUtrWjgrdDRRcVdTayt6MEtydkkvT3dmanRWL3FUN3orYXF4M0hsU1RoVW1QNHRSV1owVzJWTnFsaWNuaUc3MDlFUkVSRU5OV3hJb2RvQXJpUzlBengrdVhYeUZTVlFvdFVCaGkxMFdsVGlqSnlVOVpPcDB4bEtqRExqWCtCUmFiaXVQMVMvV0RReUUxNUlCU3R6bEVyd0lvU3FWYndCU1JraW93bDhWekpsc1VPQk9VWVFEVFFTVFpOYUxRbHRadjdnWVBOTWcxbTh5d0pkbzYzeGZkb2lUQ0VyMUd5M2l2ZWdJUU5PdlhJNTd0YTNpU1ZLcEZRUTMrZC8yWU1JZHJ6SnlJU1ZFUzBPR1NNWlJueTJaZGx5dmNsVXRVMTBqV0xmQjlUWFRQVENKOXI3TEZuWjh0UG9sVGhvMEVEOUNUNWZBUGpYSDc5YXNmaDhnL2Z4eC91UDFTYUtYOTJEQm9KdUE1ZUdkK1lpSWlJaUlnbUc0TWNvZ21nU3BMR1JHNHlYVDZwYkxtMURPaDJTUlBjU0lpd3BuemthcFVRb2dGT2xsMXV6TnNHNU1iWUY1VHRCV2JwaHhNSkJ1Ym55VTMvL3NabzFVeW1JVnFWY3pVODRSdGpRNUsvS1pKdFMxVGZKLzFlaXF3eVBXcGpGYkQ5MHZCS2lNajFNQ1k1cGs0dDF6Y3lsc2o3VkNkY2M4MVYxaGRxayt4djBjbXZrU0FrOWx5eEdjSFZubXM4Z2lFSklNb3lwVGRNZWFaOG51N3dRQ0xYektRQkVtY0lSYjU3N2lUQkJpQUJINUQ2TTR3OFg5OEhYTzRaL255eUVBeVE3Mld5RUN4eFd3ankva2I3RE1jN2prUzF2VktaVm1DUlB3dStBTkEwemlvaElpSWlJcUxKeHFsVlJCUEFaaGhlL1ZCdWs1dlZEcWNFQkJxVjlKYUozSHlxRkdud081b1doeHkvM0NZVk92NWdkT1dlUW90VTVNUk9jN0laSklpSTNaWnJHdC83OGdTazRxTXNNejZzVWl1eWJTd2kwN0FPdDBoRlVIYVM0TXJ0bDJsZTViYmgxN0hTSnI5RzNrOGtaTWxNdUhiSnBoRUZ3NVVneVlLWFRBTmcxY1Z2cTg2T2ZtWkF0Tm9sOWx3S2tsL1BRSEQwQ3F1clZkOG4xNlBDSnVlc2pRa3pPcDB5MXVva3ZXZXFiUEk5U1p6dUYvdmFFSksvRnBES2xnR3Z2TzllbDFSVHhmNmtxdVRwSHBUcFRvblhOZklaSnA0ajhUUE1Ody9mWnp6alNOVGprZ2JlWlpseUxSdjYyT1NZaUlpSWlOSVhneHlpQ2FBb3NyeHl0bEZDbTBYNTBwUGpmSmVFRkFOZXViR3V5cExuclRwZ1ZlbllLanZhSEhMVFhXbUxEMmRhdzBHT1VSUGZINmZQTFZObktteFNjVkdhQWN3ZFo2TlpRSmFCTm1sbDJmTUttNHhqODZ4b3RVUkVhUVp3L3dMNUZaRGxvcGNXU2orZ0lpc3dMMDhxWENKVHErNllMVDhSUjF1bFN1YjIyUktvbEdiSTh0eExDdVhHT3paYzZScVVmWXF0Z0ZrcmpYU1RWUnhGVnFtYW15dk5rbU9ETTE4UTJGQWx4eW5QbEZXOThzeXl3bGFra3FYVklmc3RMWXdHRkxlVUpKK3kxTytSRUdkSm9ZeDlMQlZMbytseFNmWFNnbndKTldMNzZyajlzaXBWWkRuMlNwdThqOXZLNVZvY2E0dGZvU3lXeXkvdnM4QXNWVkpWV1RLRjY2WWkrVTRCc3BKVlpDV3hDcHRjNnprNXdOYnFhS2kzdkVpV0N6ZUhnNXR6WGRMa2UwT1ZUSVVxeTVSS3RBejk4REUwOWtrNE5TZEh2bC9GNFJYR0VvMWxIR05SMnlPZlM2WSsybmVKaUlpSWlDZ2RjV29WMFFUb0hwU2VNS3ZMSkZoeCtpU1l1QlN1b1BBRmdmMU5FbTdjV1MwMzB1ZkRONzJwR3RKR2VBSnlRNTlqakE5eTJoeXl6TFRkSGQ4YjVHeW5oQWpMQ21YcDhmWUI0SEFyc0w1aWZPK3RvVThxY09ibXl2a0dmVEoyblZxcWYyTDduNFJpcWh4NjNiSzArZXhzMmFmSEJleXVBNXpoS29yRWdvak9RV0JYSGJBd1Q1WlBWeXNTZ0Ixdkc5N1E5OE1tNEtaaUNWVVVSWnJjbm1nYnZzeTF3eXZMVHMvSkJWYVdBb2RhWkZ5QVhMZkxQWEl1czNiNFp3Wkk5ZFQ3RFJMa2JBb3ZqWDZwV3o3UDZvU2VMZlY5RXFyTXlwTEFZVmZ0VlYvcXBPckRTNUdmNlJ4K3pjNTF5YmpuNU1qMUFLUnk1ZjBHQ2ZwR2NycERQb3VhSEFsdy9FRjViYVRLcGFrZkNEVEtWTDJid3l1S0RYZ2xFSWxVczRSQzRUR0ZIL2U1Z2QzMUVtWXRLNVRyMU5nSFhPaVM4Qy9XbVU0Sk11Zmt5bWZRUFFnY2JKSEFNTlpZeGpFV0RYM3lPWGE3NHBlaEp5SWlJaUpLTnd4eWlLN1JXeGVqdjcrVXBJOUhSUHNBOEhiQ3pYVmkzNDhtZS93UzBCSEpRZ0dYSDNqKzlQRHRnWkFFRm9kYTRyY243aHM3N2xpdlh4aStyYlozZUJYRGl2Qk5kV1NWcVN2OThhc1RwWG92RWU5Y0hyNnQxd1c4MzVqNk5SRXVQN0F2eVg2eHk3dEhuT3RLdmJ4NzRwaVQ2UnFVSmJvVEhXMk5meHdNQVI4bWFhQ2JlSjBQdDhoUG9vUE44cE5vcFBFRG8xL25rZmFwNzB0K3pTSmFIQ092VG5hc2JmaHl3QW9WQmdBQUlBQkpSRUZVMzEyRHc3K3Z5VllCQzRhU3Z6N1pkM3EwY1l6bEdwaDFVc0ZUTzhLZlVTSWlJaUtpZE1DcFZVUTBvbVN6VjR3YW1UYlQ0V1N2RVVvUE5Ua3lIVzIwd0llSWlJaUlhS3BqUlE0UmpXaHhBV0RWeTJwWkhyLzh2aWJjYytkRSsrU09qV2dra2FiY1ZyMzBFRHJZUEh6WmR5SWlJaUtpZE1NZ2g0aEcxRFlnalg0WDVrdGZIRSs0NmU2Wnp1SExpQk5OSlNwRkdqTDdnaktGYTZScFpFUkVSRVJFNllKQkRoR05xTU1aWFRGcXVralZINGl1ano1Mzh0NDMxNXN2Q0x4MDlzYWZsNGlJaUlqb2VtS1BIQ0lpSWlJaUlpS2lOTUVnaDRpSWlJaUlpSWdvVFRESUlTSWlJaUlpSWlKS0V3eHlpSWlJaUlpSWlJalNCSU1jSWlJaUlpSWlJcUkwd1NDSGlJaUlpSWlJaUNoTk1NZ2hJaUlpSWlJaUlrb1RESEtJaUlpSWlJaUlpTklFZ3h3aUlpSWlJaUlpb2pUQklJZUlpSWlJaUlpSUtFMHd5Q0VpSWlJaUlpSWlTaE1NY29pSWlJaUlpSWlJMGdTREhDSWlJaUlpSWlLaU5NRWdoNGlJaUlpSWlJZ29UVERJSVNJaUlpSWlJaUpLRXd4eWlJaUlpSWlJaUlqU0JJTWNJaUlpSWlJaUlxSTB3U0NIaUlpSWlJaUlpQ2hOTU1naElpSWlJaUlpSWtvVERIS0lpSWlJaUlpSWlOSUVneHdpSWlJaUlpSWlvalRCSUllSWlJaUlpSWlJS0Uwd3lDRWlJaUlpSWlJaVNoTU1jb2lJaUlpSWlJaUkwZ1NESENJaUlpSWlJaUtpTk1FZ2g0aUlpSWlJaUlnb1RURElJU0lpSWlJaUlpSktFd3h5aUlpSWlJaUlpSWpTQklNY0lpSWlJaUlpSXFJMG9abnNBUkJOQlIxMk4wNDM5azMyTUlnb0RiVDF1aVo3Q0VSRVJFUTBnekhJSVFMdzRZVk9IS3ZybWV4aEVGRWE4UGdEa3owRUlpSWlJcHJCR09UUWpHWFNxYUZSS2ZBSFEvRDRBdkQ0ZUhOR1JHT25WaWt3NjlXVFBRd2lJaUlpbW1FWTVOQ01kZGZpTEp4ckxVQnRwM3V5aDBKRWFhZzhSNC83Yjg2ZDdHRVFFUkVSMFF6RElJZG1yTVZsRnZ6MDRXb01lb0tUUFJTYXd1NVl2eEwzZitvemVPTHJmenZaUTZFcHhxUlh3MnJnbWdGRVJFUkVkR014eUtFWkxjT29RWVp4c2tkQlU5bXBrOGR4KzVaTktMVHBKbnNvUkVSRVJFUkVYSDZjaUlpSWlJaUlpQ2hkTU1naElpSWlJaUlpSWtvVERIS0lpSWlJaUlpSWlOSUVneHdpSWlJaUlpSWlvalRCSUllSWlJaUlpSWlJS0Uwd3lDRWlJaUlpSWlJaVNoTU1jb2lJaUlpSWlJaUkwZ1NESENJaUlpSWlJaUtpTk1FZ2g0aUlpSWlJaUlnb1RURElJU0lpSWlJaUlpSktFd3h5aUlpSWlJaUlpSWpTQklNY0lpSWlJaUlpSXFJMHdTQ0hpSWlJaUlpSWlDaE5NTWdoSWlJaUlpSWlJa29UREhLSWlJaUlpSWlJaU5JRWd4d2lJaUlpSWlJaW9qVEJJSWVJaUlpSWlJaUlLRTB3eUNFaUlpSWlJaUlpU2hNTWNvaUlpSWlJaUlpSTBnU0RIQ0lpSWlJaUlpS2lOTUVnaDRpSWlJaUlpSWdvVFRESUlTSWlJaUlpSWlKS0V3eHlpSWlJaUlpSWlJalNCSU1jSWlJaUlpSWlJcUkwd1NDSGlJaUlpSWlJaUNoTk1NZ2hJaUlpSWlJaUlrb1RESEtJaUlpSWlJaUlpTklFZ3h3aUlpSWlJaUlpb2pUQklJZUlpSWlJaUlpSUtFMHd5Q0VpSWlJaUlpSWlTaE1NY29pSWlJaUlpSWlJMGdTREhDSWlJaUlpSWlLaU5NRWdoNGlJaUlpSWlJZ29UVERJSVNJaUlpSWlJaUpLRXd4eWlJaUlpSWlJaUlqU0JJTWNJaUlpSWlJaUlxSTB3U0NIaUlpSWlJaUlpQ2hOTU1naElpSWlJaUlpSWtvVERIS0lpSWlJaUlpSWlOSUVneHdpSWlJaUlpSWlvalRCSUllSWlJaUlpSWlJS0Uwd3lDRWlJaUlpSWlJaVNoTU1jb2lJaUlpSWlJaUkwZ1NESENJaUlpSWlJaUtpTk1FZ2g0aUlpSWlJaUlnb1RURElJU0lpSWlJaUlpSktFd3h5aUlpSWlJaUlpSWpTQklNY0lpSWlJaUlpSXFJMHdTQ0hpSWlJaUlpSWlDaE5hQ1o3QUVSRVU0WFQ2Y1RseTVmaDgvbml0bmQwZE9EdzRjTkRqL1B5OGxCZVhuNmpoMGRFUkVSRVJNUWdoNGdvb3FXbEJkdTJiVU45ZlgzYzltZWZmUmJQUHZ2czBPTWYvL2pIK1BhM3YzMmpoMGRFUkVSRVJNU3BWVVJFRWJObXpjTFNwVXRIM0NjN094dDMzbm5uRFJvUkVSRVJFUkZSUEFZNVJFUmhhclVhRHozMDBJajdMRjY4R01YRnhUZG9SRVJFUkVSRVJQRVk1QkFSeGRpMmJSdU1SbVBTNTFRcUZaWXRXNGJzN093YlBDb2lJaUlpSWlMQklJZUlLSWJaYk1aamp6Mlc5RG1yMVlyYmI3OGRLaFgvNmlRaUlpSWlvc25CdXhFaW9nU1BQUEpJMHUxV3F4VzMzWGJiRFI0TkVSRVJFUkZSRklNY0lxSUVOVFUxV0xCZ3diRHQ5OTEzSDdLeXNpWmhSRVJFUkVSRVJJSkJEaEZSQXF2VmluWHIxZzNiL3VDREQwN0NhSWlJaUlpSWlLSVk1QkFSSlRBYWpWaTVjaVVNQnNQUXRzcktTcXhaczJZU1IwVkVSRVJFUk1RZ2g0Z29xWlVyVnlJdkwyL284ZWMrOXpsb3RkcEpIQkVSRVJFUkVSR0RIQ0tpcEdwcWFqQjc5bXdBc3BMVlBmZmNNOGtqSWlJaUlpSWlZcEJEUkpTVVhxL0hRdzg5QkFCWXRHZ1JLaXNySjNsRVJFUkVSRVJFREhLSWlGSjY0SUVIb05QcHNHelpNdVRrNUV6MmNJaUlpSWlJaUtDWjdBRVFFVTAxb1ZBSTlWMXVIS3BYc09hQnIySDV5bVhzajBORVJFUkVSRk1DZ3h3aW9nUlA3bTdETDk1dHdlbG1Kd3pXVDBCcE5XRHRsVUVzTERWTjl0Q0lpSWlJaUdpR1k1QkRSQVRBSHdqaGZPc2dubmptQXZaZXNBOXQ5L2lCZHkrNnNPaDdCL0RkajVmamIrOHNRNjZWMVRrMHZUbmNBZXkvYUVlYjNUdlpReUdhRWZLc1d0eFdrNGxNRS85cFRrUkVvK04vTFlob3hqdlQ3TVJ2OTdmanFUMnQ2SEQ0aHJZWDJBeHdlUUxvZDhtMkg3M1dpTGRPOXVEdjdpckRsZ1ZaS01qVVRkYVFpYTZyWFdkNjhlVmZuNC83ODBCRTEwKzJXWU4vKzJ3TkhyNjFZTEtIUWtSRWFZQkJEaEhOV0gyRGZqeTFweFZQdjkrRzB5MkRDQVJEQUFDalRvMk5pd3F4Zm1FQitwdyt2SDZvQ2FjYSt3QUFSeG9HOEtXbnptUGpQQnUrZVdjcHRpN0tuc3kzUUhSZDFIZTVHZUlRM1VBOVRqOHV0cnNtZXhoRVJKUW1HT1FRMFl6akM0UndxbWtBai83cUhFNDFPNGUycTFVS3luSk1lT0x1ZWFncXNBNXRYejRyRysrZWJNWHY5OWFoMytXRHl4ZkVteWQ3c1AxVUR6NjNwZ0QvNjFPelVaQ3BnMHFaakhkRGRIMlY1SmhRWFpneDJjTWdtcGJxT3diUTBEa3cyY01nSXFJMHd5QW5qWVJDb2NrZUFsSGErK0NpSFUvdmE4ZHYzbStEeHg4YzJsNWRaTVdHaFlYWXZMZ0lXbzBxN2pVcVJjR1dKY1ZZV0phRnQ0NWN3YjV6SGJBUCtoQU1BVS92YThmN0Yvdnh4S1ppUExLbUFJV2Nia1hUek5MS2JEeTJ1WHF5aDBFMExUMi9yNTVCRGhFUlhUVUdPVVEwSTdUWnZmakpXMDE0NlZBWDZydmRROU9vTWsxYWZHeEZHVmJOeVVWQnBoR3FFY3BxQ3JPTWVIakRiS3lhbTRjZFIxdHc0R0lYZklFZ0xuZTQ4TDBYNi9EeWtTNzgxYVppZk9xV1BPaTFxcFRISVNJaUlpSWlHaThHT1VRMDdlMCsxNGZIbmp5SCtpNTMzUFlsRlRZOHZuVXVDbXpHTVI5THAxRmhmcWtOYzRzemNmaHlGMzcrMmxsNC9FRzRmVUc4ZjlHTy9aZnNlT2x3SjM3eitIeFlEZXFKZml0RVJFUkVSRFRETWNnaG9tbko3UXRpNzNrN2Z2bGVDMTQrMGdWL3VBSkhwMUZoVG5FR3Rpd3B4cXE1ZWRDTXM3R05TcVhnbHBvOC9PS0pMTHg1K0FyMm5XdEhjNDhMd1JEdzR1RXU3RHl6SDErN3ZSU1AzbGFBT1lXbWlYeHJSRVJFUkVRMGc4M29JQ2ZrOFNEUTNBeW9WTkJVVms3MmNDWlVzS2NIN284K2hHN1JZbWpLeXNaMUROZXVYWER2M1lPc2YvaitxUHQ2UHZvUWdlNXVtTzc1MkxqT2xVcWdyUTBoanh1YWl1bjErZEQxMWRUdHdUKytXbzlYajNhanplNUZwTHRVdGtXSEI5ZFU0cVpaT2NpeTZLQW8xOTZkMkd6UTRMN1Y1VmhSazR0ZEoxdng3c2xXZUh4QjJGMEIvUGlOUnJ4K3ZCdVByaW5BbHpjVnc2eG5oUTRSRVJFUkVWMmJHUlhrZUQ3OEVQNk9kZ1M3T2hIbzZFQ2dxd3VLWGcvOVRUZFBTcEJqLzltL3d0L2VQcTdYYWdvS2tQbk5ieVYvTWhTQzQ5bmZ3VjlYQjE5dExUSy8rdGZBZUc1WVEwR0Vnb0V4N2FxWVRIQTkvMGNnR0lUcDQvZkM4ZFNUOERVMGpQZ2F3NnJWb3dZLzdvOCtSTWpsZ29WQkRvMkJ6eC9Fazd0YjhYZS92d3lYTDlySVdLMVNzSEZoQWI1dyt4em9OQlBmdTBhalZxRXkzNEsvM0ZLRGpRc0w4Vyt2bjBGemp3dStRQWpIR2dkd3JIRUF6K3hyeCsvK2FqNFdscG9uL1B4RVJFUkVSRFJ6cEVlUUV3ekM5ZTR1dUQvNkVNRytQcWhzV1RDdVd3ZkR1dlZ4dTRVR0IrRjgvVlY0VDUxQ3lPMkdwcWdJcG5zK0R1MmNPUUFBZjNzYlFtNDMxQVVGOEo0K2pjeXZmUU9hcWlvQVFLQzlIWDAvKzllVVE4aitoLzhKeFdBWTAzbVNjZS9aQStjckw4RzQ5VTZZN3J3TEFHQjU2Tk1JK2J4eCt3MDg5eXgweTVaRE4zKytqTG14RVlNN3RpUGpTNC9IN2Fkb1U2K01NN2o5TGZnYkdtQis4Rk53dnZRaVhEdmZnZkgyTzFMdVB4RjBpNWZBdk8wK0RMNzVCZ3hyYm9OeDh4Ym9Cd2RUN3UvYXVSTWh0L1FyQ1EwT0l0RFprWFMvUUdzTEZMTUYvb2I2cE0rcmJGbFFaV1plK3h1Z3ROYnY4dU5nclFNLzNkR0U3U2Q3aDZaUkdiUXFWQmRtNE82YlMzSFQ3R3lvVmRlL0FmR3NRaXYrOFpHYnNmMVlNL2FkN1VCenR4UEJFSENzYVFCcmYzUVVYOTVZakVkdXpjZUNZak0wYXE1WFRrUkVSRVJFVnljdGdoem5LeS9EdmU5OUdEZHRncWEwSEo3alIrRjgrU1VnRklKaC9RYlpLUkNBL1JmL0c4SGVIcGkyM2duRlpJWnI5N3ZvLzlWL0l2UHJmd05OZVRuTTIrNERBSVFjL1hEdDJoVWZBSVNDZ05jTDY2T1BRWlZoSGRyc2IydUg4NFUvQXBHbHY4ZHdua1FocHhPRDI5OGF0bDFkWER6OHpXcTFVT2ZsRDAwbENybGNVTFRhTVU4dGNyKy9GNjYzZDhDODdaTXczTG9HOFBuZ2ZPVmxxREl5b0YrNUt1bHJBaDN0Q0RtZHc3WUhlM3VCUUJEK3V0cWtyOU9VbGdGYUxkeDc5MERSNjJGWXR4NjZ4VXVnc3RtZ3lzNGVjWnllZ3dlR2Z1K3JxOFhBcy84MWZLZFFDQ0dQUi9ZNWR6YnBjWXgzYklWeDQ2WVJ6MFhUMjVINkFmem90UWE4YzdvSGRsZTBncXd5ejR4dHE4cXhyQ29IWnNPTi9hdk9iTkRnL3RVVnVIVnVIdmFlYnNlckI1dmc4UWZSTitqSGo5OW94SjhPZGVLUjFmbjQ5ajNsc0xBaE1oRVJFUkVSWFlVcEgrUUVPanNseE5tOFpXZ2FqbTdKRXRoN2ZvYkJIVHRndUcwdG9GYkRjL0FnQXMxWGtQSGxyMEE3ZDY3c04zY3Vldjd4QjNDOXZRUFdMMzVwVE9mVGxKWEZoeEFKL3cvK2VNN2pmT2xGcUhKeUVHaStNdXc1My9uemNWVTVvY0ZCK0p1dlFORkx4WTIvcVFraHZ4L2VVeWVIOWxIMGVtaHJobGYvdVBmc2h2T1ZsMkhZc0JHRzlWS3RaRmkvQVlHZUhnejg0ZmNJZWIwd3JGMDM3SFdEYjc0Qjc2bFRnQ2JoNnhBSVNIRDF5LytNM3g0TUFYNGZiUC90NzZIT0w0Q3Y5akpVWmpQMEsxZEJaYk1oME5vS0JJTklSbDFZQ0tqamIxeDFDeGNoKzUvKzE3QjlQUjkrQ09lZlh3WjBPcGp2K1ZqS0lJcG1KcmN2aUIrK1VvOGZ2OUUwVklFREFGcTFnbTJyS25ELzZuSm8xSk83QkhoUmxna1ByYTNDUFN2SzhQTlhUK05ZZlM4QTRIS0hDei80Y3dQKzdaMW1QUFBsK2ZqNHNweEpIU2NSRVJFUkVhV1BLUi9rZUUrZWtNcWIxYXVqR3hVRitwdFh3UG55aS9BM05rSlRWUVhQaWVOUTJXeEQ0UW9BS0JZTGRQUG13M3YyREFLdHJlajcrYy9raVhCMVRlK1AvM21vZDR6MXM1OGIwM2hHT3crQ3diand4M3Z5QkR3bmppUHpHMzhEKzArSFQ5MGFlUDRQUUNBQVJhOEhBQVQ3KytFOWRoUytNNmZsc2R1RGtOdU53ZGRlSFhxc011aGgrL3Z2UmcvaTkySGcrZWZoT1hRUWhnMGJZZjdFdHJoem1PLzdKS0FvY0w3MElud1hMOEx5MEY5QU1jZjM2ZEF2V3c3TEk1K04yK2JhK1E1Y2UzWWorMy8rTUc1N29LMFZmZi9QajFOZW83NmYvMHpDbnNUVmdMeGVaUDJQZjRES1prdjUycUZ6WExrQzU1OWZodW5PdTZBdUxrSC9rNytDeXBvQmJYaktHYzFjOXNFQXRwL3N4cis4MFlpakRRTkRqWXlOT2pXV1ZtWmgyNm9LekNxd1RFZ2o0NGxpTVdqd2QvY3R3cDdUN2RoMXNoVU5uUVB3QjBMb0hmVGpvWDgvalVkdUxjQ1hOaFJoZVlVVk9zM1VHVGNSRVJFUkVVMDlVejdJOGJlMFFOSHJvY3FPLzMrczFVVkZBSUJBWndjMFZWWHd0N1JBbTJSMUpuVlJFWER5QkJTMUdyYS9sZWJBcmwyNzREbDRBQmxmL0ZKMGVwWFBOK2J4akhTZVlHOHZWRGt5MW1DL0hRUFAveEhHelZ1Z0tTeE1lVXp6ZmZkRHQzUXBBS0RudTM4UHk4T2ZoYmE2R2dEZzNyOFBuc09Ia1BuMXZ3RUFlQTRmZ3V2dEhVT3Y5VjI2Qk9jTGYwU2dwd2VXVC8wRjlPSEF5MTlYQi91Ly81dE05NnFvZ0huYmZkQVVGMlBnaFJmUSs2Ti9oR0hkZWhqWGI0Qml1ajdMSW1kKzlhdHgwOEZDTGhkNnZ2ZmRFVjRSNVQxK0RBTi8rRDNVeFNVd2JOZ0lBRERmZHgvNm4zb1Nwbzk5SE1ZTkc4Zlh2Sm5TbWo4UXdwN3pmZmovZHJaZzUra2U5THRsR3BWS0FSYVZaK0gycGNWWVVwa0ZrMzVxL3JXbTE2cHh4N0ppTEt2S3hvZm5PL0Rta1daME9UeHcrWUo0Y2s4cmRwenV3YWRYNXVPclcwcFFrV3VZN09FU0VSRVJFZEVVTlRYdmVHS0VCaHhRekpaaDIxWGhpcEtReXlXL09nZWdXSkxzWndydjUvVkNYVm9LK0gzd2hxdGRGSzBPNnZ3Q0FGSmxNcWJ4akhhZThIZ1FETUx4ekROUVoyWERkTWRXNmNFejJyRTlIb1E4bnJnZVBhR0JBYWlzR1VuMzk1NCtEY2RUVDBKZFVDQ05tK1A2ODRUQ2xVZlJLU2Y2VzFaQ1UxNE81NHQvZ3V2dEhkQlcxd3dGUmxOQm9Qa0tuRysrQ2QrNXM5Q3Z1QVhlRThmaGZPVmxtRDkrTHd5M3JvSEthSUxqRDgvQmMvZ1F6UGQ4RE5wNTh4bm96QkFlWHhCZis5MUZQUDErRzN5QjZIZGFvd0llMjF5RExVdUxia2dqNDRtUWwybkF2U3ZMc1dseEVmN1BPeGV4NzV3MCttN3M5dURIYnpiaHlUMnQrTmZQVk9QemExT0h2MFJFUkVSRU5ITk4vU0FuRUV4K3N4N1pwQ2dTV0FUSHNCOEF6NkhEUTFPcitwOTZFdnFiVnd5YmlwUjZNR00vai9QVlB5UFEyZ3JidDc0bFBXSDhvd2M1L3N1WEFRQyt5NWVIQWlaZmZUM1VPY243WitqbXo0ZjVFOXVrVDFCaWY1c1UxQVdGeUhqaXIrR3ZxeHRhc2V0NnNQLzgveDN6dnQ1angrRGF0eGYrMmxwb3lzcVIrZlZ2UUZOUmljQ216ZWgvOGxjSTl2WEMrdmt2UUxkc0diSXFLakR3d3ZNeTFTb2pFOGFORzRlcWRtajZhZTN6NEpXajNmakhWK3JSM0JmdEpXVXo2N0N5SmhlZlhGV09uSXowckY2eEdMWDRtM3NYWU1QQ0FyeDZxQWxubSt6d0IwUG9jZnJ4MkpQbjhQeUJEbnpqamxKc25KL0Y2VlpFUkVSRVJEUmt5Z2M1S3FNQmdmYTJZZHNqbFMrSzJRd29DaFM5UGxvTmsyby9yeGVENyt5QWNkMTZERzUvQzVhSFBvMkI1NTVGeU8yR01XRXA4NlRHZUI3My9uMXc3OWtONjZPUFFiRllaZVVsdjE5MkRBUVE4bmlnYUxYREd5bWZPQTVOUlNVR1gzOE5nWTRPbU82OEM3NUxGK0c3ZEJHYXlrcm9iMTZSY0hGVTR3NHhFa01jejdHajhNUTBWSTZNRllFQXV2LzdmNHZmSHROWU5oWHJvNDlCVTFJeTlEamtjYVB2WDMrU2ROK2d2UStLUm91TUwzMDVyZ2VPdXFBQUdWLzhZdHkrcXF3c1pEeitaZmdiRytIZXMxdFd6cUpweCtzUDRvV0RuWGhxVHhzK3VHekhvRmVDVUxWS3djcWFYR3haVW9SNUpablFhZE4veGFlbFZUa296N2ZnUkYwdlhqdlVoTVl1V1VIdWpSTTlPTkl3Z0syTHN2SE5PMHV4dE13OHBmcitFQkVSRVJIUjVKanlRWTQ2dndEZTA2Y1JHb2lmMHVSdmxhbFFtdUtTb2YwQ2JjTURIMzliS3hTVENTcWJEYzQvdjRLUVB3RDlMU3N4dVAwdGFJcUxrZkg0NDNEdDJvVlFNRERzdGFuR005cDVYTys5QndCd1BQT2JZZnU1ZHI0RDE4NTNZSG40a2JoZ0p0RFJJYjF3dnZGTktJb0N4eDkvajhIdGIwR2Rtd3ZUeCs2RjQrbGZTMFhRZGJxUjAxYlh3TFIxYTl3MnorSEQ4Qnc3Tml4TUNYVDNZT0M1Sk11RngxRFpNcUhLelIxNm5DejhpakJzMkFqRG10c1F0TnNCQU80OWU2RE95NFZpTktIL2w3K0E5YkV2UUYxWUZEMlcyNDFnWHg4c1kyeFFUZW1sb2N1TnJ6eDlBZHRQOWlBMk1zeXg2UENsclhOeDA2enNhUlZvS0FxUWJkRmo0K0pDckp5VGk1YythTUFyQjVzUUF0QnE5K0xwZlcxNDhYQW52bk5QR2I3M2ljcFJqMGRFUkVSRVJOUGJsQTl5ZEFzV3dQWHVMcmdQSElCeDgyYlpHQXJCYytnUTFQbjVRMDJQZFFzV1lIRDdXN0tLVmJoWFRNanBoUGZNR1JodXZobkI3bTZwa25ua3MxQTAwZjhYWDFOWkJldGZmbkhNUFhKR093OEFXQjk5ZEZqejVKQS9nUDVmL0FmMHQ2eUVZZFVxcVBQeW84LzV2Qmg0OW5mUUxWZ0lUYmlSc3ZVemo2RHZaeitGOWRPZmhtN2hRcWtlK3NOek1LeStkUnhYY1dTV1QvMEZvQUNLTWI3eHNhKzJGbENyb0ttYUZiZGRVMUVKYlhVMVZCbkplL2NBZ08vQ0JRUjdlb1llaDBacEp1MDVkUkxPNS8rSTdCLzhFSjZUSjZDdHJvYnB6cnRnM0hJNytuLzFTMWdmZmdTNjVUY2g1SFRDMzlJTXgyK2ZodlhSejBPM2VNazQzakZOTmNFZ1VOdnB3Z3NITy9HVHQ1clFOU0RmRjBVQjhqTU1XRFVuRC9mZVVvWk1zMjZTUjNwOW1mUWFQTEp4TnRZdUtNQWY5OVhqVEZNZm5CNC9ITzRBL3NlTDlmakRSNTM0L24yVjJMd2dDMW5tS2YvWE54RVJFUkVSWFFkVC9rNUFNMnMydFBQbVkvQ3RONENBSCtxaUluaU9Ib0cvc1FFWmozOTVhRC9EdW5Wd2Y3QWZqdDg4QmRQV3U2RG9kUmg4NzEwb09oMk1XKytFeW15QmZ0VXFDUU1jL2VNZXoyam5BWkI4dW85ZmJreFZXVm5EZ2hIdjhlTUlPcDNJK0t1dkFBQ0NkanY2bi93bGRBc1hRcmY4SmdDQWZzVUtLRVlEUWs0bmZCY3ZqSHY4eVZ6MXlsVXExYWhMaUh1T0hBWjA4VGZkNnRKU0tDbDYrWGlQSG9WdTBXSkFvNDNiYnR4eU94U2pjYWdpcC9lZmZnanJGNzRJMHgxYjRmaXYzOEgydFc5SUUydEtXMTUvRUUvdWJzWFQ3N2ZoVUwxamFPYWVScVZnMCtKQ2JGaFVpT3FpREtpbVVSWE9hQ3J5TFhqaTdyazRWZCtMTjQ4MjQrd1ZxVlk3MWV6RWw1NDZoeTBMc3ZEVkxTWFl2Q0Jya2tkS1JFUkVSRVEzMnBRUGNnREErdWpuTWZqNmEzRHQzWU9RMncxTmNRa3l2dlE0dEhQbkRlMmpHRTNJL091dlkrQ1ZsekR3eWt0UUZBWGE2bXBZUC9zb1ZCbXl4TGpsVTM4eDZybDYvK21ISXo0L2x2TmNMZjJLVzJDWlBYdW9Ja1psTWtGLzh3cVlicjhqYmovZHdrWHdIRDQwcm5QY1NKcVNVbGdlZkRCdU90UXdNWDEyZ2ozZDhKNDVqWXl2UEFFQXc2Yk5HTmJjQmdBSU9mcGxWUytyRmNZN3RzTFgyQURIYy84RjIvLzFIYTVlbGFZTzF6bndoU2ZQNG55YkM3NUFhR2dxVlVXZUJYOTk5enlVNXBxZ1ZpblRhaXJWV0ZrTVdxeWFtNGZsczNPdzQxZ0wvdlJCUFFZOUFmUzVBbmp4Y0JmZVBObUxMNjR2eFBmdnEwUzJSVHY2QVltSWlJaUlhRnBJaXlCSDBldGh2djhCbU85L1lNVDlWTG01eVBqaTQ5ZDByb3l2UEFGVlpqU1FDYlMwd1BIYlo2NzlQQm90Y243eTA1UlB4eTFwcnRYQ2RNL0hvbU5vYjVObXlXb05mT2ZQUXpGTTdWVjZNci8yOWVFYlF5SDR6cDBGTkZxRXZGNzQ2bXBoWExzT0FPQTllUkxxZ2dKb3Eyc0FBSXJaQk4rRjh3Z3NXZ1Jvd3plby9nRGNIK3lIWWpCQ25aOFBLQXFzajN3V0liZUhJVTZhOFFkQ09OczZpS2YydE9MWGU5dGdkMGtqY0pVQ2xPZWFzWForQWJZc0xZTEZ3SEJDVVJUb3RXcmNlMHNabHMvS3hwOFBOT0Y0WFE5Nm5WNE1lZ1A0dDNlYXNlTlVENzU3YndWdVg1aU5ZdHYwbm5wR1JFUkVSRVJwRXVUY1NPcWNYS2l5czRjZWo5U2s5MFp4Zi9naDNIdDJBd0FVZ3hHV0J4K2M1QkdOZzZKZzRNVVhFZXpwQmhRRm1wSlM2RmV2QmhCdWRuenJtcUZkalJzM3cvRzczdzViNVVxVmtRSHpBdzhNcmZhbEdFM0QrdnJRMU5iUjc4VXYzMnZGY3grMjQyekw0RkFGVG9aUml5MUxpckIrWVNHS3MwM001cElvelRIakszZk94WW42SHJ4enZCVUhMblVCQU02M3VmRDRVK2V4Y1o0TmoyOHN4b08zNUUzeVNJbUlpSWlJNkhxYWtVR09ZczBZVmgyakxpeEtXakdqcWFnY3NaTG1XdG0rK2ExUksyek0yKzZEZWR0OTBoRTJZY255VkRSVnM2NTUzTVl0dDhPNDVmWlI5N04rL2d0ak9sN1cvLzA5V1hrTEdGNUZFOU5QUjFOUklmdlN0TEx6ZEMrZWVPWUM2anBkQ0FReEZPSXNMTFBoOGExelVHQXpRS1VvREhGR29GSXBXRnFWalFYbFdUamQxSXYvL2VZNTlEbDk4QVpDZVB0MEwvWmNzT09aZlczNHhlZm5vamlMMVRsRTQ2RkFLZ1JWaXZ5bkt2SjdkZVJYbGZ4b3dyL1hxdVUvYmZWOUV6c09qUXJ3QjZPUGM0eEFUUTV3c0JrSWhQOENMY2tBbXNmZjltOVVOZ09RYXdJdTlReC96cUFCcXJPQlV4M1g3L3hFUkVTVTNJd01jcWFTdUNsVm94bGppRE9sOFM1OVJna0VnV01ORHZ6N3ptYjgxd2Z0OElidlBsU0s5TUhadXF3WW14WVhRYTNpOTJLc0ZFV0JUcU5nZVZVT2Z2VFptL0hLZ1VZY3VOQ0ZYcWNYYmw4UXJ4M3J4cXFHdy9qT1BlVzRmMFV1U3JMMGt6MWtvclJTYkFYV2xFY2ZCME1TbklSQ2dFNE5ESGdsWUFtRXdyOEdBWTgvR3VRWU5CSitqRWVySXhyU3JLMEFuRjRKYmdBZ3h3VGtXNkxQVzNUQWltSmdkcGJzRTU2bENnQllrQWNzeU1lNG5Pa0F6blRLNzdQQzRWR3lJQ2NRQktwemdINFAwR2hQZml5VklvSFUxZkFGb2tFL0VSRVJKY2NnaDRpdWl3dHRMdnpIem1hOGZLUUxqZDN1b1grWUY5b00yTHFzQkN2bjVDRXZRejhqR3hsUGxOd01BeDdiWEkyMTh3dnczcWsyN0R2YkFiY3ZnQ3U5SG56cnVVdDQ5b04yZkg1dEFSNit0UkFaUnZWa0Q1Y29MYlE0Z0pmT0lxNXlFSkRnNU80YTRLMkxJd2NOV1ViZ2xwTG9ZN1ZLUXFCZ3dvc2lsVDZ4VlRjN0xnRk9uNXdyendTYzdZdytsMmtBK21KbWV3OTRnYmN2UytoMFp3MncvV0kwekRuVEdmOWFRTWJrOWdNbjIrWHgwa0laMjVHVytQMVN2VGVEQnJpNU9INmJQd2dzekFmS1l0WjZjSHFCWTIzeSswcmI4TmVNNXAzTFFLLzc2bDVEUkVRMDB6RElTU09Lb3VDeHh4N0RyMy85NjhrZUN0R0lubm0vRGQ5N3NRNHRmVjRFWXU1ZTFzN1B4MmZXejBLT1JROFZxM0FtaEZxbHdwemlETXd1dEdMdC9BTDh4NXRuMGRudmdUOFl3a2UxL1RqUzRNQnY5N2ZqMmE4c1FFWHUxRzZVVGpUWlNqS0FSU2txV1NKL1pXMnRUdjM2WTYxU1ZmUFMyZWkyTzJaTE9IUTZZUXJTdkZ5Z01rdUNvVVJWV2NDZ1Q0SWJYVGlEelRZQ0hjN29ZMENDbEgwTlFKRlZLblYwYXRrV0RBRnpjaVVNaXJBWkpaektDQmZwWlJoa0d0bHRNZFZISFU3Z1FyZnNrNkVIc2d4U1VWT2FJVlZIblU0SmYvUnFHVituTS9yYVRBTmdkd09lUVB4N0NZYUFONU84eDBSV1BiQytZdlQ5aUlpSWlFRU9FVTBRdHkrSUE3WDkrSmZYRy9IR2lXZ2R2azZqd3V3Q0srNWRXWVlWMWJtVE9NTHBTMUVVYU5RS0ZwYmI4Tk12cnNTZkR6Umg3NWwydFBhNjRBMkVzUDlTUCtiLzl3UDQxbDFsZUd4dElhb0xqSk05WktJcHFXTUErTUNUL0RtVEZsaFhBWHg0SmRydUxkR2diMkxHa2FHWDgzMWkzdkR0MWRuSlh4T3BmUG5vaWt4MXlqSklCVTVrMnRPOFhNQWJBR3A3NVhGMXRvUlRGN3JsY1lWTnFva0FJTjhNek02Vy9qODZ0VlRkMVBkQzRHVjFBQUFnQUVsRVFWUUI1N3RrZTFVV3NQTnlOTFFweVFDV0ZBTHYxZ0xkU2RhSUdNdDF1ZG9wV0VSRVJETVpneHdpdW1Zbm1nYnc1TzVXdkhDd0UyMTI3OUQyMGh3VDdseGVnbHVxYzVGbFlmUGRHMEduVWVPVHF5dHcwNndjN0Q3VmhyMW4yekhnOXNQbEMrSmZYbS9FamxNOStQU3FmRHg2V3lGeXJWemluU2lXTHdqNFBESzF5WkR3THlSdE9HalFxWVpQUHhyMFRWeUlBMGpQRzNWTTBXSnBKckNrQU5oK1NhcHFSdUtOcVlnWjhFcVZEU0JCamRzZmZWeHNsZXFheU9NY1U3UmE1MUtQL0ZSbFNRQzAvVkwwbUpkN3BOS24wQW8wOUFGbXJmVHFPZFNjUE1RaElpS2lpY2NnaDRqR3plMEw0cDlmYThEUDMyNkczUlZBTVB4L1UrczFLdHl6b2hRZlgxRUdpMEhEUGpnM21GcWxZRmFoRlJYNUZteGVVb1JmNzdxSU0wMTIrSU1oSEt4ejRHakRBSDY5dHhXLytQeGMzRFluYy9RREVzMHc4L09rWWJFanBqcEhIUTV5NXVZaExzbkpOQUJYK29IamJSTjNmbS9DOUtRQ005QTJJTUhNMWFpMFJSc3ZSNlpXWlNaTXJWb2JubHBsMFFPOUl3UXhpL0tsOFhGRWtSVzRxU2phNjJkNWtmd0F3SzVhd0o2aXNvbUlpSWl1SFlNY0lycHF2VTQvRHRUMjR3ZXYxT09EUy8xRDl6Um12UWF6QzYxNDZMWksxQlJuY3BHeVNhWldLYWpJdCtCN24xcUtuY2RiOGZieEZqVDNETUlmRE9GVTh5QTIvOHR4UExhMkVGL2RVb3dGSldabzFmekFpQ0thN1BGTGEwZWFIZTlyaUsvSVNXem1XNTZRamVyVUVwNGticmNacE1vbmRyc3ZLRDEyWW1sVlFFRjRnY3RQems4OTNyT2R3TG11Nk9NQkwrRHd4dmV4R1VtK09YbWpZNVVpUFhLNlhVQnRUR1hPN0d5Z2V4RG9TOUtZMk8wZnZvMklpSWdtRG9NY0lyb3EreTdhOFI4N20vSG5vOTBZaU9scU9idlFpcnR2S3NFdE5ia3c2dmhYeTFTaVVhdXdkWGt4bGxSbVljK1pkdXc0MWdLSHl3ZHZJSWhmN1c3QnJyTzllUGpXZkR5eHFRU0ZOazZCSXdJa3FDaU5DVmtpTFZ6dXJJbmZ6NkFCNnNKOVp4VElhbEN4OUJvSmMzSVNsaVRYcUtUS0ozWi9oM2Q0a0RNN1d5cDBCbjB5RGFxK04vNTVreFpZWHptOFd1ZDhWN1NLYUN6NlBkRnBXeGw2bVhwVmxpbkh2eWs4ZFNveWZjeG1BT2JtQXUvVlRleVVNaUlpSWhvYjNtMFIwWmgwTzN6NDNwOXE4ZnpCVHZRTytvZVcwclhvTmJoL1RRWFdMeWlBeGFpRmltVTRVNUtpS0NqS051R0JXeXV3WVdFQmZyKzNEaDllNkVRd0JGenFjT0dmWDIvQzcvYTM0NGYzVitHaGxmblFzRHFIWnJqTFBja3JjclpmVEYyUkV3THc2dm40NDl4VEExenVsV0FsMWtpclZrV29GVmw5NmtLWExFdStLRjlXdjRwZHlueCt2a3hqdXRJZi85cEZCVkpKY3pWYUhjQ2hGaGxicmhsdytlUzhiMXdBbGhVQ3EwcGxQNVVpb2RXNkZLdE12WDVoK1BRd0lpSWltamdNY29ob1JPMTJMM2FkNmNYM1g2N0h4WGJYMEExTWhsR0xSUlUyZk9xMktoUm5HZGtISjAxbzFDb1VacG53OVkvUHg4b0xlWGoxUUNPYXVnZmg5UWRSMituR1kwK2V3NHVIdS9DZGU4cXhxTVFFazE0OStrR0pwcUc1dVVCMVRFK1l5Tjl3MnhLbU42a1ZhUXljaWw0alMzZVB4NXhjT2UvbEhwbDJOU2RIQXBVanJmSjhoVTJtWnUycUhUNm1rKzN5YzdYVUNuQ3NUWUtZU0xOakFEalRLU3RjVldjRDVUWmdkNTBzZVE0QUMvS2tTbWQva3p4bWlFTkVSSFI5TWNnaG9xUzgvaUJlUDk2RC83T25GZStjN29ISEwvOWlWNnNVTEorVmpjMkxpN0MwTWh0YXJobWJsdFFxRmRiTXk4ZkNNaHZlUDl1T3Q0KzFvS1hYQlY4Z2hEOGQ2c1NlODMzNHpPb0NQTEc1R1BPS1RLTWZrR2dhY2Zta2VYRnNRQk9weUhubGJIeEZ6dnc4d0o5aUpTbXJUcVpROVkrajhXK21YZ0tTbzYwUzRnQ3k5UG50c3lSQTZYSEphbEZIV3VUM3NkWlhTckNTakVvQkZDWDE2bGY5SG1CbjdmRHQzZ0NnVjB1NGRiRmJwb0VCTXZXcUxCTTRjSVhUcklpSWlHNFVCamxFTkV5NzNZdHZQWGNacngzcmdzTWRpS3ZDK2R6RzJlRStPR3BXNFV3RG1XWWQ3cnFwRkt2bjVPSFBCNXZ3OXJFVytJTWhkRHA4K0krZHpmalRvVTc4N2RaU2ZQMk9FdWdZMnRFTWtHT005c2FKcmNoSjFTTW5vcVZmcGlIRnFza0JQSUdSVjROS1JxT1NhVXc5THFBMnBpZU8wd3ZzYXdRMlZrbWx6dm11K09jajNxMkwvdDZrbFNsV0Y3cmw4Wndjb0NSRDlySG9KUEJKbkphVnltQTQ0SnFUSThlODNBUE15Z1phSEVDekkvWHI4c3lqSDl1c0hkc1lpSWlJaUVFT0VjVm90M3Z4eXBFdWZQZFBkZWdlaU42UlpKaTBXRDBuRHcrdHJVS0drZi9hbm03VUtnVTVHUVk4dHJrYXErYms0ZmQ3YTNHNWZRQStmeEROdlI1ODU0KzFlT05FTjc1L1h4VldWRmxoMURIUW9lbXIxeTNUaGhLWmRjQ21LbUJQUFJCS3NyeFQ0a3BOTlRuU3FQaElhL0xWb0ZKUktjQnQ1WUJCQyt5TldTWEtxSkdwVHRVNUV1ZzRQREwxeXFTVlFLZlhQZnc0TlRuQXdueFpXYXJSUG55TTJVYnA4Yk1nSHpqVE1YcWdFd2hKZUZQZkM2d3BqelpxN2hrRXJQcjQ1ZHBqeHhGWjRud2svUDhGaUlpSXhvNUJEaEZod0IzQWN4KzI0N2Y3Mi9IUjVYNTR3NDBQRERvMWJwMmJoL1VMQ2pHM0pBT2FxMWtDaGRLT29paFlVR2JEZCs1ZmpFT1h1ckhyUkNzdXROZ1JESVd3NjJ3ZmpqU2N4TDNMY3ZDVlRjVllOVHNEYWhYdnZHaDZNZXRTVjRaRU1teXJQbm1RWTlVRGRyZXNGTFdzQ0NpeHlwTGdsMGZvbjVOTXNWVUNsdmZxcFRKbmJxNXN5elZKeGMvcERsa2xLeGdDOGt3U3B0dytHM0Q1Z2ZZQk9XZUJSYVo4QWJMYVZLZFRBaCtEUnA3emhYdllOTnJsTlF2eWdkVmxRTDliS201Y2ZnbU9TcXpSS1ZobUxaQmxsTmVYWnNqNUQ3ZEllRE0vRDdpckdtZ2JrTXFmOW9Ibyt3bUdnSmZPanY2K00vVEFuZFZYZDYySWlJaG1LZ1k1UkRQYzJaWkIvTjF6bDdEN2ZCOEd2ZEdtQ1VWWlJ2emxsaHJNSzgyRVhzdUd0ek9KeGFERmhvVUZXRjZWalowbld2SDh2am9FUWtEZm9CKy8yOStPSGFkNjhOamFJdnpnL2twT3Q2SnBKZGNrellOVGFSdVFhVVdwbk8yVWFVdlpScGtDMVRMQ2RLTlVydlJMQmMyQVZ3S1RCWG15bXRUZUJqbC9yTTVCNEoxYW1ibzBPMHQ2MkRpOXN0UjVYUzl3cmxPcWFJcXMwYXFZUVI5d29EbDZERTlBK3ZCYzZwRkd5b29DNUp1QjVVWFMrK2RZbTB6ajJsQWxRVkNIVTdZMTJhT3JaM1UyeUh0ZWxBL016NDBHT1QwdUNaN0d3dU9YVmNKYzQyd01UVVJFTkpNd3lDR2FnWUpCb0xuUGcxKzkxNHFmdk5VNEZPQW9DcEJsMW1IVDRpTGN0NnFjQWM0TXBpZ0tNczA2M0g5ckJkYk15OGZUNzE3Q21hWSt1THdCdFBmNzhDOXZOT0tQQnpyd2s4L014dWI1V2NnMDhUOG5sUDRhK3VUblduUVBBcWZhb3lzNnBYS3VTMzZTR1FnM0VyN1NEelQzano0MXE5TXBQeEVIcnNRLzMrb0Fuajg5OGpFY0hnbUxJaEpYNHRwVkt3MlBneWtHMCtNQzlqVElxbGNSZlc3NUdRdFBRSUl3SWlJaUdoMy81VTAwdzlqRFZSWFA3R3ZENFlZQkJNTC9LamZwMVZnek54OGJGaFdpcGlnREtrNmJvYkRDTENPKy9ySDVPSHk1RysrZGFzT1p4ajRFUWlIVWRibngrVitkdzhlWDV1RHphd3V4ZWI2TnE1alJqQmZDNkNITzFSNXZLa2pzcjVQS1JMNTNJaUlpU281QkR0RU1FUXhLbjVOdlBYY0pGOW9HaDVZVFZ3QXNLTFBoQzF1cVVaaGxoRTdES2h3YXpxVFhZTzM4Zk53MEt3Y2ZYZXpFNy9mVW9tL1FCNGM3Z045LzFJRTNUblRqdnB0eThhTUhaNkU0U3ovWnd5VWlJaUlpbXJZWTVCQk5jejUvQ1BYZGJ2eDBleE4rczdjTkxwOU1vMUtyRk9SYTliaG5SU2syTHk3aU5Db2FsYUlvTUJzMDJMeTRDTXNxcy9HNzNaZHh2TDRYRHBjUGRsY0FUKzlyeDQ1VHZmaW5CNnJ3OFdXNXlMVnF1UklORVJFUkVkRUVZNUJETkkwMTkzancyLzN0K00vM1dsRGZGVzFVa0dYV1llMkNBdHl4dEJpRldjWkpIT0gwc2F4UXBrQWNiNHZmdnJoQWZqM1pMdFZQWTUxMW9GY0QyU2JwYlRFVlpWdjErTm85ODNHc3JnZnZubXJEb1l1ZENJU0FWcnNYai8vbUF1NVkySWt2ckMzRS9TdnlvRkV6elNFaUlpSWltaWdNY29pbW9VQXdoQmNQZGVFSHI5VGpjcWNMcm5Belk1VUNySjZUaDAvZVdva2ltd0ZhVHFPYU1BWk44cERHb3BQbW9KbDZZRjBsY0xBNWZtbmVWSEpNc29UeFZBMXlBRUNsVXJCOFZqYm1GR2RnMDZKQ1BQUGVaYlQwRENJUURHSDd5UjRjcUhYZzl4OTE0SWYzVjJGaHFYbXloMHRUd0YwMWdNc0g3SzYvOW1NdEt3VEtNb0VkbDZSUkxxVTNzMWFXVWIvVU0vYVZycTZIMGd6Z2xoSmdmOVBZL3E0bUlpS2FEQXh5aUtZUmp5K0lrMWNHOEtOWEcvSGE4Vzc0d2wwbk5Tb0ZaWGxtZkhKVk9XNnB5WU02elJvWlp4c2xFR20wWC8xclRWcFpEdmhpOThTUFM2WElqejg0OGo2QklHRDNTQ2l6cmdJNDNDSkxBeXNBVWhWRTVab2tBTXBPOGJ3dktLdk1URFpGVVdBeGFuSFQ3QnhVRjJYZ2xRTU4ySGUyQTcwRFh2UTRmWGpwU0JmMlhMRGoyM2VYNGJOckNsQ1VxWWVLL1pCcEFnUkNnQzh3ZFpvQnA3dnIrWGZsV000VmdueWVJLzE5ZWlNRVEvTDNhNnJWdVlpSWlLWUNCamxFMDBBb0JKeHBjZUozKzl2eG0vZGIwV2IzQVpDZ29EakhoSTBMQzdGdVlRR3lMZW5aaEhabEtlRDBqaS9JbVo4SFZOcXV6ODNKdWdwWmN2ZGtlK3A5RkNWNlEzQzRSWmJ2OVllckI3UnFZSDFsOHRkcFZQTDViYWhNZnFQYTZRVDJOVjdMNkNkZWhrbUx6MjZveHVxNS96OTc5eDBlMTFXbkQveTlkL3FNUnFQZUpVdVdiTG4zbXRpSnU1MDRDV2xPSWJEVUZDQXNnZnlXQlpaZGVGZ1dXTEpMRWxoSzJJVkFTRXhDRWxJY0o3Ymp4STU3a1h1UnEzcnZaWHE1OS9mSDBVZ2F6YWk2eUdPL24rZnhZOCtkTzNmT1hHbXU1N3h6enZlazRLTmpOZGgzcmdsT2p4L05kaCsrKzNvSjNqN2NoQzh1VHNmOWM1TVJiK0YvUDFkRFZWVVZOQm9OMHRQVFI3c3BsOTJKK29IZmV6UThWL0phT1pUbmN2cUE5ODlmK2VjZVRFMG5VSE4ydEZ0QlJFUTBNSDZTSm9weWlxTGlWMXVyOFp1UHFsSFM2SVpmNlZtTmF0WE1US3labVluMGVCT1hFNzhDeXR1QW1lbkEyYWFlYmNFQUprZ2ppU0JHMXpVSzVVeWorRnVXUktqemRuSDRjYTE2WVBVNG9OTUx0RGlCQTlWWDZoVmNmcElFRktSWmtaVllnRVdUMHZEeTlnc29xYmREQmJEL1lnZE9WVHZ3OHA0Ni9PZUQrVmlRSHp2YXpSMFcxZW1FWStNR2VFK2VoT3AyUTV1ZUR2UHRkMEEzZm56UFBuWTduSnMrZ09ma1NhZ3VKK1Q0ZUJobnpZWnA2VEpBcDd2cWJmN2dndy93N0xQUFl1SENoVmkzYmgzV3JGbHoxZHRBUkVSRVJKY1hneHlpS09YeEtUaFMzb21uWDcySVBSYzZ1cmRyTlJMR0pNZmdINWJrWTJKMjNDaTJjT2pTcmVJYldwdEJoQjV0Ym1CN3FmakdkbTZtMk1lcUI5Wk5Ga1BlM3k0V1FVaCtBakFtcnFjT1RZTURPRm9MdVAxaTZQN2FudjQxMWswV2YzOTRFZEJyeEVpWFhSV2hOV2l5WW9HRjJhSitSNE5EYklzMUFGTlN4VlFuclF6WVBjRGVLakd0cWFKZDFMSEo3WFdhbCtRQjhjYlExNWRpQWNiR2gyNDdVaXRxUWZTbDF3QUxjMFM3RHRVQUsvT0J5U21qV3pOaXVDUkpna212eFpTY09QejdwMmZoL1VOVjJIU2tHaTJkSG5TNkE5aHhyaDFMZm5vRVgxdWVpVytzeWtKMmd2SGFYOTBxRUVENzczNExwYlVGNWxXcklaa3RjSDJ5RFIzLyt3SnNYLzhHdERrNUFJRE9sMStDNnZiQXZISWxaSXNGdmdzWDROeThDZjZxU2xpLytPV3IzbXlIdzRIaTRtSVVGeGZqajMvOEk3S3lzdkQ1ejM4ZW4vM3NaNUdVbElUWTJGaG90VmYvbzRETklONDdpV1l4bGFhNlF4UUtEMDZyTVdxQndpUnhiVERyQUk5ZnZOOU9OZlNNY0p1ZEFlVEZBMitjRXRlQTI4YUpFVHBuZWdXcnkvSUFteEY0NTB6UDQ0THY4eTBYeEpUSERDc3dMbEhzcDVIRTllZFluUmh0RjJ6TG5ZWEF5UVl4VGJJZ0FURHFnSGEzZUI4SDl3dktpd2ZHSjRvMnVmd2l2RTIzaW1tVTd3MHcwbU44b3JoT21QWGlQSlMxQXNjSEdIRmtOWWhyUTRwRkJNVXVQMURaRHB4dUVOUE9BSEhmWU5jNnU3Zi9hMldidTZldTBla0dVYnc5emlUT1EzVUhjTFRYejJ4S2lyaU92MVVjT2oxcVpybzRaMitjQWt3RFhKZmQvcDd6WE53WStqUGVkRjdVUkVxMmlQOERLdHVCNDNYaS80dEZZOFRyZlBkTTZQTW1XNEFsdVVCUjExUldBRWlMQVNZa2laK0ZMQUVkSG5FZER0NFBpTHBMQzdLQWJhVkFrN05uKzVnNDhUcHNSakVLdHRVTjdDenJPZGRFUkVSWEU0TWNvaWdUVUZUc0wrbkUvMjJ2d2J0SG05RnM3NWxHbFo5dXhZcHBHWmhUa0lSWTg5WC85bjhra2kzQXpUbmlnM2x4STZDWGdZeXVnUnIxZG1Cbk9UQW5VM3pJUDFuZjB4a3pha1hINTJLTDZGREZHRVJIUXA4SjdDZ1hIYitkNVVCQklwQnE2Wm1HWlBmMlgzZW1MNzBHV0pvbnBuVWRyaEhia3N5QXRpdDBVRlNnb2sxMDJJSjJsd09hWGpWZ2x1U0pLUU1IcWtLUDdmR0hQNS9OSUVJY28xWUVXZDZBYVBmaU1lSTVEdFdNZnYySTRkSnBaZHcxTHh1ejhoT3g3VVF0OXB4cFFJdmRDNDlmeGJPYnEvREI4Ulo4OFpaMFBEUS9CVmtKMSs3VVA4L0Jnd2hVVnlIMnNTZWdLeXdFQU9nTEM5SHk0eC9COWVFV1dMOGtRaHJqNGx1aG56UUp3V1JLUDJNbVZGV0JaOTgrS0IwZGtHTkhkeFJTVlZVVmZ2empIK09aWjU3QnpKa3pNV2ZPSE15ZlB4OXo1c3hCUVVIQlZRbDFURnJSK1M1dEJVcGFSZWQ2Ykx6NHZRKytUOU5pUk1oenJra0VGS2tXMFFIM0JVS0RtaUM3Vi94SmplbTVYeWVMbGQ4QThiNE5ock9wTWVJOTJkNVZZMnBLS3RCZ0J5NDBpL2Z1NUJUUnZnL09pZEFnS0Q5QmhDRTd5OFcxWVc2VzJHL2oyWjdPL1BoRVlIb2FVTzhRSS9VME1qQWhXYlJsb0E3L3BHUmdVb29JUzFyZElyeXlESEFKanplS2E0czNJSUlpbHg5SU5vdndLOUVFYkI5R01lbUJycFZCVm9NSVpJN1ZpekE3SlViY05taUhOOFZ6b09mUzlsTTdTd0t3SUZ1Y215TzFJbENabkNMQ3BYUE5JdkJLanhGaFdXV3Y2YmRqYk9KNkdkdzJObDRFUTAxT0VkUXBxZ2h0NW1TSTh6MVFXRDRqVFlSOXRaMDkveGVrVzhYUE44QkMyMFJFTkFvWTVCQkZtYTJuV3ZHTlZ5N2diRjNQVjRVbXZRWjN6Y3ZCTFpOU2tXd3pEdkRvYTA5YWpQaWdmclMyWitXWjhxNFAzaTQvNExLTEQrTWVQMURYYXdVUmoxOThTOXZkT2JLTGpzKzRSUEd0ZWtBVisyZDI5WnZyUnJENlNMeEpkTmdPTlFGVlhZT2VxanBDOXpsU0s3NFZYcERWMCtZZ2pTUTZwd2FOQ0tMNkMyR01XdEZKelUvbzZXd3V6QWIyVllwdis3ZVZpZzdqN2VORlo2TzBOYm9LY1VxU2hPd2tDeDVlUEJZTEMxUHc5djV5SEx6UURCVkFjYTBUMzMrekZJZkxPdkdiejQxSG5QbmEvRy9KYy93WTVMaTQ3aEFIQUtTWUdPZ25USVMzK0RTZ0tJQXNRejk1Y3RoanRSbVo4QUNBenh0MjMyanhlRHpZdDI4Zjl1M2JoNWRlZWdtSmlZbVlObTBhSG5ua0VheGR1L2FLUHJmVklJS0d4cTdmOWNwMk1jSWhMeDZJTTRwUklEV2RRRmxiejJOcU8wWG9teGtiT2NnSjdwT2YwUFArVDRzUlFZZmRLLzRkZkcrbFdFSkhwd1JEMHlDL0lzTGxSSFBvZGNQdEYyRnEwTWw2OFQ1TmlSSEgwOGtpRkdwMEFEdDZCU25WSFdLMDBFQkJUcHBWalBJNzNUand1UXVhbVNHdUFWc3Y5bHczSzl0RlFEVTFGY2kwQXRWRFhQRnVLTmRLZzBhY3AyQzRVOW9xcmx0VFVucCtacGY2WFAwRk9ZQUljV3E2WHMvcFJoSEE1TVNKSUtlbVUvejhjbXc5b1kwc2llZW9iQmMvVDUwc0FyWkdwM2dkUVdWdElpaWZrQ1NDdkVpcm55V1l4UDhyRjF1QXc3V2hqeVVpSWhvdDErWW5adXFYMSt0RmU3djRwT0wzKytIMWVxRW9DbFJWaGFJb1lYOGliUjlvMzBBZ0VISi8zMjNCMjBNNTFsQ2Y5M0llSzlKckdPeXhnejN2UU1jYjZyRUdhOXRBNXp6NGMrNU5jOWNMUUh6UCtQUUhGK1ZpNmRSMEdIWFJ0NXg0Y0ZyQy9HemdWRDNRN0JwNC82QmdwOGlrRlVQZFkvVGliMEFNMzdkZmhqNXp1MXM4ejlSVWNidTZJN3p3c0FveC9TckJERFE3USsrekdrUkk1VlBDdnkwR1JGQlVtQ2c2SEo0QVVGUXRRaXlkTEw2QlhwRXZ3cW9PRDdENXZHakh6SFJnV3FvSWxJcXFvMnZGSHAxV1JuNmFGWSt2TG9Rc244UCtjNkpIN3ZFcjJGL1NnZHRXTGNlQnZidWcwV2dneXpKa1diNmtmL2YrTTlManZQSEdHd0FBZjAwTmROblpZYTlKazU0T25EZ09wYlVWY21KaXhOZnR1M0FCa3RrTU9UNmhlOXZQZnZhenEvTDZTa3RMSTdhcHQ0Nk9EblIwZEtDMHRCVHZ2UE1PYkRZYjVuejJwd0FtanVDblBMaE9iMCtJRTFUZUhocmtCSU1WcTBHOHYyTDBvcU92R2FDelg5TXBPdHhKRmpHYUw5MHFnZ0tYVHdRNXFCZlhpeGc5Y0xSWHlPRU5pR1BIZDYyT0Z4eXhaK296SXFhaFQ4RFIwVFdpSnpqNE1ka2lRcVMrVXliZGZuRmRpeDFnd0ZtclMwemJDZGJjY3ZyNjMxZXZFYU51THJTRUJ3OGxyZUk2a1JJejlDQm5LRG84NGRmVWV2dndnNXlSNnJzTWVJZEhuRzlBQkZxVlhiOC9XbGtFTjJreDRqeVZkRTJaU29rUjkwVXE1QndjRlpac0NRL3FBUkVhQVVNUDJTN1ZKNTk4Z2lWTGxnQUFZbUppb05Gb29OVnFCLzJqMCtsQzl1MTcrMXI4WXpCY3U2TXdpWWl1ZFF4eW9raEdSZ2JXcjErUDlldlhkMjhMZm1DWHVvYnhTNUlVOGM5QTkvVjMvMkNQR1dpZmtiYmxjcitHa2R3WC9PQnpLVzI1M09jbTJDa0RnS1pPSHlyVGN2RkpyNms2NjNlVTRueE5KNVpPVGNPVW5QaW9LbXhjM1FFY3JCWkQ1WmVORmNIT3NiclEyZ1NSeE9qRmFsYUpKakVLcHRQVDg0M3U1WHIxYmovd1NhbW81YkV3VzNTdVRqZUcxbFBJc1luaCtwRk9lVmFzNkhEVWRJMFU2QnZrQUtKemQ2UldmTHNiSEdYalU4UTVpZEgzQkZZQlZkU2pPTmNzT254dWYzU0ZPQURnY1B1dzcyd2p0aDZ2eGNXNm5sNW1yRkdEZFhOVGtGZjRlYXhhTGpvd3dWQ3pkNGc4a245Znl1TVZwV2NJbGVxd1E0cUpDWHROc2xuMEpsVlg1QVRTdlhzWHZNZVB3WEwzdmVpOTd2b2JiN3h4V1Y3ZllLL1Y3UjU2RHp0NERWcTZkQ25TeDQvSFI0ZUcvTkJoY1VVSUtieGRJOWtNWFo5SzBtTEUreW9ZeXRxOVlyYmFRTy90Um9kNDc2UjJCVG1wTWVLOTVmYUxFUmRHcmVqUUI5U2UwVGthU1V6ZHpMYUphVnVkM3A2MjlIMHVYNThSZGNFUmRzSDNmakQ0Y1VRSWtRT0RUSWtNMWdjcVNCRFhpdW9PTVVyUkZXRUtwckhySEVVS2U3d0JjUjNSWCtaTTN4dGhwRXJ3ZW1XNHdwOGtWWVNQWnZJcm9kZmNzalp4M2pLdEloVE1pUk5UNTNyWE9RSWluN1BnNzJOLzU4eXNFOC92anZDenVCSXlNakx3MUZOUHdlLzNEK2tMb3NHK0lPdjlwZDl3dm5nYXlSZFNnMzN4MWZ2K1FDQ0FRQ0FBdlY0UG04MTJkVTR1RWRGMWhFRk9GTm00Y1dQM2FKeWd2aUZBNzIzQmZ3OW5lKy83cnJXL2IrVFhKc3VoWDBNM2RuangzdEVXL09qZE1wUTF1ZUgxSzloOXBnSEh5MW93SXk4QjYyN09RMXI4RUF2QlhBUEsyc1FLVU9sVzhXM3lranhnOHdVUnp2Um5icWI0Z0wycDEzN2pFb2RXL3liWUtkRDA2YWxGR3RyZjdBSStLaEUxS1NhbmlIb0tnR2p2akRUUmVUalZBTVQybWRFbUFjaU5GNkZQWmJ2b1NDWmJRa2NpdExxQUxSZEZiUnlsYXlxSTFTQWVzNnBBMUFmcEcyZ2xtUWN1Z0hvdFVsUVZ4MHBiOGVyT0VsUzNPT0h0NmdITEVyQmtRaHgrdWk0Zmt6UE5zQmkrMFAwWVZWV3ZpYis3Ym9pcFUxS2ZYeGlncDdmZjl6NnZGL2EzL2c3UHdRTXdyN2tOeHNXTFErNSsrKzIzcjhwcmVPbWxsL0N6bi8wc3ZOMjlCRmUwdXZubW0yRXdHSkNabVlsWERydUJReGNHZk54SVJRbzlneUdJeXlkR3BDM01GdSs5RHkvMmhBZzM1WWpndGo4cWVnS2MrSGJSTWEreml4REZwNGp0cVJZeHNpWjREWmlZTEVLY1BSVTlVM2RzUm5FdEdpNVBuekNxTitNZ243WVVWUlJxTG00VU5XQ21wZ0pMeDRvNlBYMEQyK0Q1TUVVNHBsNGp6bSt3TGNPNTFnMUVGMkgvWUcyd1lCRFMrN2w2Wng3RGZhNlJhSEdKMER6YkprWWlaVmhEbDZZUG5qT3pGbWp0ODlqZzcxNS9RWTB2SUY2VFRnNFA4NjZFY2VQRzRkbG5udzBMYVlmekp4b2VHOXhYbzlGZzNMaHhWLzdFRWhGZFp4amtSSkVaTTJhTWRoUG9HcEVjcThjWGJrbkR5aW54K083ckpYanZXRE02WEFGMHV2M1lXZHlBa3hWdGVIQlJIdWFQVDRMWm9BMEpocTVWS25wcUhTek5FNEZNTUtCUmxQRE9RSnhSZkd2ZE8reEpOSWNmTjZEMGZKTWY3QkFGT3g0MlkraFErdUJRL1VoYTNhSXc1NzJUUkpoUzNTSDIzMU1wL2gyc2tST1VGeTg2VmNHNkM5VWRva2JEeHlXaDlXMk1XbUJsQWJDdFJMUS8yU0tHLysrckZIVTZURG94cWtDdkVhOWhScm80TjBmcittL3J0U0tncUdqcWNPUHRmUlhZY2JvT3ZxNmVubGFXa0JsdndOTnJzdkRva2d3WUkvUVNJNFdhbzBhU0lCa01FVWZkQkxkSmxwNWZua0JORFRwZStoUGc4eUgyOFNlZ0d6Yys3SEZaV1ZsaDI2NkUxTlRVa050YXJSYXhzYkZJVDAvSEF3ODhnRWNlZVFUNStma1JIbGtWWWR2bEVXY1V2OCs5UjNua3hQV3NQQmVjUmxYUjFyT1BMSVd2QmhkSlRTY3dMMU1jcjlIUk0ycW13ZDR6ZmVaMHI2SzJjVVp4UGFqcE5RMHBLY0oxWkNpQzA0dnk0a05ydjhRYXhMU3RvWXpvOEN1aUZvdGVJNll0bVhUaG8wamNmakh0TXlkT2pCRHNmUjZESytnRlg4OXdybldScnBWQk5xTllPYkN6MTJpamdvU2VueG5RMDA2YnNXZWJoTWpuYzZEbkdxbXlObkhPY216aXVPVzlhdGcwT2tSYkN4TERwNXpseFluejNuZTZYMUM5WGZ4TUN4SjdWdE82R3ZwK2dVTkVSTlFiZ3h5aUtKYVZZTUJMajAzQXhtTXQrTU9PV213NTJRS25WMEdydzR2ZmJUNkx2V2Nic0h4YU9tYmxKMEYvTmI0V0hZRnBxZUlEZlpOVGZORE9UeERmN1BZZWlkTHVFZE9VeHNhTEQ5d1Y3YUxUbEdZVjRZZkxKejY4cDBib25IUjR4SWY2YVdtaWhrMlRVM1E0bXB5aUk5THFFcDJpek5qd2IrR3pZc1dmMms3QUhSREhseVhSU2ZNR3hQTEZrVG9oWnAwSWJjNDE5ZFN3T0ZFdlJ0bk1UQTh0bUpwdEUrMXZkb25YRTlUZ0VLdTdCTDh0bnBjcHZuWGVWd25ja2l0ZVYwbmZyNWF2RWFxcW9ySERqZjFubTdEcFNCVWF1NHFKU0FDeUU0MjRkM1lTdnJJc0UrUFRvbWZVbUNZbEZZRzY4UFRNWDFjcjZ0L0VpUjYwdjd3TTdiLzdMZlNUcHlEbS9uV1FqS05mZkZ5V1pXUmxaV0h1M0xsWXRHaFI5eXBWT3Qzb3JHd25TY0NpSEJGR2VnTWlmQmhqRTUxa3QxOTA4djJLNkR3M09jWHZ6WlJVRWU0TVZ1UzdybE84SjNQalFsY2hxcldMYTQxZUUxcm91TTB0M3ZkajRrU0hQY2tzNmxhTmhOMHJ3b1RjT0JIc1ZuV0lhOEc0eFBCVm1XYW1pMnZXMWhJeEZldVdNZUk5Mys0R3RCclJuazVQVHppeXNpdHIrL0NpK1B0SXJiZ09yTWdYMXhtM1g3UzlJRkVFR0wzRGxhRmM2NERJMThwZytPUlRnRnZ6eEFwWjNvQUlrWkl0NGh3SDk2bnRGUHROVHhOTGZ2c0RZc1JUcENsTGtaN3JVcFczaVpGTUU1TEZ1ZThkY0xuOW9xMVRVOFZ5N09WdFBhdFdwVnRGZS9zYmJWUFZJYzdubEJRUk10Ylp4UWlkTEJ1d3YvTHFqTkloSWlMcWkwRU9VWlNUSkFsM3pFakVndnhZN0R6WGp1KytmaEZuNjhRb2dXTmxyYmhZMTRuSjJRMjQvNlpjakVrSnIvRXgybHJkWXVuZC9BVFJnV3R4aWJvMHZldE1uR3dBTEhveEdxWFRJNEtjQTlYQTdIVFJBYmJYWGE0QUFDQUFTVVJCVkFwMEZiczgzU2ltTy9WVzFpWldxUmtiTHpwSEg1ZUk3ZnNxZ1ZrWllvcVdKQUZWN2NEeE9uRTdxTk1yT21Lek1ucHVINmp1cVhVVHFVOXAwSWlSTkozZTBPS1luVjdSK1pxZElUcXB4K3ZFNHdzU2VsWS9VZnNjc0hmbkpzWWdPcU1ORGhFS3pVd1hIYWRJTlRSR2s2S3EySCsyRWU4ZXJFUkZvNzE3Rkk0RVlOMjhGSHh6VlJabWpJbUpPQXJuV3FhZk5Bbk96WnZncjZpQU5pY0hBS0E2SFBDZVBnM2o3TmxpSjBWQjU4c3ZRMTh3RHRiUGZIWVVXOXRqMnJScGVQbmxsekYzN2x3a0pTVWhyaXR3R2szTnpxNVJiTmxpZXBEREo5NGJ3U0xCUGtXTWRKdVdDcXd1RUwvalo1dkUrMk9nVVhPQUNFNWJYR0lLVnU5Uk5uV2RZbHBrdXp2MFBWUGNLRWJGelVnVGhaVHI3Y0NoV25GZEdZbEROV0lxVGs0Y2tCRXJncUw5VlNMUUNFNUZBc1JyVVlIdWkwaXJXMXdEalZyeEd1cnRZbFdzN3YzN1BFK2pFL2k0RkppY0xFSXVqU1RDb21OMTRRVjloM0t0QS9xL1ZnTGl2RjFzRWM5bDBZWC96QUFSbk93cUYwSE8wcTZsMFM4MGk1OW5RY0xnejlYZnFuNUQ1ZmFMODVZV0F4UkZDTG5QTklsMmowL3N1YWEzdWtTYmF3ZFkxVkNGQ05VbkpZdWZhNDVOdkxaNis4QXJrUkVSRVYxSmtxcjI3VG9RVVRUcmRBWHduKzlYNE1XZGRhaHI5MExwZW9zYnRETFd6c25DbWxtWmlEWHJJVjhMVTFhdUl3dXl4RGZQWnAzNFJuMWJpZWcwOURVOVRYUWtpaHRGUi9QV1hPQ0Q4NklUVXBBZ09rcTd5bnRxWEVBQ2tzMGlBTnA2VVhUNEFERjlvZjBLcnhRekhQNkFnb3BHQjE3WlVZSVQ1VDI5S0wxR3dzUU1NMzU4MzFqY01XT0VReDJ1QWFyTGliYWYveWNnU1RDdldnUEpvSWR6K3pZb2JXMkllL3IvUVk2MXdWOVZpZlpuZndIRDdOa1JwMU5wVXRPNlE2QnIzZk5icXZEVWVsRWo1L2JaV2ZqOHNvSlJibEYwdTIyY0dIbTN2V3p3ZmE4MWE3cmEva2tVdGowYXZMNjdESy92RVNmM2gzZm40Z2QzNTQ1eWk0am9TaWtxS3NMM3Z2YzlBTUJQZnZJVHpKa3paNVJiUk5HTUkzS0lyak5Xa3diL2ZtOGU3cHlSaUJlMjFlSzlvMDFvc3Z2ZzhTdjQrNzRLSEM5cnhmTHBHWmlkbndpYldSK3hmaXVOakRjZ3Z1MHZib3djNGdEaUcvTU9qeGpWNDFlQWQ4LzBmS3RiMFM2KzdWMlNGN3Bpamw4UnExVzE5Z3B1cnBVUVIxRlZWRFk2c1Bkc0E3YWRxRU5yMTFBcVdRSW1wSnZ4bVp2UzhObWJVcEdWRU4zTHpFb21NMnhmK3pyczc3d0YrenR2UVpJazZBb0tZUDNNUDBDT0ZTdXVxSjFpQ0lqbjBDRjREb1V2K1dSY2ZFdlVCRGswTXBGcXZtUll4V2ljYTNVcUpCRVJFVVVmQmpsRTF5RkpBdWJueDJKS1Znd2VtcCtDSDd4VmluMGxvdExsaGJwT1ZEYWZ4KzdpZXF5N0tSY1RzMGQvcXNYMVlOOHdhc1AyWHI2ODk5QjhiMEJNbDRnVy9vQ0M5dzlWWWZ2Sk9sUTNPN3M3c0ZwWndwTXJNdkhGeFdtWW5HbUJIR21ab2lna0p5VWg5a3VQOW51L2J1SWtKUDczczFleFJYU3R1VFZYVEtOczdxcjVsV2dXMDRjNlBHSnFFaEVSRWRIbHdDQ0g2RHBtTWNoWU5UVWVxNmJHNDVkYnF2Q3pqUldvNy9EQzQxTndzcUlOSnl1T1l2bTBkS3k3S1JkeE1aeHVSWU5UVlJVQlJVVlpneDIvM1hRR2xWMkZmQ1FBT28yRXlSbG0vT0ZMRXpFcjk5cXJ4MFIwcFZWMmlPQW0yeWJxMWpoOW9vN002WVpMcndGRFJFUkVGTVFnaCtnRzhmV1ZtVmc5TlJFdmJLdkdtMFdOcUdnUkt3bDlkTHdXcHlyYXNHSkdPdWFQUzBhS3pjVHBWaFNSb3FnNFg5dUJqNC9YWXQvWlJyaDhZbGtZV1FMbTVzWGlpNHZUOE5DQ1ZNU2FJaXhUUTNRRHVOaHkvWTI4MlhSK3RGdEFSRVJFZlRISUlicEJTSktFd25RVGZ2WkFQaDVha0lybnQxVGk5WU9OOEFWVTFMVzU4TmNkcGRoVDNJalZNek93ZUZJcXRKcm9XbFdJcnF6bVRnODJIS3pFZ2ZPTmFPcGFUaHdBMG0xNmZITjFOdTZmbTRUY0pJYUFSRVJFUkVSWEdvTWNvaHVNWGl0aDNsZ3JYbmxpRXU2WjNZaHZyYitBMm5ZdkFvcUtrdnBPL0hiVFdldy8zNGd2TEJ1SHBGZ2paRW1FUUhUalVWVVYvb0NLczlYdCtNMEhaOURVS1FJY0NlTDNhRzVlTFA3ODZBU01UVEdOYmtPSmlJaUlpRzRnREhLSWJtRDN6MDNHNHZFMi9PYmphdnhsZHoxS204UlNTSWN2dHVCQ3pXR3NtWldKbXlha0lDUEJQTW90cGFzdG9DZzRVOVdPTFVkcXNQZGNZL2QyclN4aDhYZ2J2blJMT2g1ZWtITGRGREltSWlJaUlvb1dESEtJYm5DcE5qMys5YTVjUERndkJTL3VyTVAvZmxLTGRwY2ZIUzRmM3R4VGpsMm42N0Y0VWlwdW01MEZzNEdYakJ0QlRZc1RyKzBxeGVuS2RyUTd2ZDNieHlZYjhlLzNqc1h5U1hGSWlkVnhwQllSRVJFUjBTaGdyNHlJb05WSW1KUnB3VE1QNWVQK3VjbjQ4aC9QNEZ5OUd6Ni9ncHBXRjE3YlhZYkRKYzE0ZEZVaHNoTE4wTWdTTy9IWEdWVlY0ZkVwMkZWY2oxYytLWUhENHdjZ3BsR1pEUnA4OXFaVS9QaStQQ1RHNkVhM29VUTBJZ2ttSUVZUFZMU1Bka3VJaUlqb1VqSElJYUlROC9OanNmL2Y1dUQvZHRUZ3hSMjFPRkhsUUVBRnp0ZDI0dnN2SDhhU3FXbFlPalVkdVNreDBIQmFUZFJUVmNEbDllTkVlU3MySDY3R3FjbzJxQkFCanRXb3hkS0pOanl4TEJPckpzZHpHaFZSRkp1WEJUaThESEtJaUlpdUJ3eHlpQ2lNMlNEanllV1pXRFU1QWEvdWI4Q3Z0bGFoeGVHSE42RGd3Nk0xT0ZIZWlnWGprM0hIM0d4WVRSeWhFYzNLRyszNCs3NXluQ2hyN1I2RkF3QVRNOHo0bHp2SFlNM1VCQ1J3RkE3Uk5VY0NvRWJSY1ltSWlPanlZWkJEUkJISnNvUUpHV2I4OEo1Y2ZQbldkRHorcDdQNHVMZ05icCtDMmxZWDN0cGZnVzBuYXZIb3FrSk16NDJIVHF2aDB0TlJRbFZWZExwOCtQdStDcngvcUtwN3V3UWdNVWFIcDlkazRUdDNqQm05QmhKZDV5UUFFNUtCdkhqQXBBVWNQdUJjRTFEUzJ2OWoxb3dEWEQ3Z1lnc3dJeDNReXNEYnhlSyt6RmhnVWpJUWF3QzhBYUN5SFRoZUR5Z3FrQnNIek0wVSsxbjF3THJKZ0U4Umo4MjJBUXV5Z0ozbFFINENrQllqSGljQm1KNG10dGZaUTl1eGRqelE3Z1oyVlZ5Sk0wTkVSRVJEd1NDSGlBYVZsV0RBbTErZmdqY09OdUNQTytxdzcySUhYRDRGYlU0Zm50dHdDbk1Ma3JCc1dqb0tNMjB3NkRTajNWd2FRS3ZkZzZPbExkaDB1QnFsRFQwOXROUllIVlpQU2NEWFZtUmlibDdzS0xhUTZQbzNMMHVFS09lYWdHWW5rR1lGWm1jQWZtWGdxVThtTFRBNUJUaFdKNlpGQXNEWWVQSFk2azdnZEtNSWF5YWxpS0NucUFhb3Q0dEFaazRtNFBZREo3c0NudDZtcGdLTkRtQjNoZGpINlJQYmNteWhRVTZ5QlREcmdDTzFsLytjRUJFUjBkQXh5Q0dpSVRIcVpIem1walFzbjVTQTF3ODA0TDgyVmFLeXhRTmZRTVdlczQwNFZkbUcrZU9TY2RmOEhLVFlqS1BkWE9wRFVWUWNMVzNCeGtPVk9GUFZEbDlBOU9Sa0NWZytLUjVQcjhuR0xZVTJtUFFNNG9pdXBGU0xDRWhPTmdERmpXSmJkU2RnMFltUVpxQWd4Mm9BTmw4QU9qeml0azRXSTJmcUhjQ2VQaU5rcHFTS1lNZnBBMXgyRVJKNS9PRWpiQURBN2dXTzFvVnVxKzRRSTMwME5VRFg1UUs1Y1lETEQ5UjJqdXkxRXhFUjBlWEJJSWVJaGlVOVRvOS9YSldGUjVkazRNbVh6dUhQdStzUVVJRjJwdzlianRWZzI0bGFmR25sZU53NkpZM0ZrSzhSRG84ZmYvandISFlWTjRSc3Q1azArTVhENC9DRnhXbWNGa2QwbFdSMERYZ3JheFZCYWxDakUwaU5FU05wL0Vya3gzWjZla0ljQUVqcDJyKzBKZlJZVFU0eFBjcG1GRUhPWUtvaWhFY2xyV0xVVUxvVnFPb0FOSklJZGk0MHM0WU9FUkhSYUdPUVEwUWpZdExMK1AwWEorQ0IrU240L2ZaYWZIaXFCWjN1QUh5S2l0OS9lQTY3aXV1eGNrWUdadVFtd0dUZ3BXWTAxTGU1c085c0k3WWNyVVpqcjk1ZmRvSUI2K1ltNDZsVjJjaE9OSXhpQzRsdVBNYXV5K0VkaFpIdk4rbEVZQk9KeXg5Nk8zaXNCZG1SOXpjUHNVNTUzK01DUUlORGpOVEpzWWtnSnlOV2hFWUQxZkVoSWlLaXE0TzlLeUlhTVkwTXJKNmFnUG41c2Zqd1pBdCsvbjRsRHBkM1FsRlVuS3hvdzhXNlRzeklTOERhT2Rrb1NMZEM1ckNQcThMakMyRFg2WHA4ZUx3V0ZRMTIrTHNLWXBqMU1oNWVrSXBIYjAzSGpKd1lHSFR5S0xlVTZNYmpDNGdSTGR0THcydlZBSURUTzd4akFhSm1UWXNyL0g3SE1JNFZTV21ybU82bGs4VzBxbnI3MEViNEVCRlJ1RGx6NW1ETGxpMmozUXk2VGpESUlhSkxGbWZXWXQyOEZOdzVJd2svMlZDT243eFhqb0FLdUx3QjdEM2JpS0lMVGJoalRnNGVXSlRMNlZaWFdJdmRnMTl2TE1hSmlyYVE3U2xXSFY3ODhnVGNOaTJSMDZpSVJsR0RRNnhXcGRjQU5aZFlhNmJKS1VLaEdEMXdvV1hnZlJWRmpLZ1pqckkyVVd0bmJJS1k5cldYSzFVUkVSRmRFeGprRU5GbFk5VEwrTkY5ZWJoelppS2UrYUFTVzArMW90WHBoeStnNHEzOTVUaFMyb3c3NTJSanh0Z0VXRTFESFBOUGcxSlZGVFd0THV3dWJzQ0dBeFh3ZEJYWWtDVUpZNU9OZUhCK0NyNnpOZ2N4UmhZeUpocHRWUjFBb1J1WW53V2NieFlqYVhTeVdCSEs1UWRPTlFBV1BiQmlyQ2g4UE5BS1VVNGZVTklDakVzRWRKcWVJc1J4UmxFZlozZXY0S1hkQTJURmlsV3VCbHNkSzhqdEIybzZnSW5Kb2xEeXBRWlBSRVJFZEhrd3lDR2l5Mjd1MkZqODRVc1RjTENrQS8vMVFTVStQTlVDdndLVU5kangrdy9QSWovVmlyVnpzakZ6YkFLMEdrN3Z1UlFPdHgvdkg2N0VudUpHMUxZNnU2ZHEyRXhhZkhWWkJqNjlNQlVUMHMzUWFqZ01oK2hhb0tqQUoyVmllZSs4ZUtBd1NRUW1UYzVlNFlvcVJ0cW9RNmdxZkxnV2NQaEVRSk5qQTd3QkVkcWNhd3JkNzJSWFFEUWpYZFRnR1VxUUF3Q2xiYUxJOGNVV0Zqa21JaUs2VmpESUlhSXJ3bXJVWU5ta2VDd3VqTU5mZHRmaHFWY3VvTk1UZ01lbjRIUlZPODdXZE9DbXdtUTh0cVlRQmkxSGlvekUyZXAyL0c3VEdWVDNLbzRoQVpnM05oYi8rNFh4bUpvZE0zcU5JNkorZVFQQW9ScmdVRC8zTzN6QXUyZEN0MjA2My8veHpqYUpQd054ZUlHUFMwSzNWYmFMUHdPSjBZdS9Td2FadWtWMEkvT1hsMEdPVDRBY0czdHBCMUpWZUUrZGhMNXdBcUFiL3NobHBia0pjbUxTcGJYaEJxTTZIQWpVMTBFN05yL2ZmWHdYTGdDS0F0MzQ4VmV4WlVRRFk1QkRSRmVVVGlQaGk3ZWtZL1hVUlB6b25WSzhmNndGTlcxZUJCUVZPNHNiY0tLaURmY3RISVBaK1lsSXRCb2dzWURMZ0h4K0JaVk5EbXcvV1l1UFQ5VEIyeldOU3ErUk1DblRnaS9ka283UEwwcmpOQ29pdW1RU2dJSUVNYVhLd1NMSDFKZXFJdERZQUg5bEZmeFZsVEJNbnc1dGJ0NW90MnBVZFB6K0JaaHZ1eDNHUllzSDNWZTEyOUg1OGtzd3Ixb0Q3ZGl4SWZkNVQ1OUM1NHQvaE9YZSsyQzhlZEd3MmhDb3EwWGJNeitIZWZVYW1GYXRIdFpqZzVUbVppZ2RReHl1TndCdFpoYWcxMS95Y1hxN1VtMXo3OTRGNStaTmlQdW5iME9UbGg3eE1hNnRXNkI2UExBTkV1VDR6cDhEQW9GaHQwbVRsQXc1aVFFY0RRK0RIQ0s2S2pMajlYaitrWEY0Y0Y0Ny91K1RXcnhSMUFoZlFFV2J3NHVYdGwzQTNqTU5XREU5QXdzS2t6bmRxaDkybHc4YkRsWml6OWtHMUxlNXU3Y254V2p4NUlvc1BMd2dCZVBUektQWVFpSzZIc1RvZ1FTVHFLbGowb1hXMnFIb0VhaXBnWFBUQi9DVmxFRDErNkJOVDRkcCtRcm9wMHp0LzBHcUN2ZmVQWEM4OHc0Uy8rTS9BRzNQcUpCQVhTMDhSVVVJTkRVaDBOU0lRRk1UNFBNQmtnUk5VaEswNmVrakNuSlVod1BPVFIvQWUvSWtGSWNkY2tJQ2pQUG13N1JrS1NBUC9IbkFjL2dRN0srOEREa3hFZkhmKy82d24zdElGQVgrNnVvQmQxRVZCVXBySy95VmxmM3VJNXZOa0JNVEFVbENvS1VWSGYvM2U4Uis1YXZRWnVkMDcrUDZhQ3ZraEVRWUZ5d2Nkak5kSDMwRWFIVXd6SnNQQUFoVVY4RjM4ZUtRSHFzckxJUW1OUTJ1M2J2ZzNyc25mSWV1bnpPMHZicU9YaStnMFlnL2ZjUTk5UzFvVWxQUi90d3Y0Syt2SC9acjZTMzJTNDlDVjFCdzJkc1dmS3hyOXk3b3AwM3JOOFFaanM0L3ZRalY3UjU4eHo1TXExYkR2SHJOSlQ4LzNWZ1k1QkRSVldQVXlWZzJLUjdMSnNYajhUTnRlT3hQWjNHdXpnVmZRTVhwcW5hY3Jtckg1aVBWZUd4MUliSVNMVnhkcVl1aXFOaHp0Z0V2YkRyYlhjZ1lBRFNTaEx0bkplS2x4eWJDYk9BSUhDSzZQS3g2WUU0bVlQY0N1OHFCRHM5b3Q0aUd5MTllaHZiZi9CcFFWZWduVHdaa0RieW5UcUx6eFQ4aTVxR0hZWmc3TC9RQnFncnY2Vk53YnQ2TVFIVlY1SU5LTXJ5blQwR1RtQVRkdVBFSTFOYkN0SHdGekN0VzlveHc4SHJSL0lOL0hiQnRsdHZYd3JqNEZ2RzBEZ2Zhbm44V1NuTXpkUGtGMEJVV3duZjJESndiMzBPZ3ZoNHhEMys2L3dNRkFuQis4UDVRVDhtSXFTNFgycC83eGFEN3ViWnZnMnY3dG43djEwK2JCdXZudmdESllvSHQ4Y2ZSOXZ4ejZIamhCZGllZkJLYXRIVDRMcHlIdjd3Y2tHVTBmLzk3Z3o1ZjNGUGZoQ1kxRFFBUXFLK0Q1OGhobUpZdGh4d1hCd0R3WGJ3SXh6dHZEK2sxeGp6ME1EU3BhYkRjOVNsWTd2cFUyUDF0Ly8wTWRQa0ZzTng5ajlpZ0tHaitwNmNSOCtCRE1NeWUwLzlybmpFVDJvNk83dHZlRXllZ09wMHd6SjhmdHEvcXNNTlRWQVJkNFFSbzB0SzZ0MnRzTmdDNDdHMERBUGVlM1ZBZERwaHZ1NzE3VzZBdXZNSzg2dlZDOWZraTNxZEpUZ2tKakV3clY4SGNaMFNVYS90Mk9EZHVRT0l6L3gzMitPWi8rZTZBYlNUcUQ0TWNJaG9WdDA2SXc4N3Z6Y0l2TmxYaXJVT051TmpnUWtBRnp0WjA0QWQvUFlLMXM3T3dvREFaYWZIbUczYkpjbzh2Z0pLNlRyeFhWSWtqSlMzd2QxVXlOdWxrek02MTRoOVhadUt1bVVrdzZEaUNpWWd1bjFvNzhQZlRvOTBLR2pGRlFlZGYxd09LQXR2WG51d2VKZU92ckVUN0w1K0Q0NTIzb1o4MkhaTEJBQUFJTk5TajQzZS9oZExlRGprdURwTEZBdFhoQ0R1c0pqVVZjZC8rVHZkenVIZDhJbXJDOUpxbW9xb3E0UFZDVnpnaHZKNkkxd3ZuNWsxUWUwMDljYnkzQVVwek04eDMzQW5UMG1YaUdFNG4ycDc3QlR4RkIyRmNzQkRhdk1pamZOeTdka0pwYWNHVi90WkhNcHVSOEtNZmgyMVg3SGJZLy9ZcVZJOEhnY1ltYUZKVG9UUTF3bnpIblRCTW54RitvRjRqUnVURUpGZy8remwwL04vdkVhaXJoeVlsRmM0Tkc2QWRrd3ZEbklIREIzOUZCVHdIRDBDU2U4SUQ1OGIzSUZrc01DMWZJYXFrKy8wdzNyd0lodmtMUWg3YjlsL1BRTFphRWZ2NEU2R3ZzVmM5SHFXOUhhcmRIbksvNnZOQnRkc1I2QnFacEtyaVN5V2x0YlY3VzVBbUxhMDcyREF0V1JweVg2Q2hBWUdHK29pQlRLQzZHcDZpSWhobXpnd1BHcTlBMjFTUEI4NlBQNEpoL254b1VsTEZ5QjZOQm0zUC9Eemljd09JZUYvOHYvd3I1SVNFbmcyU0ZENlNMUGc1ZHBBUlprVER3U0NIaUVaTlNxd09QM3RnTE82Zm00eS83SzdEN3orcGhkdW53TzcyNDdYZFpkaC92Z21MSjZWaTFZd01HSFEzMW9pVGlrWTdOaDJweG9GelRlaHc5UlNubUpodXh0ZFdaT0srT2NsSXMxM2UrZWRFUkJUOWZHZlBRbWxzaEdITzNKQ3BUdHJzYkJobXpZS25xQWplVXlkaG1EVWJnQmdWby9yOU1LMWFEZE9TcFdoLy9qa0VJZ1E1dzZITHl3dnJ4S3NPQjV5Yk4vWGNkcnZoS1RvSU9TRWhaRi9KYklaNXhVcllYM3NWN3FJRGlJa1E1Q2h0YlhCcytnQ0dlZlBoT1hya2t0bzZLRW1DWkxIMGVuSUY3djM3NE56MEFYVDUrWWg1OEdHMC91aUhNTTZiQnprK0FmYlgvZ3J2eVpNdzMzWmJ5TFNwdm5UanhpSCt1LzhDT1M0T3JnKzN3RjlWaWJodlBRMU5adGFBemZGb05QQWNQTkFkRFBtS2krRTlkUW94ajN3R2tzRUF6OEVEY0d6Y0NOdWpqNFlmUytwNlBWMGhYaVN1YlIvRHZXdG5hTEZsbncrZTVtWjRUcDBNMmRlNVpUT2NIMjN0T2k4cTRQZUoxM1NGNnIxY3pyYTV0bjRJK0h5d3JCR2pjVHBlL0NPZ0tyQTk5VTJJRTlYRDhlWWJVSDFleER3VVBrSk03aG94MU4zR3JSK0dqOHpxQ2krYnYvdlA0Uy9LNngzc1pSTkZ4Q0NIaUViZG5Ed3I1dVJaOFkzVjJmak1DOFhZZTBFVXN5dHJzS09zd1k3M0QxZmg2N2ROeEtTY3VGRnU2WlVYVUZTOGY2Z0tyKzRzZ1MvUXM5aXZSZ0llWDVxQm56K1lEd3VuVVJFUlVUKzhaNHNCQVBySlU4THUwMCtZQ0U5UkVmd2xKZDFCampZN0d3ay8vTkdnb3dYOFpXVlFXc1h5WmFvcS9uL3lWMVhCZStTdzJFR1NvWnM0Y2NqdDlKMC9CeWdLOUpNbWg0MnEwWGNkeDE5U0V1bWhjTHo1QmlTTkJwYTFkMXo1SUtlTDZ2SEFjL0FBWER0MlFQVjZZUG5VM2Qzbk1FZy9lVExpdi8wZE9EYThpL2JubjRNMk53L0dCUXVnbnpvdFluZ2l4OFdKV2taYk5zTXdjeGJraEVTb0xsZllmcEpHMHozeUtUaWlTZExwb0hvOHNMLzVCblRqeG91MmVMMXd2cjhSY3F6MWttcSthTWZrd3ZiMWYreStQWlRwUzRIcWFyVDk0cjlHL0p4WHMyMkJtaHE0UHRrTzgrMXJJVm10OEowK0RkL1pNekN2dlROaStDWVpEWUFrM2l1RE1jeVlDY1BzME44THovSGo4T3pmaDlqUGZUNXMvNDRYL3ppazEwM1VGNE1jSXJwbWpFMDI0c04vbW9hLzdLN0g3N2ZYNEVTVkEzNUZSWE9IQno5NTh6Z1dUVXpCeWhtWkdKTnN1ZTRLSXJ1OWZod3VhY0hHb2txY3IrM3MzbTdSeTFnMUpRRlByOG5HemVOdEF4eUJpSWdJQ05UVkFRQzA2ZUVkZVUyS0tQSWFhR3JzMmFnZDJqTFg3cjE3NERsK3JPdEpSSmpnT1h3SW5tTkhBUUNTTENQKzMzNTRXZG9wV1dNaEdZMmlvTEtxaGdROW5zT0g0RDE5Q3BaNzc0TVVFelBrNXhzcGYya0ozTHQzdzNQcUpDUlpBOU90dDhKNDY1S1FZTWE0WUNHMEdSbWk3VEV4aUhuNDB6RGR1Z1RPclIvQy91cGZnYis5QmwxK0Fhd1BQQmd5Y2tTYk13YncrNkZKVFlVbUpRVXQvZFRHMFJVV0l2YXhydWxRZ2E1YWVWb3RuTzl2aE5MYUFzUDA2WER2M0FsZldTa1Vod054ano4UnNkQXZDZTQ5dTRGQUFKNURoK0FwT2dpbHRSV2F0SFNZbGl5NTVHUExTVW5RVFFnTk5QMWR2K3Q5dDRzSFhGK2ZaK25xWVpCRFJOY1VpMEdESjVabFlPbkVPTHh4c0JFdmJLdEJWYXNIWHIrQ2owL1U0VlJsT3hhT1Q4YnFXWmxJaU5GSC9YTGxpcUxpZEdVYnRoeXR4dkh5VmpnOTRzT3hSZ0p1R21mRDE1Wm5ZdVdVQkNSWWVMa21JcUxCS2UyaXVLeGt0WWJkSjFsRjhLRTR3MGQ5RENibTRVOTNGeDkyL1AxTnVIZnZndVd1VDRVc3VhMTZobDRaVytub3Y1MkFDRVRVcGlhb1htOTNhS0swdHNMeDVodlE1dVRBZU5QTnczNE5JeUpKOE5kVXczTGJXcmdQN0lOejI4ZHdidnM0YkRmWG50MFJIMjYrNDA1UmYwV1dvYmpkM1FXYVZiZTdlN1dpdUtmL0NlN2R1d0N0RnRZK296YmMyN2VIM0ZZRGZ0RXNyVmFjRjcwZW5xTkhvUHI5VU8xMm1PKzQ4NUpYWVBLWGw0Vk9BL0w1RUtpcmczdi92cEQ5N0srOUN2c2JyNHNiaW9xcjRYSzB6VEI3RGlTekdaTFpETytKNDFEZGJzU3Nld0NRWlhnT0hvVDk3MitFUHFsUFRISHZPeldxZCtIdW9FQmRiYzhvdGVDMnJsbzlmYmVMTzRlL1hEa1J3Q0NIaUs1UmhlbG1mT2VPSER3MFB3V1B2bmdXMjg2MEFRRHEyMXg0OTJBRjlweHR3SmRXak1QTXNZbWozTktSVTFWZy9jNFNiRDFhQTZlMzV6OXlDY0JQMStYajBWdlRFY2NBaDRpSWhrSDFpWm9idlF2WUJrbkIwVGQrLzhpUDczTENmZkNBdUtFb1VKMU9TR2J6OEkvVFZSdEU2bWRFVUVoYkRRWlJ4UG1WdjBBTkJCRHo2YzljOFNMSFFkcmN2TzRpeis2RCs2SE55QmhTaUtSNlBIQzgrUVprcXpWazlhU0UvL2dwQUtENTIvK3ZaMmVwcHhpdWZ0TGtrT040anh5QjR1aFY0RGY0czlOb1lMNTlMY3kzcjRYcWRxUHQyZjhXUzh6M3FVMDBFcHIwREZnZmVuaFlqd2swTnFEekx5OTEzN2F2ZnhtZUV5ZENkL0w1QUZXTlhDdW1LMnl4di80MzJQLytac2hkQ2QvL3QrNDZSWmVqYmRxOFBHano4aEJvYUlEei9ZMHdMbDRNYlc2dXVDOG5HNWExZHd6cHVMcThzV0hidkNkUHdudm1USjhHaU05NG5YOTdMVUxqR09UUXlMQ0hRRVRYTEkwc0lUL1ZoSSsvTXdOdkhXckNyeitxd3M2ejdmQUdWRFMwdS9IVE4wOWcxdGdFckoyVGpRbVpOdWkwMFRFOHRjM3VRZEhGWnJ5NXR3ek5uVDFGN3RKdGVxeVptb0R2MzVXTHNTbkdVV3doRVJGRnJlQlVqVUFnZkhwTmNEU0hmbWpUcVNKeDc5blQvVy9uMWcvaDJyTWJ0c2UvQWprK2ZtVHRWUHJweUFiYjJoVklPVGE4QzM5cEtXSWVlQkNhNU9SaHQvdHkwU1FrRHJxc05TQ0tPenZlZkdQUS9VSW9DcnpIam9Wc0NyUzJodnk4Vkw5Zi9GeUQ0WStxd3Y3WDlZRFhCK3RuL3VHU0F5N2ozSG5RNWVkRDlRNTlkQlVnUmxCWlAvUFo3dWx1dXZHRmtHSkNSMXQ1angrSDZuYkJNRytBNWNjTHhvVXNQdzcwL0E1Y3JyWUJBQlFGOWxmL0NqaytIcGJiZTRJYlRXcGE5N0x1dzJWYXVRcTZuQnhveCthSGJIZHQzd2JuaG5lUitOUC9ESHVNNitPUG9jc2RNNkxub3hzYmd4d2lpZ3IzekU3Q3ZMRld2SGVrR2YvelVUVk9WVHVnQWpoYzBvS3lCanRtNUNWaXpjeE1qRW1KdVZwZjBnMmJYMUZSZEw0Ulc0L1Y0a3gxTzd4K01jOWRLMHU0ZlZvQ3ZyWWlFNHZHMldCbU1XTWlJaG9oMldTR2dtWW9UaWRrZmVqcWhrclhhbFQ5VFdjYWpPcHl3YlhqRXhnWDNnVDNKOXRoWEhnVHZNZU9vdjJYenlQMmlTY2d4dzA5ekpHN1J2RW9UbWZFK3hXSFF4VDQxZXZoS1NxQ2U4Y25NTXlaRTdhazl0WG1PWG9FbnBNbkJ0OXhKUHgrMlAvMmFzZ20xZXVGYnR5NG5nMCtYOGhvSzhjN2I4RjcraFJzWDMwU2tzbUVRR01qQW8wTjBDU25qQ2p3OGh3N0N0Zk9IU04rQ1hGUGZRc2FveEdHT1hQUnQ3eXp2NklDcXRjMDR1WEhMMWZiQU1DNWVSUDhGZVd3UGZtUGdDUWhVRk9EUUdzcjlKTW53MTlaT2FUamFUTXpBVmxHb0s0T3FzOEhYWDRCQUlROVhtbHJpN2dkUVBmUDFsOVpDVTE4L0ZXcCswVFhCd1k1UkJRMU11TU5lR3hwQnU2ZW5ZUi8rM3NwL3JDakZnRVZhTEY3OGZHSldoUmRhTUs5QzhkZzljeE1hT1JySzgxcDduRGpEeCtkeDdIU2xwRFZxTkp0ZWp6L3lEamNPVE1SUmwxMGpDZ2lJcUpybHlZNUdmNnFTZ1FhNmlISGhhNzJHS2h2QUFCbzAwWTI0c0R4N2p0UTNSNllsaXlCKzVQdGtLMVd4SDcxU2JULzZublkxNjlIN0ZlL05xeDJpamJWaDkybk9oeFFuVTVvYzhRS1FxNlBQZ1FBZUlxSzRDa3FDdHRmYVc1Rzg5UGZCQUFrL1BnbmtFeW1ZYisyb2RLT0dRUFR6WXNHM1UvMWVHQi8vVy9ETzdoZTN6MzFLc2oreXNzaFU2dFVuNjk3NlhIUGdmMXc3OXdKeVdoQzUxL1hpMVhGRlBFbFVleVhIeHRSa0JPY3JuVWxLTzN0MENTUGZHbnl5OVUyZjJXbFdINWNwMFBuWC83Y0hiUm9zN0tobnp3WjdjLzlZa2pIQ2Y2dWRiNzBad1RxNndiZGY3RGpXdTY1TjZUbUZORkFHT1FRVVZTUkpDRFZwc2NMWHlqRWcvTlQ4TlAzS3JDL3BBTjJkd0FkTGgvKzlQRUY3RDNUZ1B0dXlzWDRqRmlZOUpwUks0aXNxQ3BhT2owNFd0S0MxL2VVb2RVaHBsSEpFcEFScDhlS3lRbjQwVDE1eUU0TVg1S1VpSWhvSkhRRkJmQWNPUXp2NmRQUWpTOE11Yzk3cG10cDhnbVRobjFjMy9sejhCellEOVB5RlpCN1RabVJZMk5oZStJcmdEeTgwYVRCMFF2ZTR0TmhuWE52Y1ZjN0o0cDJHbWJOaHRMWmlVamNlL2RBMHV1N3B6dEoyajdkRzc4UHFxZXJZSExmKzBaQUZLNGpaZ0FBSUFCSlJFRlVFNThBL2N4WmcrNm5PaHpBY0lPY0lWQjlQa2c2TWRKS3RzVkJrNW5aUGZwR2s1d01UVkl5TkVsSjNUVmxocVB0bVo5RDdXZUUxSEFZYjdvSnBwV3JRdHZ0Y2tKcGJZRis4dVIrSG5YMTJtYVlPdythbE5UdTFjSTBLVjEvOXdxK2pMY3VnYW1mVU1WVGRCRE96WnU2YjhkKytjdGl5bHNmN2oyNzRkNjFDOXFzYlBncks2REp6SUlreTRpNWZ4MFFZWHFqYkkyOTVOZEhOdzRHT1VRVXRaWk5pc2ZzWEN2ZVA5YU1YMjJ0eHQ2TFlnV01zelVkZVBiZFU1aVJsNERWTXpNeEtUdHVrQ05kZnY2QWdtMG5hdkh4OFRwY3JPLzU4S21WSlh4dVVScStmRXM2RmhUd1Ayd2lJcnE4OU5OblFOcXdBZTU5ZTJGY3NLQjdCU04vWlNVOGg0cWd5Y2lFZG14NGtkYkJlSXFLb0VsT2hublZxckQ3NUVReHltSTRxMWJKeWNuUWpzMkh2K1FpUEFmMmQ5ZE5VWjFPT0xkc0JyUTZHQmFJYVZSOVE0SGUzQWNQUUxKWVlMbjN2b2ozTzdkc2dldWpyYkE5OVMxb3M3T0gzTDcrWEpHcFZXclhTRjJ2Tjd3UXNOOGZNclZLOVhxNnAxYnBDZ3NSVnhnYTFnV1Bvem9jd3c1ekxIZDlxbnRWTEFDQXh3UFZINEJrRWRQZ0FuWDFjRzdjQU11bjdvYWNsQVI0dllCT0YxYVhSNU1ZUHVyR2MvZ3dvS3JRalJzL3JEWmRpYmJKY1hHSSsrZnZEUGg4c3NrRU9TRWg0bjE5aTN2TENhRUxiNmgyTyt4dnZ3WHZpUk93ZnZaekNMUzJ3RjlaQWR0WHZvcU9GMzZIenRkZVJjd0REMTZXMzBlNmNUSElJYUtvWmpOcjhkQ0NGSHhxVmhMK3NLTU8vL1pXS2RxY2ZyaThBZXc5MjRoREY1dXhlRklxSHJsbExHSk1JeS91T0J3WGFqdnd1MDFuVWQzaVJLRFhrcGRUTWkxNDZiR0ptSnhwaGo1S0NqTVRFVkYwa1V3bVdPNjVGL2Evdm9LMjU1K0RmdklVUUZYZ1BYa0swR2pFaWo4akdLbHFYSGdUc0hBaG9OVjFUOS9wajlMWjJiM2tjdmMyVi9pUzV6SDMzWS8yWHo0SCsydXZ3blAwS09UWVdIalBuSUhhMllHWWRROUNqclVOdTUxOStVcExJTWZGWGJaTzgxQ1hQZyt1V2pVWWYza1ozUHZGYWxqUWFHQjk0TUd3ZlhxZkI5WHBnbVRvVS91b3NSRys4bkw0eTh2Z0t5OUhvTFlHbHJ2dmdYRUlVOEI2MC9VS2hieW5Uc0x4M2diSVZpdHNYLzhHb05IQTN6VmxUWnMzRnRyc2JIUysrRWY0Nit0Z1hyNFNodG16ZXdwWTl5RldoM29mY2tJaTlCTW5EcXROVjdwdDhQdmhyNjZHdjZJYy92SnlXTzZMSEFnT2lkOFA5OTY5Y0c3ZUJOa1dpN2h2Zmd1YXREUzR0bThESU42YnRxODlDY2M3YjZQOStXZGhtRGtMeGtXTG9SM0RZc2MwZkF4eWlDanFTWklFczBHRHI2L014TTNqWXZIamQ4dXg2M3c3bWpwOThQb1ZmSFM4RnVkck9uRC9UYm1ZbEcyRDFhUzc3Tk90RkVWRlhac0xPMDdWNFlQRDFYQjFMU2V1a1lDOFpCTSt2U0FGVDYzT1Fyemw2b1JKUkVSMDR6TE1tUVBKWklKcjZ4WjRUNXlBcE5OQlAzRWl6TGZmRGsxSzZvaU9HVnllZVNqY3UzZkJ2WHZYb1B0cDB0SmcrOFpUY0c1OEQ3NkxGNkVxQ3JTWm1UQS8rQ0IwRTRjLy9TdE1JQUIvUlNXTUN5NVBnV1RMblorQ1pESkNtNTB6cE9lV1kyT2h6WW9RSVBsOFlvV3FFOGZoMnZvaGRCTW1RSk0yRzhhYmJoNXcycGJxOGNCZldRSGRCQkdHT0RlK0IvZmV2VkJkWXNxUlpJMkZibXdlRExObVFWZFFBTFZ2ZUthcWdLcUVid2NnR1kyaTZHOTFGUndmZkFCZjhXbG9jM0pndWZ1ZTd0WFAxT0JTMlYwZm9VeExsOEd4OFQzWVgxMFA1NVpOTUs5Y0JjT2N1U0doaWUvOGVYVCs1YzlRL1Q3RWZ2clQvUWNxUTNDNTJ1WTdld2JlNHRQd2w1ZkRYMTB0Vm5pVFpXZ3pzeUJwaHQ4OVZqczc0VDU0QU82ZE82QzQzVEF2WHlHV2dZODBsVStuZytYK2RkQlBtUUxIZXh2US9zdm5vRWxOZzI3Q0JCaW1UQWxiOFlxb1B3eHlpT2k2TWl2WGlsZS9PZ252SDJ2QmJ6K3V4a2ZGYlFnb0tpcWFISGordmRPWW5aK0laVlBUTUNNdkVmSmxLb2pjN3ZSaTErbDZiRHRSaDRvbVIvZjJSSXNXbjF1VWhzL2NsSVlaT1paUnE5VkRSRVEzSHYza3lTT3FSeEwzN1g4ZWZLZEJHRzllQkdPZjFhVVVsd3Nkdi8xMTJMNmExRFJZdi9qbEVUOVhwQ1dkZy94VlZZRGZCLzNVcVNNK3ZyK3NEUDZxME5XRy9PWGxRMzY4dDZ1UUxnQXhra2VXNFRraXBoa0ZHaHBnWHJVYXBtWExBWTBHdW9LQ2tNZTZQdjRJU21jblpKTUpxcXJDZS9JRVZKY0xocTdYbzBsTWduN1NKT2p5ODZITEx4QlRpZ0M0ZCsxRTI4OGpueGVscFFVdDMvOWUyUGI0NzMwZmpuZmZnZmZrQ2NnMkcySSsvUWdNczJiRGUrd28zTlhWa0dRTlBJY1BpZWUxaVNucjJ0eGMyTDcySkh6RnhYQnNlQmYyMTE2RmMrdUhpUDNpbHlHWlRYQis4QUU4Qi9aRHNsZ1ErK2hqME9ZTmYwb2ZBS2h1Tit4L1hYL1oydVk5ZXhidS9mdWhHek1HNWhVcm9jMGJDOTJZTVdLVnRDN09UUi9BdWVtRHdSdm44Nkg5dDc5R29Ma0Z4Z1VMWUZxK2ZFZ2p5WFFUSmlLdWNBSzhKNDdEZmZBQVBQdjJkdjljaVlhQ1FRNFJYWGYwV2hsM3owN0NtbWtKMkhpMEdkOVlmd0hWclI0RUZCVUh6amZoU0VrekptYkY0YXUzVFVDQzlkSUtEWitxYU1NTG04K2lvZDBOUmUyWlJyVWczNG9YdnpRUjQ5Sk0xOXdLV2tSRVJGZVNiTFZDazVrWnVzM2g2R2Z2SzhkZlZnckpiSWJ1RWtZNWVNOFV3L1hKOXN2U0h1T0NoWUFzUTljMS9TZm1nWWVneWNqb2QzL1Y1WVI3eHlmZHR5V0xCYVpWcTZHZlBnTUFZRml3b0x1T1VHKzYvQUpZN3JsM1dHMlRiYkdBcXNLMGFqWE1TNWQxaHhyZTgrZmgyYmRYUEwvUkJQUHRhOE9XcjlkTm5JaTR3a0s0OSsyRjkvZ3hhSktUb2JTM3dYdnFKUFNUSnNOeS96ckl0cEZQazVPTXhzdmFOdlBxTmJEY2NlZUFvNFAwTTJiQ01HMTZ4UHU4WjRyaE9iQy82d2wwc0gzbHE0QWtEMy9wY0VtQ2Z0cDA2S2RORjZPQ05NTXJHRTQzTmtsVmUvVThpSWl1UTNYdFh2ejcyMlY0OTJnenFsczlDRjcwNGkxNjNEVS9CL1BISlNIUmFoanlpSm1Bb3FLMHZoTmJqdFpnKzhtZTVTWTFFakE5eDRxdnI4akU1eGVQYkdsWG9tdkI4MXVxOE5UNkN3Q0EyMmRuNGZQTENnWjVCQkdOeE91N3kvRDZuaklBd0EvdnpzVVA3aDc2OUNXNlFhaXE2T1NycWlqZU8xcHRVTlZoVDRzYVNjSGxZUnRoMjRpaUhVZmtFTkYxTDgybXgzT1BqTU82ZVNuNHc0NWF2SDI0Q1haUEFLME9MMTdlZmhIN3p6VmkyZFIwekIrWEJKT2gvOHVpcWdMMWJTNXNQVmFEL2VjYVVkL3VCaUNtWStjbUdmSFlrZ3pjT3ljSjQxSk5WK21WRVJFUjBYVk5raTdMc3VtWDNJWVJUQSsvNGlFT01PSzJFVVU3QmpsRWRFUFFhU1VzbVJpSHVXT3RlR0JlQ3I3eHlubVVOcmtSVUZTY3FXcEhhVjBuZGhjMzRBdkx4eUVqSVhJUXMrTjBIZDdhVzQ3YU5oZDZqMlZjTnk4WlAvaFVMZ3JUelp4R1JVUkVSRVJFVnhTREhDSzZvVmdNR3R3NU14RnJwaVhnWis5VjRPVTlkYmpRNElMSHIrQllXUXUrOWNmOXVITnVOcFpNU1VONmdobGVuNEtMZFIxNGZVOFpUbGUyOXh4SEwyTjJiaXkrZTBjTzFreExHTVZYUkhSbE9UMSsxTFdHcjNCQ1JKZk83dmFOZGhPSWFKUVZGUlhoZTk4VEJhaC84cE9mWU02Y09hUGNJb29HREhLSTZJYWswMGo0M3AwNVdEczlBZXYzTmVERm5iVm9jZmlocU1DR2c1VTRXdHFDaFlVcGFPeHdvK2hDRTlxZFBSKzJwMlZaOFBqU0ROd3pPd25wY1pkV0xKbm9XcmYzVEFPT2xyYU1kak9Jcmt0dWIyQzBtMEJFUkZHSVFRNFIzYkEwc29SWnVWWk16clJnM2R4a2ZPZjFpOWh4dGdPS3FxSzgwWUdxNWpJb2l0cGRITm1pbC9Ia2lpdzhmVnMyRW1OMDRDd3F1bDdwTkJJMHNvU0Fvc0xqVitEeGUwZTdTVVRYTlZrU0t5NFNFUkVOQllNY0lycmhHWFF5NXVmSFl0UFQwL0cvMjJ2d2k4MVZxRzcxd0J0UUlRR0lOV2t4TGN1TW42M0x4ODNqUjc1OEpsRzB1SG1jRGF1bkpPQmNuWE8wbTBKMFE4aFBNV0hGcFBqUmJnWVJFVVVKQmpsRVJGME1PaGxQcnN6QzdkT1Q4TmQ5OVhqdFFBTXk0dzM0aDV0VGNkK2NaSDViU2plTXFWa1d2UExFUkU3N0lMcEtERG9aTnRNb0xTMU5SRVJSaDBFT0VWRWZZMU9NK1BidE9YaHNhUWFlK3VxalVOTlhRNy9nNGRGdUZ0RlZJOHNTNHN4YXdNeVBDVVJFUkVUWEduNjlURVFVZ1U0cklkbXF3L3FYLzR5REJ3K01kbk9JaUlpSWlJZ0FNTWdoSWlJaUlpSWlJb29hREhLSWlJaUlpSWlJaUtJRWd4d2lJaUlpSWlJaW9pakJJSWVJaUlpSWlJaUlLRW93eUNFaUlpSWlJaUlpaWhJTWNvaUlpSWlJaUlpSW9nU0RIQ0lpSWlJaUlpS2lLTUVnaDRpSWlJaUlpSWdvU2pESUlTSWlJaUlpSWlLS0VneHlpSWlJaUlpSWlJaWlCSU1jSWlJaUlpSWlJcUlvd1NDSGlJaUlpSWlJaUNoS01NZ2hJaUlpSWlJaUlvb1NESEtJaUlpSWlJaUlpS0lFZ3h3aUlpSWlJaUlpb2lqQklJZUlpSWlJaUlpSUtFb3d5Q0VpSWlJaUlpSWlpaElNY29pSWlJaUlpSWlJb2dTREhDSWlJaUlpSWlLaUtNRWdoNGlJaUlpSWlJZ29TakRJSVNJaUlpSWlJaUtLRWd4eWlJaUlpSWlJaUlpaUJJTWNJaUlpSWlJaUlxSW93U0NIaUlpSWlJaUlpQ2hLTU1naElpSWlJaUlpSW9vU0RIS0lpSWlJaUlpSWlLSUVneHdpSWlJaUlpSWlvaWpCSUllSWlJaUlpSWlJS0Vvd3lDRWlJaUlpSWlJaWloSU1jb2lJaUlpSWlJaUlvZ1NESENJaUlpSWlJaUtpS01FZ2g0aUlpSWlJaUlnb1NtaEh1d0ZFUk5jeVZWVkh1d2xFUkVSRVJFVGRPQ0tIaUlpSWlJaUlpQ2hLTU1naElpSWlJaUlpSW9vU0RIS0lpSWlJaUlpSWlLSUVneHdpb3Q1VUZVcHpFN3hIandKKy8yaTNob2lJaUlpSUtBU0xIUlBSRFMxUVZ3ZnZ5Uk1JTkRVaDBOU0lRRzB0Vkk4SGNtSWlOQ2twMEdSa2pIWVRpWWlJaUlpSXVqSElJYUtvRmFpcmhXUERCdmhMU3dBQXVvSUNXRDUxRCtURXhBZzdCK0RhdVFQdVhic1EvLzEvN2Q2cytuM3dWMWFLeHlncWRQa0ZzSDdtczRCZUR3Q3dyMzhabmhNbklqNi82ZVpGTU45eFovZHQ3NG5qY0c3OUVJRzZPa2hHSXd6VFo4Qzg5ZzVJQmtQM1B1NjllK0hadHhlQnBrWUFFclJabVRDdlhnUHQyUHpMY0VhSWlJaUlpT2g2eHlDSGlLS1MwdHlFOWwvOUNuSkNQQ3ozM2dmVjQ0Rno4eWEwLytaL0VQZFAvd3pKYUJUN3RiZkRVM1FRN2oyN29iUzFRWXFKQ1RtT05pc2IxaTk4RVFEZ2VPTnZVSDMrN2hBSEFGU2ZEN3F4K1RDdldCSHlPTWU3NzBEdE5mWEtlL3dZT3YvOEoraW5USVY1MlhMNGEycmcrbWdybExZMldMLzRwWkQ5OUZPblFwT2NES1d6RTY0ZG42RDlkNzlGM0ZQZjR1Z2ZJaUlpSWlJYUZJTWNJb3BLemsyYkFGV0I3Zkd2ZEljem12Z0VkUHpoZitIWnZ3L0dXNWNBQUZ5ZmJJZm53SDRZYjE2RVFGMGRmR1dsdzM0dU9TWUcycnl4SWRza2s2bm5ocXJDOGM3YjBPYm13dnI1THdDU0JQMzBHWURmRDlmMmJmQlhWVUtibFEwQWlIMzhpWkRqYUxPeTBmNnI1K0V0UGcwVGd4d2lJaUlpSWhvRWd4d2lpajZLQXMvSkV6Qk1teFl5d2tZM2NTSWtpd1hlNHVMdUlNZDA4eUpZYmw4TGFMWG8vTXVmd3c0Vk1uV3FhNFNONS9neEFJQmh4c3doTmNkZlVRR2xyUTNtMVdzQVNlcmVicGd6RjY3dDIrQTdjNlk3eU9sTDBvckxzQndiTzZUbklpSWlJaUtpR3h1REhDS0tPb0htWnNEcmhUWWpNL1FPU1lJbU5RMkJ4b2J1VFJIcjVmUml2dU5PbUZhc2hPcHlvLzEvZmduOXBNa3dyMTByRG1jMHdmSFdtNE8yeDE5VEF3Qmg3ZEdrcGdLU2hFQkRUM3VncWxDOVhxZ2VEd0sxdFhDOHR3SGEzRndZWnM0YTlIbUlpSWlJaUlnWTVCQlIxRkh0blFBQXlSSVRkcDlzc1NCUVhUWGtZOG14TmlEV0J0ZjJiWUNpUURJYUlKdk1rS3pXNGJlblQvMGR5RElrb3dtcXl4V3liOHNQZjlCOVd6OTFHbUx1WHdkb2VUa21JaUlpSXFMQnlhUGRBQ0tpNFZJRGl2aEhyMmxNM2FSK3RnOUVVZURldFJPUzJReHZjVEhhZnZGZkNOVFhEYjA5eXREYkk1a3RzRDM1ZGNSKytWRllQblVQQWczMWFIM21QeEdvR25yNFJFUkVSRVJFTnk0R09VUVVkV1NUV0pGS2RidkM3bE5kTGtnV3k3Q081OTY3QjFCVjZLZE1oWDdpSk9nbVRFVDdyLzhIL3FyS29iV25hNFdzM2lOdnhBWVZxdHNkMmg2TkJ0cThzZEJObkFUakxiZkE5bzlQQVpJTSs5dHZEYXZOUkVSRVJFUjBZMktRUTBSUlIwNUtGclZuNnNKSHpmanI2c0pyNXd4QWFXK0hjK043TUMxWkNra2pMb2t4Nng2QWJud2gxRTc3a0k2aFNVa0ZnTEQyQkJvYkFFVVpzRDJTMFFodFZpWUNEZlZEYmpNUkVSRVJFZDI0R09RUVVkU1JEQWJvOHZQaE9YNE1xdWYvczNmZmNYS1c1NzMvdjgrMHJUUGJlMWZ2RWlCQUVrVjBNQmlERzhsSnNJUHR4S25PQ1duMklYSGkvSnc0SitmNEpMSGpKRC9ucE1kSjdJQnRzQkVZbTE2RkpCQkZBbld0dEN0cHBlMjlURHQvWER1YXNyTlZndDJSUHUvWGE2MmRaNTV5ejdQeW9QbnVkVi8zNk5udHdmMzdGTzN2VjliNjlUTSsxOURqajhsVlZLVHNMVmZGTjdwYzh0LzdDWGxYcnB6Uk9ieUxGMHMrbjBaMjdramFQcnB6cCtSeXliZDJyU1FsalRVbU9qeXNVR3ZyMlRBSUFBQUFBS1pDZDAwQUdTbjN0dHZWK3pmZlVOL2ZmVk01MTF5cnlOQ2docDc0a1R5TEZzazN3MlhESmNuVDBLRHN6WnNsdDN2dWcvSDVsSHZ6TFJyYTlxZ0d2djJmOHExWm8xQnJxNGFmZlVZNU45d29WMkdoSkNuNHpsNE5QL2Vjc2k2NVJLNlNFa1Y2ZXpYeTRvdUtEZzhyYjN5bExBQUFBQUNZQ2tFT2dJemthV3BTNE9jL3E2SEh0cW4vUDc0bEp5ZEhXZXMzS1BmMk8yYlY3RGg3ODVacDl4bmR0Vk9qdTNaTzJKNVlSWk56dzQxeVBCNE52L0NDUmw5L1RhN0NJdVY5OEU1bFg3czFQdWE2ZXJtS0NqWDB6RE9LRGczS1ZWQWdiMk9UL0ovNnROemw1VE1lTXdBQUFJQ0xGMEVPZ0l6bFhiNWNCY3VYejNoLy95ZCtiazdYOGExWnE5eVVpcG1CLy9yT2hQMnlyOTJhRk55a2NwV1d5djl6bjVyVEdBQUFBQUJBSXNnQmdHazUyZGtUZXRnNFB0ODhqUVlBQUFEQXhZd2dCd0RHNVgzc25nbmJKcXVnQ1h6Mmw5N3I0UUFBQUFEQUJLeGFCUUFBQUFBQWtDRUljZ0FBQUFBQUFESUVRUTRBVE1GeEhOMS8vLzN6UFF3QUFBQUFrRVNRQXdBQUFBQUFrREVJY2dBQUFBQUFBRElFUVE0QUFBQUFBRUNHSU1nQkFBQUFBQURJRUFRNUFBQUFBQUFBR1lJZ0J3QUFBQUFBSUVNUTVBQUFBQUFBQUdRSWdod0FBQUFBQUlBTVFaQURBQUFBQUFDUUlRaHlBQUFBQUFBQU1nUkJEZ0FBQUFBQVFJWWd5QUVBQUFBQUFNZ1FudmtlQUFBc0ZLMnRyZnI3di85NzlmYjJKbTEvN3JubmRQLzk5NTk5dkhYclZ0MTk5OTN2OS9BQUFBQUFnQ0FIQUdMeTh2TDA4TU1QNjgwMzMwemF2bnYzYnUzZXZWdVM1UEY0ZFAzMTE4L0g4QUFBQUFDQXFWVUFFRk5VVktRYmJyaGh5bjBhR2hxMGJ0MjY5MmxFQUFBQUFKQ01JQWNBRXR4enp6MXl1ZEsvTlRxT28vWHIxNnVrcE9SOUhoVUFBQUFBR0lJY0FFaXdhZE1tclZxMUt1MXpQcDlQVzdac2tkL3ZmNTlIQlFBQUFBQ0dJQWNBVW56a0l4OUp1OTN2OSt1cXE2NTZuMGNEQUFBQUFIRUVPUUNRNHVNZi83amNidmVFN1FVRkJkcXdZY004akFnQUFBQUFERUVPQUtTb3JxNU9XM256aVU5OFF0bloyZk13SWdBQUFBQXdCRGtBa0NJUUNPamFhNitkc1AyKysrNmJoOUVBQUFBQVFCeEJEZ0NrOEhnODJyeDVzd29MQzg5dXUvbm1tOVhRMERDUG93SUFBQUFBZ2h3QVNHdmR1blVxTFMwOSsvampILy80UEk0R0FBQUFBQXhCRGdDa1VWMWRyVTJiTmttU0tpc3JkZlhWVjgvemlBQUFBQUNBSUFjQTBuSzVYR2VyY05hdFc2ZUtpb3A1SGhFQUFBQUFFT1FBd0tTdXVlWWFGUlFVYU4yNmRVbjljZ0FBQUFCZ3Zuam1ld0FBcEs2Qm9CNS9xMHVIemd6UDkxQ1FZdm1XdTNUY3RVaGYvc0h4K1I0S0pGVUV2UHJnaGxMVkZtZk45MUFBQUFDQWVVR1FBeXdBeis3cjBXOTkrN0JPOTQzTjkxQ1FLdmNEMm5FOFZ6cmRQTjhqZ2FTOExMZUdnMUhkZjJ2dGZBOEZBQUFBbUJjRU9jQUMwTkkxU29pelVPVlh6dmNJa0dCd05LeERwNGNWREVmbGRUdnpQUndBQUFEZ2ZVZVFBeXd3RFdYNXVtSnA2ZlE3QWhlUmZTZDZ0T2Q0ajZMUitSNEpBQUFBTUw4SWNvQUZwckU4WHgrL3FuRytod0VzS0ErL2VrenZ0UFFxVEpJREFBQ0FpeHlyVmdFQUFBQUFBR1FJZ2h3QUFBQUFBSUFNUVpBREFBQUFBQUNRSVFoeUFBQUFBQUFBTWdSQkRnQUFBQUFBUUlZZ3lBRUFBQUFBQU1nUUJEa0FBQUFBQUFBWmdpQUhBQUFBQUFBZ1F4RGtBQUFBQUFBQVpBaUNIQUFBQUFBQWdBeEJrQU1BQUFBQUFKQWhDSElBQUFBQUFBQXlCRUVPQUFBQUFBQkFoaURJQVFBQUFBQUF5QkFFT1FBQUFBQUFBQm1DSUFjQUFBQUFBQ0JERU9RQUFBQUFBQUJrQ0lJY0FBQUFBQUNBREVHUUF3QUFBQUFBa0NFSWNnQUFBQUFBQURJRVFRNEFBQUFBQUVDR0lNZ0JBQUFBQUFESUVBUTVBQUFBQUFBQUdZSWdCd0FBQUFBQUlFTVE1QUFBQUFBQUFHUUlnaHdBQUFBQUFJQU1RWkFEQUFBQUFBQ1FJUWh5QUFBQUFBQUFNZ1JCRGdBQUFBQUFRSVlneUFFQUFBQUFBTWdRQkRrQUFBQUFBQUFaZ2lBSEFBQUFBQUFnUXhEa0FBQUFBQUFBWkFpQ0hBRHZ1OHRycE5YbDUzNmV1b0IwYVpWOTMxQW9WZnVuM3QrUlZKZ3RWVTJ6WHlxM1k4Y21QdDVTYitlS3FjeTM3UXRkcmxkYVZTWjV4dC85aTdMdEhwN0wwSmNVUzJzcnpzdndBQUFBQUV6RE05OERBSEQrT1pKcUFuTTd0bXRZR2dwS1d4dWxzcnk1bmVPNW8xTDcwT1RQRHdlbHBTWFNnUTRwR0puYk5TUXAxeGNmWXpRcVhWRXJ0UTlLdTA1SW8yR3BJbDhxeTVYeWZWSitsbFNRWmZ2MmpFaHQvVkowaHRkWlVTWTFGRWlQSGJUSGdTeXB4aS90T1cyUEhWbVE0WEZKTzFxbHp1SDRzV1c1MHRhbXViMis5a0hwdVdiSjc1T3VhcGpkc1QzRDB2YldpZHZyQ3FURnhkSzc3ZmE0b2RBQ3FabmVpM1M2aDZVTlZYWlBwL3E1QXdBQUFEaDNCRG5BQmNqanNxcVhHSmNqT1k0VVRnbE5ITWVxU01KUkMwSWs2ZlZUMHJFZTZmbm1pZWU5ZlpuMDJrbnA5SUE5dm1teHRMOURhdWxOM2k4cUtkc2ozYnc0L2ZoY2p1UjEyZmtpYVJLRWppSHBsWmJwWDJjNFl1ZVNwT085ZHR6S01pazAvanB6UEZLZVR4b1lrOHJ6cFQxbkxEeUtYZktPWlpMUG5mN2MyMXVsVS8zMmZXT2huVDhta0czM3JIODAvbnFmUGlKZFZpMWR2MGg2K2JoMGN2elk5aUhwdTN1VHo5MVFhR0hLMDBmc2NYWEFncUFuRHFZZnkwaEkybnRtK3ZzUjAxUm9yenVkMm9EOXZLS3lBS3F1UURyVU5mbDlrS1JnMlBaZlUyNEJYRHFPcEdzYTQzK1BFclgyU1R0UHpIejhBQUFBQUNaSGtBTmNnSUlSNmZ2dnhoOXZxSlFLYzZSbmp5YnZWNXdqM2JoSWV1eUFoUVdKb3JJS0YxL0NCTXdzajAySldsSnNqL044MHZKU3FiNGd2cy9CTGd0NkhGbVk4OXBKcVc5MDVtTmZYcG9jS3F5cnNOQWpIWmRqWHg5ZW1ieTl2a0E2MGkyOTJTWTE5OWkyMmdKcE5KUmNlZUp4U1FjN3BiYUI1T08zTnNhbkdsWGsyM1NrMXQ3NHVFcHpMY1R4cG9RZmI3UlptTlExYlB0R29oWXFWZVRINzVrazVYanQzbDFWYjQrelBSWTZ4UjVMVmxFVUN6K0NrWWxoMlZSS2MrMW5tNm9neTdhL2ZqSitUN0k5RnRDc21XS3EyMDhPV3hXVDIyV3ZiL2VwNU9jTHMyMjh3MEY3WEpKais0ZkhiM1l3UFBPeEF3QUFBSmdhUVE2QVNWWGsyUlNjV0JCVGxDT2Q2TE9nUXBMOFdWYTFjbWJRSHErdnROQWpVYzlJZlArWmFBalpWS2dZbDJQWGYrdjB4SDNMY2kzNGVmSDR4T2Rpb2NKMEJzWXNuSmhNWUh3NjFrMXBxb3Z1V3BIK21NdkcvenphTGUwNmFmY2syeE4vRFpYNTFxZm5RS2M5THMyVm1qenh4d1haOXJvU1Zmc3RBRHJjTmFPWGxkYmlZZ3VGdWtmczhhcXllT0IxeHpJTGFHS1ZSSWxDa2VUdkI4YWs2NXFzY3V0b3Q3UzV6cjV2SDdRQTdOSnFhWTNQZ3EwVGZYTWZMd0FBQUlDSkNISUFUS2xyT0I3RVJLSVd6TVNDbTFCRTZoMk5QeDVMcUx3WURra1B2MnNWTUxFd1pDYmViSnM0UFdjc2JDRkJLcmRqVlNMcG5wT1NwMDU1WERiMTZaTHg1c2l2bjBwL1RLcWozVmFORTVQanRTcW1WMXFrem1uNndTUUdJS1BoK0gzSzlWcHZuOWhqajh1cVYyS1AwMDAzcS9KYjVjdGNnNXhzajlSWUZKOWUxMVJrZ2RuenpmRnh4aXFJcGhPcjdIbmx1QVUzZ1N6N2V5SFp6L3Y1Wmd1Tkt2SUljZ0FBQUlEempTQUh3SlRXVjhhbnhxU2JXcldpMUJvQlMxWkpvb1RRSXhpeGFUYlhOczc4ZW84Zm5Eak55K2VlMkhpNWI4VEc1Y2lDa0ZERXZyOXBzVTJYYXU2eFJzR083TmpMcXEzUFRDeFlHQW5abExQcGhDTEo0VVpkZ1FWTEovcG0xeUM0S0VlNmVuenFWR3hxMWRVcFU2dGlqeWZyVitOeHphd0JkWTUzNHJaVlplUDlrTWJQdjY3Q0tvQ0dFKzUxbG1kaVJWVXdQTEVoZFcyQjNkZGJsbGlmSlpjamJhcEwzeCtuSmlEdDY3Q2ZDUUFBQUlCelI1QURYSUFxOHFXc2hEREFueVZsdTVONzJVanhLVXcxZ2VRK0pxMTlWcDNSUFdMVktFUGowNVFPcEh3WVQzM2NGTEUrTklrNmg1UDc5Y3lXNHlTSElKSUZHcSsweEtjSVpYdHN1azlOd0twV3VzY3JpQWJHN00vMTQ0Rk5PR3F2Slh3T1N6VFZGMWh2bkx0WFRyNVB4NUQwd3JINDQ5R1FyZWdVNjljem5WeHYrbFhIL0ZuSjkyRXlMaWRlSVNQWlBWbFViRC9YOGp3TG90NXBsNDZrVlBkY1dpV3BLbm5iZ1U2cmtrcDB1Q3NlaUMwcWtrcnpiTFd1eWN4MG1oc0FBQUNBNlJIa0FCZWdKY1hKelc2OWJxdWdXSjlTZ1JKYjhXbDFlWEkxUmR1QWZkamYyV3BCeWt5OTJaWWNDSGxjays4N2xXZzBIclo0WE5MSlB1bmxoRldzUHJMS3FtUmlBVUdlMTBLYmxXVlNTNTlOOTRySjkxbXdGWXpZOHpVQjZjVmpNNXRDbEtva3gwS2xrLzAycmxqVDRMTWNhNVFjQzVCaTJnYVNseVNmVHQ5b2ZNV3NSTjNEMGxOSHBqOCtObTBxcHI3QXBwKzE5RnFRSTZXdmtIbWx4Y0tleWJnZHUyOGpvWGpWVkhHdTFEVTBNY0NMR1o1a093QUFBSUM1SWNnQkxrQXZwVFQvM1ZodDAyMFNxMFNrK0twVlB6NDBjVHFUWkZPaXNtZjVMdkgyYWFzOEtjMlZybSthM2JFeFkySHBrWDMydmNkbC9XVVN1Y2VYVW8rTVY5Z0Vzc2Uvc3FUdEtjdVdyNjJ3NnBIQ0hLc2thU3lVcm11VW5rKzVGek94cXR4VzVOcDlTcnAxaVNRbnZnUzVaQUdLejIxTHNpZXFDVXdNMGFZekZwYWVPRFQ3TVVyVzF5ZlI0VzRwMnBWK0phdlo4TGlTcDFuNWZWSlJ0bjNWcFZSN3hWWVVlekJsNlhVQUFBQUE1NFlnQjdnSVpIc21yNWlZak1jbFBYTjArdjNTY1RuV0NQaUgrNU8zYjIyMGFwWllOY2k2Q2d1WVhrMlpscE5ZSFpUclRRNUx2T05WUHJGQW9YdFlxZ3RZZjU0OVo2VCtoR3FZS3I5VUc1QitmTmhXVmdxR3JSSHZwcnJaVnd1VjV0cHFVODhjdGZEb2NKZDBaYTMwekJHckhncGtXVml6NTNSOEtscnNYcHpzVDc4YTFIUml2WC9tYWxtSk5WQ09UYk9hTHNoeHUrTDNOeWFxK0JoeXZOSkFRbVBwbFdWVy9lUnoyOVNxV0xObVI3YXFWZUwwTGdBQUFBRG5CMEVPY0JFb3lwbGRzMW0zSTkyNWZJcm5YUmEycEZ0ZFNZb3ZhWjFZNWVOeXJNRnZ6MGg4ZTNqOEhJbjdPVXFlenVYUFNxNXd5UnAvMTRwTjRXb2JzRWJHSFVQeC9RcXpiWXlYVk5sWWVoTUNoZEh4V2pvcUFBQWdBRWxFUVZTd05VR2VEYmNqWFY1alU1TmlTNVh2T1NOZG55ZGQzV0JObERmVjJYU28xTDVCcThxa3BTWHB6K3M0OGVsS2s5bDJJSGsxc05sWVhtb2h5MHdEbFN0cUpOVWtiK3NZaWdkNmdhejRxbGwrbjFSZmFCVlFydkg3ODlRUisxbXVxeHhmYmoybHR3NEFBQUNBYzBlUUExemc2Z0wyb1RwZHo1WEpoS1BKRFlyTGN1MGNMZVA5VTY2dXQzQmd6NW54L2pQaCtCTGxrMWxVWkNITjZZR3A5L05uMlpTc1o0OWFRT0IxMmJVS3NpelFhQ2lNTnkxMk9mR213SWtWTHpVQnFkcHZ2WFgybnBuNTY1N01KVlhXWitpTmhHQWlFcldwYXJjdXNmRjJEcWR2K0x2bmpIMUpGdG9zSzdWUUxSU3hLVWszTGJabDJoM0hwbVkxZDZkdnhweHVSYWlwK056Mk0rc2JuWDdmbUIwbjdKNGxYWGY4enp5dm5hOW54SDZPVjlSYTFWV3NwMDdKK0ZTNmppSHJ3L1BNMFhOcktnMEFBQUFnUFlJYzRBSldtaXRkVmpPeEFmQk1aYm10eDB4amtYU3NKeDdrSktyS2w1YVVXR1hNM3RQeGxhUVNsZWRabGNhQnp1VHFrbWpVUW9IVWEvcmNGcFEwRk5xNEI4YWt1MWJFbCtWKzYzUjh5ZXZpSE9sNHIwM3phZTJUQnNlc1dxUjNKRGw0bWN6bE5mWTFtYlVWRnJDOGNDeGVPZVJ4V1UrWXBTVlcrWE84MTZad1hiOUkydGR1b1ZscWhsSGpsemFNcndqVlBoaXY3SW54ankvbHZycmN6bkc0S3prSUdRMWJSVXkrYjJJejVWU09iRnFWTlBFNlV3bEhKaTQxSGxOYllLSFF3SmhOaVF0a1NVOG1ORjV1NjdmNzFGaG9Zdy9Pc1lvSUFBQUF3TlFJY29BTGtNZGx3Y2J5VXVuTWdLMCtOUnZlOGVPWGxGZ2c4dlNSZUFXSnk3SEd3YkYrS0crMFdYUGRkWlZXWFhLeTM2WlZEWXhaNkxDc3hKYStQdEZuL1dNU2pZUXNJQ2pOdFlESDdVaUxTeXpBQ0VlbHhjWHhpcG9mSGJTcW1MR3d2YjRiRjF2bzgyeXo5ZERaMm1nVklZZTdyRGRPNnBMWmszbjdkSHdwN1poYmx0aWZPUjRMYTE0N2FiMTRtb29zdUtyMFc5QjBwTXVtYzQyR3BUMWV1d2RYMVZzWWNtWlFPdHhwZ2M2NkNtdkd2TDlET3RScDk2VWcyMTU3S0dMNzlJNUtqeCswMTd4cS9HZjNicnQwYUh3cTAvRWV1NWNmV0RwOTN4eTN5OEtjSTkzSi9Ycm15dTNZdFE5MjJ2aVdsZG9LVjVHb3JaRFdPTDVLMXQ0ejl2ZGxiWVYweDNKYnV2NzBvUDBkVEcxWURRQUFBR0J1Q0hLQUMxQjVubjNBM25OYTJ0Y3gvZjZwSWxFTFYxNDdJUjNydFczcksrM0RmRlEydmVaNGIzei8zbEdyV0tuTXQ1V2RRaEdiM3JTbHpwYWZmdTNreEpXVUpBc2FxdnpXR0RkV21ST01XQ0RneUJvWHg0S00wWEE4REloRWJWclBPMmZpeTFzLzMyeEJ5dElTcXh4cDZVMjlXbm9qb2VRR3lZbUdRN2FpVnl5VVdsZGhyLzMxazNiK3hJcVp3YUNGRy9rK0N6c3E4dTIrMUFUcy9DOGR0L041WEZhNTR5Uzgxc1Q3ZnJEVHFwOVdseWV2R05ZL1prRlBhYTRGV2xPSlJDM2NtbTY2MjB4NVhMYlUrNkV1Qy9sR1FuYi9iMXNxRFkzWjM1R2ozZkZxcTdZQm05cFdYMmdycHIzY012MlVPZ0FBQUFBejQwU2pzKzI4QU9COCs5cVBXL1ViLzJGclRXOWRYYWxmdlgzRk9aL1Q2NXA4bXN6N3BUelBwaEhOOVUzRzVVemVVSGsrT0pyN2E4bDA2Vjc3VFA2T25hOTc5dkNyeC9TZEY1c1Zqa1QxS3pmVTZDOS9kb204N3RTSmVRQUFBSmxsMTY1ZGV1Q0JCeVJKWC9uS1Y3Ung0OFo1SGhFeUFSVTV3QVZxdmtNY0tUNzlhcTRXVW9nalhid2hqcFQrdGMvazc5akZmTThBQUFDQTk0SnJ2Z2NBQUFBQUFBQ0FtU0hJQVFBQUFBQUF5QkFFT1FBQUFBQUFBQm1DSUFmQU9hc3JzS1cvVTlVRXBHc2I3ZnZadHFXdERkaHFTZStYK2dLcHhwKzh6Wkd0dWxTUU5mZnpMaSsxVmF6bXd1dXlaZFZkMDl3OFIzYU4xTjN5ZmRJZHl5Uy9iMjdYQndBQUFMRHdFT1FBT0dkZWw1U1hKaXpJOWtpQkxBc2libDBpclNpZDJmazhMbWx6bmVTYlpwbnQ4Mmw1cVpTYjhocWlrdHd1V3dwOHJpcnpwYkxjcWZkeEp2bnl1R3psTDdjeitUNlNsT3VWMXBSTFY5WW1uM2RWdVMwSlB0bnk2Z0FBQUFBeUQ2dFdBWmd6bjl1Q2dzbTRIQ2thdGRXbjluVklHMnNrZjVhMDg0UTlYNUJsUVVtcVdDaVU3N013S0oydTRYTWJlNkpjcjFTUUxZMkdwTHRYVG53TmJtZmk5cEdROUtPRDUrZjZIMWsxZGRWTjZyVVRQYlJYR2d4S0x4MjM2cDJOMWRLdWsxYUZVMTlnOS82dUtWYXozOTRxblI2WSs5Z0JBQUFBdkw4SWNnRE15YW95cWRJdlBYMWs4bjFjVG53SjhlWWVDMzNLOCtMUFgxWmpGVHVwM09PaHh0VU42WmNnajBhbFIvYk5mZXlwR2d1bGppR3B0Vy9tUzZaSFU4YmxjVW1YVkVrSE9xVGUwZGxkL3djcHI4WGpraTZ2c1pDck5OZkdOaEtTZHArU3dpbExmc2VHMFRFa3ZYNUtLc3kyU3AzTGFxUzJmZ3ZRSnBOdU9od0FBQUNBaFkwZ0I4Q2NITysxcVRzVitmRnRzZXFWR0kvTGdoanZlTlZOKzZCOXVSMHBIRTBmQXNXbVlVVmxZY2xUUjZSUVpPSis1NHNqcWFsSU90UmxZeDBKU2JjdmxiS21lSGQ4K3NqRXNNYmxXQ0RVMGp2N0lDZVk4UHFxOGkwUWFodVEzbTJYUHJoY2V2R1kzZXNiRmtsdm43WnJwSE8wMi81Y1VTb1Y1MWpGMEZBdy9iNnhIMVBrUGJ5M0FBQUFBTTQvZ2h3QWN6SXdabE55bGhaTEovdHQyOW9LYVZuSnhIMVRwd2ExOWttdnRLUS83OGJ4U3BRbkRrcGI2cTFYenN2SExmaDVMelFVMnRTcXhNb2Z0MHQ2L3BqVU5UUngvN3RXU3M0c096ZlhGa2dmRFV6Yy91aCthVFJzb1VxbFgxcFphdFBLWGp0cDl6UTJyU3dxNmMwMjZjeUF0TDVLV2xzdUhlNjJRR2NvbU56TWVEaGtqWThQZGxvZ2xLcDdXSHFuUGY0YTBsVThBUUFBQUZpNENISUF6Rmx6dDdTaUxON2Y1ZDEyNlhCWC9QbTFGVktWWDNyeWNISmdrSzdDeHVlMjZVVFZmdW01WnF0UzJkNWlxMTdkc0VoNnVVVWFQTTlOZTEyT1RSRkxsMlZjVnBWY0tSTXpsNVcwT29jc1dFa1ZqTmpVcVUxMVZyWFVOMnJUcHlKUmE1THNjcXhTcUN4M3ZFSkpGdWdzS3BLV2xranJLcVRubStNcmcwazI1ZXduaHkwRXVtV0o5RlpiL0xteVBLa2tOLzdhcGZjdUlBTUFBQUR3M2lESUFUQm5yWDFTUzU4RkM1TDF3RWxzZnB6anRXbFV1VjZiS3BTTzI1RVdGVnVnTWhxMi9UYldXTVZPOTdEMDdGRnBjNzEwMnhJTE5mYTEyMzdudy9KU0tTTHJKWlA2dXRvR3BKRTAwNUlXRjAvZDREbWQ0YUNkTTUzT0lRdGIyZ2R0R3RYYWlvbFZNb2w5aFZ5T05ZSCt3VDY3cjkwajBvTjdyZGZRclV0c243Rnd2SnJuUUVLQUZKVUZSRko4Q2h3Vk9RQUFBRUJtSWNnQk1HZFJXU1ZKYlpwcFE1S0ZDMk5ocVNZd01jako5bGd2bDRaQ204cTB2OE5DbW5EVWx0SytvY242NC9TTVdOWEpvaUpwWGFWVm9wd1pzSldaSnV2L01sTSt0MDFqV2xKc2o2K29sV3I4OW4xajRlVEgxUlhZbjlzT3pEN1VTUldWOVJ1SzlSRjY2YmhWNWt6Rzc1TnVXMnJIZFk5TWYvNXFmL3o3Z29URzBpNkNIQUFBQUNBakVlUUFtTFBDYkdsTG5WWGVwRmJKVk9UWk5LU2RKNnhYeTF0dHlWT1ZRaEdiNm5PNHk2WWRKUjUvb05NcVZIb1Nnb29qM1JaNE5CWktSVG5uSHVKSTBwN1RGaHpGZ2h5M1k5ZE9OdzBxa2NjbDNiSHMzSytmemsyTEo2NklsV2cyL1hrY1NjdEs0NDl6UE5iYlNJb3YrNTY2Q2hZQUFBQ0FoWTBnQjhDY0xDcUtyNjUwcUNzNU1KQnNKYWpPSWVsNGovVnlXVllxN1QwVGZ6NFVzVjR1K1Q0TGVQSjlWbTJ6KzVTMHFWWUtSVzFKN2NRZUxxVzUxdUQzVUpmT2k5VCtNRzBERmhENTNGTWZGd3piR042TEVPVGw0L0d3SlowOG4zUnR3OHpPRlpWTlRZdFpXaEtmV2tWRkRnQUFBSkNaQ0hJQXpFbVYzNnBYM2o0ZDc1RVRVNUJsMDZsZWJyRXc0ZDEyYVUyRk5VY2VUS21rdWJyQnRuY09XMlhNN2xOV3hYTmRrN1MxMFZhUGNtVEJUNnl4OHJOSEp3WVFwYmtXck14a3V0RmtqblpiVmM0SFVxcHRzajAyaFNwMnpiMW5iSnp2QmNlSkx3MmU5dmxabmkrUU1KMHFPK0VkUDlhMG1XYkhBQUFBUUdZaHlBRXdKeThmVDcvYWt5UHJOZE0xTEowYWJ5SjhwTnVxUWJiVVMwOGZpWWNIaGRuVzg2V2x6eHIzeGd5SHBHZU8yalNxVU1TYUVsZmwyeXBXTnkrV3JxaVJ0cmNtWC9mcUJ1dXhjeTVCam1SamUzUi84clk3bGxrdm5ja2FOcDlQbSt2T2ZXcFZRYmFkdzVGMGZWUHljNmNIN1UrbVZnRUFBQUNaaVNBSHdKeE1GdUpjWG1QVGYzNXlLTDQ5RXJWVnFHNVlaSUhMS3kxVzRiSzBSR29mc21YRmMxUGVqVVpDMHI0Tyt6N2ZaejEwUmtKMjdIVk5VbTFmZkNXb2dteHJGbndpWmZXcDgyV3E4S1F1WU0vSEtseks4NUtuWm1WN0xEU3BMNWg0YkRBU0Q3c2lVZW5Nb0ZValRkWC9KOGRqcTNxbFZpVEZwa3BkVm0zVHA1NDRaRDJGWG0yZGVBN0o3dWxZT1AzUEVRQUFBTURDUlpBRDRMelpWR2VySkwzY01uRUtWYytJaFFxYmFxV3I2NlhubWkxd2lFMVJpalU3YmlxU09nYmp4K1Y2YlpyV3ZuWjczREZrdlhWNkV5cHZTbk9sL2pHcGY0clZubWFyeW04aFRMYkh3cFBKbGp6ZlVCVVBjVUlSVzU0OG5jdXFKMjdyRzdYd2EzMWxmTnZXeHBtTjcrYkY5dWZ1VTFZcFZEYStSTG5mSnoxNXhNS2d4QkRINzVPS2MyMUpkYmRMV2xscTl4SUFBQUJBWmlISUFYRGU5SXhJeDNyaVZTYXBUdlJKTHh5VFJrTTJoV25iZ2ZnMG9yNVI2MUZ6U1pYMXFZbUpWYW9jN1k1djYwMlpQbFdhYStjK24vdytxYjdReHJldlErb2VUci9mRC9lbjN6NVRPUjdwamJhNUh4OWIyV3M0YUJVNHUwNms3M3ZqY3F4YXlwRlY0ZlNNU0crZXczVUJBQUFBekErQ0hBRG43RWkzZmMzRW1ZUnFtOVRwUWJ0TzJ0ZHNUVFo5YUtaZWFabTQ3VUNuZmIzWGhrUFM4SG1ZRXRhYU1OVXNuZDVSNmFHOThXYkpUS2tDQUFBQU1oTkJEZ0JjUkFod0FBQUFnTXptbXU4QkFBQUFBQUFBWUdZSWNnQUFBQUFBQURJRVFRNEFBQUFBQUVDR0lNZ0JBQUFBQUFESUVBUTVBQUFBQUFBQUdZSWdCd0FBQUFBQUlFTVE1QUFBQUFBQUFHUUlnaHdBQUFBQUFJQU1RWkFEQUFBQUFBQ1FJUWh5QUFBQUFBQUFNZ1JCRGdBQUFBQUFRSVlneUFFQUFBQUFBTWdRQkRrQUFBQUFBQUFaZ2lBSEFBQUFBQUFnUXhEa0FBQUFBQUFBWkFpQ0hBQUFBQUFBZ0F4QmtBTUFBQUFBQUpBaENISUFBQUFBQUFBeUJFRU9BQUFBQUFCQWhpRElBUUFBQUFBQXlCQUVPUUFBQUFBQUFCbUNJQWNBQUFBQUFDQkRFT1FBQUFBQUFBQmtDSUljQUFBQUFBQ0FERUdRQXdBQUFBQUFrQ0VJY2dBQUFBQUFBRElFUVE0QUFBQUFBRUNHSU1nQkFBQUFBQURJRUFRNUFBQUFBQUFBR1lJZ0J3QUFBQUFBSUVNUTVBQUFBQUFBQUdRSWdod0FBQUFBQUlBTVFaQURBQUFBQUFDUUlRaHlBQUFBQUFBQU1vUm52Z2NBSU5sSU1LejIzcEg1SGdhd29BeU9oT1o3Q0FBQUFNQ0NRSkFETERCdk5YZnB5LzgxTU4vREFCYVVnWkdnd3BIb2ZBOERBQUFBbUhjRU9jQUM0SFpKTGtlS1JLWGhzYkNHeDRibmUwakFndVJJOHJvZE9mTTlFQUFBQUdDZUVPUUFDOERtSlFXNlpYV3g5clVOemZkUWdBV3RNdURUemF1TDVIRVQ1UUFBQU9EaVJKQURMQUFiNnZQMXo3K3dRdjMwQVZsd1B2L2ZmMUZYWDNlajd2endQZk05RkVqSzhibFZIdkROOXpBQUFBQ0FlVU9RQXl3QWJwZWppZ0tmS2dyNGdMclFmTzg3MzFKOVZhbVdWTnczMzBNQkFBQUFBSllmQndBQUFBQUF5QlFFT1FBQUFBQUFBQm1DSUFjQUFBQUFBQ0JERU9RQUFBQUFBQUJrQ0lJY0FBQUFBQUNBREVHUUF3QUFBQUFBa0NFSWNnQUFBQUFBQURJRVFRNEFBQUFBQUVDR0lNZ0JBQUFBQUFESUVBUTVBQUFBQUFBQUdZSWdCd0FBQUFBQUlFTVE1QUFBQUFBQUFHUUlnaHdBQUFBQUFJQU1RWkFEQUFBQUFBQ1FJUWh5QUFBQUFBQUFNZ1JCRGdBQUFBQUFRSVlneUFFQUFBQUFBTWdRQkRrQUFBQUFBQUFaZ2lBSEFBQUFBQUFnUXhEa0FBQUFBQUFBWkFpQ0hBQUFBQUFBZ0F4QmtBTUFBQUFBQUpBaENISUFBQUFBQUFBeWhHZStCd0FBQzFrMEdwM3ZJUUFBQUFEQVdWVGtBQUFBQUFBQVpBaUNIQUFBQUFBQWdBeEJrQU1BQUFBQUFKQWhDSElBWklUb3lFalM0OEh2ZjAranI3OTI5bkdvcFVXUnJxNzNlMWhuQmZlOXE5NnZmMjNhL2NiZTJLM2hKMy95UG93SUFBQUF3SVdJWnNjQUZyemdvVVBxKytiZnF1anovME91MGxKSjB1ak9IWEtYbDUvZFozVG5EbzN1MnFtOHUrNVcxcFdia283di9PM2ZuUE8xUzc3NjV3cTN0bXJ3c1VjVnVPL1RrcytYZHIvbzhMRENwOXVtUGxra29zRnRqOHEzZklVZE16Q2djR2ZIbEljNDJUbHlWMVRNYWV3QUFBQUFMandFT1FBV3ZORlh0OHRUVjNjMnhJbDBkeXM2T2lwUFRlM1pmZkkrOGxHNVMwczE4TkNEQ3A4NW85dzdQM1QydVpMLzlkV2s4MFc2dTlUOWxUOVJ5Wi8rbWVUeEtEbzhySzQvK0gwVi9jR1g1UEw3SjF6ZnljOVhxTGxaZzQvK1VIa2YrZWljWDhmSTlsY1VIUnBTN20wZnNOZjExcHNhL081RFV4N2pYYnBVZ1YvNmxUbGZFd0FBQU1DRmhTQUh3SUlXSFJuUjZGdHZLZStEZHlvNk9DaEpDaDQrSkVseUZSU2MzU1pKV1pkdGxLdTRSSzdDOGUwdVIwNU9yaUo5ZlJwNDZNSDRTWU5CU1ZMZnYveXo1RGhTSkN4Skd2alAvNUE4OGJmRi9IdCtTcTVBUUs3Q1F1WGUrU0VOUHZTZ2ZPdld5N3RraWNJblR5cmMxUmsvWlV1TG91R3d4dmE4blRSKzc5Smxjckt5RkIwWjBkQVRQMUx1cmJmSnljOVh1SzFOMlpzMksvdUtLODd1TzdodG00TDc5Nm53TjM4cmZnS0hHYkFBQUFBQTRnaHlBQ3hva2M1T0tSVFU0TVBmMCtERDMwdDZydnVQLzc4cGozV1ZsS2pvZ2Q5WGRHeFV3ZjM3RlBpRlg3Uno5dmNyZU9pZ2NxNitSbks3RlIwYlUzRC9mbVZ2M2l3bkoxZVMxUGQzLzc4ME5uYjJYTm1iTm12MDFlMGEvTzVES3Z6ZHoydGsreXNhM2JWVHJrQkFraFFkSFpWQ0lRMDkra043SElrbzB0bXB3czkvUWU3eUNnMDl0azN1d2lKbFgzMk5UUlg3Mjc5V3dhLyttanlMRnNjSDdEaVNITW5qUGRmYkJnQUFBT0FDUlpBRFlFRnpWMWFxNkl0L21MU3Q5NisrSnQrNjljclpldDJVeHpydWhHb1d4NUYzMlRKSk90c1UyYnQwaWVUeEtqbzhiSThYTFpMakQweHlNa2Y1SC84cFJhT1I4Y0JGOGk1Zkx2L1BmVXFTTkxiN2RRMDg5S0FLdi9DQVhhT25SOTFmL2lOSlV2REFmbzI4L0pMODkzMUs0WTUyRFg3dnU4cTY5TExrRUFjQUFBQUFab0FnQjhEQzVuYkxWVmg0OW1Hb3RVV1JuaDVsYjl5WXRIMWFrWWo2L3Y3LzJ2ZXhxVlgvOUU5SlU2djYvLzNmNDFPcm90R0pRNm1wbWROTENMV2VrS0pSOWYvN3Q2UlFTSzU4L3puMTJnRUFBQUJ3OFNMSUFaQlJ4bmJ2bGlUMWZPT3ZwdHl2NUUvLzdPejNqdGNuVDJPamNxN2Rlblpiem8wM0plMmZjOTBOU1krancwTkovWEpzWS9Sc05jNXM1R3pkcXB5dFd4VnFhVkh2MzN4RCtUL3pNM0p5Y21aOUhnQUFBQUFneUFHUU1hS2pveHJaOGFwOHExY3JlUGlJQ2o3M09jbVYzQXg0YU5zMmhkdmJrN2E1Q2dvVStMbjdabld0d0gyZmtwT1huN1J0OVBYWE5MWm5qL3lmK09Uc0J1NTJLem93b1A1Ly9XZmwzbnlMdkV1WHplNTRBQUFBQUJoSGtBTWdZNHk4OUtJVWpTci9aeitoM3IvOGM0V2FqeWxyMDZheno0ZFBuOWJZdSsvSS83UDNKaDBYNmVsUno5ZitZdGJYSy9qVno4bGRYbjcyOGRpZXR4WHU2am9iSGtVR0JoUThaQ3RvaFU2ZlZqUVNPZnM0T2podzlyam95SWg2Lys2YmN2THo1V2xvME1qTEx5bDg1b3g4SzFmS3UzekZyTWNGQUFBQTRPSkZrQU1nSTBTSGhqVDg3RFBLMlhxZG5Ld3M1ZDE1bC9yLy9WdnlMRm9rZDNtNW9xT2o2di9XdjhxN2ZMbDg2emZFRDR4RTVPVGxxZWlCMzUvYmhTTVJDMjdHeGpUMjdydkt1K1BPczArRmpoMVQvNy85eS9pRGtEUTJGbitjMEdNbnVIKy93aWRhSlVuOTMvbzN1Y3ZLNUM0dGxXdXl4c29BQUFBQU1BbUNIQUFaWWVDaEIrWDRzcFJ6L2ZXU0pPK3FWY3JhdUZGOTMveGIrZS85cEFZZmUxUUtoZVQvbWVScW5PQ0IvZXI3bDMrZS9NUmpZOVlMSjJXS1Zvei9aKytWYjgxYWplN2RJNFhEeXJyMFVrbVNwN3BhdWJmZHJwd2JyTGRPYk5XcTRqLzZzaVFwT2ppb2dlOThXMDVXdHJ3clZxamcxLys3M09YbFo1YzNCd0FBQUlDNUlNZ0JzT0NON3RxcHNUZmZVT0N6dnlSNXZHZTM1OTM5WVlYUG5GSHZONzR1SnlkSGhiLzl1eE9hQ0h0WHJJdzNQbzVHTmZycWRubnFHK1N1cnBZa2RmNlB6eXZ3cWMvSXUyeVpSbmZ1a0hmcHNyU3JZWTN1MkNIdmloVnk4dklrU1ZtYk5rODVaaWN2VC81UGYrYnNZMDlEbzZMRHd3cnUzNi9Rc1dZRm01dmxXN05HMlZ1dW10TTlBUUFBQUhCeElzZ0JzS0NOdmJOWEE5LzV0bkp1dkVuZTVjdHRZeVNpNEw1OUduN3BSUVVQSHBCdnd3WUZEeDVVN3plK3JwenJybGZXNVZmSXljcEtPay80eEFrTmZQKzdDclcyS3UvT0Q1ME5jdUlYR3RQSXE5czE4T0IvS2Z2S1RjcTU2V2E1Q2dyc2NsMWRDaDQ4b1B5VTNqc3pOYnB6aDRhZmZscmhNNmNsdDF1ZTJqcDVHaHZscWE1UmRIZzR2bU1vSkVXanlkc2tPVDZmNUhiUDZkb0FBQUFBTGl3RU9RQVdybWhVUTlzZVZkYjZEY3E5NldhTnZmMld4dmE5cTdHMzMxWjBlRmkrZGV0VitOdS9JM2RsbGFJakl4cCs2a2tOL3ZDSEduemtZWGthbTVTMVlZTjh5NVpyOFBGdEdudnJMV1Z0dUVUK2V6K3BTRStQd2lkT0tOelpLWTJOV1JXUHo2ZUNYL3QxamUzZG82RkhIOVhJcTl1VnZYbUxjbSsvUTZPN2RrcGVyN0pXcjVuVHkzQVZGc3EzZHEyOFN6NHNiMk9UNVBNcGVPaVFldi9xYTJuMzcvcjlCNUllK3o5NW4zenIxOC9wMmdBQUFBQXVMQVE1QUJZdXgxSGdNNzlnVTUwaVlRMC8rYVNpb2FCeXJ0MnFyQ3V1bENzUWJ4YnNaR2NyOTQ0UEt1ZTY2eld5YzRkR1gzMVY3dklLUmNmR0ZPbnRWY0d2L2JvOGpZMlNwUDUvK2tlRldsc2t0MXUrOVJ2a3FhMDlleDdmNmpYeXJWeWxrWmRlMU5qKy9YSjhQcXNHV3JKVTh2bm05REs4UzVkTldITGNVMWVuZ3QvNHpSa2Q3eTR0bWROMUFRQUFBRng0bkdnMFlXa1ZBRmpJd21HbUdBRUFBT0NDc1d2WExqM3dnRlZqZitVclg5SEdqUnZuZVVUSUJPbVhhUUdBaFlnUUJ3QUFBTUJGamlBSEFBQUFBQUFnUXhEa0FNQVVITWZSL2ZmZlA5L0RBQUFBQUFCSkJEa0FBQUFBQUFBWmd5QUhBQUFBQUFBZ1F4RGtBQUFBQUFBQVpBaUNIQUFBQUFBQWdBeEJrQU1BQUFBQUFKQWhDSElBQUFBQUFBQXlCRUVPQUFBQUFBQkFoaURJQVFBQUFBQUF5QkFFT1FBQUFBQUFBQm1DSUFjQUFBQUFBQ0JERU9RQUFBQUFBQUJrQ005OER3QUFGb3JlM2w3dDJyVkxJeU1qU2R1UEhqMnFiZHUyblgzYzJOaW8xYXRYdjkvREF3QUFBQUNDSEFDSUdSd2MxQy8vOGkvcjRNR0RTZHNmZWVRUlBmTElJMmNmLytNLy9pTkJEZ0FBQUlCNXdkUXFBQmhYVlZXbHE2NjZhc3A5cXF1cnRXWExsdmRwUkFBQUFBQ1FqQ0FIQU1ZNWpxTjc3cmxueW4zV3JWdW44dkx5OTJsRUFBQUFBSkNNSUFjQUVseC8vZldxcnE1Tys1ekg0OUhHalJ0VldGajRQbzhLQUFBQUFBeEJEZ0FreU03TzFyMzMzcHYyT2IvZnI2MWJ0OHB4blBkNVZBQUFBQUJnQ0hJQUlNVlVRYzUwUFhRQUFBQUE0TDFFa0FNQUthcXFxblQ1NVpkUDJIN3Z2ZmNxSnlkbkhrWUVBQUFBQUlZZ0J3QlNURlo1ODdHUGZXd2VSZ01BQUFBQWNRUTVBSkFpS3l0TEd6ZHVUS3ErV2I1OHVTNjU1Sko1SEJVQUFBQUFFT1FBUUZxWFgzNjVLaW9xemo3KzlLYy9QWStqQVFBQUFBQkRrQU1BYVRRMU5XblpzbVdTYktyVkRUZmNNTThqQWdBQUFBQ0NIQUJJeSt2MTZwT2YvS1FrNmRKTEwxVkRROE04andnQUFBQUFDSElBWUZLMzMzNjdDZ29LdEdIREJoVVZGYzMzY0FBQUFBQkFudmtlQUFDcGZ5U3NWdy8zNlVUMzZId1BCU25XZmZoM05GYTNSdisrdldPK2h3SkpSYmtlYlY0U1VGbkFOOTlEd1FMU1B4TFd5d2Q3MWRZN050OURBVEFMWlg2dnJscGFvSUpjUHBJQXdHendyZ2tzQUUrLzA2MWYrZGNET3RuRGg1Q0Y1eXE5OExiMHQyL3ZtKytCUUpJL3k2MC8rVmlUUG5kejdYd1BCUXZJMCs5MDY3UC90RjluK29QelBSUUFzMUNjNTlGZjNidFVQN081WXZxZEFRQm5NYlVLV0FDYU8wWUljWUFaNkI4TmE5K3BZUVhEMGZrZUNoYVE1bzRSUWh3Z0EzVU5oblR3OVBCOER3TUFNZzRWT2NBQ1UxR1lveFUxQmZNOURHQkJhZWtZME5IVEF5Syt3WFJxU25LMXBESXczOE1BTUlYbU13TTYxajR3MzhNQUZvU1dmcGRLNnBZcjErZVczKytmNytFZ1F4RGtBQXZNaXBvQy9lcnRLK1o3R01DQzh2Q3J4M1NzZlZEaENGRU9wcmErc1ZqMzNiQmt2b2NCWUFvUHZ0Uk1rSU9MWHY5d1dILzIyREg5Mnd0RDZnamRwcEpzcndwMlJ2U0hkV0VWNUxybmUzaFk0QWh5QUFBQUFBQjRIMFFpVVIzdkd0VXYvdE1CL1dSdmwxVWJPM2thR3BUKzhzblRldTM0aUw1NTMzSXRxOHlSeStYTTkzQ3hRTkVqQndBQUFBQ0E5MWg3ZjFCLzllUUpiZm55Ni9yeGVJampPSkkvMnlPWEkwVWxQWCtnVjlmOXp6ZjA1MCswc2hvakprV1FBd0FBZ0NtVjVrcjV2bk03UjJHMnRLUTQvWFBaSG1sTitibWRmNjRxODZWVlpUUGZmM1c1SFpOT3JsZTZ1bDdpbCtnQVVyMXhiRUNmK1lkOStzS0RSM1JxUEtCeHVSemR2TDVhdjNuWEd0MTJTYTNjNCs4ZHAvdkc5TUJEUi9TWmY5aW5Wdy8zemVPb3NWQXh0UW9BQU9BQ2RrV3RWRE9IL3BsdnRrbEh1dTM3eGtLcElsOTY2b2cwRXBKV2xFb3JaaEIrUFB4dS9QdWlIR2xwaVhTb2ErSis0WWkwcEVUcUc1V085NlkvbDh1UlBMUDhGV1F3ckdtYnBHZTVMWnc1TXloMURFMS96dEpjYVRSazM1Zm5TZjRzNmZENGEvSzRwQ3EvalRYVzB1dVNLdWxncHpUQUw5YUJpOUxRYUZoLzkrd3AvZmEzRHltMjZLWWpxYXdnVzc5MDIzS3RxUytTSksydUw5U1dsV1g2NjhmMnFhM2JWdWg4N0swdVBmRjJsLzdrWTR2MGF6ZlZLQytMM2prd0JEa0FBQUFYTUxjajlZeEliNStlK1RIWE5DUlhsYngyVXRyYUpGMVZMejE3VkhLN3BLNGhhZmVwOFd1NEpKOWJHaDVmQlQ0L3l5cFRKcFB0a1M2clR0NFdpbGlnVXBld2NPUGdtUFJHbTMzZldEanhtT2s4ZVZqcUhwbDZuMk85RmlLVjVzNHN5RW5rY3FRTmxWTEhvTlE3T3ZINStnSnBjYkYwckdkMjV3V1ErU0tScUY0NjJLZS8vSEdMdHIzWmRUYkV5Y3Z5Nk1wbHBicno4bnBWRitjbUhiTzBxa0JmK09oYWJkdlpxcGYzbjlIQVNFamhxUFRGN3gzVlN3ZDZkZjl0ZGRxNnZJRGVPU0RJQVFBQXVOQ05oV2NYVXFSV3NVUWx2WExjcWt0ODQ3OFFEa2FrL3ZFcWsycS90TDVTZXZ5Z1BYWVNQbU1Fc3V5cktOc3FWbW9EVnRIU1BtZ0JVSlpiR2dyYTQ1aUNiS2wzUkJvTko0OGpFbzFmWXlyK0xPbmFodmpqMGx3THB5YmpPRGJHbFpOVUdUM2JiTlU5a2dWaldSNmJhdFk3SXAzc2x5NnZsWjQ2bkh5TTEyWDM1RWlYMURVOC9aZ0JYRGg2aGtMNnhrOU82QitlUDZWam5TTm4zMU1ieS9QMHNTMU5XdDlZcEN6dnhPb2F4NUdxaW5MMWllc1g2OUxGSlhybzVXWWRhdXRYTUJ6Vm8yOTI2czJXQVgzeXFrcmRmMnVkaXZQNUtIOHg0NmNQQUFCd0VjbWU1Rjkvb1loOVRXWTBMRzF2VGQ2MnV0ejYzcmdjQzJYdVdtSGJuMjJPNzFPZVoxVXBYcmVGUUt2THBlWWVhWCtIYlc4cXNyK1AxbThBQUNBQVNVUkJWQkFrRnRyVUJLUjFsZEl6UjZUT05BSElVSEQ2MTVnNkJhdDNSSHJ4dUgyZjdaWTIxVWs3VDBpRGFjNFZ5Skl1clpKMnRFcEQ0MU9veGtMU0xlT3IycnRkTmsxczJmaFVzSmVPUzdjdHRhcWUwd2tyYXE4b2s4SlI2YTFaVkVJQnlIemRneUY5NU90djY3bjl2VW1oK0pYTHl2VFpXNWJKbitPZDloeFpYcmN1WFZ5aTVUVUYrc2VuRHVxRmQwNHJLdWw0MTZqKzVJZkg5UFM3M2ZydTU5YW9zdUFjbTVjaFl4SGtBQUFBWENTOEx1bk81ZW1mTzlKdFU2aFMzYlRZK2ptRUl0SXpSNU9mTzlCaEZTZVZmcXRtZWViSStIVVNmdEY4cU11K21vcXN0ODRUaCtMUEhlNlN5bkx0K0dNOVVwNVgybGd0N1RxUlBzU1pxMkFrdWVKbmZjaCs4NTI0TGFZdzJ5cVlqcVgwNnZuK3V4WlkzYmxjMm5zbXVkZlBzMGN0MUVsc0NQM09HUXVzcGdySEFGdzRUbmFQNnI5MnRPdVBmOUNzemtGTGdWMk90S2pTcnpzdXE5VlZLeXRtZmM2OGJJOCtkOGRLWGJHMFZJL3VhdEdoVS8wS1I2SjYrVkNmMXY3ZVR2M3U3WFg2NlN2TFZWZVNmYjVmRGhZNGdod0FBSUNMek5OSGtudkhiS3FkZk4vMlFWdU5xU0xOU2syT1kxVW5rZkd3SXRZREludWE5ZzFyeXEzeGNVeVYzNnBnWEk1OVhWSmxYN0d4cHVzL2N5NU85ZHNVcjZQZEU1K3I4aWRYMWlTcXpMZXFJbitXL1ZtUmIrT09pVTBwdTJOWjhuSGJEaERvQUJleTE1djc5Y0JEUi9YOC9oNE5CKzMvN0Y2M1MzZHNyTlgxYXl0VlVaaHpUdWUvZkdtcEdzdno5ZXllTnYxd1I0dkd3aEYxREFUMXhlOGQxUk43dXZXVmp5N1NGWXZuME5VZUdZc2dCd0FBNENJVGljWlhWWkttWHRucHpUYnJNWk11eUxsNWNieG5qaFFQTUpvbmFlN3JjaXhBNlJ5V2ppUlU1aXd1bGpxSHJDbHpxcEhRRklPYm8wTmQwaTJMSmI4djN1ZEhzb3FhaWp6cHVlYjB4OVVYMkgxcktKU0tjNlR0TGRJTHh5YS9UcDdYcG5IUmxoUzRNSVhDVVgzdEo2MzZuVzhmVG5vZkxRdGs2VmMrc0ZLcjZ3dlB5M1ZjanFPS3doejkxTlZOdW1SUnNiNnhiWi9hZW9ZMUdvcnFxWGU2dGVtZDEvVGxqemJwODdmWHkrUG1IZWRpUUpBREFBQ0FPZGwySVAzMlFKYjF6b2w5WCsyMzFhaHl2ZEtsNDFPbllyMXVDck9sNWFVMlBXa20vVy9PaDk0UnE4cFpYeVc5bUJERXJLMndNT2xNbWlsWGVWNnBKTmRDcUxaK3FiNVF1cXpHam85TWtvUUZ3K20zQThoczRVaFV1NDhONkMrZWFOR0RPOXZQaGpoNTJSNWR1cWhZSDcrcVNaWG5XSVV6bVdYVkJmcmlQZXYxME12TjJubW9Rd01qSVVVbGZlbjd6ZHJkM0svZitrQ2RybGdVa0p1VnJTNW9CRGtBQUFBWG1Wamo0WmpaL252ZjdkaFVvU3IveEdsWkovcWxmZTN4eHl0S3BkSThXNXA4TUNnOWRzQ1c3TDZ5Tm41dFI1T3ZLclh0Z1BXc09kOTJ0MG0zTGJIZVBVZTdyY2x5YlVCNittajYvZGRXU0sxOUZqeUZJdGJrZUdueDVDRU9nQXRUOTJCUS8rZEhyZnEzbDlwMHZDcys3M041ZFVCM1gxbXZkVTNGOHJwZFU1emgzSlVWWk92bmIxNm16U3ZLOU1pckxYcW5wVWVoU0ZUZmZhMURyeDdwMDA5ZldhSFAzMUd2VXYvMGpaV1JtUWh5QUFBQUxqSmJHeWR1TzVLbVgwd3FyOHQ2MjJSNUxGeHhaQUZOTFB4WVVteExoeWQ2bzgzMmpUVTdscVIzMnFVRG5iWi9mYUgwM05GNGY1MVZaUmFXdk54aWo5K0xFRWVTQnNlazEwOUpsMVhiU2w0cnk2UjlIVGJGSzFXZVY2b09TRDg2S0YxZUV6OStYNGYwNFpXVFg4UGhGK0xBQmVWTTM1Zys5bzI5ZXVGQWNqZjA2MVpYNmpNM0wwMjdwUGg3eGV0eGFVTlRpVmJWRmVsZm56NmtINzlwM2VwYnU4ZjAxUisxNk1XRHZmcjJMNjlTUXltTmtDOUVCRGtBQUFBWGtWQkVldjZZVFMrSzJWZ3RoYWRveHV0MldSWE96WXVsZ1RFTGNnNlByOW9VVlR4c1NkZlFOMTBRTXhhV3N0eTJaUGZCem5pZm1seXZUY0hhMGZyK1RMTTYybTE5YjlhVTIvMTRlNUtsd29lQzlsenFtRVpEMHBPSEp6OS9ubS95U2lNQW1hTzlQNmh2YnordFAveCtzN3FIckhHWEk2bXBJbDhmM3RTZ0s1ZVZ6ZHZZZkI2WGZ2NldaYnAwY2JFZWV1V1lqclQxS3hLVnRoL3UwNFl2N3RRWDcyclV6Mnl1WUtueUN3eEJEZ0FBd0VVaUdMRmx0Rk50YjUzNnVHcS9UWUU2MFcrTmdtOWZhbjFrQWxtMmdsT3NLc1hsU0NmN1p6YVdvYUExVWw1V1lsT2FEbmRKaTRydCtCTlRuS01zYi9wejU4MWdOa0ZCdHJTdVFpclBzOWRTbmlkZDN5VHRPVE54V2ZLb0xIQktGVlZ5czJRQUY1N1htdnYxNVVlTzZjZDd1czZ1U0pYbGRlbldTMnAwL1pwS1ZSWG56dk1JelNXTFNsUlZsS3ZuOXJicHNkZE9hQ1FZVnM5d1dBODhkRlJQdmRPdDM3dXpRVnVXRnN6M01IR2VFT1FBQUFCYzRMd3VtNjQwVTZremdscDZwYTVoNlZpUFZlOTBEMXRsVHA1UDZoaVNYajRlM3pjU3RjcWE2WVNqRnQ0MGQwdGI2cVgxbGJhOWE4akNvZjQwUzQ2N0hPbnEraG1NZjRvcFRWWDV0a3BXbGQ4YUd6OTdWR29ma3NweWJjbno2eHB0ZTNPUDFOb3JEYjhIcTJZQldQakdRbEg5eFJQSDlZVUhreHRuVlJibTZQNFByVkpUeGNKYTd0dHhIRlVWNStxbnIxbWthMVpWNnY4OHNrZXRuVU1hRFVYMDJGdGRldXl0TG4zcDdrWjk0WU1OeXZJdzd6UFRFZVFBQUFCYzRFcnpwQnNYelh6LzFPYkhIVVAyVlJ1UUdvdmlTMjZmSHJBdnlhWmVGV1piMVUrVlA5N3pKcEFsNVhpa0duOTgrbGFlVnlyS3NTWE5hd01XL3J4MjBzS2JsV1hXaExodHdQcm94TTR2Mlg3cEtvcFNCYktrVzVmRUgrZDRwQlZsZHExc2o0VlNyN1JZOCtLWTlpSHB4NGVsdW9DMHJOUWFNbStvdE5EcWhXUFNhSm9wWXRjM1RSMlEwU01IeUR6aGlMVGpTSisrK3ZoeC9mQ05lQ2xlWVo1UEc1ZVU2Q09iR2xRYVdOaDlaMnBLY3ZYN0gxK3ZSM1ljMS9iOTdlb2V0TkxCUC83Qk1lMDYycS9mdWIxT1c1WVVzRlI1QmlQSUFRQUF1TUNkNnJkVmxtYnE3a2thK05ZWFNQczdrc09WUk5jMVdRaVVPQldwUE04cVhVSVJhM3pzU05yYVpJSEttVUhiMXRJYlgvMnAvWmhVbkdOOWExYVd4cS9WTlN6dFBUT3o4WStHYklwVXJKcG1OQ3o1ZlhZZmpuVGJ1U2JUMG1kZlJka1dXZzJPSlljNDRVaDhyRHRQU0o0cEZxZko5VXBYemFDQ0NNREMwTkVmMVA5OTdwUysrY3hKSGV1TU54SmJWaFhRaHpmVmE4T2lZcmxkNysyS1ZPZExzVDlMbjd4K2lTNXBLdEhEcng3VHV5ZDZGWXBFOWVpYm5YcXpaVUNmdnFaU3YzeERqU3JvblpPUkNISUFBQUF1WUsrMHpQNlloeWVwZW5tMU5WNXBreW9jbGI3N3pzVHRoN3JzSzlIVFI2emg4V1JMZDNjTlcwUG14RjhXOTR6WTEweU1ocVYzRTVaQWowVHRmTFBSUFNKMW41cTQvY1dFUUd4Z212NDRQU1BTZzN0bmQxMEE4Nk9qUDZoYi92ZWIybjA4T2FtKzgvSTYvYmRybXVSNWo1Y1VmeSs0WFk0MkxDcldtb1pDZmZlVlkvcnVLL1pHMk5JMXFqOTY1SmkrdTZ0ZGovM21ldFdWWk0zelNERmJCRGtBQUFDWWtjbENuTmthbVdIZm1mTjFQUUNZekttZVVmM245alA2bzRlYjFUZGk1WGVPSXkydkx0QmRWOWJwc3NXbDh6ekNjK2R4dS9SVFZ6ZHBSVzJCdnIvOXVQYWY2RlU0RXRXZUUwTmEvY0FPL2Q2SEd2U3pteXRVVzB5Z2t5a0ljZ0FBQUFBQUY1MlhEL2JxajM5d1RNL3Q3OVhRbUlVNHVWbHVmWEJqbmE1WlZhSHlnb1hkQzJlMjFqVVVxYm9vVnkrK2Uxby8yTkdpd2RHUStrZkQrdExEeldkWHR0cTZvbkMraDRrWklNZ0JBQUFBQUZ3MHhrSVIvZS9IV3ZTbjI0NXJhRFNzV1BGZlhYR3VQbnZiY2kycENzaWQydlg5QXVBNGpzb0tzdldoSytxMXZyRlkzM3hpdjQ2ZUdkQklNS0luOTNicnBZTzkrbzJiYS9VSGR6Y3F5NXQ1VThrdUp2eDBBQUFBTGpBNUhxa3kvOXpQNDgrU0xxMlNmTzV6UDVka1BXL1dWMHI1NTZHMzVxYmFtYjNHNlJabHFRMUlXVE40Zll1THJYRnpPb1haMG9yU3FhKzFxTWlXYTArbjJtL2plRDhVWmt0Ykd5ZHVYMW9pclNwN2Y4WUF6SmRnS0txWEQvYnFucjkrUjE5NnVGbUQ0eUZPY2I1UHQxNVNyVC80NlExYVhsTndRWVk0aWR3dVI0c3EvZnE5ajYvVEJ6Zldxc1NmcGFpa29iR0kvdXl4NC9ydzEvZm91WDA5Q2pLL2RjR2lJZ2ZBZTZva3g1WjhUYmRhU24yQkxUMjc4OFRreCtkNXBXeXYxRG1VL3ZuS2ZHczJPVjNEeWNuNDNMWjg3TXZIcGY0cHp1SFBrcFlXMnlvb1kybVdvSjFPVFVDS1JxV1QvUk9mSzg2eFpYZ1BkMDE4RHNERloxR1JoUjJ6ZGFKZjJ0RnEzNWZsU1pmWFdJUGY5a0dwTkZlNnVtSDZjN3g0ekpZWmoxbFpLaFhtU01Hd3JVWTExVkxiTVZPdENCV1ZWSkpyd2NWUER0dEtWdWs0U2g5NkJNUFd5TGlweUpZNFA5QnBxMUhGREFVbjl0VzVmcEYwWmtCNjYzVDY2Mnl1azU1dmxrNFBUdjI2c2ozMmMzbnhtSzIyRmVOeXBDdHI3YlVjN0V4L2JDQkx1cXhhZXVxSWxPNHlOUUVMZ1JLWFEwOVVGNUEyMWt3OXZrU0RZN2FVZWpvK2QvcEFLcEIxL2dJN1lDSHFIQWpxNno5dTFkOC9mMG9uZStMLzZGdFRYNmdQWFY2bmRVM0ZjamtYZG9DVEtwRHIwNzNYTGRhR3BtSnQyOVdxTjQ1MktSeVZIbis3Uzd1UERlaStheXIxRzdmVXNyTFZBa1NRQStBOTVmTllVSkZPcmxlYWJ1cHhUVUNxSzdCLy9McWNpZi9JWEZ0aHk5WTI5eVJ2SHduWnZsZldTbSsyU1gyajZjL3ZjdXdmcjlNdFJIQ3VIMlpxQTdaa2Jib2d4KzJTTmxSS2JmM1NZREQ5dVR3dXUrNXN6Q1Z3QWpBejFYN3AwbXJwdWFOVGg4Q3BIRW5MUzIxWjZ6eXZ2VmVkR1pUMm5JNHZsUjM3Ly9vTHMxaGxhVzFGY2pYSThWNTdmOTFTWisrZnNjOG1UNDEvdUhjY2V3OGVDbHJJTEVrM0xvN3ZKOWw3WTMyaDlFS3pCVEQ1WHVuR1JWT1BJeXJwb2IzMm5oV1lwR2ZtZ1E0TG1lb0wwcTlDTlJ5MGNkeTgyQjU3WEJiT1JLUDJmci8zakFVcVkyRUxZV0p5dlhiUDJsS1dSbi9uakxTbDNvS1dkOXFUbjR1OTNxbCs1NXpqa2J4dXUzWnByclNoU3RxZXNCTFlrbUlweDJ1L0VJaUZUNm4velZsUlp1Ly9YY1BwUXlyditIdDhhcVhTVU5CVzNISWNlNzNQTnljL2YyMmpyUWgyTWlFQXFnbFkwQld6dWM3K3ZxYjY2S3JreDdGN2ticjloL3Y1N3dreTM4bnVVWDMwRzN1MTYyaS9RdVBMNWJrYzZlNHI2M1gzbFEzSzhycmtYR1FoVG96TGNiUzJvVWpMcWd1MGJWZUxIbnk1V1pHbzFOWTNwcTgrM3FLbjMrbldmL3pTS2kydW1PUWY5SmdYQkRrQU1rYU5mK0p2Sk4zakh4WldwcFNEUDM1UUdnMVp1ZnlWdGRLVGg2ZitoL3BVenVYRFREcmxlVmJDbnVyS09odHp6TWwrNldpM2ZiK3gyZ0t0bVFwRnBPOVBzbnd3Z0xueHVDeVVYVnc4ZVVBOW5SVmxWbkZ6cEZ2cUg3VnF2K1dsOXI3d3hLRjRoVXBVeVpVeDAwbjNRZnZ0MC9ZZW1EWCtyNzFvTkI0NmVWM1NyVXVrUi9mSEE2Um95cHZrK2tycFZMOVZxdmg5VnZtWXVMeDRWYjRGSkkvdXR5cVpSSVhaVnUwNFdjVk43UHlwM0M1cGY0ZU4vZnZ2V3RoMTIxTHBrWGN0ekhFNTBuVk5OcTVYVytQSE5SWFoxS1l6YWNwZFR2WkxiNXlTTHFteTRDZ3hVSTk5YkV0OTdhbmpyQWtrTDVWKzQ2TGtnRW1TcnFxM01NVGxKTC8vKzMxV1VmUGp3L1lMQnE5TCtzRFM5TmVxU2dsY25qZ1VENFdpbXJqYVYxVDJDNGJFN2NHVWUvNVdXL0pTN01VNThlcWdSQ3ZMTExCNnF5MTVlNUFRQnhtc296K28vOXB4UnIvem5jTWFHclAvY3ppT3RMalNyM3V1YXRLR3B1SjVIdUhDNERpT3NuMXVmWFJMbzFiVUZlcmJMeHpSd1pNV2V1MDQycTkxWDl5cHIzeHNrZjdicG5LVkI2ak9XUWdJY2dDOFoyTC9RSFk1MHJJU0t6bS9MQ0dRY0RuMkg5TVByNHdmTXhhV3RoMndxVWJMU3V4RFRxN1h3cGkyZ1luaHhFMkxwZVp1KzQxa09qdE8yRzkxVjViWmIyS3pVeXFFWWhVK1pYbDJuWmllRWZ0TnFIUnVIMmJLOHV5RFZLN1hQZ1RVQnV3ZjJlMkQ5aHZjVU1UK2tkdytHTDhuZVQ3N2dKYzZYYXg5S0Q1dFlpcU5oZmJCRU1ENVZaWm43Mkd0ZmZaK05KZCtJcDFEVnBHU09QMW5jTXplNDZyOFZ2V1J5dWRPWDVFWGlVNWZLYkhyWkh6c2trMW4zVlFiZi82V0pmWm42dlRYMm9CVm4vem9vRjMvaGtYMkhwNVkwUkxMQzhMUjVKQWowYVA3SndZTFUwa055YXNERm1qRjd0ZmxOUllTdmR0dTQ1UHMzcXlyc0dsV3hUbDJUMUlyWWc1MVdkaVJXaFhwbWtGRmptUlRYOTlJQ1RnK3VzcXFjQklyZ0VwekxXaEt0TDR5SHR4ZFhtUHY4YWxCLytVMWtzc2x2ZHFTdkQxeFhIbGU2YTZWeWM4N3NzcXdTNnVUdHc4bS9QZGpNQ2cxNU5uZnZZRXgrMjlidm05aU5kU3BmbnN1VmdVMFZRZ0haSUtuM3VuVy85cDJYQzhjNk5YdytCdFJRYTVYSDdxaVhwdVdsYWswY0dHdFNIVytyS290MUc5OGNKVmVPZEN1SCt4b1VjL2dtSWJHSXZyQ2cwZjB3OTBkK3UzYjYzWGJXZ0t3K1VhUUErQTljOWRLbXk3Z09OS2lZZ3RuM2o0ZEQxMFdGVW5GdWRLdThSNDU1WG54eXBxaE1hdEdxU3V3NlFKSHU2M2MvdmFsOGQ4dVMvYmIyL1dWTnExQXN0ODJQNW5RRjZCdjFLNjNzc3ltWHhYblNKdnE0aUZKN0xQUjBwTDRCNUU4cjdUN2xQM0QrMXcvekRRVjJ1dk84ZHB2YlZlWDI3a1BkTm80M0U3eUI2aExxcXdFL2tkdEV6LzhoQ1B4Y0drcWxNQUQ3NDJ1b2ZnMGswVkYwKytmVHJxS2tkZ0hhczhrVXp5M05xYWZ6dGsvWnU5TnFTNnJqZ2ZXMjF1U3AzNjFEMG8vUG1TVkY3Y3VzYWs2STZIa0VEcmJZOEhBb1M1N2oxMVRacTk1ZjhmTVhtT3E0cHpwcDRhR0kxSjNtbWxXMWY1NFVKTG50WE4xRFZrWUZhdEN5ZlhhK0JvTDdiMjhlOWltV09WNDdMVkk5djZjcnY5TWJGcHQ5alQvSXZhNWszdnh4T1I0azdjbi9rSkFza3Fla2x4cDl4RWJlME5DZFdlaTZQai9UQlVvRFl4WnRXbWlEeXkxcVdiSEV3TEF4c0tKVmFxRjJkS2FjdnZ2NCtweUM4ajJkeVQvM05kV1NLK2Z0S2xpalVYMmk0UFpWSVVCQzhYd1dGaGZmYnhGLzNOYmk0Ykg0aXRTTlpibDZWYytzRkwxWlhseVhlRE5qTStGNDBnbGdXemRmbW10TmpTVzZHOGVmMWVIMnZvMUVvem8vN0gzM3VGeFhkZTU5M3VtWVdhQUtlaTlneUFKZ0VWaUZVV0tvaVNxVUpJbFdWWmM1Q1NPSFpkWXNWemlGS2M3dms3dTljMk5FaWV4ZlQ4bnVVNGNOeFdidHRVb1VZVVNSWW9pSlhhQ0JiMzNQaGhnNnZmSE8wZm5UQVZJZ2cxY3YrZkJBMkxLbVhNT2lMWDNmdmRhNzNxMWNRejdtaWJ3eFR1TDhSY2ZxSVE5VFhvblhTbEV5QkVFNFpKZ00zSGlQdTNuQkgxZkIzZGFPOGE1NndkdzR1MFBhb3NZdlRmQWJKQUxIcmVWWCtyaVIrLzFBQUJieWpXUG5HSm40cEtsa3dQY2laejJjeUx0RDJxTEg2c0p1SDhwejA4OUR6WGxmU0VXTSs5RVJLb05KYndQNnU0NHdBbno1bkxBbFFhTXovTDh5MXpBbnJiejI4RVdCT0h5RUp0eHQxQ28yVEtqS1V5Q2ovZFRBRmFwenVKWElzWm1HRytXWk1mN2Z4bVVTSWxTSk1hRXdsckprb3JkekV6Q0pkbjhNaWpBcXkzeEpzS3BHSnBtQm1VZ1JORWxMY21NVTFFb2FLc2l4ZXV0bXBoaE1mTGV6QVFvTW9UQ2pOMnJDNWxsb2hybGI2OW1oazdYQkVVSXRUeHBTVGJ2a1RvV3hZb2c2bWNBOUJOS1pqUU1jRk9oT0thcmxFR2grSzR2eTRxMTJDaHk4RE4yUk1hVnJnbG1kMlpZS0FLcFdDTmpacTdPaEhqR0h5M0NHWlI0TWNtZ3hJdEppVVNwbzMwY2E3YlhjQVBqdGRiNC84K0t3bnQvYXBDL3Q1dkxlTTlrYzBDNFZ2QUh3empXT1lXdjcyekQ4MGVIMzQ5WjduUUxOaXpKd1llM1ZDTERhazU5RU9GOURBWUZKVGwyL09raksvSHpmZTE0Njh3QVJxZDg4UHBEK044dmRPRnd1d2RmZjZnQ041Um53SkpzSjBLNFpJaVFJd2pDSmNGbFpScTVPcitkbU9VRTNLdXI0emNhem05aFlGUzRpNnhIVVhnY2s0SFBHOEFKY2pDa2ZWWWdsSHFDbm95RldNd2tZbHRsOU83NmJaRlNBblhCdFMyU2x1OFBzU3hCRUlURlM1YU5Ja1gzUkdMalg1VlFUTVpmS2s4WHRRTmVUUUpoKzhZaStvMEJqSTFxL09uV2xSeU5lSUdmbjJKTTJsNU5vVHhWSjZwa3FLVTV6eWNRVUFCMk5ieWhDTEFZbUtrSVJNZlhwVGtVSGRUajFHWlRtQWNZNzFVUlJsRTRCbGlNMGNMVnNYNStxZjQ1aVZBM0VMTG44RHk2ME5JcTFaOUc5YVU1RXJuT2NuZmlyQzU5MlZ2SE9BVVlGYnVaNWNSNlRBWm0ydWpML0ZUaFNvL05wSDEvcjVmQ21jTVNmYjhNRVFOc2RmTmtiSWFpa0FnNXdyWEEwS1FmLzdhbkI5OSt1UnU5NDVvQ1dsL214bjFyUzNCalZVNmMwQ3JNand5ckdiKzVyUVlyS3pQeDNLRXVIR3NmUlRBVXhxNFRJempXT1lYZnU2MEluNzYxQ0FYUzJlcXlJa0tPSUFpWGhFd2JNQjZ6S1BIR21EU2FEZk9yd1ZmQU51T1pOdTYyNmtrekFlblpuQkNyZ3M2MlNrNUF6NmZqU3lJV2FqR2pZakh4UEkvMGFqdWhCb1dMbGRiUmVCTkxRUkFXTnpWWkxBM3RtNG8yN3IxVWhKSGFaK3VCWmRxL2cyRmdVd2tGZVZVOFdTak1CbWJWbExxWTRkZzRHRitXYWpIeS9vUkJRV05xTmpyK2w3aTB6QnVqZ1FMVkRaSE1va1RsYThuSXNsSFV5RW1uT0pSTXFMZVlFbmZoc3B1akgwK1AyZXlmRGZMYVZ1UlRsRkhId1pNRDUzZGZ4MmFBZDN0WThxc25VV21WSzQzbFhDclZXZlFRR3ZSUWtLcks1UGNOcGRHWlBLWklxYkwrZCtFTkpDN2ZFNFNyaWRiQkdYem9YMDdnV0tmbi9ZNVVacU9DajIydHd2YVZSVENiRENMaVhDU0tBcXlxeUVKZHFSdXZuZWpEZjczYUJIOHdqTjV4SC83bWwrMTQrdUFnZnY3NENsVG5pZS9RNVVLRUhFRVFMZ21uQjVrOW81OU1iaW1QYnJscU0zR1NmbmNrNWR4azRIdnVYZ0swamdBelFVN1dNMjJjWEI3dG96K0ZIcjNaY1prTHFNdUxuM1RhVE1ETjVjRCtHRFBQK1hDeGk1bmNkSm9oNTZWelo5TnBvY0NrN3BZdXlXYTYvdkYrMmZVVWhNWENJL1hSUHc5T3MyUkl4UkxwcHBlYnpyaVd6S3hkajVweG9oSmJNalVYUm9XWmltWURjTi9TNk9kVWszazlhNHNZdjkvcG91ZUtJNDFpODdsaHpBdG5XblE3ZEQzWmRoN3pRQmRqcXl1QlFGTG9ZQ1pub214OUJZejdhcWxxc3RLcStWRG9vRGhTNmVhL2syVnZsanExVENZVmcwSkJLbFZwRmNCdWkxTVIzN2NNQzhlQ1VTL3ZhU3FtZk56c2NGdDV6YU5lSURObWpXUTBjRnlOZlZ4OXJUZkF6enZjeTgySUNqZUZIWmMxMms4dXcwSlJLRkhta1NCY3JReE0rUEhEdC9ydzF6dmJNQlhaSVRNb0NwWVZPL0dobXl2UVVIYUJabVpDUWhSRmdjVmt4RjJyaTFHUm00RW4zMnBEWStjWUFxRXdqblY1VVBlMUEvanJoeXJ3aWMyRktIUkxkczZsUm9RY1FSQXVDV0hFQ3hPbmg2SW41UnRMdUtnNE14WmZVdUJPWTZyNGJJQlpNR3FiMUZSbXh3YUZ2Z214RkR1NVVGQjlaeFNkRDRHNk1NcTBhV1ZiK2dYU3hTNW0xaGR6UjlZZkF2ckg2Smx6UjdXMkM2cCsxcjIxOGUrZG1JMXZEeXNJd3RYUHk4M1JQK3N6RDFYVDlHQ0lwc094M2VtU1VaL0hMejJUODN6djhseDZnNm1aZ0NhRDVuM2l0Z0kzbFVhL1BzM0ljaVNBZ3RPa2orZDVQaG1KbThvU213UHIyVkNTL0xsZFRjeFVXbGNjLzV6WnlMSGhRa2d6QWczNXpHNVJQZGdPZFBIM1VwdWRXTWdabkdhM3E0NllqbUtKU3FzeUxORmxUc1ZPbXViUEJvRVAxbkg4Nlo3Z0dMS3RNcmtmbXRsQXY3UUJEemRCWWdVdDFWc0kwRXFyRW5VT096V29iVUs0MGlnOHpRYUIvUFRvck5rY084ZnRZcWNJT2NMVlR6Z003RGs5aHI5L29ST3ZObzYrMzVIS25XN0J2V3RLY1BQeVBPbElkWWxaV3V6Q1kvY3N3NzdUQTNqMlVDZEdwbnp3QmNQNCtzNDI3RGs5anEvZVU0cmI2eklsRStvU0lrS09JQWlYalVGZHVudU9uUlBSem5HS0tJMkQwYS90bndJYWh6aXhWdHVWQTl5QnRadTFpYlBlN05ocWlqYVBWQ2x4MFdCWkZaYk1CczJIUUIxZ1Z1WnJrMkJWS0ZxSXhjekx6ZnpjRFNYYThkOXE1K2V1THdFQ1Fmb1ZxR3d1NTMwNk01UzhuYThnQ0ZjM3FieHVWaFZ3VWI2N2VmN3RuWU5oZXIwMDZ6SjNLdHpzTEpRTWc4SXNqZzBsRkQ0R1BTeFBVdkVGTmNQNVdHYUQ5QVB6K0MrODVETlZPVTVCQm1QM002Y3VMTTdaVEJUak15TytOaGtXaWhsTHN2bGNNb0hMYmFXQnIvcjdxYy9qV0RJeHkzdGJtMDF6WXJWRnVjbEFNV29rMHJrcE51dEYvZXpZeDg4Tjg3SFpJRERtWmNibHBJL1pSMU0rWHJQYU92MlhqWWs3VlgxSWw5VVZtNGxxTWJMcllTakV6SnJoYVhhQTNOK1J1UE9YZXUxYnlpbnF1TkxpeThTcXNvQ3pRL3cvcGI4SGduQzE0ZldGOEszbk8vQ3ZyM1JqYU5LUE1JQy9lcUFDZHFzSmZwTUROUVhPbEIycFVwVlE1cVpUSko2WVRmeThTbzZkOFNmUnBwN0pRR0gxN0hEcStIbGJGZi9tWXNYald5b1lqN29uR01Qbkd5S2RhZnpzK2M1UjA0eUpNd2dUa2V3NnNoeHAyTEdtQkhWbGJ2elhhMDA0MVRtTzJVQVlMNTBZd1RzdEUvak1yVVg0aXdmS2taNW1USHdBNGFJUUlVY1FoQ3ZDaW53T1hvMER3RjFMdUdPcEg4eVNUZTV6N015UWFSdmp6L3FYelFUNFpUWm91NXcyRTkrekwxSlc1ZlVEN1dOYU55bTFhOVdlTm0xeWYyT2tJOHBDTEdZU2xVdDVBelM2ekxWSGwxa1ZPN2dvVU5zQkM0S3crQ2h4Y2tGZjRveC96aGRNdklCK05VRm1YdE5JNnBLc29rZ1owRXlBWlYyM1ZURXJVa1hOQWxRaUpWZXhESHNwQm1YWkdIT3o3UlNlOVozM0xoZnBaaTVvVk55UkJaVGE1V3QxSWUvYjBEVExvMkpiZ0JzVXh2cmJxcmhBT3RySHpKTWloM1p2cC8wY1YyNHNBb2FiR1A4emJjRG1zdVRuWlZDQWxRWEpqYWRiUnZsWit2dWVab3gwVDd6QXpvVEZEaHBFOTB5d1hPcnVKYnoyOWpGZ1N3WFFNc0tORWYxQ1ZmWElhUnprZlZ0Vm9Ka2ZBL3kvbUdsbHEvcFFXUE50a3MwRTRXckM1dy9oYlA4MC91bWxicnh4Wmd6cGFVWU1UZnB4MHhJMy91S0JDaHpvREdMQ3B3a0d2bUI4WjdiVkJZd2ZiN1lsRm5OVzVERUw3c1FjcGZSR0EvK21qRXIwM3pmQVRuWkZqbmcvcTFqU3pmRU5QQUNLcnBiSVJ1S1NiT0N0RHNBemorekx5a3krYjZSNzd0Y0N3STdheEtXcmlYajZwRGJmTG5MRVpsTXFBQno0ZzF0dlFDQVVSakFVamdxS1JvT0NVQ2dzN2Q0dkFTTGtDSUp3MlZtV3d3bnlPMTBVU1U0UE1uM2U2K2ZpSVJWNTZmRzdEZlY1TEIxUTZaclEydEtXdTduanJMWThIL1lDdzNNTWN2b01tVXUxbU9tZjR1Qy9zWlFDVXZjRWQ1UVA5eVlYY2RSV3ZIT1JJV1hKZ25CVllveDBWOHEwSlM0WkdwdlJoQndGMGQzdDVzSnNpRjYwREhpNGNEODV3S3hHbTVtTC96QW9Kci9lbXR5WEs5TktRY050WmZ5Ym1LVkkwai9GejFFeEtkcG42OFVNdGFYNVFyRXlZc0RyRFRDYng2Z3dhMUhOYUtyUDQ3alFNMGtSSjFiSUtjamdkYnpiUTdIR2xjYjdmM29vZXN3NTNoL0pGcXFnb0Q3b1lRdjFaQ1FxcllvbHk4YTRuV1hqbDkzTSsvbnVlWTRoZWVtOHpuUUx4NG51bUYzODNpbmdsV1ptZXRaa1U5anBIT2Q5Q1lXQi9aM2FlZW8zTzdJaS94ZFBEbERNYWh6a3VMbXBqTmNtWW81d05SQU1oYUVZRkN3dlNzZS8vT1lTQkVKaGRJLzY4SnYvMW9Rbkg2dERJQVNzTHRKVUVhdUpvdVd4L3Vqam5CdW1vTHVwakFKSjNQOXZKWFVHak5uQVdPcjFNK09tTG8reFVZMmxXVFptUzc3WHk1ampUS01JbzhaRGkzRnVQMFNEd25qYU0wbGo4dHVydU9rMzZ1WDdrODN4M0ZabUUyVWw2Y0RuOWNjM0hYbXpmZTc0ZFh0VjlHT0RubWpQSU9HVnFnQUFJQUJKUkVGVXQvZFJnQlY1Q2pJc3dKODgwNEczejJycFNwbnBKankwSmdjUHI4MUZubE1tcVF1RkNEbUNJRnhXYXJPWmpYTzRWL096T1RuQXdlTFdTajZlYkJjajA4b0pzVUdKSGd4VG1ZVldabExZdVpDNTZLVmN6TXdFdUdob0dRRzJWbktYS0JUbTVDUFpRRC9YN3JDS1FaSEp0eUJjYWxwRzU5NXhqU1VZQnA0Nk9iL1htZ3p4RStoVXFONHJLcjRnZDVVekxNeFlPVGVzQ1QzUDZrcDFzbXpNeUhGYnVUc2NDSEd5UCtxbFdETG8wZDRYYStLc3NpUEc0NnRwUkdzbnJwSnRBNnhtZmxaVkpqOW5QbkZxTmdnYzZ0WUVsMjJWRktsaXk5SU1DbmU0WGRiNDR6YU5VTmpvbXVEMWJpN245WjJJV2VUNWdzeEsyVnBKTDdOOUhhbkw1T1pEaFp1Zk9UUU5IQmtIaGlMM1V5MnRlampKUFZYM3JzMEdZRnNWQmFDbVlTNjhrcFhrZWZ6QWE2M2NNYS9Ob2ZIenNYNytIbFVoeVdabXVmSGhYallJdUxHSS8yL1VySUpnbU5lOXRSTFlXa0hCYWE0eUUwRzRsSnpyOCtLM3ZuOEtoOXM5T1B1L051QlQvMzRhZTgrTjQ2TmJxdkFmbjZtSDIyN0FjMmUxK1pZempiR3pkU3orV0I0L3NMZURjVVR0SktkSFFmSU1PNENpK0kxRldoWmpPTXlTUldOay9oY0s4Kzl6WlQ2Zk54bjROemswelgvdnFHV01TU1dlcUhNNFg1RFo0dXVLdVlFSU1HNnNUK0l0cHM1TEM1S1l2Wjhhb1BpazU4YkMxTm1CaVRKMi9LSDRFazZUZ1o2UStSbkF5UUVGdDY0c2dkbVNodSs5MUFSdlpFSzc1L1FZL3QrYmZmaXZUeS9Ic2lKNy9JR0Y4MGFFSEVFUUxndG1BenQzbERpNTQ2Y1hYc0xnd0xxeEZGaFR4RnI5OTdvQktNeUFDWWFZanI2aGxKazFSZ053VncxM1ZzMkdTQXZ5eUE2c29taTdHVllURnpHSDVwbG1Hc3RDTEdZNnh6bkFaZHU0dTZLQWs0eHNPd2Zid2d5V1dlenBacXI3c2x4bUYzV01jY0RWVDZEN3ArYlhVcjBtaXhNVVFSQ3VYZndoWUdlS2JKQlliazRpOGhaa01JNGs2N3EzcWtBVEZZYW02ZWtTUm5SbW9zcnU1dmpIRWhGYnpnQ3d2YmU2dVBHSDRuZktrNkhmK1hWWUtHakhub2ZIejNIaW5sckcvb014TWI5ZnQyaGFVMFRQbS8yZGlRWCtZUzgvYzNXQlZ2WjZNU1M2ajNwMm5VdDhIbW8zUjMrSTF6TTFPLzl5cko1SmZsbE5Xb2JuMGh5T3YvNFF4NWRBaUNiWFo0ZmlmeGVqTThDZVZvN0phNHNUbC9ZSndxVm1aTXFQbjd3OWdEOTZzZ1hUdmlCV2wyVWd4MkZHejBRSWYvYklLdHpUNEVSOW5vS2pmWnBmRnNENVQ5OFU1NDBXVzN5bTk2Z1gyTnVlV0tRMXpKR1JBOUFrUE5iUWZrczVqM2M4NW05SjczVVZDREVyc2k0dldzZ3h4eHFaZzNOWjlYSDlITFpuTXZHNFVKbkpXQjRNOFJ6YUVvaFlpV2dlVGUycDQweWoySk9LYkJ2bjU0RVF6eTh2QTBpM21QQ0J1a0o4WUhVV3Z2VGZqVGpSTVE1Zk1JeURyWk5ZOGVjSDhhMFBWK00zTitVang1SEEyRktZTnlMa0NJSndXVkFpdTZYdmRITm5OSlpRWkJld01wUGVNUzRiTzBZRlFzQjdQUndrdkg3ZzdTNE9WQldaVFArMkdDbDg2THVFQVBSQmVLOFhlTDJOSFVjdWhKbkF4UzltVmhmUWk4RWI0SFZuV0lEdE5keHA2WjNrWktKZlp3TGRQczdKZGtNZTM2TXV2anJIQWNNOGE1bUhwOW1wUkJDRWE1TzUvRzhTOFZaSDhtTzFqaWJQZm5rdFVZcDhFcElaNmM2SE0wUDhPaC96emxnbWZSUStZcnNUcWg1b1Q4OGoyK21OTnNiZlZPY3c0Z1ZlbmNkOWVlYlUzSzlKeHRCMDZ1d3MvYldNcGxob3ZaRENWRnBmcHJ1L00vNzUzYzNKTTQ1R1o5aFY3WHpiM0F2Q3hSSU9BN3VPRCtQYkwzZmp0ZE5qbUlrb21CL2RXSUJ6QXo1ODhmNDZaR1drb1RLVHdzSEtBczFEUm0xV1lRM1F4OFZxNHQrcDJSQmRralRvU1J3RFRJWm8vNmhFR0pYNGpud21BK2VqYzNYcWF4cGh0cEJhTm1zeUFBOHVqMy9kK21JQU1lVzN1NW9TWjhlNXJaeHJuaGlneUxTNW5ILzdxYkorVkx6K2FCUDhXRko1NkZpTUZNMHFNem5HSE9sbFI4Qk1HOFhuUVE5d1UyVWE5djdwYXZ6dzdXRjg0eGRONkIzMUloQUs0MnRQdGVDRlk4TjRmSHNKZHF6TUV2K2NDMFNFSEVFUUxpbTlrMXJIamQzejJOVnJIZVdYK20rVnZxbm95YmYrZFNyNllVQjluYjVUVmlKbUF2TXZkVkE1bjhYTXZnU1Q1K2ZQcHQ3cDdacUlkQ3ZRWFZEM2VYUVFHWjI1dUFXWElBaUxpNFgwcTdsWUx2WlVZa1djOHlWUnR0RDF5bHhsWThFd0VKVDdKVnhHUExOQi9QMExuZmoyeTEwWTlRVGVqeGRMaTUzNHhDMUZNQmdNdUNVaWd1enZaTG1nMjZvSm1xc0xPSGM2M010c2t1M1ZmRHdubmQxS0ZZVkN6TE5uNHYxaUFKYVh6dFcxUENPTnBaZDZqQWFlUzVrcit2RlllV0xFeTc4N1YrUXpBcUZvTWRacVl0blh1ZUY0TVQvUnZMSEV5YXk1c1JtdGc5YVJYbVpvSHUrUEw2V0tKVm1aVmlyTUJwb3dMOGxtakhpN003N3pGc0Nzb080SmlqMi9kMHMyN201dzQvZis4eXgySGUzSGJDQ0UzU2RIOFU3TEJENjNyUWgvZW44Rm5EYnBiSFcraUpBakNNSTF3WHdtMzFmUldpVWw4MG5YRHlOMW5iWWdDSUlnQ01KaXdCOE00M1NQQjMvNHN4YThkR0xrL2ZtY3kyN0dIYXVLOE5qMmN1UmxHRERnWVFPTHBUbEExN2oyZmt0RUF6QWFLSjVZak5wakFEY1ZmOUhJckp4N2xpUStCN05CNnlxWEtuUHdRa3VyVkhZMzg5aHFxZW1VcmlOVmVpU2pKOXNPSE9tTGUrdjd1SzNNM0M1d01OdTcyRWtSNjJnZnZkdDhRWHJybEx0NVRvbXljenJHNmJzMW5pSWpKOTNDakhmOXZkaFFRcjlLTmNzeTFVYUJQOFRNOXE0SllGMnhFVC82N0hJODltTTdkaDN1eHJqSGgzRnZFTjk2dmhQdnRFemlpWS9WWUhtUkhaYjV0dElTUk1nUkJFRVFCRUVRQkVFUUxqK0RFMzc4WUc4Zi9tRlhKL3JHTlZYanhxb3M3RmhUZ29ieVRLd3NWQkFHU3hKUEQ3R2NSOFZ1QnU2TmVCU3FGVHFscnVpczV2bVFaYU1vNFl1WWtTY3J5emNhbU8yanh4UVJnV0lmVDBRWU5DUzNKRWhBY2FYeDh6TnQwUjVYS2lWT2RxWEx0VWRLUUZ2NC9mUVFzS1dNWnViN0l4a3lJMTU2Z20wcFovYlIyU0VLT3B0MGZtcno2WVFLYUo1ZDcvYndLd3dLYW9xaU5md0FLSmlOZXVOTHNvYW5XUnBtTVFJUDMxU09aY1V1UFA5dUZ3NDJEU0VNNExYVFk3anRmeDNCSDl4ZGl0L1pVb2hDdDNTMm1nOGk1QWlDSUFpQ0lBaUNJQWlYbFJOZEh2em0vOWVJeHA1cCtDTHQyTkxUVFBpZDIydXd0aVlITm9zUnVla0tYR25SWGZuMFRQbm1McTJhRHdVT2x1TjdmQlNDa2drNUdaYjRqb0pxYVZYcEhLVlZDbGhxVkp1VCtOZ2xUbWJLWk5tQTZxeDRrM3E3R1FpRjR0dUdUODZ5YVlpZWFUOWZsMlZqR2RTb2w0OGRpWGcvS2twODV2ZTZZdm9PSmJ2WEV6TmFodnoyYXMzclp5NG1mY0NMNTdTT2UzV2xMbFFWWk9CSTZ3aSsvOUpaVE0wRU1PSUo0T3M3Mi9EVEF3UDQ0V2Zxc0twc25pclRkWXdJT1lJZ0NJSWdDTUlGVTVmTG5ld3pRM08vMXFna1Q4WFBUUWRtQTNPM3U4NnhjOGY2WEFML0I1T0I1M04yT0g0M1c4OXRWZHloanZWMnVLV0Nadm5kRStkbnpPeE00MmVuNmdBakNBSVpuUERqUDkvcXc5ZDN0bUVxb2d5WURBcHFpNTM0K05acVZCYzRvRVJTYW9hbjJlaWlJQ1ArT0dhakpnNmNMd3JZU3Z4NFA0OVI3cVp3TXVVRE5wWHk4ZGhPY1ZNKzRQUWdqWVgxSkN1dFdsK3N4U0dyaVozaTNGYWEwNjh0aW42dHc4S1NxaE1EaklFcjhobWo5T2R3ZHBqeHlSWnA5clFrbXlLT1A4all0YThqT242YURYenRnUzd0TVZVQUtuRUNLd3ZwMjZnU0NQSDk4ekZLQmhqekU4VmhQZFZaUUVtc3dLVW9zRmxNdUdscEhnb3o3Zmp2UGMwNDFUa0dYekNNNDEwZWJQaWJkL0dYRDFUZ1U3Y1VJTjhsMlRuSkVDRkhFQllaZHkraEMvMmV0b3MvVm9tVDZ2eSt6dWoycmNLMXkvWnFwdTB1eFA4UFFSQ3Vmc3BjWEtBa28yTXN2ajJ2aWovSTNWZTdXU3RaVUFtRnVidnJUR003M1VQZDBSMWJmTUY0YjdQVkJZRGJCcnpabGxqTVdaRUhESGppRjBteEdBMzBsekFxTENuUWMwTWh5eFphUmhPL1Z5WGR6RVZnTEc0cjAvOHJNN2xJZXF0RDY0aVRpc3BNdm0ra2UrN1hDc0wxU2pBVXhwN1RZM2hpVnlkZVBqbUcyWWdLaysreVl2dnFJdHphVUFDblBYcmhIZ1pMZGhJSk9UWVRNMlMyVmZMbmRBc0ZHcmQxam81TEpocjkyczE4ZlUwV3Y3ZVBVY3lZOWpPdUhkWDUxR1JhR1JPN0ovaHZQV1lqaFpyWXg4OE5VMHhSaGQ0MEUvQktTMkt4dWo2UFdUTURIb3BYeTNQWkJlcHdUUGZVSWlkRm9GK2VwamZPb0ljQ1ZPTWdPMWE5MDgxT3B4WWo3OE5OcGNEK2p2aW1HU1ZPZms0c0svUHB2eFBMN2hhS1JucjhvY1NtMFhwOGMzaGNWdVJsNEl2MzFlR05rLzE0NlhBM2VzZThtQTJFOFBXZHJYano3QmkrZEdjSjdxalBoRkU2VzhVaFFvNGdDRWtKaFJta2s3V3RGYzRQczRHRDdvQm5mb2JIRjRQZHpNK0szU254aHk1ODkwb1FoR3VQS1IrRkNOWDBVbVZsQVR2LzFlWndzaDhNUjZmWkd4UXVXTjd1NG02ejNVd0JKUnptbU9BTnNCWDR1bUpPMU90MUUzK3JpYkhuV016dTlMbGhac0pzS3FOQUVqZTJLS2t6WU5UZFphK2ZPOU4xZWZUTVVCY0tXVGFnd2sxelRZUEN4WlBIcDRsR0Z1UGNpd3BEcE55Z1p4S295bVFKeFp2dFhHQlpqTkV0alBXNHJjd215cklsZnQ3cm4zdkJJd2lYazNBNGpLYW1KdGp0ZGhRWEY4Lzlob3RrZWphSWJ6M2ZnZS92NlVYdm1PLzl2L1VWWlc1OGJHc1ZLdk1jYzdhaFZuMW8xSmRsMmJqUjJEYkduNnN5QVNoQXl3aGoxcXFDNlBlcjc5dGFRZFBpM2MzOHU2N0xveENpem84YUJ5bjA5RXhTS0ZFQTNGcVovTHlNQm9vNEpjN0V6MC9NVXNEWmRTNXhqQ3Qyc2l6cmpYYitIQXdESi9vWlg0ZW1LY3lvbExrWW0yUGo1K2toeHJlSlNEZTZIYlhNMERrMUFHd29wWitPMnFsT25TTjYvTHduK21PZEdkTHVwNTVMT1c5MTJNellzYVlZZGFVdS9HeHZLOTVyR1lFdkdNYXU0eU00M0Q2RjM5bFNnRCs3dnh3WlZ1bHNwVWVFSEVFUWt0SXpDZlNjdWRKbnNYZ29jSEJRZnFYbDBnczV5M081b0lrVmNsNXZ2YlNmS3dqQzFjV0lsN3ZBcGE3b2RyWU4rVndNSE80RlByQU1lTGM3ZXNkMlk0blc2bnRYRTcvZld3c2M3S1lZRFhDUlpERUN6NTNSeEJKbkdzV1AxZ1FMQVkrZlBnN2JLbGsyY0RTbUs0dUMxTjM2U2wwc2hRaEdGbHZoTUVVbXZjQVVDR25kWUV3RzRMVldMb1JNQmk1czN1NU1YVGFnTG1yVXpNVjF4VUFnSXY3azJKTzM2elZIZHY4TEhJbWZQelV3ZHl0Z1FiaWNCSU5CdlBqaWkvakJEMzZBalJzMzR2Nzc3OGZxMWF2aGNybGd0VnJmTDIyNldHYjlJVFQyVHVPclAybkdLNDFNbFZNQVpHVlljTStOeGJoL1hkbWNBbzVLdVpzWktRRC9wdk15S0Zhb2Y5TjU2ZlIrNlpsTWJEeWNIOG5xNlJwbjdETVpLQ3lQejdDTVNhVmpuSUxKcGxMZ2pUWmdkSVpkcjVLUnJMUXFsa1RoTGN2R0RKdW1rZWpzOTdZeFppR3RLK2I5NmhobkptR2hRNWRWSFhOQU5SUFJhbUpNbWdrQXB3YUJyRWpzZWlrU3kxY1ZhSEZ4VXlrTmt0VVlQaHVNN3FTVkNyT0JXVkdwU0dUcW5BaEZVVkNaNzhBZlBiUUNMN3pYaFdjUGRXRmthaGI5RXo3OHorYzZzTy9jT0o1NGRBbnFpK3hJTTB0bkswQ0VIRUVRQkVFUXJoSUdCZ1l3T2pxS3BVdVhYdWxUV1pUWXpkcS85Y3VtS1I4UVU4MkFURnUwZjR6YlNrRm9LSktLWDUwRjFHWlRqTW5VWmFHc3lPZWlLczBJV0d6eFpWdWpYbUJ2dTdZenJNY3dSMFlPY09HdGZ3TWhvR2VDTys5NklTZDJQYUNBQzBIMThVTzZVcW1lU1dCbmdzVmNaU1lYUnNFUXp5SFJicllnWE0yOC9mYmJlUHZ0dDVHWGw0ZTZ1am8wTkRSZzllclZxS21wZ2NPUlJKMmNCNE1UZm56dnRXNTg1OVdlOXp0U0tRQTJMczNGUFRlV29MYklPVzhSSnhCaUNaRXFpRGJrOFc5T0ZaYjFwSnUxTGxSNnVpY29YalFPTWtadExtZGMyOXNjSDN2ZTZhWW9mV3NsY0tnbk9pdG1vY2kyc2VSMHhCc3ZiQU1VenJlWTJmSjdOZ0M0ck16dUdZeGM4MndReUU4SHVxMmF3RzFRR0ovOUlhMFU2a0NuVmtwYW0wMHhhRmNUZ0RDOWRlNnBwZmVPS1NMTXVDSWlXQmlNaDRiSWNXY0Ntc0FQc0EzODBpVEd6WG9tNXlrTUFZREJvR0RIbWhMVUZybnc0bnRkMk5zNGdEQ0FOODZPNDg3L2ZSU2Z2NjBJbjcrOUdBWGluU05DamlBc1ZseHB3T3BDR3FjRlFoeThqdlpwYWFOV0U0TnZvWU9UKzlrQTFmNlRBMXFLWmFtTHU3S3Z0VEo0MzdPRWsxUzlKOEZ0bFJ4WWZubGFlMStKa3pXNUx6VUI0N1AwSzFpU3pkY1pGVTY0ai9aRm0wS3EzajZuaDdnUWNLYng1OGJCK0VseFpTWUhvZ3dMVTlWUEQvSTZNbTNBc3lreWlBb2R6RlJ4cFhGd0dwdEpuYUhpU0dPNVFGNDZKL1hlQUFmeVV3UGE1Q0F2blNtNmV6dFl3NjJpM29NOWJaeGszRnVyTGFMVWJnZEgrcGd4bzE3N3FRRmV1OXZHQWJsN2dxOVJmMmNOZVR6L1h6UkdsMGZkVU1qNjdxZFBzdXhBYmNNSkFJOUVGakl2Ti9ONll6MlUxaFR4ZnI1NGpwT0ozSFFPL3AzandMRSszcWVsT2R6aFZxOUZ4YWdBRHl6bmVhcEdlZ1Vad0xJYy9pNE1DaWNjVFNNczRSQ0V1ZGkvZnorKy9PVXZZOTI2ZFhqa2tVZndvUTk5NkVxZjBxTEJZb3p1dEtMM2o1aWMxU2J1Nm1zekxCUmRWSW9jL1BzUGhia1FxM0JUMkZoWm9IbklwRVZtbGRZQUZ4NVdFL0RNS2NaUGZVblNvQ2V4WUdPYXgrNnVVWW4yNGxIZlp6SEdQeDVMMHdqdmdkcHB4V1FBSGx3ZS83cjF4UUJpS2sxMk5TWDJ0WEJiR1R0UERGQmsybHpPOFhLK1pxR0NjRFVRanFUQ0RRd01ZR0JnQUh2MzdvWGI3WWJENGNER2pSdHg3NzMzWXRteVplZVZwZk51MnlRZSs2K3pPTnJwd1V6RXNkZGxOK1BSclZWWVc1T0Q5RFRUZVIxUEw5UXFBTW9pNWFMNnNxQ1pBSVdIRGFVVVNacEhvbzh4SFpsWEFweFBXWXpBYXkySnl4NTlRWllqM1ZRMlA1K3NDOEhqWnh3OTFKM1l4aUFZWmtaUVpTYlE3K0dYL3ByT0RIR2VIdHVkeXhzQTN1dlI0cXcveEs5eU4yUDIyNTNhTmUxdVprdnpFaWV6RzFPSk0yOTNSZ3M1cWpkUEttcHpvdHZGendkRlVWQlQ2TUFuNzFpQzFWWForT0hyelJqeitEQTg1Y2UzbnUvQVN5ZEc4TzJQMTJKOTFZV0xqSXNCRVhJRVlSRmlNM0V5MlRyS05NdUNETllOVzAzMEpRRDRXTGFkcWFUZUFCWDlaVGswY29zMWp3UzRZenZsWTFxcStyelp3SFJOZ0NubjZpSS9QNE9ENVhoazB0dVFEd3hNQVUzREhDVHE4M2grTDV5TmR1TjNwckhieUhzOVBJK1ZCVXdwSFovVkZoUzEyZHo1N1Bkd0FETWFnR1c1UEpka25WQUFDaFEzbDFHZ2FCd0VMQVl0UFRjUm1WYnV3dmlDRklxOEFTRFh6c0V0MndhOGZwNW13ZTkwTWVWK1dRN0ZtY25aNkVXQkk0MkN6TkYrWUdxVzZjSTNGSEpoOUZaSDh1UEdNaHVnbjBOTk5uK242bnRUcGNrcUFEYVdVa2c2M011QnZqNVA4NkZvSDZQQVZPcUtGbktLblZ4VXFhbThWWmtVaG9hbUtkU0Z3bnpQMmlLS1dMRnROQVVoRnEvWGk5YldWclMydHVMSko1K0UwK25FbzQ4K2lvY2ZmaGdyVjY2RXcrR0ExVHJQZnFkQ0ZMNGc4R3VkMEswWE1JYW5HVE5VOHRJNVdkZFAySXVkRkpCWFJNcVc5bmR5eDl0dG5idjFiMDQ2Rnh1S3dwang3Sm5FQ3llekVYRE84ZXZOU0FQdWlGbTBxSzEveStaby9UdmlwYUR0aW54R0lLU2RPOEF4Y2xzbEJmYW1CQXZBV0VxY3dOcGlIbE10WXozU3k3SG1lTCtVVWduWEhxcWc0L2Y3TVRnNGlLR2hJYlMydHVJblAva0p5c3ZMOGVFUGZ4Z2JOMjVFZG5ZMmJEWWJqTWI0dXBueDZRQit1SzhQZi9KVUt6d1J4M09qUVVGVmdRT2YyVjZMc3R3TVhHelZWaGpBbnRib0dBVm84OU81eEFXQUhsNk5nL0dtN0hwbWcvTXJTWCt6ZmU3WHhQTHJlVm9YaE1MUjRvMStyanZpQlo0L0YvK2VaUFJOc2hTdFI3Zng2QS94UHVqdm1acVpxUDQ3MFdlLzBzS1Mxcm15S004TXphK2pZU3lLb2lEZGFzYm01Zm1veW5mZyt5K2Z3ZG51Q2N3R3dqalFNb2t0ZjNzWTMzeTRFcCs2cFJDWjZkZW5wSEY5WHJVZ0xISWNhUlFhMU5UTHpuRUcyOHBNVHJySFpoakU5Wmt1dlpNVU80cWRpWVVjOVRYVldWcjcySUlNTGc2bWZQeTN1c2pQUzQvT1RubTlOZHBnTWhEaVJEZmJIcFBpYnVRQW93NnFoN3JwM1ZEbW9wQmpObEFVR3ZSd2gwS2xlNExaUXFtRW5JSU1Ea1pIZXJYanQ2ZElrNzJoaUlQbjdtYnQ5WjNqbk15dnlBZUtIZkVkQUZJeE9BMVlJeGs1dzlQeExXclRqTHhQcXVEU09zcEZSVU9lOWp1YkQ4RXc3Mmx4UktTYTc2N3dxUUZ0WUQ4MVNBR216SzIxOEZXUHFkL2hLWFB6ZkFjOS9OMnNLdUIxNmljOWJXTXNlMWlXUXlFdjFZUkpFR0tabUpqQWQ3LzdYWHozdTk5RmZYMDkxcTVkaTAyYk51R21tMjdDc21YTFlEYWI1ejZJTUNlRDB4UmhyU2IrdlJjNk9PRlhLY2hnSEJyd1VHUmZta09QQ1JYVkE4Rm9ZSnkxR0tOOUVYb25tVW1ZWVdHc1RvVFp3RGlZWlV2ZDl2dENTNnRVZGtkS0tGUWZIYjNJblI3SjZNbTJVM0JQaHR2SzJGemdvTkJkN0tTSWRiU1B3cll2eUUwSTFXQmFzbk5TTXpNNWlrT0hMbUNsSjF3VW9WQUl2YjFhU3lSOWRvd3E2SVIxcGxYdDdlMzQxcmUraGZUMGREUTBOR0RwMHFXb3JxN0crdlhya1plWGgwQXdqSmRPak9BN3IvVGc1Wk0wcXdXQTRtdzd0cThxeEswTmhiQ25MZHpTTTFiRU9WOUM0ZXR2VGpJYmpCWnhraEZHYXI4eTRQSTFRbEVVL2gvNjQ0ZFc0STFUL1hqNWFBODZCajN3QlVMNHMyZGE4Y3FwVVh4dVd4SHVXNTE5M1hXMkVpRkhFQlloa3o1TnhGRnBINDhXY2xSaHhaSEduZE1NQzlQTWpTbjh3M29tV1NLVmswNUR0a0lISjZoZWY2UXRaTC9XQ3ZLSWJxRHdCWG5zVEJ1ZlU3dDYyR0xXWU9NejBZUHFiS1I5cmZxNjNIU0tTTEU3cFRNQitqQWtNclpUVVlXVERhWEF5ZjdrN1hZQkxrQ3liZnljMkVHK1paUkNUbDdHK1FrNWN6RXhHNTgxMHo5MS9rTE9oUkxiWG41aWx2ZGJwVzBVS016Z2RmZFA4UjdscDJ0Wk5ua1ovQjNIbWlzRFdsWllibnEwNTRZZ25BOG5UNTdFeVpNbjhmVFRUeU1uSndmTGxpM0RvNDgraXUzYnQxL3BVN3Ntc0JpQmgzUlpPTEdsVlJPekZIQ2JSeWhNN05YdE1OZmxjV0kvTkUyaFg1OG1iOWVWYzZwejZGSVh6bnZIWGZXejhBV1o0VG1Zb0MwdXdERXFOdGFiREZvM203a0lnMlZpaVF3NFhXbjgvRXliSm1ycEtYRXljeW5YempIbDFSWitQejBFYkNualdMVy9rM0Z1eEV0eGJFczVzNC9PRGttR1RqS0dPMDdoVDMvNG4xZjZOSzVMcHFjVC82R3BvbzVleUZILzdmRjRjT0RBQVJ3NGNBQjJ1eDA1T1Rtb3E2dEQ1b3A3OEU4SGpPZ2ExZEtOYjZqTXdxTmJxMUdTYlorM0Y0NGdKTUtXWnNLZHE0dFFYK2JHejk1c3hZRnpRL0FGUW5neDB0bnFlNzlkaXdmWHpNT3daeEVoUW80Z0xFSzhDWFlwZkpFSnFib1pVcERCU2FiTnJKVk5LVXA4S3JxZVFROVRNUE1qUWs1K0JsUG9ad0xNdUxDYXVLQVBoclhzSEtQQzFQTlNGM2R5SjMzYXVjUitWcUsyMk1FUWp3Rm9nazZpV3VYZ0hDMjF1eWRvR2xlZngvYTNxckhjVUlJNWpEVnlqeEtsMHZ1QzNJV1lyd3YvZkVuVUVsZmQ3VmpBRGF5RWhCR2Z6UlFJYVlzeWdDS2VMd2lVT3ZtN1Z4ZHFhbFpYcW51bS9uOWN5SHRXVzFPRnRyYnpyRzhURmdVZWp3Y2Vqd2Z0N2UzWXRXc1hqRVlqR2g3NUt5QnR5NVUrdGFzYVh6QzZqR2hIYmZUejdXUEFraXorZXlhZ3hjWWNPd1dPN2lRaTdKUnY3dEtxK1ZEZzRCamo4VEcrSkJOeU1pelJYaitBVmxwVk9rZHBsUUlLOGJWSjV2b2xUbnJGWmRtWWZScGJEbW8zQTZFUXl5ajBXVGFUcy9SSjB6UHQ1K3V5Yk53QUdVMnhlWEM5RXc2SE1EdWJ3SUJJdU9RRUFnbHFITStEWURDSTZlbHBlRHdlREEwRzBET21IUzhydzRMZnVyVWErWmsyRVhHRUJVRlJGQlJtMnZDUkxWVm82cHZFY01UTmVYRFNoMk9kVXlMa0NJSnc3Wk5vdkZSRkVLK2ZLZXczbFRJcjVlVm1UVVRZVk1aTWxHU0VvUWs0bWVOY21QZE5VVVR4aC9oNGZqcjljRlJoWUhrdUo5ZjZtbHlYbGRrODU4dHNqQmlseHpxUGFOWTJ4c1ZLb1lPVCtWc3JhV0E1R1ROL1ZPOUhJdE5OaTVIM1Z6MFg5VHFOTWZmY2RKNmRFUk4xVWxUTlFWVWhSUDlaK3FuWCtYN1doUkFLczdTczFBVzgyOE55dDU1SmJjZGF2V2QyRXhEcmE2eiszNHZkM2I0WXZ2RDRGekU1Y1FsYVNBaFhsQk1uVHVEcHA1K2UxMnRkTGhjMmJOaUFob1lHRE9ldHh0RVVyV0VGa2tnd1Zta2FvY0N4TXAvZFdsU0dwNEczdXlKWmx6R1lqWWtGK1BtZ2dLM0VqL2Z6R09WdUNpZFRQcmJEUGQ0ZjdhRUc4TG5UZ3pRVzFwT3N0R3A5c1JaM3JDYU9lMjRydmNQV0ZrVy8xbUZoU2RXSkFXWW5yY2huRm8zK0hNNE9NMk5KaldsTHNqbCsrSVBzL0xLdkk5cjd6R3pnYTFVemVDRXhPZVVOK096LytUOVgralN1TzBLaEVIYnUzSWxkdTNiRlBSZE9VRmVqWnVub1M2dXFxcXF3WWNNRzVPWGxvWG5BaXlFMDQ5ZEhodUVQaGpFeTVjUGZQSGtVOTYwcnhiYUdBbVRFcG1GZlFlcnpnSmFSZUsrdWxmbmNjRnlJQmcxV0UrZEt6U09wUy84QnprdXpiQmZ2SlZpWHk4K2FqeWVOYXBPUWlOeDB6bk1UR2J4ZlNieXpBYngrb2cvUEh1cDhYOFF4R3hYYzJaQ0ZENjdOdmNKbmQva1JJVWNRRmlGdUt3VUgvYVM5ek0zRitJQkhLNlBxR05OZVkxQm84RHNYUFpPY0hKZTV1WHVxVHVJSHByVHltVk82Z2NodHBSQ2hyOG5Oc1YvWWRhbmxSWldaMGJ1aHpqU213czlIS0FoRHl5N1pWc21CTTFiSW1RbXd6S3ZNVGI4WS9YMnNjUE83ZWoycXlPS3lScGNONmN1U1ZFS1JlNVZJZUhGWnVaRFF0MmlzeWRKK1o0Q1c3ZUt5YW84cFNIdy9neUV0dzJxaHlwamJ4cmhMWGU3bVorck4vUVlqM1d4cXN1Tkx6aXJkL0g4U1crNTNNWHpoOFMvQ0hLdWVDZGM4UC8zcFQrY1VjbGFzV0lHUGZ2U2p1T3V1dTFCYVdncTMyNDN2dk5hUC8yeHN1a3huZWUzaXRyS2MxbUhoSkg1TkVjZUtkN3JwaVRNMVN3UDdNVjMyU0JqMHVFa2s1S2lsdE5zcStYTzZoVEhIYlUwdE1GdE13UG9TWnJnb1lLeFRRS0U5RUdLc3E4dUxic2ViYWFWZzBqMFJQMWFaalZ3MHhUNSticGhpaWpNdFVuNWxva0Zub3NWSmZSNnpaZ1k4RksrVzU5S1Q3WEJ2OU91S25CU0Jmbm1hSldpREhxMXp5K1p5M3N2T3lFYUgyMHJ4YUgvSHdwYmlMamFzamt5c1hWdHhwVS9qdWlNUUNPREFnUVB2LzV4S3ZBR0FrcElTZlBDREg4UzZkZXRRVUZBQXA5TUprMGxiU2xibjJmRHZuMXFHWjQ4TTQydFB0YUJyZEJhakhoOSsrbVlyOXAvdXgyOXRxOEd5RXZlbHZhaDVVSlZKbjYvTzhYZ2hKOHQrL21XaHliQ2I2UjNZTVE0RTU1aWZwaGtwd2d4NFVzK1Y3T2I0emRwUW1ESFRtY2E0ZWFnN3VvT2ZMeGh2RTdDNmdCMVMzMnhMTE9hc3lPTzV4SXJtVjVKenZlUDR3U3ROYUJ2MHdCOVpmQlM2TFBqR0J5dnh3Ylc1MTZYaDhmVjN4WUp3SGFBb3dPWXltalg2Z2hRZnlsMmNhTTRFdU1nUGhDaUlERTF6QXQyUXo0bnVYT1psZlpPYzJGZTRvM2NPZXFlNGsyRXhSaHNkajgxd3A2SGN6V3llSER1d05EdnVzUE5peWtjeG9jTE5EaWhkRXh6VWxtVHpPZjNDb2NUSmhjSTdYWHpkeW56ZWw2RnBYbU4xRmdjdnRYeEFMUUZRVFRRUDkzS0g5WTVxN3NyT0JIanVOZGxjYk9qRmxhRnBMa1JHdlJTQWlwMkpNNDdVeGNQU0hDNHVwdjNBYUVTYzhvZUFyWlhjYmZZRktTTFVWcjdOQUFBZ0FFbEVRVlRsUmp4b1ZJR3FkNUt2VzFVQUhPb0JBa0d0ZldhaXoxTEF6bC9EMHp6SGk4MklHZkZTOUtyTDQrUkg3NnN6RStDNXJzaG5PL2IyTWExclZhR0Q1eHU3dXk0SWMyRXdHT0IwT3BHUmtZRVBmT0FEK1BqSFA0NTE2OVpGTFI2RTFLd3VBQ295R1hOdXFlRGZzQ3BldDQ1U2xQYjQyTG5PWnViZjlaWUs0SlhtK01tLzZrT2pMaVN5Ykh5OVdtSlpsUWxBNFU2M3VvalJvNzV2YXdWajVlNW14cSs2UEk1UDZzWkE0eURqZDg4a0Z6VUttRUdaREtPQklrNUprazZFRTdNVWNIYWRTeXhzRnpzWnE5NklpTlBCTUhDaW40YkZROU5jOEttVXVTZ214WTZWcDRjWXV5Y2lNWDFITFROMFRnM1FtKzNWbGt2dmRTWUlGNHNxM0JpTlJ0anRkdGhzTm16YXRBa1BQZlFRNnV2cjUyd1g3cmFiOFBGTitiaXhQQU9mL245bjhGNzdGR2I4SVRUMVRlR2JUeC9EaHpkWDR0YUdBbVJZcjB4MmpzTUNyQzZrU0R3eHl4aW05NFpVcytqMG0zRnFaa3A5WHVJWU16Wno4VmwzYldPY1gyYmJVZ3M1VzhvWlc0MEdtaEdId3B5UDdUckhlT1VMOGp4VnJDWUsyc2Rpc2hYUERkTm1ZRk1aTXhUajV2N0t3bTBDWGl6VHN3SHNiZXpIajk5b3dYUmtVRW96S2FndlRzZS9mM0lwVnBkZnZ5M0laU1lrQ0l1UTRXbE9ORGVXY3NmVTQ2Y3dvWm9FKzBQQXZrNktHM2ZWY0JBNE04UkJJVkVtaVo3WklCZjAyYmJvTEp1K1NlNVNqczlFNzNBMERuSWdXVjNBZ2FkL0NuaTNGN2lsL01LdTdkMUlhL0l5TjNkRzFRRjBlYTVXaXFTaTMxd2FuZUZ1UjNVV2hhd1JiNlIxWlNRREpuYkFHcHdHWG0wRjZpTzdza2FGWXRIUnZuaEQzN2M3V1NLd3JwaGlVZGM0Y0t5UFArdVo5REgxdnphSGk1UkRQWnFRTXo3RDlOdUdmQ0RkSFA4N0F6aEE3MjNuNG1oYnBEVjYwekIvbnpWWjBaL1ZOc2J1WVZXWkZORmViVG12MjV5VXRrZ3I4bE9EOGZmczlCRFB1emFiOXdPZ3VMVzNuVUtmSU15WC9QeDhyRjI3RnBzM2I4YUdEUnV3YXRVcVpHVmx6ZjFHSVk3T2NZNEg0N1BSMllVbExzWkJyNS94S01jT3ZOWktVZmEyS2dvbit6dWpzMWZLSTNFWG9IQ2VsMEd4UXMyUXpFdG5ET3laVEd3OG5CL0o2dWthWjN3ekdiaVFHSitoWUs3U01VN0JaRk1wT3hTT3pyRHJWVEtTbFZiRmttaGhrbVhqMk5VMEVpMU90NDB4QzJsZE1ZV2tqbkhHNWtJSHNLY3Q4UUZiSXVVWVZoTVhoRE1CeHNvc08rL3hTNUkwSmx5bHFBSk5YbDRlNnVycTBORFFnTldyVjZPbXBnWU94L2t2bE91SzA3SHJxNnZ3M1ZkNzhIOWY2MGJMNEF4bS9TSDhhRThMR2p2SGNlL2FFdFFXT1dGSzFXRmpnWEZZdUdIV09hNjE4MTZSVDJGRXhXWm1acUUrdTY5L0NuaXZGK2laWUt6U1U1WEZUTDgwWS95bVducmt1Qm1XU0ZjK0UyTlZNaFNGYzlubFNTcUUzdXFnSFFCQWcvbUQzZHFtNHFvQ2Z2NXpaN1FNRzJjYS9jUmF4K0tQNWZIVDEydGJKZS9CMFpndWZRcm03bHAxcVFtR1FqalhPNGtYM3UzQ08rZUdFQXlGb1FBb3o3SGkwMXNMOFlVN1N1Q3dMYkJoNVRXR0NEbUNzTWg0VVdkbUdkdmRTVS8vRlBCeXpPSzZPZWIxbmVQUk81RXFpVVFCYndCNDZtVDg0OEV3Qll0RFBkR1B4NzVXZjk1Nm5qc2IvWE1vekV5ajJOYXdHWlpvaytldWllaFNwMlRYb3JLN09mNnhVVys4Z1dVaXZBRU9zTEcwSlJnOFR3OGxiKzhlZTg2SkdKcm16bklzc2VuL29UQjlMV0tKdmMvdjl2QXJsb1BkL0lvbDFma0RjOTluUVVoRlRVME5ubmppQ2R4enp6M0l5Y2xCZHZZRnB1OEo3NU9xUTE5dU9vV0tVSmppaE5vNTc0MDJDamwzVkZPSUhZaVUwWjRjMERvdk5lUlJGQjlJc0h1Y2J0YTZVT25wbnFCNDB6akloYy9tY2k1dTlqYkhpeXp2ZEhNUmNtc2x4NDlMRVZleWJkeGtVTTN2WXpuWURXd3hBeHRLdUN2dnNsTFlVbmZNWjRQMGhldTJhb2I3Qm9VYkJ2NlFsdmwwb0pQbFg0Snd0YkoyN1ZyY2RkZGR1T0dHRzVDVmxRV0h3d0dENGVKRWxneXJFVisrcXdTM0xuUGhMMzdlaGwwblJoQU1oWEd3YVFpdEE1TzRZMVVSN2x0VEFzdGwrT05JTndQYnFqaXZPOVN0YlpqdGllbVpjR3NsWDVNb0hvek44TzlZSC9PcUk5bllkWG54RzJvcWF1bnBjMmNvanV0Wlg4SnM2L25FTnpXanoyMWwzRlF6eXF1enVJRjJ0STgyQXlvcjhpbXlweGtCaXkxK0xGQTMyaEpsQ2hxdWNFWk9JQmpDOCs5MjRhVWpQUmpRcVdlM0xIWGhmejVTalRXVkRpbXZod2c1Z2lCY1l5VHlmQ2x5VU1ocFdRQnpPa0VRcmh4cjE2N0YyclZyci9ScFhEZFlUWnpFdjlNVlhmbzRFd0JlYStIaVJGMHM2TE5kRkRBcjhuaC9kRXIrVElDN3lodEtLWkxFYmc1TSt5bmlBRnBaNkdzdDhUNFZBTE9IWG0wQmJpcEwzS2x3SWZCRS9Oc09kU2N1S3c2R0tXcFZaZ0w5SG43cHIrbk1FTXQ4WTd0emVRUEFlejNhV09VUFNXbXBjUFZoTkJxeFk4Y09QUHp3d3lncUtwcjdEUmVBeWFoZ1haVVRMMzUxSmI3M2FqZSs4YXQyOUkzN01UUXhpNSsrMllwM3pnN2hzUjFMVVpocHY2VFpPYk5CWnRTODE4dTRjMGMxeGVMK21BMU5KZktWeUlmR1pXVkd6V3V0Rkg4QmVvNjFqUExZSjJJeUFqTnRMQ045NFJ5RllIOEltRTZRblR3MkUrMzdPQmRGRG9wSm9URFB0Y0xOT0xheVFJdVZhbE1RYTRCQ3ROVUVQSE9LbVVINjdQVkJUMkxCeG1SSTNQRGpVaE1JaHRBMzVzVjNYamlOcG9oUGd3SWczMm5Cbjl4YmlpL2VWWHI1VCtvcVJvUWNRUkN1S2JaV3NFUnBPT0oxazIxbitkREViUHlpUVJBRVFVak16am02Zk0wRzR6UDlWTUtJbEtiNm94OVhzL1ZVc1NZVngvcjV1bGdmbnRoemVMMTE3bVBwamRmbnk2L1B6Tzkxb1hEMDJLTFBNaHJ4QXM4bnlTWVZoS3NkUlZGUVhWMDk5d3NYaU0vY1dvU0drZ3o4MDB0ZCtQV1JZY3dHUW1qcG44UTNuenFHdTI0b3h2WlZSWmVzczFVZ3BHV0czMUJJOFNRL25YNlNzZVRZNmIyb1ozOG5NNmFiUnBoRjgzSVRZRFZUN0JqMU1pN2taMFJiRHFpZVg0RVVRcTdKd0l5WlZNMUd4bWVqaGVaaUo0KzVJbDg3dHl3Yk0zVmVpTVNqMVFVVTFRLzNzc1JLRlp0ejBpaytLd290QTU0OWsxaElOeHNCNXp3YW9Dd2szdGtBWGo3YWkxMkh1ekVZTVJ0TE14bHc5NG9zUEw2OUdMY3V5N3k4SjNRTklFS09JQWpYRkowVEZHNUtYUnlFcHYwY1dFOE5YSGdiWEVFUUJPSDhpQlZ4enBkUU9MV0lJd2pDNHNKZ1VMQzUxb1hsUlhiY2NYQVEvK05YN2VnYW5jWElsQTlQNzIvSGtkWVJmT3lXS2l3dGRsMnljeWgzY2Y3NFdpdkZuR1NsNGpZVE0ycFVZVWIxRnp2Uno0eVlsUVdjZjQ3UHNpVFZhcUl2NWRHKytXOHFHaU5pU2lwZkhJQVdBMnJYMG9JTUNqWURIdnBGTHMyaDU1aUs2dE5qTkRDVHhSTGozZE03U2IreERBdHd6NUxFbjJlT2lFdFp0b1h0ZkpxS2M3MFQrUEdlRnB6cm5ZQXZNcGt2Y0Zud3Rmdks4YkdOZWNoeFhEMnQ2NjhtUk1nUkJPR2FvbmxrOFdYZUpQTUhFZ1JCRUFSQldFeGtaNWp4MlcxRjJMclVqZC8rdDlNNDNENEpmeUNFeHE1eC9PM1R4L0FiTjFmaWpsV0ZzSmlNQzlZS0hLQXdzeWJTaE1JWDVPWmZzZzNBM0hTS05iRWwrOEV3U3pHM1ZyS1V0Q25pR1RZVG9HSDdpbng2Z2MyblM2Z2pZZ2kvdTFscmZLR254QW5jVkVyQlJxVXVqOExLMERSRnFFcGRrb3JkVEJOa1FDc05LM1dkZnp0MTFkL01GMlIyMHVEMCtiMS92b1RETEtWNi9XUWZmdkpHQzZZaU44MWtVTENzMEk0ZmYyNDVWcFJtWEpvUFh5U0lrQ01JZ2lBSWdpQUlnaUJjTnBZVjJiSG5hNnZ4blZlNjhmM1hlM0dtYnhwZVh4QS9mTDBKSnpwSGNjOE54VmhlNm9aNUFieHpIQloyUzIwWjBjcW02dk5vRXB3SWc4S3ZoNWJ6NStQOVdnT1J3V21nYlpRaVNxK3VsRW9WVmxia0oyNFdFWXZMU2xGbWZEYng4NmJJWmF0aVU0NGRjS1ZSS0VyRWxHL3UwcXI1VU9DZ2Q0N0hSeUhvVWdnNWdXQUlaN3JIOGVKNzNUallOUFIrNlZoTm5nMi91N1VRajI4dmdjMXkrVHFhWGF1SWtDTUlnaUFJZ2lBSWdpQmNWcXhtQXg3ZlhvTGI2ekx4Rno5dnhhK1BEQ01VQnQ1dEdrWkwzeVMyTlJUZzRac3FZRFpkM0tJK0VLTG9jcnhmRTNLYWh0a3R5bXFLejZBcHlLRFFvM1lKalgzZUZmR1BxY25XT244R1FqeSt2bk5VS29vZGJHZWV5R2dkb0UrTlA2U1ZOZzFQc3h0cFFZSWtGYlB4d3UwRkZBQTNGdkhjQXlHZzNNME9oVk0rWUZNcEgxOUlzL1p3R1BqbGdRN3NQdGFMNFVsTnhicXpQaE4vOTBnMUdrcnNzRnprNy90NlFZUWNRUkFFUVJBRVFSQUU0YkpqTWlwWVZaYUJYMzFwQmI3N2FqZis4dWR0R0o3eVkzVEtoNSsvM1lGM200Zng1ZnZyVVpCcGc2SW9GMVJ1NVEyd1M1VytHOVZza0FMSTVuSzI0ZGEzRlZlelpTWVNaTXNzeWVielIvdUFWUVVVZzlUM3RvM3hheTdzWnFESUNSeEpZaWdQMEtkbVZpY2doVUV4S3BHUVl6UFI5MFp0ZFo1dW9VRGp0bXFaUFltd21HamViRGZ6OVRWWi9ONCtSbEZuMnM5eXJrVHQyTStYVUNpTS9uRXYvdkhYcDlDcWF4ZVdsVzdDbjkxZmpxL2NMUjJwemhlUnV3UkJ1Q0tzTGdEdVg4cUI2bEtUWnFRSjNZUExnUWVXWGZyUHV4eTRyY0FqOWRIMTBZSWdDSFB4NEhLMm83MmF5TFJ5QWZMQk91NEFwNXNacSt2enJ2U1pDWUp3T2Zuc3JVWDR4ZU1OdUhkVk5xeG1MbFBiQnozNCtzK080TVhEM1ppYXVVaVg5UmltZkVEcktMMW85RzI1aytGS0F4cnltTEZ5ZHBobFR1dUtVNHNsaWJpaEVBaUdVb3MrYWFia2h2QnBScFpNcWNKVWxvMnQxTThNOFd2TVM5K2RNME84dmxqVTkyMnQ0UGZkemJ5R3VqeVdpS25aUFkyREZLNXkwOC92K21LWm5nM2c1YU05K01hVFI5OFhjZEpNQ3U1cXlNTFR2OStBTDk1NWxRMUsxd2lTa1NNSXdoVWhHS2FCMitWd3cxOVh3dHJpWTMwTCszbDJNOXRBbmh1T2ZueERDVkNtYTdvUUNIR3kwRFNTZUVBVkJFRzQwcGdOUUhVV1k1b2pqZDFVWm9Oc3NYMm9XK3Zhc3RDWURNQ1dDcFl1SE96bTRpWU1qZytYb3hPaGV0MWxMc0J1NFFKbkpzQzRyc2IyWkxGK3ZzY3ZkbkxIZm5waDE2Q0NzT2hRTzF1dEtGbU9uZThONGVzNzI5QTZOSU5Sanc4LzJ0T0N0eHI3OFpITlZXZ296MXd3SStRanZmd2J0NW80VndPWWxSSkx1Z1c0cFlMZHJzNUd1bDBkN2dYdVdzSXNtYTRZN3hwVkxBbkhURHlYNXJEejFjSHUxREhPWlFXbWZZbWZLM2N6b3dkZ0RNM0xBUFoxQUgyUlJKZThkSHJrOUV4UzhJa2xQNUxWMHpYT2F6QVpnRTFsTFBVNnErdmsxVEhPMkxpcEZIaWpMYkVwY3lyQ1lhQ3hhd3cvZWJNRkxYMVQ4QWQ1d2FWWmFmanorOHZ4R3h2eTRMYUxISEdoeUowVEJPR0tjTHlmWDVlRC9IUUtLTEhkQnk2VzVibEFoVHZ4NUQ0TXJXNDZ6UWlVdVlHMVJad3NuQnhZMlBNUUJFRzRHREt0d00zbFRNL3ZtMkpNQzRZWXJ3b2NqR0dYU3NoeFdYbjg5M3FpRjBMUFg0WnVma1lGdUsyS3dsWG5PTkE2eGdXTks0MDczQ3FwWXYxY0ZEaTRZLzlLaXdnNWdqQmZYSFlUZm50ekFUYlh1dkNSNzV6RTBVNFBBc0VRenZWTzRsczdqK09qV3lweCs4b2lXRXdHS0JlcDZJUUJ2TlhCdVdKK0JzV0hNbGQ4ek50Y3hzZmU2dEEyQmIwQjRJV3pXdVpNbVlzQ1Rpak1tT0VQUldmVjFPVXkwekMyQktzZ2czRm94ZzhFd3R4OHpMWWwzdndMaExTTUlJQVpRc0ZRZEdtWVNycFo2MEtscDN1Q3NhNXhrUEYzY3premdQWTJ4Mjk0dnRNTjNGNEYzRm9KSE9waHJKeUxjRGdNZnpDTTEwLzA0a2Q3V3VEMUJhRUFNQnNWMUJiWThNenZOMkJwb1gzdUF3a3BFU0ZIRUlSRmpkcDVZQ0dOMnVaRE9CdzlBSjhiQnU1ZXd2cGpFWElFUWJoYXNKdVpFUk1LSjJtRDI1dDRkM3FoTU1kMFpwa3ZDaTQrdzdMWXlkM3FJMzN4SXMybHZHWkJFT1pIZFo0TmIvMzVqZmoyeTkzNDNtczlhQm53WXRZZnduKysyb3pqN1dQNHdQcFMxQlE2RjZTelZVMDJNMlVBaWkreC9qV05nK3ptRkN2dzZJV2FZaWZiaGdNVWVkN1ZkYThxYzFIRWFSNWhGb3dldTVsK08ycmNDWWE1K2RpV1FNalJiNElxNEViaDhmNW8wK1NaQUROeU5wUlNFR29laVQ3R3RKL1hBMUNvdGhpQjExcDR6ckg0Z3NDckxjQk5aZXhrTlJlQllBZ3RmWlA0OWFGT3ZITjI2UDA0WFpadHhXZTNGZUVQN2k2RnhTUVJkaUVRSVVjUWhDdkNtaUw2dXp4OU12cnhjamZGRHBlVllzam9EUEJtbTdhYlVPemtqb1l6allOTDV6aHdyRCt4Ni8rcUFxMjE1TEljZnJXTk1aM1ZiZVhQMlhidVFuaDhyQXR1MSsyUVdJd2NkSXNjVExuMUJvRGpmY0N3RjdpM1ZudmRJL1g4L25JelUyNFRFWXhjUzdFamVnSGlzZ0lyODduN0VnWXdNTVZGaFg3bjFtWUNWaFp3eDhabzRLNUw3S0FzQ01MaVFvMlJMeld4WE5ObHBkQXlOak8vdUdGUUdML0tYSXhmRTdPSmpUWHI4N2dqKzBwTDhyUjVmWGgxcFBFOWVla1VZYndCeHVGVEExcWN0cHJvZ1haaWdEdkZOVm1BMWN5MC9jTzlMTmNDZ0R1cW1RMEVBRnZLK2YxZ043T0MxUGVyaTQyN2x3QmVQMlBmNmtMdUp1OXMxTzdUN21ZK25tWGoySEI2a0srdHp3TXFNbm11STE1bVNxcmxFK3JhTDVIdFJoaGNYS1dLOVVVT3pmalVxUEN4bzMzYTlkMWJ5Mk1BM05FRytIdHFHZ1krVk04ZGRiMkpxTVZJYjZER1FWNjcrbGlpY2FnelNRdGlRVmhzV0V3R2ZPbk9FbXhlNHNTM1h1akN6bmNIbWZYY1BJeU93U25jdHJJUTk2OHJoY1UwdCtsaUtBdzhkVEx4YzI5MXBINXZ4end5VWZaM3BuNi9MNmlWUCtscGlXU05xNXVQOHhXMnd3RDJ0QUtlbUJoMk9sSWVwY2JQVkJ6cjUrdVMrZkVBZk83MTFybVBGUXlGOGR5aEx1dysyb1ArY1E0b0NvQjdWbWJqVCs4dnc3cEtoNGc0QzRnSU9ZSWdYRFdzTHVDa3VIZVNhZllBVU9qZ1pEc1lCS295T1dudm5nUk9EUUlPQzQzWlRBYW1lOGJTTWtMUlkzTVpKNzF0bzF3SUFGcjdTYlhkWW5VV3NMNllFL3poYVQ2M3FSUndXdm1hMlFERkk2T0IvMzZ6bmJzMytlbmE0RCtWWXFkQ0FkUDFKMzNhb3NnZE1majArTG00VUJkZXQxUUF1ODd4ZFdZRHNLMktDNjB6UTN4L1FRWlQ5UVZCV1B5c0syWjIzN1NmOFdzK2NRT2d3WHV4ZzR1REFRL2oxOFpTQ2c0cUNyaDdQT2pSeElkVVpGcVpYcThLSmQ0QWtHdW41ME8yRFhpOUxmcjExVm1NNTIrMlU1QllWOElVL3VmT1VQUTUzRU52aDRZOENoZWpYb285eWJDWmVLMUgrNko5SnhSd2JEamF4d1hINmdLYWlaYTZlSTU3V2ltb2JDZ0ZOcFlBdXlNdGhYc21BSDhCc0txUVdadXhDNnk1WW4xRFBrVzBwbUdPRGZWNXZMNFh6dko0NzNTeHRHcFpEZ1djeWRuRVhYQlNrV3djRW9UckNaTlJ3Y1lhRjM3K0JSZCsrRlkvdnZxelpneE8rREE0TVl1ZjdXM0QzbFA5K1BJSDZsR2NuUTZqNGVvVkNoS0pPSHBDNGVUdHlKTVJLK0tjTDZGd2FoRm5Yc2NJaGRFek9vMi8vOFVKOUl4eU1GSEFqbFIvKzZGcWZHWmI0Y1Y5Z0pBUUVYSUVRYmdxeUxKUlhHa2VBZDdUN1Jxck5jUm1Bek5zK2owMGROUFRrRTloSjlaL1lOS25EWEFlWC9RQWVyUXZPajEyME1OdUxzVU9DamtHaFM3OXpUcUQ0cDVKN2ZWOVU4d09VditkQ0t0Sis3NDhsMFo1K3QyYUd3dTVtSG05VlR1WHlWbDZOcFM2dUh1ekxKYzF6bnZhdFBybnpuRk45QklFWWZHaWdERlFuNEYzYzluY2NTTS9nN0ZNbjlrQnNKUEpwakx0Wjd1WlF2aDhEU3h2S05KS3NOU0pmK2M0WSsrS2ZINW10eTVPemdRMHJ6QUFPTkhQN2pCNUdSUjRocjFzL3d0UXhGRmpxVFhKN05TUkJ1eHFTaXlHSE84SGhpSWkvT0ZlNEo0bGpMbDcybmpPa3o3ZXg3cGNDa0xlZ0xiTHZMNkVHVUZEMDd4bjZua0V3NmxqdmY1M0FIQlQ0T1l5Wm5yMlRRR0QwOHhFQWppdXFHTFpmSmVaYzQxRGduQTk4dkZOK2FqT3MrTHZYK2pDcmhNam1QWUYwVDNpeFRlZk9vWWRhMHB3KzhwQ1pOak1WL28wcnh1bXZINjhmcklQengvcXd0QWtnN1BOYk1BZDlabjRnN3RMY2N0Uzl4VSt3OFdMQ0RtQ0lGd1ZsRWE2UEoxS2tnYWFsOEVGUit1STFna0E0TVJiUWNUZC96eDJKWHhCdmkvVHhwYVRHUlpPOXRXeFB4UUd4bWRaNmpYcFl6YlArZmpzR0JTV0JxZ01UclArZURneWtiY1lPZGx2SHVIa1g3Mm1zUmt1SGpKdFhKQVZaUER6WTAzc09zZEZ5QkdFNjRFdVhUci9mT05HWWFRalNWTk1DV2IzWkxUcHBTR1MyVEdmSFdDTGtWazNUU1B4dTdjdG94Unk4aktpaFp5QkdPRkRGV0RzRjdqR1NwWFJvbVpTQXN5WUNZUGpnLzdhMUV3YW0xbnpnaGliQVY1dTRoaTBMSmVDVHQ4VWNLQnJib05uWDVEamtqcU9xQWJKQzdXR3ZOaHhTQkFXSTRvQ2JGcml3bjhVcCtQSCsvdnhyZWM3MERFOGkxR1BEMCsrMVlwamJTTjQ2S1p5MUpXNllWaW8xbFpDSE9Gd0dHZTZKL0RNdmpZMGRvL0RGNmtISzNKYjhJZjNsT0VUV3dxa0k5VWxSdTZ1SUFoWEJYWXpGeGd6Q1l6V0FHMkhkbU5wOHZlZkQ4dHltQ1dqS0Z3Y2VDSVRmLzJRLzJZYlBSZFdGVEQxdjNtRXU5dnpXZlNFd2t6RE54a291TGl0MnM2ei9ucXFzL2dWaTdvUXNKa1RsenpJWkY0UUZqOWhSSXNtNXhNM2tzWFRvQzUycU40d0RzdmM1NkorZGlMQjNCZGt6TFBFV0ZURXhpblY5K0ZDS3g4U0dYRUN2RSt4WFZuQ1lTQVFJOFNvc1R2Mjg4T2dBTll4emhMZUd3cVp1WlRLRThLb0FHdUxLUUQ1Z3hSYWZKSHpXOGlsNDhXTVE0S3dtSEhiVGZqODdjVzRaMlUySHZyMkNSenRuSUkvR01ieGpqR2M3WjNBaDIrdXhIM3Jra3dhaFl0bTk5RWUvSGVrSTVYSzBnSWJmdjJsbFZoU1lFdnhUbUdoRUNGSEVJU3JBbitRRTJPekliRkk0WStNRTNxalREM3pjZEpYeVV2bjd2SHBJWGFRVWlmRUR5eUxmcDAzd0ZJb213bW96YUVQaE0zTW5kcjVvS2JoOTB6U1YySmpLWTFMcC8zYTljU1dUYWlvNCtKc0FMQWs4RU5JaytndENOY2Q4NDBiTXdITk5ETVU0eVdqRjVUOUljYlRBb2RXYnBRTTlkaTJCTEhIWXVSbnphWjQvN1ZDeXlnelBHdXl1RUdRTE5OemVTNUZuSDBkV3JtVHkwcGZ0N2tJZzc4WFk0emlZMG9RNnk5MkhCS0V4VTVscmhXSC9ub04vbmwzTi83dmE5MDQwOGZPVnYvMWVqT090WS9pL25XbFdGcnNnaVhSSDVod1h2Z0RJWnpybmNDekJ6dHhxRmxyOVZlZGE4V25ieTNDVis4cEV3K3Z5NGpjYWtFUXJncjZJNkpIVFpKeW9hRnBUbjR6TEZ4NHhINmRqMUdiTzlJbHBXVkVXK1E0MHVKM2sxVzhBWHJxREhoWTFxQVNEREdqWjY3ZDExQ1lrMjZEb3BrVWV3Tk04M2RaNlEwUmV6MXFDY0NvRjNEYjRqMGppdWV4V0JBRVlYRnhQbkZEUWJ5b1VPU0lqMWVuQmlrbzNGeVcySnRHaVh6TkJHaEVYT2FPajVVVkVRdUVhODIvSmQyY09INnI5MEUxVkU0VTY5MVdtay9ycnpsSE56Nm9oQ0liRTdGclNHK0F2MGM5ZWVuSnp6WFpPQ1FJQXMyUXYzQkhNWDc4dVhwOGFGM3UrMWwzUjFwSDhLL1BOK0taZlcwSUJDV1YrV0lJQkVQWWVhQWQvL0o4NC9zaWprRUJIcmdoR3ovK1hCMitjbmVwaURpWEdkblRGUVRocXFCcmdoUFVoanlLTlgxVFhGeVV1SUFEbmR3VmJSbGhtWkxaU0tOTWdKTnBsMVhySnJLOW10OWZiazcrV1dxTDhOb2NkbDZ4VzJnZXJFL050NXFZV3Q4MlNzTmsxZjlBMzM1eVlwWVQrNVVGOUdjWW1rNWVHdWJ4QWNmNm1MSy9KQnM0TjB6ano0Mmx6TlpwR2VWdWU0YUZyWEozTjFNQU9qWElYZC9ONVd3ZFBCTmdseG5WZkZNUWhPdUwrY1NOOWpINnZhd3BZb3dhOFhMeFg1OFhYNUxUTzhuMnN5dnphUkRjT1U1ZkZxTkNzK0FpQjB1TUpuM01pTHlsZ20zRHp3NHhIdVhZS2NDM2o4VjdlVjN0bExwWW90WXp5WGh1VklDY2RBcmxYUk5haGxLaVdEODJRNkdzM00yTmlCdzdzRFRCUm9UcTZiTTBoeG1uMDM2YVMzZU1NYXVuTnB1ZjViYXk1RmZQZk1ZaFFSQ0l5YWpneG9vTVBQVllQZjV0VHkvKzZNbG1qSG9DR0pueTRSY0hPckR2ekNEKytJTU5LTWxPb1pnS0Nla2RuY2JmN3p5SnppRXR5RHR0Um56ejRTcDgvdmJpQ3k2WEZTNE9FWElFUWJncUNJTnRYdXR5dWVOYjVtSXFmLytVSnJDODE4dkpiRldtOXZ6NExCY1UrdVBNeFlDSHJXQnJzM21zOFZudWRHNHMwVjRUQ0xGTW9DRmZtM3lmRzQ0MlkyNGI0dzVxVlNZbjg2KzJwUDdjcGhFS1V5dnlnYjVKdGtRUGRuQXl2eWJTRFdiS0Y1MHBOT1VEM21qbkltdHJCVXNoZWlhQWc5MzhXUkNFNjR2NXhJMHdnRGNpM2lwcUZ1RHdOTEMvQTloV0ZYL01NMFBzM0ZlYnpUS3JjamRqNExTZllwRXFhQXhPQTYrMkF2VzVqSTFHaFo5OXRJL3g4VnFqYjRwR3hRVVpRR1VtcjNuS3gwNWJhcGNvSUhHc2J4eWswTEs2Z08zQSs2ZUFkM3VCVzhxalAyUFN4NDVhdFRuc2puV29oMExPcVVGbTZkVG04RjRPVHdNSGU0RGJLclgzem1jY0VnUWhuay9kVW9ENllqdis2aGZ0Mk5jMERzOXNFUDFqWHZ6Tno0N2dvWTNsMkx3OEh3N3BiRFVuVXpOK3ZIMW1FTS9zYThOd0pPWFRiakZnWTdVTGYvVmdPYmJVdWlGKzBsY09KUndPaTEyYUlGeGgvdW1sTG56cHgwMEFnSzMxQlhoc3g3STUzaUVJMXhjN0Q3VGpaM3ZiRUF5RjhmbmJpdkdQajliQUhHc3dJVnkzNkdQb2pqVWwrTVJ0TlZmNGpBUkJTTVZUYjdYaHFYMXRBSUMvZnJBQ2YvV2c3RXdJQzgrRU40Q25EdzdpNzU3dFFOTUFEUlpOUmdWTENwMTRjRU1aVmxWa3dTRHBKSEdFd21HYzdCakZ6cmM3ME5nOWprQmtSN1U4MjRvL3ViY01IOTZRaDh4MHlRZTUwc2h2UUJBRVFSQUVRUkFFUVZoVU9HMG1mUEtXUXR5OUloczcvdUVvam5aNkVBaUcwZGcxanFhK2svakl6Wlc0ZjcxMHRvcGw5NUVlL1BEMVpzd0dORitoRlNYcGVQNHJxMUNTTlk4Mmg4SmxRWVFjUVJBRVFSQUVRUkFFWVZGU2xHbkJlMTlmaHlkMmRlSTdyM2FqWlhBRy9rQUlQOXpUaktOdEkvaU5teXRRbWUrQStUcnViQlVJaHRBMk1JVm45clhoM1JhdExXSlpWaG8rdDYwSVg3bTdGR25tNi9mK1hJMklrQ01JZ2lBSWdpQUlnaUFzV2d3RzRJdDNsbURURWhlZTJOV0pYN3c3aEVBb2pHUHRvK2dkODJKYlF3RStzTDdzdW14VDdndUU4UHloTHJ4NnZCZDlZNUVTTklPQysxWm40eXQzbDJKamxSTm1rNVNnWFcySWtDTUlnaUFJZ2lBSWdpQXNha3hHQlRmVk9IRlRUVDErK3ZZQUh2dmhXWXg0QWhnY244R1RiN1hoNVNNOStQUGZXSVhTbk91bnMxWFB5RFQrN3VsajZCK2ZlZjh4cDlXSUp6NjJCSi9ZbkM4ZVFsY3hJdVFJZ2lBSWdpQUlnaUFJMXcwZjJaaUh5bHdydnZITE5yeCtlZ3dlWHdpakhoKys4ZVJSM0xlMkJGc2JDdUN5TDE0L21JbHBIL1kyRHVCWDczUmlaR29XQUR0UzNWTHJ4cDgvVUk2Ymw3aXU4QmtLY3lGQ2ppQUlnaUFJZ2lBSWduQmRzYUhhaVovOFhoMStzTGNmVCt6cVJPdlFETVk4UHZ6a3pWYWM2QmpEZld0TFVWL21obkVSWmFXRVFtR2M3aDdIc3djN2NhUjFCSUVRTzFLVlpLYmhTM2VXNEpPM0ZDQXpYVnF6WHd1SWtDTUlnaUFJZ2lBSWdpQmNkemhzSm54aGV6RStzaUVYRC8zekNieDFiZ0xCVUJoSFdrZHdzbU1VRDI0b3d5TTNWMTdwMDF3d25qM1VpU2ZmYW9OUDE1RnFZN1VET3g5ZmdYelg0czFBV295SWtDTUlnaUFJZ2lBSWdpQmN0K1E2TGRqN1p6ZmlIM2QxNGJ1dmR1TnN2eGYrWUJoUDdXdEhZOWM0UHJTcEFrdUtuREFicnowejVFQXdoS2JlU2Z6aTdYWWNidFU2VWxYbjJ2RHBXd3Z4bGJ0S3hjejRHa1NFSEVFUUJFRVFCRUVRQk9HNjUvZnZLTWJtV2hmKzRjVXVQSDFvQUZLclJNRUFBQ0FBU1VSQlZQNWdHQ2M2eHRBNzJvamJWaFRndm5WbHNGbU1WL28wNTgyTUw0QmZIK3pDNnlmNk1EaEJRMk96VWNFRE4rVGdEKzRweFpyeURCRnhybEZFeUJFRVFSQUVRUkFFUVJDdWUweEdCV3NySGZpUDMxMksyK3ZjK09Nbm16SHNDV0I0Y2hiUDdHL0h2ak9EK01LTzVhZ3FjRnpwVTUyVDlvRXBmT2ZGMDJnZm1FTEVDZ2N1bXhILzQrRXFmSEpMSWV4cDExNTJrYUFoUW80Z0NJSWdDSUlnQ0lJZ1JMQ2FEZmpVMWtLc3JYVGdMMy9laXRkUGoyTmlKb0R1NFdsODgrbWplR0I5R1RZdnowZVdJKzFLbjJvY28xT3oySGQ2QURzUGRHQjgyZzhBeUVnejRwWmFGLzdtNFVxc3FiajZSU2hoYmtUSUVRUkJFQVJCRUFSQkVJUVlWcFZsNEw4L3V4dy9lWHNBZi9kc085cUdaekhwRGVBbmI3YmlTT3NJZHF3cHdRMVYyVmRGWjZ0UUtJeGo3YU40N2xBblRuU01JUmhKd3luT1RNUFg3aTNEbzV2eTRiYkw4bit4SUw5SlFSQUVRUkFFUVJBRVFVaUF3MmJDNzI0dHhOMHJzL0NKNzUvR2E2Y3BrcHpvR0VOejN5UWVXRitLRDk1VWNhVlBFOCs5MjRWbjlyVmgyaGQ4LzdITlM1ejQwZWZxVUpLWkJzTlZJRFlKQzRjSU9ZSWdDSUlnQ0lJZ0NJS1FCSU5CUVZtMkZTLzk0U3I4ODh0ZCtQYnViclFOemNEckMrS25lOXR3dEcwVWoyNnRRbVcrNDdKMnRnb0VRMmdmbk1LUDlyVGdSTWZZKzQrWFpWdngrZHVLOE1VN1MyQTFpeGZPWWtTRUhFRVFCRUVRQkVFUUJFR1lBNU5Sd2VOM2xtQnpyUXZmZTYwSFA5NC9nSmxBQ0kxZDQzamlWNmR3OC9JOFBMaStEQmsyOHlVL0Y4K01INzg2MkltOXAvb3hPREVMQUVnektmaU45Zmw0N1BZaXJLMTBYQlVsWDhLbFFZUWNRUkFFUVJBRVFSQUVRWmdIUm9PQ2RWVk9yQ3pOd0IxMW1makNqNW93UE9YSDhPUXNuajNZaVFObkJ2SEYrK3RRVStpOFpPZlExaitKYnovWGlKNlI2ZmM3VWptdFJqenhzUnA4ZEdQZU5kVWlYYmd3Uk1nUkJFRVFCRUVRQkVFUWhQTWd6V3pBUjIvS3gvTGlkUHpKazgzWTF6U0J5WmtnK3NkbjhIZlBITWVERzhxd3BTNGZMcnNGeWdJa3hvVER3SVRYaC8ybkIvRE0vZzZNVC9zQUFPbHBCbXlxY2VGdlAxU0Z0WlhTa2VwNlFZUWNRUkFFUVJBRVFSQUVRYmdBVnBkbDRLbmZiOEFQM3V6RlA3N1VoWmJCR1V4Ni9malJubWFjN0JqRjNUZVdvS0hNRGRORmVPY0VRMkUwZG83aGhmZTY4Rzd6Q0VKaHB1R1VacVhoUzNlVzRKTzNGRXBIcXVzTStXMExnaUFJZ2lBSWdpQUl3Z1hpc0JyeDJPM0ZlR1I5SGo3M2c3UDQ1ZUVoaE1MQWV5MGpPTlU1aHJ0dkxNRkh0MVJkVUdaT09BejhmSDhibmozWUJhOWY2MGkxWTJVV3Z2L0paU2h3bXFVajFYV0lDRG1DSUFpQ0lBaUNJQWlDY0JFWURBb0tYQlk4ODRWNi9PdnVidnpMSzkwNDErL0ZqRCtFblFjNjBOZzVoby9lVW9YYUl1ZThzbk9Db1RDYWVpYndzN2Rhb3pwU1ZlVmE4WHUzRmVIeDdhV3dtRVRBdVY0UklVY1FCRUVRQkVFUUJFRVFGZ0NqUWNGamR4UmpZNDBMLy94eUY1NDVOQWl2UDRRelBSUDQ1K2Nhc2EyaEFEdldsS1RzYk9XWjhlUEZ3OTE0OVZnZkJpZG1BQUJXc3dFUDNKQ0R4N2NYWTBPMVV6cFNYZWVJa0NNSWdpQUlnaUFJZ2lBSUM0VFJvR0I5bFFQZi9lMWEzRjZmaVQ5K3NnVURFejRNVDg3aUZ3YzZjS2g1R0orNll3bHFpMXhSNVZiaE1ORFNOL24vdDNmZjBYSGU5NTN2UDg4ekJZUEJvQkVBUVlJVkJJdElrVlNuV0NTTDZzMjJKRnNTWmN1NUxyRWoyWnZjdFoxN3QyVHZKdG05OTJSMzB4ekhzWjJjVFJUWnNXVkxsbXhWeTdMVktJbWtDcHNLS1pFQUs5aEFBRVFkVEovbi92R2J3V0NBR1JTU0l2aVE3OWM1T01MVGYvT1FSNGZ6T2QvZjk2ZUhYbTdXM21OOVNtV1dwS29LZXZVWGR6ZnEvbFhUVkZIS2lsUWd5QUVBQUFBQTRMUUxCVHo2MGxYVHRHWkJwYjc1MDJadGFPNVZUeVNwL2NmNzlUK2VlRStmWFRWSGF5Nm9WM1dvUk4zaG1ON2EzYTdITnV4WGZ6UXB5ZlRlV2RWVW9lOStZWUV1bUI2YzVFK0Rzd2xCRGdBQUFBQUFINU1GOWFYNitUY3UxQ09iMnZTWHZ6Nm92ZTFSRGNSUytzbjZ2ZHErcjB2TFpsZHA1NkVldmJ2L2hESUxVbWxtdFYvLzhmWTV1bi9WVkZXWEZaK0doZk1UUVE0QUFBQUFBQitqOG9CSFg3MW11bTVhT2tYZi9sbUxudHphSWNlUjNqL1FwWjJ0M1lQVHFDU3pJdFgzdnJCUXMydEs1UFhRQ3djam5meGk5Z0FBQUFBQVlGdzh0cVhHdW9BZS9jWVMvZjM5OHpXbkppQkxab1VxUzlLTUtyLys2dDRtUGY2SFN6VnZhb0FRQjBWUmtRT2NaVTcweDdSdDc0bkpIZ1p3VmpseUlpTEhjY1krRWVlOTlwNG8vdzhGem5KSHV5S1RQUVJnVXZtOXR2N3docGxhTmI5UzMzdjZYVzE3OHpYTnF2YnBHK3Z1MEcwclorVTFRQVlLSWNnQnpqSTdXN3UxNTFqZlpBOERPS3Nra21tbHlYRXdEdHYyZFdwSGEvZGtEd1BBS0JMSjlHUVBBWmgwbGlWZDNsaXVCNjRzMFo4Kys2cjZqOFEwelg4ZElRN0doU0FIT0FzRS9iWkt2TFppeWJSU2FVY0RzZVJrRHdrNEs5bVdwVkRBSTV0LzVHQ0lvTitXejJNcGtYS1VURGxLcHZoL0tPQUdYdHRTcUlTbGxIRitLL0haL0xzR0UwYVFBNXdGcmx0U3JXOWMxNkFQanc1TTlsQ0FzMXBEbFYvM1hGRW5ELy9pd1JEWExhbldBMnNiMUhLYzZScUFtelRXbGVyMmkyb21leGdBNERvRU9jQlpvR2xxcWY3aW5ubUt4aWsxQmtiajk5a3E5UkhpSUYvVDFGTDk1Ym9teFJMOFB4UndreEtmclZJL2E2OEF3RVFSNUFCbmlZRFBWc0RIUDJZQTRHU1UrdmxDQ0FBQXpnLzhpd2NBQUFBQUFNQWxDSElBQUFBQUFBQmNnaUFIQUFBQUFBREFKUWh5QUFBQUFBQUFYSUlnQndBQUFBQUF3Q1VJY2dBQUFBQUFBRnlDSUFjQUFBQUFBTUFsQ0hJQUFBQUFBQUJjZ2lBSEFBQUFBQURBSlFoeUFBQUFBQUFBWElJZ0J3QUFBQUFBd0NVSWNnQUFBQUFBQUZ5Q0lBY0FBQUFBQU1BbENISUFBQUFBQUFCY2dpQUhBQUFBQUFEQUpRaHlBQUFBQUFBQVhJSWdCd0FBQUFBQXdDVUljZ0FBQUFBQUFGeUNJQWNBQUFBQUFNQWxDSElBQUFBQUFBQmNnaUFIQUFBQUFBREFKUWh5QUFBQUFBQUFYSUlnQndBQUFBQUF3Q1VJY2dBQUFBQUFBRnlDSUFjQUFBQUFBTUFsQ0hJQUFBQUFBQUJjZ2lBSEFBQUFBQURBSlFoeUFBQUFBQUFBWElJZ0J3QUFBQUFBd0NVSWNnQUFBQUFBQUZ5Q0lBY0FBQUFBQU1BbENISUFBQUFBQUFCY2dpQUhBQUFBQUFEQUpRaHlBQUFBQUFBQVhJSWdCd0FBQUFBQXdDVXN4M0djeVI0RUFBQUFBQUFBeGtaRkRnQUFBQUFBZ0VzUTVBQUFBQUFBQUxnRVFRNEFBQUFBQUlCTEVPUUFBQUFBQUhDNkpaTkZENlY3ZStSRUlxZjhpRlI3dTlMZDNhZDhuMU14OE55ejZ2LzV6d29laTY1L1ZmMi9lT3lVN3UrRXczTEM0Vk82eDdtR0lBY0FBQUFBNEE2T285VHhOc1cyYkZINHFTZVYzTDl2c2tkVVVIem5Eblg5eGYrbjFKRWpCWTkzLzYvL3FZSG5uam5GaDhUVis0Ti8wTUN2bnh2WDZhbTJOb1dmZUZ4S3A0dWVrMnc5cU00Ly9wYmk3NzgzN21Fa2p4NVY4dURCZ3NjU0J3OHFzWHUzK2IyNVdZbVc1bkhmTjZ2dkp6OCs1VERvWE9PZDdBRUFBQUFBQU00TjhmZmZVK1NWVjVROGVrU1c3WkYzWHFQS2J2K2tQTk9tNTUvb09JcHRma2ZSVFJ1VlBIcFVTcWZscVorbXdNcVZDcXhhTFZtV0pDbDE3S2hpbXpjcjFkR2hWRWU3VWgwZFVpSWhXWlk4dGJYeVRwOHU3OXpHQ1kvVENZYzE4SnZuRmYvZ0E2WEQvYktuVEZGZ3haVXFYWHV0Wk9mcUhaeElSTkdOR3hSNzkxMmxUM1JLamlPN3RsYWxxMWFyWk1XVmVlY092WGY0RjcrUVZSYVVaK3JVQ1k5Tmt0TGQzVXJ1MjF2d21LZWhRWjc2YVJwNDhYZEs5L2JLTTIyYVlsczI1NTNqblRaZG5oa3o4dllsOSsxVGRPTUdwY05obFgvaDl3cU9YZW5Nb3RhRmpwME14eG44c3h4NDRUZEtIdGl2c3MvY3JjQ3FWZU8vUlNRaXUzcks2Um5QT1lJZ0J3QUFBQUJ3eXFLdnJWZjRxU2RsbFpXcFpQbEZTdmYyS3JGenA3cGJXbFQxNzcrWkYrYUVmL1ZMUlRlOElidW1SaVhMbHNtSlJoVnZibGI0aWNlVmJHMVZhTjE5NWtUTFZuem5EbmxxYXVWYnNGQ3BvMGRWZXYwTkN0NXdvK1QzbTNQaWNYWCsyWDhkZFd4bHQ5MnV3Tldma0dTQ2x1N3Zma2Zwems3NW11Ykx0MmlSRXJzKzBzQnp6eXJWMXFiUTV6NC9lRjFpVDRzR2Z2TzhmSTN6NUYyMlhFNDRyUGl1WGVyL3hXTks3TjJyME9mdnozOVFPcTIrbi94WVRpeXFpZ2UvTG5tOVN1ejZTT24rL3J6VG5GUktxZmFPa1FITWpCbnlUSnV1NUtGVzlUMzJhR1lRSnJpUzEzeDlEOTU0czN6eGhDS3Z2Q3k3cWtyUk56ZmxicEJJS3QzYlk5N1JzQ0NuWk9WS3BicTdGUG5kYjlYdjh5bDAzK2NHUTVZaEl6T3YzUm85eUVtM3Q4dXVxeHYxSEhNN1I3TE5NeXErOHZ2cStjRS9LUHo0WTFJOHBzQTFheVhKaEdtOVBVVnZrVHArWEZhZ1ZOR05HNHFlWTFkVXlyOTA2ZGpqT1VjUTVBQUFBQUFBVGtuNlJLZkN6end0dTNxS3FyNzVMVm1oa0NRcCt0cHJDai8xSzRXZmZOSUVHeG1wamc2RlBuKy9TaTY3UEhlUDdtNzFmUGM3aXIzOWxnSnIxc2c3YzVZODlmV3ErZy8vS1hOQ1d0SFgxc3V1cU1pRk9KSWN4NUhpY2ZrV1hTRGZ3b1g1QTR2SE5mRENiK1NrVW9PN3dzOCtvM1JucDRLZi9KUktyNzNPM0dOZ1FOMS85N2VLYlg1SGdaV3I1RzAwVlQ3ZWhnWlYvOG4vSTd1Nk9qZk96ZzUxL2ZWZktiWmxzNEszM3BZNzVqanFmL1JuU3V6ZXJmS3YvTDQ4OWZXU3BNakxMeWt4Zk9wUklxSEUzajFLSER5UXR6dDQ0ODBxblRaZC9xWExWUE0vL3Bma09EcnhaLzlWd1Z0dkg2eGljY0poZFgvbmIrVnJtcStLQng3TUMyUDYvdTFIU3U3ZHE4QlZWeGY4Y3dyZWNxdFM3ZTJLYlg1SC9nc3ZsSC81UmZrbnBETFRydXpoQVU5TzdPMjMxUC9ZbzZyK2svOGllMHBOMGZNa1NjbWtMTnNqU2JLQ1FWVSsrQTMxL09BZlpGZmwzbWQwdyt0SzdOOWYrUHBVU2txbGxHamVyY1NCSXVkSThzMmRTNUFEQUFBQUFNQjRSVGR1bE5KcEJXKytlVERFa2FUQTFWY3I4dHA2SlpwM0s5M1RJN3V5VXBKVS92bjc4ODZUSkx1cVNvSFZhelR3bStlVjNMZGYzcG16SmpRR1gyT2ptUm8xaEJNT2ErQ0YzK1MybzFIRk5yOGplOHFVdkhPdFlGREJHMjVVLzZNL1YzVHoyd3BsZ3B4Q1FZVmRVeXZmN05sS3RMU1loc1hWMVZJcXBmNmZQYUxZdHEwcSs4eG41Yjh3RnlwVWZQM2ZqYmpIaWYveW4xVnl5U1VxdS92ZVVUOVQ4dkFoT2VHdy9Jc1hteDJKaEhvZmZranAvajZGMXExVHF1M1k0TG54blRzVjM3NWRvWHZYeVJrSUt6VVFsaFVvbFYxVmxYZlA4dnMrcC9qU3BTTkRIQ2tYZUkweXRjcS9lSWxrMjRxODhvcktQbnYzcU9OM2trbko2eG5jdGtJaFZYM3oyM2xCWE1VRFh5OTBxU1NwNytGL1ZhSzVXVTRpYmtLdTY2NGI5WG5uQzRJY0FBQUFBTUFwaVgvMG9TVEp2K1RDL0FPV0pmOEZpeFRkdEVuSmZYdmx2L2dTczN0WWlETjRlaUJnZnNsTUkwcnUzNjkwMXdsSm1jb2JTY2xEaHhUZnRqVnpnUzFmTnVRWWgwVHpiaW1kTnVNY05xMG9HNVlrOXhidVRUTW9uVmFxczFOV0lDQlBiYTI1Nzk2OUpzVDU5QjBLckxsS3lVT3Q2bi9rRVpYLzN2OGh6L1Rwbzk5dkZQRWRPK1JwYUJnTVk2SWJOeWg1OEtBOHRiWHEvY2NmRnJ5bVB6c2xTNUwvNG90Vi9udGZ6RC9CNTVQL2trc0xYdXZFWStZajl2VVZIWk5WWHE2UzVSY3B1dmtkQlQvNXFjSDlpZVptSmZidXlUczMxZDR1cFZKNVlkcmdNT1kxeWJkZ1FkSG54TjdjcFBqNzd3MkdSZUVuSHBlbnBrYitpMFlHVU9jYmdod0FBQUFBd01sTHA1VTZmbHgyUllXc3NySVJoejFUelJTalZIdjdtTGRLWkVJVTc3UnBrcVRvcG8yS3ZmZXVPWmlwRm9sdDNhTFl1OXNsU1padHEvcFAvM3pjUTAwZE14VXMzZ0xoaWxWZUlTc1FNQTJWaHpUcHpYSWlFYVhhMmhSNTZVV2xlM29VV3ZlNXdjb1MzNElGcXZ6R0g4cmIxQ1NsMCtwLzdESEp0cFR1NjFYeXdJRVJ6M0tTS1NYYmppdjI1cHNqanZtV0xESFR4ektmMWI5dzBlQVM0eVdYWHlGZjAzeEYxcjhxS3hoVStlZnVIenh2NE1YZnFUbzdEVTFTL3k5TW9CTjUrV1VOL082RndmMmxWMzlDd2R0dUwvaCtuS2dKY2xMSGp4YzhubFZ5eFJXS2JkdXErUFp0Zy91U0IvWXIrdHI2L1B2RnpQMkc3NWNreStNcEd1UkVYMXV2OE5OUHliLzhvc0htMThuV1Z2WDkyNDhVN0xoTnBkZGRYNkMvei9tRElBY0FBQUFBY05LY2dRRXBsWkpWWGw3d2VMYjZKaDJKakhxZlJIT3o0dSsvSjAvOXRNRWVOYUhQZlg2dytYRDRsMDhvdXVFTlUvVXlwQWRNTml3WWozUnZyeG5US0dOMU9qcmt4T095U2tva21TcVk4Qk9QRDU3am1UbFRWZC84bGp3elp1WmQ2MjFxa21SV1owcTFIVlBWdDc2dDZCdXZLN3BseThnSDJaYXAyam5VT3VKUTVkU3BzaXNxbEdocFVicWpROUdPanNGR3YvN2x5MVgreFMrYnNmcDhzcWVZMVp5c1lGQ3lyTUZ0Y3p3WE1wWDVmWktrOERQUG1PbE94ZDVQcHZvcGVlaFEwWFBNUFJmSzB6QWpMMHdwdmVGR2xkNXdZOTU1Si83OFQrVkVvNXJ5My83ZndTcXIwYVRhMnhYKzFSTks3TnBsUG9QZlo1bzkrLzBLM2J0T1ZtbXBCbjc5bkJJdExTcjcxS2ZsYVdnWTg1N25Jb0ljQUFBQUFNQkpjK0p4U1pMbDlSVThQcmgvbEFBaC9zSDc2dnZwVDJUNS9Tb2Z2aEtVSkNjeW9PZzdiNXVOZEZyT3dJQUpMejdPc1dhQ0hPLzA2UXFzdVVycGNGanB6azRsV3crcTU1LytVYUc3NzVWLytmSzg2eE83ZHlueTBvdnlMVndvejdUcEtydjczbEg3NERqaHNIcSsvdzhxdmY3NnZNYlBraFI1OVdWSlV1Q2F0UXFzWEdtbUo2WFRRNjRkVUdMM2JrbVpDcHAwZW5CYmtsbFd2YXBLM2xtejVKMWwrZzBOUFAvclVkOVA2bmliK2ZqNzloYXNTaHBrMjZyNjQvOUxraFI3NzczQ255MFdrNU9ab3BWb2FaYnZndUpUNEpLdEJ4VjkvWFhGdG02UjVmZXI3TE4zeTFOYnA3NmYvRmpkMy9sYk0wV3RvVUZsbjc1RDN1a05Dai85cExyLzVxL2t2L2hpQmE1WUlkK0NoWkxIVS9UKzV4cUNIQUFBQUFEQXljczJ4azJuQ2g5UG1RREg4aFVJVDFJcGhaOTl4cXhHVlZscFZudWFPWFBFYWRHTkd3ZC9IM2p4ZDRwczNLREtCNzZldDVyVXh6VldiK004ZVJ2bjVVNDVja1E5Ly9SRDlmMzRZVlY5Njl1RGxUbXB0amIxL2VoSEpnQVpyM1JLcWJaamNzTGh2TjNKQS91VitQQkR5YlpsbDVYSk03VmVkbW1wMGtQT1N4NCtwTjUvL1pmTW9NenFUb1Bia3BSSXlEK3MwZkZZRW52MnlIZkJZaVUrK3REOFBuLytxT2VuMnRxVU9ucEVWa2xneExGa2RxVXV2MSt4clZzTEJqbm1uZjJyVW0xdGtzZWp3S3JWQ3Q1MDgyREZWTlczL2xpOS8veS9GWDdxVjROTm8wdXV1RUwrSlVzVWZ1NVp4VGEvby9qMjdiS3JxMVgxZi8vSHdTcXFjeDFCRGdBQUFBRGdwRm1scFpLazlNQkF3ZVBaOEdINGRDYW5yMCs5RC8yemtnY1B5cjk4dVVMM3JDdFlaZU5FSW9xOHRsNkJWYXNWWGYrcUFxdFdLLzd1ZHZYOC9YZFY4ZUNEZVV0Wmo4WE8zSC9Vc2ZyOWVhc3FEZWRwYUZEWnJiZXIveGVQS3ZybW15cjc3TjFLSFQrdW5oOStYNTdhMnJ3d0lmejBVNHB1MmxqMFh0blFKL3pzTXdwbnFtVkNkOTZsMk5ZdDhzNmVMUlhKaEp4MFdyN0ZpMVh4KzErVGxKbis5Y3pUWnNueWpMNkgvcVh3eFVXa2poMVZ1cnRiWlorK1EwNS92K0xidDQ0YTVNUTJ2NlArSng2WDRuRjU2cWVOT0I3ZnVVTldTWW1DTjkraThLOS9yYkk3N2h6UlE4a3pkYXJzcW1yVEMyZjFtc0hlUUZsMktLVHkrNzh3dU5wWmxsVldwdEM5NjFSMjIrMktidG9vVDkzVTh5YkVrUWh5QUFBQUFBQ253Q29wa1YxUm9YUlhseFNQandoQnNvMXpzdzJNSmNucDcxZjM5LzVlNmU0dWhlNjVWeVVyVnhXOWYvanBwK1JFWXlwZHUxYlI5YS9LTGk5WHhUZitVRDNmKzY3NkgzbEVGZDhZdWJ4M01aNjZPak9tdHJZUng1eHdXTTdBZ0FsUXhyclBkUE5aVWwxZG1jL1RKOHZuVThWWHY2YStSMzgrV1BGVHN2d2llVFBObmd0eFlsSFQxSGZaTXZrWExKSWtlUnNiWlZkVXlpb3JVL2hYVHhTOXJsQVZ6SVNrVXVyLzVlTUszWEdYNVBjcit1WW15YmJsVzdoUXFlUEhOZkRTaXdyZWV2dUk4TVdKUmhWKy9CZUtiZHNxLy9LTGxPN3ZIMUZScEdSU3NhMWI1RnU4UkNWWHJGRDR1V2NWV2YvcXlDYkxscVdLUDNqQVhKK1pHaFgvNEgzVEErZk91eFIrNW1uRnRtOVR4VmUrS3Urd2NhUjdlNVZzYlZYcGpUZWQybnR3b2VLTHd3TUFBQUFBTUE2K3B2bFNPcTM0N2wzNUJ4ekhMRTN1ODVsek12b2ZlMVRwRTUycStQMnZqUnJpSkpwM0svYjJXeXE5NWhyWm9WeEZqMTFSb2NvSHY2N3lMMzE1NHVPVUZQOXc1NGhqOFE4elM2Z3ZYakxtZlZMSHpRcGNuc3pVTHUrOEpsWCswZjg1b3VySU8zZXVTaTY5VkxFUDNwTjhQcFdzWEpuL2M2bFpCdHczWis3Z1BzL1VldmtXTHg0MVVISUdCcFE2Y2tUaFh6Nmg4QytmVUh6N2RpbVpITndPLy9JSkpZOGVLWDU5T0t5ZWYveWhZcHMzSzkzWEo2ZXZUOUczM2xMSlpaZkxLZzJxWk1XVlVqcXR5TXN2amJpMjkxLyt0MkxidHluNHlVK3AvSXRmS2xnSkUzMXprNXorZnBWZWZiV3NZRkNCSzFjcXN2NVZwVHM3QzQ0bjh2Skw2dnJ2Znk0bEVtYjFxN2ZNYWw3QjIyNlhwNzVlUFQvOGdlTERldkZFZnZkYjlUMzhrQkxOelVVLzU3bUtJQWNBQUFBQWNFcXlZY3pBODcrV0U0ME83bysrOGJyU25aMEtyRndsWmZyT3BMdTZGTi94Z1h4TlRmSXRXalRxZldPYk44dFRWNmZnVFNPckx1eWEyZ24zeUxIcjZ1U2QxNlRVa1NPS3ZmM1c0SDVuWUVBRHYzMUI4cHF3SlN2eTZpc2pWc1ZLZDNSbzRQbm56T2UrN0xMY3ZTdnlwLzhNOHZ0bEJVclYvL05IbEdqZVhmaWNpWEFjcFk0ZGsxMWs1YTJ4cE5yYTFQMmR2MUdxdlYyVi8rNlBaTmZVS1B6Y3MxSWlvV0JtMVNtN3N0S0VMNit0VitydzRienJRM2ZlcFlvSHY2N1NhNjhyZVA5MGI2OEdubjlldnNWTDVKMXJWaDhMM25LckxLOVhmVC85eWVBeThrUEYzbjNYTkN3ZTFrZkpDZ1JVK2JVSDVKMDlXNGw5Wm1uNjZJWTMxUGZqaHhXOC9aUHkxRTFWMzhNUGpibGMrcm1HcVZVQUFBQUFnRlBpbXo5ZkpTdXVWT3p0dDlUOWwvOVR2a1VYS04zZHBjVHUzZkxVVDFQd2xsc0h6MDBlTVpVaXFjN09vbjFjckdCUW9mcytwOENxMWRLcVZaTFhsN2RpVXlIcHZyNFJvVU9oSmM5RG43MWJQWC8vZCtwLzlPZUtiZDh1dTZKQzhZOCtrdFBYcTlBOTYvSUNtZWo2OVlyODlnWDU1cytYVlY2dWRGZVhFaTB0VWlxbDRNMjNEQVlWWXltL2Q1MjYyOXJVOTZPSFZmMmYvbVJ3U2ZieGlMejZpcUp2dlNtbnYxKytSWXVVT25aTVRpeW00QzIzeUR2UExIa2UzYmhCaWRhREt2dk1aM09mL2FIdXZQczQwYWljYUZTSmp6NlVaK1pNVlg3bHE3SXJLeFhmdmsyeGQ5NVc0QlBYeUs2dEhUeS85UG9iRk51eVdiMFBQNlNxYjM1N2NJcVZaOFpNRlYwZktwVlMzNDhmbHB5MFFuZmVOYmpiS2l0VDJSMTNxdi9SbjZ2dmtaK3EvUDR2RERhZVRyUzBLTjExUWlXZi9uVGhlL3I5cW56Z3djSGx5MU9kblVvME44c0tCRlQrcFMrcjUrLytWbjBQL2JNcXYvbHRXWUZUbkc3bUVnUTVBQUFBQUlCVEZycDNuVHoxOVlxK3VVbXhMWnRsaDBJS1hIMjFncmZjbHZjRk8xdXhrKzdxVWp6VFkyYTRiTkRoblR0MzNNK1BibmhEMFExdmpIbWVaOW8wVmY3N2Iycmd1V2VWMkxOSFRqb3Q3NHdaQ3E1Yko5K3dhVlZsZDl5aDZLWk5TcmEyS3QzZkw2dTBWTDVGaTFSNjlTZmtXemg2TlZFZXYxOFZYLzZLRXZ2MzVZVTQyZVhRcFNMTGZNdE1CL05uVm55eWE2WW8rczdic2dLbDhzNFo0OTA0VHQ1OTR6dDNtS0VzWDY3eXozOUI4dm1VYUdsUjM4OStKdStzMlNyNzVLZnlMcmVycWhSYWQ1LzZmdndqOVh6L2U2cjRnd2RsajdZS1ZqS3AzaC85cTVMNzlxbjhpMS9PQzRVa3FXVEZsVW9lT3FUb2hqZlVHNG1vL1BQM3l3cUZGSG4xWmRrVmxmSXZYWlo1RmZiSTBNNmJpeTVTaHc0Tk5sZjJUSjJxMEgyZlUvalpaNVh1N1pHSElBY0FBQUFBZ0hHeUxKV3V2VmFsYTY4ZDliU1N5eTdMbTVKMHVnVFdYS1hBbFN2ejlxVWpFZlgrOFBzanp2WFVUMVA1Vjc0NjVqMzlGMThpLzhXWG5KYngyVk9teUdmYkNqLzlsT3hBUUxKdEpYYWJxVloyZGZHQXhEdHIxdUIwcjNSdnIySVBQMnplbjJka1hVeTZxMHZKL2Z2a0pCSks3TnVya2tzdUhUeFdjdWxsY3FKUjg0NDhIc1hmZTA5OVAvdXA3TEtneXIvNHBZTDM4MTkwc1VyWEhsVGsxVmZVL2RkL3BZcXYvWUc4YythTUhHUTZwWjRmZkYvSkEvdFY5dWs3NUYrK3ZPQm5LYnZ6TGptcGxHSnZibEw0bWFjVnV1Y2VLWmxTWU0yYXdRb2RUMjJ0bEV4cTRKbW41UjJ5RkwwaktYbmdnQko3V3ZJcXZQekxMNUwvd3FVRngzK3VJc2dCQUFBQUFMaWVYVjR1ejR3WitmdUdyNlkweWV4Z1VOSFhYOHRWblBqOUtybnNNaE5FRkZEeHRRZGtEYWxHaVcxK1IwNDZwZExycnMrL2IxbEkzdWtOY21KUjlmM2szOHkrS1RVbUlCa2lzRHF6SFk4ci9OU3Y1S21zVk1VRFh4KzExMUR3VTUrV0ZRb3AvdjU3OHM1b0tQTEJQQ3E1L0hJRlZseVoxMk5vNUhtMlF2ZmNLMS9qUEpWY2ZKSGs5YW5pd2Evbm5WSnkyZVdLNy9wSWtZMGJ6Q3BvUTFnbEpmSmZjcWxLcjFtYmY5L3pLTVNSSk10eG5DSXIwd01BQUFBQWdOUE9jY3lQUGNIMWh4eEh5Y09INUowNWErejdXOFduYTBsbVdYaTdyR3pFOHVMRkwwaWRkNEhKMllvZ0J3QUFBQUFBd0NWWWZod0FBQUFBQU1BbENISUFBQUFBQUpnRVc3WnMwVTAzM2FScnJybEdXN1pzbWV6aHdDVUljZ0FBQUFBQUFGeUNJQWNBQUFBQUFNQWxDSElBQUFBQUFBQmNnaUFIQUFBQUFBREFKUWh5QUFBQUFBQUFYSUlnQndBQUFBQUF3Q1VJY2dBQUFBQUFBRnlDSUFjQUFBQUFBTUFsQ0hJQUFBQUFBQUJjZ2lBSEFBQUFBQURBSlFoeUFBQUFBQUFBWElJZ0J3QUFBQUFBd0NVSWNnQUFBQUFBQUZ5Q0lBY0FBQUFBQU1BbENISUFBQUFBQUFCY2dpQUhBQUFBQUFEQUpRaHlBQUFBQUFBQVhJSWdCd0FBQUFBQXdDVUljZ0FBQUFBQUFGeUNJQWNBQUFBQUFNQWxDSElBQUFBQUFBQmNnaUFIQUFBQUFBREFKUWh5QUFBQUFBQUFYSUlnQndBQUFBQUF3Q1c4a3owQUFBQUFBQURPZFVlT0hOSDc3NytmdDIvZnZuMkt4V0pLSnBONjU1MTMxTkhSa1hkODZkS2xtakZqeHBrY0psekFjaHpIbWV4QkFBQUFBQUJ3TG10dWJ0Wjk5OTAzb1dzZWUrd3hOVFUxZlV3amdsc3h0UW9BQUFBQWdJOVpVMU9UbGkxYkprbHlIR2ZVSDBsYXNtU0pHaHNiSjNQSU9Fc1I1QUFBQUFBQThER3piVnUzM25wcjNqN0xzdkoraHJyaGhodGsyM3hseDBqOHJRQUFBQUFBNEF5NDZxcXJWRlZWTlNLMEdjcXlMRlZWVlduMTZ0Vm5jR1J3RTRJY0FBQUFBQURPZ0txcUtpMWV2SGpNOHhZdlhxemEydG96TUNLNEVVRU9BQUFBQUFCblFEQVkxTktsU3djcmNvYXVQWlQ5M2JJc0xWMjZWSldWbFpNeVJwejlDSElBQUFBQUFEZ0RMTXZTOHVYTFJ3MXB5c3JLZE1rbGw5QWZCMFh4TndNQUFBQUFnRE5rMGFKRmVVSE8wSldxSkZPMXMyVEprc2tZR2x5Q0lBY0FBQUFBZ0RPa3BxWkd5NVl0SzlqdzJMSXNMVnUyVE9YbDVaTXdzUjgvNWdBQUdEZEpSRUZVTXJnRlFRNEFBQUFBQUdmUVp6N3ptYUxIMXExYmR3WkhBamNpeUFFQUFBQUE0QXk2OE1JTDFkRFFrRmVWWTFtV3BrK2ZydVhMbDAvaXlPQUdCRGtBQUFBQUFKeEJYcTlYZDkxMTE0ajl0OTkrdTN3KzN5U01DRzVDa0FNQUFBQUF3Qm0yZHUxYWxaYVd5cklzV1phbDB0SlNyVm16WnJLSEJSY2d5QUVBQUFBQTRBeXJxNnZUNHNXTEI3Y1hMMTZzaG9hR1NSd1IzSUlnQndBQUFBQ0FNeXdRQ0dqKy9QbUQyMHVXTE1sYmxod294anZaQXdBQUFBQUE0SHpqOC9uVTFOU2trcElTcFZJcHpabzFpLzQ0R0JlQ0hBQUFBQUFBSnNHS0ZTdFVWMWVuZ1lFQnJWaXhZcktIQTVjZ3lBRUFBQUFBWUJMTW5qMWJDeFlzVUg5L3YyYlBuajNadzRGTFdJN2pPSk05Q0FBQUFBREE2WGVpUDZGWFB1eldvYTdZWkE4RlJiUzB0Q2lWU21uUm9rV1RQUlFVNExVdHJWMWNwU1VOWmJLc3lSNk5RWkFEQUFBQUFPZW9SemExNlZ1UHRPaDRYMkt5aHdLNGtzZTI5SVZWOWZxNysrZXJLbmgyVEdwaTFTb0FBQUFBT0VjMXQwVUljWUJUa0VvNzJua2tyUDVvYXJLSE11anNpSk1BQUFBQUFCK3JCZE1ydEtDaFlyS0hBYmhDZHppdXJYczZGVTJjUFFGT0ZrRU9BQUFBQUp3SExtNmNvbnZXekozc1lRQ3UwSEswVng4ZDZqNHJneHltVmdFQUFBQUFBTGdFUVE0QUFBQUFBSUJMRU9RQUFBQUFBQUM0QkVFT0FBQUFBQUNBU3hEa0FBQUFBQUFBdUFSQkRnQUFBQUFBZ0VzUTVBQUFBQUFBQUxnRVFRNEFBQUFBQUlCTEVPUUFBQUFBQUFDNEJFRU9BQUFBQUFDQVN4RGtBQUFBQUFBQXVBUkJEZ0FBQUFBQWdFc1E1QUFBQUFBQUFMZ0VRUTRBQUFBQUFJQkxFT1FBQUFBQUFBQzRCRUVPQUFBQUFBQ0FTeERrQUFBQUFBQUF1QVJCRGdBQUFBQUFnRXNRNUFBQUFBQUFBTGdFUVE0QUFBQUFBSUJMRU9RQUFBQUFBQUM0QkVFT0FBQUFBQUNBU3hEa0FBQUFBQUFBdUFSQkRnQUFBQUFBZ0VzUTVBQUFBQUFBQUxnRVFRNEFBQUFBQUlCTEVPUUFBQUFBQUFDNEJFRU9BQUFBQUFDQVN4RGtBQUFBQUFCTzJyU1ExRmlkMi9aWStjZFh6SkNtbE9hMmh4MHVxS0pFdXJ4QnNzZHo4aGcrTVVlcURVcEJuM1RwZE1udkdkOTE4NmVZY1p5cXVqSnA2ZFNUdS9aMHZZZUdjdlBuTUI3RC8veUdqNmV1N05UR01sVEFlM3JlOGZuR085a0RBQUFBQUFDNDErSTZxVHVhMjE0elcrcU1TRHVPbSszcDVkS2hYdk83eDVLdW15ZnQ3cEFPOUJTL3ArTkljNnFrZ1lTMHMvM1V4amNsYUFLRHZwaFU1cGR1V1NCdE95cTFqdko4U2Jwd3FoUS9LdlhHOHZkN0xHbmVGR2xmbDVSTW0zMVh6Wlo4d3dLaTk5dWtqZ0dwYVlya1Bja1NpdkcraHhMUHlPZExVamd1V1paMDhUVHBXTDlVN3M4ZFN6bm12a00xbEV1WE5raXY3RFBYRGplN1VwcGFKcjI4ci9oWTZrT1MzNVk4dHZuY1BvOEp6N0kvQVcvdXg3WWtSOUx6dTZWd1FycTJVYW9LalBwS0NuSWtQZm5oeEs5eks0SWNBQUFBQU1CSktTOHgxUzY3T25JaHdRZkh6UmZ5M3RqSXNPU3lCcW5FS3gwUGozN2Z2cmkwdHl1L2t1ZGtwZElteklpbHBOY1BtRXFiNFVVbmpkWFNCYlg1KzN3ZTZhSnBKdERKMm5wVW1sY3QxUVROWjhzR09UVkJFK3owWjhLUEM2ZWEwTUpqbVhCa1Y0ZFVYU0NnR0VpWWNSVXozdmV3dE42RUxMWmxQbXNxTTY3ZnRranpheVMvMXdScTA4dHpuNjB2SnIyME4vOCt4L3BOZ0xOMnJ2VHlYaW1TekQ5dVpZS1gwYXljYVVLY1JNcThuMFRhL0o1SVNkR2srWHNSVFVxeHBQbHY5a2VTM2pwVXVDTElZMHMzTmtsdnR1YUhodWNyZ2h3QUFBQUF3RWxaVWllbEhlbkttYmw5VDM4a3ZkZG1ncEdoUWM2Y0txbWh3bFI3WkFPQ3V4WVh2N2RsbVlxVVl1ZnM3alRQSGg3QURPZTF6YlNpeXh2eTkxL1dJRDIzVzRxbnBHTjlKdGdZNnFvNUprUnA2OC90bTFkdHdwQ1g5K2JDaDZ3amZlWmVBd2xwWVdaTXM2dE11SEpCN2NoeDJwYTAvWmpVM0hucTcySExFZk96WXFZMEVEZGhtbVJDcEtZcDBvdDdjcFZGdGlYZFBGL2FjMkxrdmRLTzlNWUI2WVltYWMwY2MxM2VXR1RHTXBadFIwMndOVkhESzRTeXNoVk40WVFKdDg1M0JEa0FBQUFBZ0FtYlVpck5ySkJlYU1sVm9tUTFkMHI3aDMyUmIrMlJ1aU5TejVEQVpGTnIvamtMYTgwMG9mZmJ4bjUrZjl5RUNoMERvNTkzZVlNSldZNzBqVHlXeUZURFJKSWpxMDhjeDRRN0hRTW0vTGk4UVpwUllhcDZpbFdGWE5zb2JjeDhKbzl0S25OMkhpODhMZXJHcGx3b2NxcnZRVEloeS9TUXRPR2cyYTR1TlFIYjRWNVRIVlFiTlB0blZlYXVxdzJhejVLdExKSk1CYzBiQnlTN3dIUXdleHdWT2FlcXJzeE1WU3RrYmVQSUlHbkhjUk5tblU4SWNnQUFBQUFBRTlaWWJVSUNuNTJiTmhSTG1TcVFaZlc1ODd5MnRISlcvaGZ3Tnc1SzdXRXpsV2Y0UFZQcGtmdEhFMGtXN2tHVFRKc0trMGhTaWlUTTg0YXpsSnR1Tk9LWVpjS1FSRnBhVkN2VkJhV1BPc3l6c3RlRTR5Tjc2R1F0cURIdnB1V0VxUWphMnpVeWRNcStrdFB4SG1xQ1pzeWRtV2ZNcnBUYXd1YS90VUh6THJ5MkNYVUdFdElWTTB6UG9KZjNTbDJSL040MDRZUVVMMUQ1NHJGTmI1dXhYRHJkOU9XWmlOKzJtT2RhTXVOOFp0ZVE1MXJTYlF1bGpRZnpRN1MxamFlbkliYmJFT1FBQUFBQUFDYnNvM2JUOURmN1pUcWVrZzUwbXlsSFBURnp2SkFyWnhaZnVTb2J5QlRxSjVNMXZLL003RW9UU2d5MzdhZ0pVZUtwL0ViQTg2ZVlhcUszRDV0eFgxaGtSYW4rdUFsakZ0YVk2VHhkVWRQSXR6NlVPNmUxcDNpUTA5b2o3VXFZenpTblN2cXdJLzk0ZHNwVUlTZnpIbVpXbUFxanBaa1E3WEN2cVNpYWNZR1p6amFReUlWc0w3U1ljKzY0SVBlOHRZMjUzOTg2SkIwczBBemE3NUZDZnZQZTBxT1U1clNja0k0V3FJQWF6ZkNwYWtPM3MrOGpuc3JmUDU1cFh1Y2lnaHdBQUFBQXdJU0ZFMmJxVHlKbEtqN2V5RXpwV1ZoakttQUtUV1dTUmc4QVNqeW1DbVphcVBnNTd4eVc5bmZuN3pzUmtkYnZ6MjBQblpvVFNVaWxRNzc1enEvSjliMUpPWVg3d015b01LdHhIZTgzQVV5aGFwNWlzdUZDT0c3ZVFkTVVFL2IweDB6VlM3YWl4Rkx4YVVvVGZROStqNm5paVdXYUNzK29NTTJFc3lHVDMyTXFsSHkyZWU3d0pkZ1RhZWxYbVZXZlBybW8rRE96SVU1MXdLeE1Wa3gzZE95RzFtTzVzMEJQb0d2bTVyK3prMTBOek8wSWNnQUFBQUFBRStiMzVLYnFlR3dwNkRQN0xjc0VFTGNzS0h4ZG9XV3lzMElsMHJ2SEN2Yzg4WHRNQlVtaXlDcFBRL3U4RFAyeUg0N25wa0pOTFROaHhHdkRxbU1rRS9iTXFUTEJTOUJuUWg2dlBiSkpzaVE5MzF4NERJVXFWV1pWbXVxY3lvQnBJdnowUjZheXhCcWxxbVdpNzJGUnJma3pHSWlhNlY4aGYvNDExODB6QVpObG1USGV2dERzbjBnUTRyR2tpaEpUcVZRZktoN2taTitCcGZGTnczSTBzaHBITWxPdHNyeTJhZEQ4OWlGVEdaWDFpYm5qSC8rNWhDQUhBQUFBQURCaGkrdk0xQ1BKZkdtL0xSTU83RGh1dm16dk9GNzR1alZGR3RrR2ZhWmlwRmdqWVY4bWRFaWtSeDdMaGd5RDIwTUNpcDZZZEVHZCtYMzVORFA5SzdzNmt0OWpwaVROckRRaGp5VVRvQlNyd0trdU5hdGRGWk5kZGp1cnpHZDY2MncrYkFLUVdOS0VYQWQ3aXE4QU5kSDM0TEhNZExFRDNhYm56VkRaS1d6UDd6YTlnb3BOclJxUCtwQUp0M1ljTjMvMmhSbzRTeVowU2FiTldHNHRFdVlOTlpBd3E0Y1Yyai8wbnBMNURFUDNNN1VLQUFBQUFJQnhldmVZK2JtZ2R1VFVxbGl5ZUJoUzdNdDNRN21wemlnYVlHUXFlZUlGS25JcUF0TDE4M0xiSGxzNm1KbDIxQlV4VTVVdW1tYUNsZGVIVE1IeVpsYVdPdFJyZXVyYzFHU21JM1VWR1lOM2xHb2l2OGNFSjBOWHY1cGZZNlo5WlZlV09oNDIwNTRPOWhUdk16UFI5NUJ5VEw4ZksvTzhRdWNtQzRSZjR6RzN5a3pYT3RwbnBtNjE5WnZwWWxmTWtPckxURFBsb2JKVDJHSkQzc0dMZTgyMHNvTDNyelovWHlSVHZWTWJOSlZMa2duWXNySU5qYWVXNVNxL0pQUG5WeGt3NS9iSGk3K3pjdzFCRGdBQUFBRGd0SnBSSWQxVm9NZUpWSHc2ejRJYTZVaHY0YUJHeXZWMWlRMmJocE4yVEdnMHRFZE8weFNwSi9PbFBwNHlZY3JDR3RQRU45c2d1S0hjQkJORFYwZVNwTld6aTRkTlZwRXV6VzhkTXBVeDhaVHBnN09wMWR4anpXd1Rvbnhxa1FsYzBvNEpPK3pNRktkQ3p6bVo5M0M0TnovNHlNb0dLMWZQTmMveWUweWx6TFdaeHNiRnBybFpsZ20rNWxXYjVkYXJBK1o5dmJUWGZKNzkzYWF5cDIxdi9uVVZtUkNtUDU0Ylp6SlZ1SXBLTWl0elpZWDhab3BZOXUvSG90cjhjMDlFek4rcm9Vb3k0VS9JbjFuZW5pQUhBQUFBQUlEeGE4ajBvbWtQUys4ZEszek9OWTBqOXkyc01WL0dOeDhwZnUrU2JMWEhzSURqWUUvK0NrdTJaWmI1cml6SlZXOEV2Q2FBeURaZ3RpMFQyTHkrZjJSVnladXR4UnYxMWdhbHErZU0zSCtzM3dRZnNaVHAyL0xxUHVsRVZIcDF2NmxHeVZicCtHenBpcG01dmtLcFlVSE9xYndIU2ZKbXBwaGxRNVRxVWhPcVpGY1Fxd21hVmI1MlpYb0VYVGx6NUQzc1RJaVRTcHVseWZ2aTBuV041ak9leVBURitiRGRUSnRhWEdkK3o1cFJiaXFhNHFtUkRaWEgwakZnZ3FLcFphYXA4VXQ3eDc3bTV2bG1TdGxIQlhvZW5jc0ljZ0FBQUFBQUo4MWpteXFQNitlWkVPTERkdk5GdnRqMHBPRlZLRFZCVTkyeHYzdjAxYUdxQXFZcDd0RHBTTldscGxxa3ZFUXE5NXYvWnZ2RURNU2w5NCtiZXc4a3pEaVgxWnNwVkNHL21ZcFVxSUlqN1JTZmlqUThlTWtxODVucWxWZjNTNDFWMGxWenpHcFl3ejlQSWkxdFBHaXFUcnpEK3VtY3ludklxZ3prR2dBZjZ6ZlRvUTczNXE4ZzFsQ2UyeDUrajZxQW1ZYldPU0J0T0dqQ29zc2J6RHZkTUtUNThFQkMraUR6YmlNSk0yYXZiUm83RHc5VnNpRmFJUk1OZTJBUTVBQUFBQUFBVHRyMGtBbEdXazZZYVRoenEvS1BoL3hTWFptcDhBajZ6SmYzN0ZTYjZTRnA1U3hUTmJKMVNCVktSWWxaYVNxU01PY0dmYWFoNy9BbHplZFVtdWsyUFZIVDFQaEFqOVFYTTFVaGRVSHB5bGxtKy9VRHB0Smo5ZXhjYjVxK2VPR3Fsb2xPcmZKN3pCU3ExaDdUajZjbktsV1ZtbjIveXl4dFBxVTAxd2paa3JTdzFyeVBudGpwZVErU0NabU85a2tiVzgzMjFETHozRzFIUjU0YjhKcktIcStkSCtiMHhreTF6bzdqWnYvbERXWWxyemNPNXZmK2tjeDVOYVdtWDA2MnI0MGphYytKL1BQV0ZxakFHbXBvOCtLeFdKSm1WNWxneU84eGY3ZUtUZHM2bHhIa0FBQUFBQUJPMnJaajVvdDF6eWlyTEMyZG11a0pJek1OcWl0aVFvblZzODEwblkwSFIxYTdaSytSekhYdFlkTmNlYWp0eDh6UGNKYWtaZE5Nc0xIbGlBa2xqdlNaNXl5ck54VW1XdzRYSHUvbXc4VXJZbXFDMHFwWitmc3VubWJ1bncxTTBvNjA2V0N1WDR4a3dwakZkYmxWcE1JSjAxY25tVDQ5NzBFeW4vWG9rSUJuYnJVSmwwNE1XU1k4bVRaaDBZSWEwNlM2TzJyQ202eTBJNzNYWm42ZlVXNHFiRFljTkwyRUN0blVhbGJ4Q3NkTktQVHVzWkhWTjcvYmsydjJQRnpqa0diSDQrRmtydkY3VE5oMnVEZlgxUHA4WWpuTyticGdGd0FBQUFDYzIvN2JrL3YxNTArYUxzRDNySjZyZTliTW5lUVI1WnRhWm5xakZKb21KSm5ndzJPYjZwV0pmbkgxV01XblFwMU8vbEZXMHlyRTBzalA4bkc4QjY5dDNrR2hxcVB4S3ZXT3JNUTVYN1FjN2RWZlAvbUJUdlRIZFVWanVYNzVSMHMxYzBySjJCZWVBVlRrQUFBQUFBQW1SYkdtd2xtT1RuN3A3RE1SNGtqakQzQ3lDZzNyNDNnUHliUjBxaG5NK1JyaW5PMktMUHdHQUFBQUFBQ0FzdzFCRGdBQUFBQUFnRXNRNUFBQUFBQUFBTGdFUVE0QUFBQUFBR2VCOGhMcDB1bTVCc3BBSVRRN0JnQUFBQUNjdHlvRFVybC80dGNsMDlLeEljdHlyNW9semF3WTM3V1JwUFRzcnBIN0Y5ZEtWYVZTSW1XV0hLOEtqRHhudUJNUnFTNG9YZE00dm1jUDF4NlcxdTgvdVdzeE9RaHlBQUFBQUFEbnJUbVZVdE9VM0xiWE5pdGVPY09XbC9KazVyT2tNcXRIUlpMU2I1cnp6em5ZSTMzWVB2cnpHc3FsK1RVajkxZVVTTE9ycE5mM20xV3FRajdwK25tajM4dVI5UGdPcVgxQWVtTEhzTTlWWlQ3WHkzc3p6NjJRbHRWTEx6U1B1QTFjaGlBSEFBQUFBSERlZXEvTi9FaVN6NWJ1WEN5OWZzQlVxZ3gxOVJ4cElDRnRPVkw4WG82azlCakxuaGM3ZnRFMDZXaWYxQlkyRlVMOWNlbUpuYm5qMDBQUzZ0bW1raWRXWU1ueitwQTBmMGdnVmVxVHl2elNtdGxtTytDVlNyMjViY25jNTUzRG80OFhaeCtDSEFBQUFBQUFUb05aRmRLTTh0SFBzYTJSUWN6TUNxazJhQ3A4L0I3cHVubFNjNmUwYzBoMVQ2WVFTQ21uY0JnVTlKbXdKaHRLVFF0SjA4dWwzWjFtdXpZb05YcHoyNVVCYVZIdGhEOGl6Z0lFT1FBQUFBQUFuQVo3dTZSdFIwYy9aM2FsdEh4YWJqdmdsUzV0a0ZwT21PbGJTK3VrZUVyYTFUSHg1OGRTMHZGTUpWSFFKOVdWNWJhelU4YXkyMk5WRHVIc1JaQURBQUFBQU1CcE1LOWFtbHMxK2puREszS0NQcW5FSXkyb01UKzJaZnJhcEU0aWFLa3VsYTdLVEozS1RxMjZhdGpVcXV3MksyTzVGMEVPQUFBQUFPQzhGUEJLVTh0eTI5NU1RK1A2TWhONkRGWHFOU0hMN01yY3ZyNjQxQlhKYmJmMlNCOGNILzJaTXlyeXB6U2RpRWkvM0dtcWNXNXNrdlozbTMwVEZVdEt4L3JNOWVNUjlKbXh3SDBJY2dBQUFBQUE1NldRM3pRWnpySXM4OSttS1NPbkh2azlVa2htZGFtcy9kMzVRYzdKU2puUzZwbFNYMHphTVVZUVZNeXhmcWx6QW1QcGpabm15bkFmZ2h3QUFBQUF3SG1wWTBCNlpsZHV1OVFyZlhLUldiVnFlRlhNZUZhdG1sVTVkcFZMb1diSGx6ZElOVUhwN1VObWFsWjVpUlJObW9iSDR6V2pJaitVR285NFNucWhaV0xYWVBJUjVBQUFBQUFBSURQVlNqTFRsRTdHeVRRN0x2RklqZFhtOXl0bm11bGEvZkdKVGEreUxlbEluL21aS0s4dEpkTmpuNGV6QjBFT0FBQUFBQUF5ellLVGFWTjVNMTdYTnBvQUtPQ1ZISmxsdjBmanRhVVNyM1RyQXJQOTRoN1QzRGljTUZVNEoyTkpuV21VWElobFNSNXI5TERtdWQybU9nZnVRSkFEQUFBQUFEanZXWkxtVDVIYStrMGdNMTQ3MjAxUU1sUlZRT3FKU2M2UUc1WDVwWEI4NVBVcHgvUzJzUzFwU3FtWllsVVRsSklwYWZNbzA3aUcrdUI0cnNteXg1SVcxcHBwV2NtMFZCMlFibWlTbnZ6UWhEcU4xZEwrcnBOYkZRdG5CNEljQUFBQUFNQjV6YmFrRlROTWI1cTNEMC9zMnJaKzgxOUxway9Od2hvVHhMeDVTR3J0TmNlbWhhU0xwMGxkVWJPeVZXdFBydXFuT2lCZDJtRENIOXN5VFlnN0JzeDlmWGJ1T2Q1TVdPU3o4d09pdEpNTFpXYVVTeGRQTjcrM2g4MTloaXIzU3hmVVNoZE9sVDVxbC9hY0lOQnhJNEljQUFBQUFNQjVxelpvZ3BTUVg5clVLblZISjNaOWRjQlV1Y3lxTk5PbVdudWtyVWZ6NzNPczN6UVZubDBwTlZWTHkrdE5ENXc5Sjh5eHJvaTBxOE9FTDlsR3lQZGNXUGg1dHkzTTMyNDVJUjN1TmZlc0NKajd0SFNhejFNWmtHWldtc29jUjZaSzZQbG1zeXJYa2pxekRQcUg3ZVllY0ErQ0hBQUFBQURBZWNtU1dla3BsVGE5YW5wakU3OUhSVUNhRWpUTGhoL3NLZDVycGplV213SlZWMllDSGE5dCt1SnNMZEFnK2NVOTQzdCtMQ1ZOTHpkTmtqY2NsQ0pKYzk5cjU1blBsMGpuTDJtZWRzeTBxd1BkcGpJblFDcmdPdnlSQVFBQUFBRE9TNDZrOWZ2SHQyclQ2d2NLN3ovUWJYNG1vajFzZmtiVE5ZSEtvRDBuekU5V01pMDl2bVAwYStLcHNWZll3dG5KSHZzVUFBQUFBQURPVFN5OURiY2h5QUVBQUFBQUFIQUpnaHdBQUFBQUFBQ1hJTWdCQUFBQUFBQndDWUljQUFBQUFBQUFseURJQVFBQUFBQUFjQW1DSEFBQUFBQUFBSmNneUFFQUFBQUFBSEFKZ2h3QUFBQUFBQUNYSU1nQkFBQUFBQUJ3Q1lJY0FBQUFBQUFBbHlESUFRQUFBQUFBY0FtQ0hBQUFBQUFBQUpjZ3lBRUFBQUFBQUhBSmdod0FBQUFBQUFDWElNZ0JBQUFBQUFCd0NZSWNBQUFBQUFBQWx5RElBUUFBQUFBQWNBbUNIQUFBQUFBQUFKY2d5QUVBQUFBQUFIQUpnaHdBQUFBQUFBQ1hJTWdCQUFBQUFBQndDWUljQUFBQUFBQUFseURJQVFBQUFBQUFjQW1DSEFBQUFBQUFBSmNneUFFQUFBQUFBSEFKZ2h3QUFBQUFBQUNYSU1nQkFBQUFBQUJ3Q1lJY0FBQUFBQUFBbC9CTzlnQUFBQUFBQUIrLzR6MVI3VGpZUGRuREFGemhjR2RZaVpRejJjTW9pQ0FIQUFBQUFNNERiKzV1MS9aOUp5WjdHSUFycE5KcGhXUEp5UjVHUVFRNUFBQUFBSENPQ3BWNDVQTllTcVFjeFJJcHhSS3B5UjRTNERybEFhOThIbXV5aHpHSUlBY0FBQUFBemxFM0xhM1d6aVAxMnRzZW5leWhBSzRVOE5tNmYxVzlxc3ZPbnZqRWNoem43SnowQlFBQUFBQTRaYjJScEFaaTZja2VCdUJLSGx1cUx2UEpleFpWNUJEa0FBQUFBQUFBdUFUTGp3TUFBQUFBQUxnRVFRNEFBQUFBQUlCTEVPUUFBQUFBQUFDNEJFRU9BQUFBQUFDQVN4RGtBQUFBQUFBQXVBUkJEZ0FBQUFBQWdFc1E1QUFBQUFBQUFMZ0VRUTRBQUFBQUFJQkxFT1FBQUFBQUFBQzRCRUVPQUFBQUFBQ0FTeERrQUFBQUFBQUF1QVJCRGdBQUFBQUFnRXNRNUFBQUFBQUFBTGdFUVE0QUFBQUFBSUJMRU9RQUFBQUFBQUM0QkVFT0FBQUFBQUNBU3hEa0FBQUFBQUFBdUFSQkRnQUFBQUFBZ0VzUTVBQUFBQUFBQUxnRVFRNEFBQUFBQUlCTEVPUUFBQUFBQUFDNEJFRU9BQUFBQUFDQVN4RGtBQUFBQUFBQXVBUkJEZ0FBQUFBQWdFc1E1QUFBQUFBQUFMZ0VRUTRBQUFBQUFJQkxFT1FBQUFBQUFBQzRCRUVPQUFBQUFBQ0FTeERrQUFBQUFBQUF1QVJCRGdBQUFBQUFnRXNRNUFBQUFBQUFBTGdFUVE0QUFBQUFBSUJMRU9RQUFBQUFBQUM0eFA4UGs3TGEreXlyY0Y4QUFBQUFTVVZPUks1Q1lJST0iLAoJIlRoZW1lIiA6ICIiLAoJIlR5cGUiIDogImZsb3ciLAoJIlZlcnNpb24iIDogIiIKfQo="/>
    </extobj>
    <extobj name="ECB019B1-382A-4266-B25C-5B523AA43C14-2">
      <extobjdata type="ECB019B1-382A-4266-B25C-5B523AA43C14" data="ewoJIkZpbGVJZCIgOiAiMzA0MjkwMDA2OTA0IiwKCSJHcm91cElkIiA6ICIzMjM0MDQ1MCIsCgkiSW1hZ2UiIDogImlWQk9SdzBLR2dvQUFBQU5TVWhFVWdBQUJkb0FBQVZiQ0FZQUFBQTJuaGhEQUFBQUFYTlNSMElBcnM0YzZRQUFJQUJKUkVGVWVKenMzWGRnRS9YN0IvQjNkdmNlZE5HV1VrYlpRN2JnQmtSQkJWSGNvbDlVM0JNM2JzV05YMEVVQjE4Y29JSWJFQlJVVVBiZWJlbWdlN2RKMnFUWnZ6K3V2U1pOMHFaTlM0dS85K3NmeU4zbDdwSzB2ZHp6ZVQ3UEk3SFpiRFlRRVJFUkVSRVJFUkVSRVZHN1NMdjZCSWlJaUlpSWlJaUlpSWlJem1ZTXRCTVJFUkVSRVJFUkVSRVJlWUdCZGlJaUlpSWlJaUlpSWlJaUx6RFFUa1JFUkVSRVJFUkVSRVRrQlFiYWlZaUlpSWlJaUlpSWlJaTh3RUE3RVJFUkVSRVJFUkVSRVpFWEdHZ25JaUlpSWlJaUlpSWlJdklDQSsxRVJFUkVSRVJFUkVSRVJGNWdvSjJJaUlpSWlJaUlpSWlJeUFzTXRCTVJFUkVSRVJFUkVSRVJlWUdCZGlJaUlpSWlJaUlpSWlJaUx6RFFUa1JFUkVSRVJFUkVSRVRrQlFiYWlZaUlpSWlJaUlpSWlJaTh3RUE3RVJFUkVSRVJFUkVSRVpFWEdHZ25JaUlpSWlJaUlpSWlJdklDQSsxRVJFUkVSRVJFUkVSRVJGNWdvSjJJaUlpSWlJaUlpSWlJeUFzTXRCTVJFUkVSRVJFUkVSRVJlWUdCZGlJaUlpSWlJaUlpSWlJaUx6RFFUa1JFUkVSRVJFUkVSRVRrQlFiYWlZaUlpSWlJaUlpSWlJaTh3RUE3RVJFUkVSRVJFUkVSRVpFWEdHZ25JaUlpSWlJaUlpSWlJdklDQSsxRVJFUkVSRVJFUkVSRVJGNWdvSjJJaUlpSWlJaUlpSWlJeUFzTXRCTVJFUkVSRVJFUkVSRVJlWUdCZGlJaUlpSWlJaUlpSWlJaUx6RFFUa1JFUkVSRVJFUkVSRVRrQlFiYWlZaUlpSWlJaUlpSWlJaTh3RUE3RVJFUkVSRVJFUkVSRVpFWEdHZ25JaUlpSWlJaUlpSWlJdklDQSsxRVJFUkVSRVJFUkVSRVJGNWdvSjJJaUlpSWlJaUlpSWlJeUFzTXRCTVJFUkVSRVJFUkVSRVJlWUdCZGlJaUlpSWlJaUlpSWlJaUx6RFFUa1JFUkVSRVJFUkVSRVRrQlFiYWlZaUlpSWlJaUlpSWlJaThJTy9xRTNCbjlLTjdvVGRhdS9vMGlJaUlpSWlJaUlpSWlLaGJzV0Y0cjBDOGNVdHZSQVlydS9wa0FIVGpRTHZlYUVXL09EK002QjNZMWFkQ1JFUkVSRVJFUkVSRVJOM0UzbE5hbE5TWXVsV2lkcmNOdEFQQWlONkJXSEJWWWxlZkJoRVJFUkVSRVJFUkVSRjFFNHUrTzQwL2p0UjA5V2s0WUkxMklpSWlJaUlpSWlJaUlpSXZNTkJPUkVSRVJFUkVSRVJFUk9RRkJ0cUppSWlJaUlpSWlJaUlpTHpBUURzUkVSRVJFUkVSRVJFUmtSY1lhQ2NpSWlJaUlpSWlJaUlpOGdJRDdVUkVSRVJFUkVSRVJFUkVYbUNnbllpSWlJaUlpSWlJaUlqSUN3eTBFeEVSRVJFUkVSRVJFUkY1Z1lGMklpSWlJaUlpSWlJaUlpSXZNTkJPUkVSRVJFUkVSRVJFUk9RRkJ0cUppSWlJaUlpSWlJaUlpTHpBUURzUkVSRVJVU2ZLS3RIajF2ZE9ZRSttdHF0UGhZaUlpSWlJT29tOHEwK0FpSWlJaUFUakZ1eERiYjBGKzk4NUIzS3BwTVZ0TlRvTFB0eFVpTHl5ZXZ4M1hwOHpkSVp0VTFSbHhGTmZaT0haYTVLUkhPM1QxYWZUSWZSR0t4NytMQk1YRGc3RHpMR1JIajFuemZZeTdNdlM0dkdWcDdEMjhVRUk4Vy85SzdqTkJtajBabFRYbWxHcE5hR3Exb1J5dFFuNUZmVW9xREFndjhJQW1SUlkrL2dnYjE5U3V6eTY0aFEySHFqQzA3T1RNSHQ4VkplY0F4RVJFUkZSZDhKQU94RVJFZEZaU0ttUVlQT2hLaFJWR2JGaGZ5V21EZy8zK0xtRDc5L2RvZWNTNENQRDlrVWpuSlovL0ZzUjltVnBjY2NISi9IRmd3TVFGYXdRMTQxK2RDLzBSbXU3ajduMHpyNlkwRC9ZY2RtR1Fpejd0YkRkKzNUbjhPSlI0di8vT2FIR1B5ZlUrUHU0R29keWF2SDA3Q1FvNVMwUGl0eC9lUUsySHF0QmZvVUJDMWRsWS9IdHJRK01uQ3pVNFpvM2pyYTRUWUNQREFXVkJ1ekswT0Q1MVRtZXZaZ0c1dzhLOGVnOHVqdUR5WVp6SHRuajhmWnhZU3BzV0RqRVlkbVd3OVY0NEpQTWpqNDEwYUtiVThUZnovOHNPWWxkR1pwT08xWlNsQTkrZW1wd3ArMmZpSWlJaU54am9KMklpSWpvTE9TamtPTHhtVW00YjNrR1B2MjlHRk9HaFVQU2NyelhpVVFDdFBFcERtd1FNcS9kZWZUS25qaVdWNHNUQlRyTVg1YU9sUStrd1UvbFdMa3dMY0d2VGNjc3FEUkFvN08wdUkxTUNpamw3aXNrTmdiNGZSUlN0KytaelFiVW01d0hBaTRhRW9wMzVxYmk4WlZaK0dGWE9iSkw5SGozOWxSRUJDbGM3QVhpY1o2Wm5ZeTdQMHpINE1SQTJHeG85YlBxSCsrSENXbkJrRUNDOEVBRnl0UkdiRCtweHBUaFliajF3bGpFaGFrUTVDY0RBT3hxZUU2SXZ4eXhZY29XOTZ2UldWQlFhV2o1NEY3WXNMOFNDLzZYMWE3bi92WEtjSVEyWlB1Zis4UitxSFhtRnJjUDhKSGh6NWVISXl5dzlWc2FrOWtHcmQ2Q2lHRDNuOU9aTUtaUE1DSUMzWi9Eam5RMXFtck5tRFFnQkFFK01uRzV3V3pGNzRlcUVlUW53N245UTl3K1B6SzQ1YytmaUlpSWlEb1BBKzFFUkVSRTNkaUtMY1Y0KzhmOEZyZEpMOVJoeUFPdXM5VDd4UHBoellLQkx0Y3R1Y001Szd3dE5oMnN3aU9mblhLNzNsY3B4WHYvNllQWnJ4OUZScEVPai8zdkZONzdUeDgwVnNWUnlDUlkvWWpyYzNQbmlaVlpXTGV2c3NWdHBvK0t4UE56a3QydUgvSFFIcGdzTnF4Wk1BZzlJMVV1dHltdE1lTGloUWRkcnJ0Z2NDZyt2cWNmNWk5THgrSFR0WGg4WlJabVQ0aHE4YjFvdFBpWGZDeit4ZjNuYVo5cHZ2U092dUx5dFR2S3NmMmtHZ2tSUHVnZjczcHc0dnhCb1MyK2JxRDF6Nnk3OEZOSllUUTNEWlkwRG83NEtxVU8yeWpsRXZ6NTB2Qlc5N2R1YnlXZStEd0xVVUhPZ2VoekI0VGdyMWVjOS9IV0QzbjRhWGNGcmh3VGlRZW1KN2pkZDNxaER2T1duSVN2VW9wZm54dnF0TjQrWUg3YnhURXRudWV0NzUxQVZhMFdEODNvNlZCdXFVSmp3dStIcWhFZnJzS3JONlcwdUE4aUlpSWk2aG9NdEJNUkVSRjFZOUVoU2d4TkRtajM4eE1qdTdZMmVuU0lFcS9jbUlLN2xxVmo2N0VhYkRwUWhTbkR3MXA4enZWdkg4T1IwM1g0N2ZtaGlBN3BuaG02ZzVNQzhObDlhWGhsVFM1ZXVURUZHWVU2eElRNm42dFdiNEd2VWdxNXpMTzVBMkVCWFp0eDdhM0p3OEp4d2FDV1AxOTdaV29qcHIxNHlHbjVScnVBOVlrQ29ZeE9yMmhmL1BDazY1cjBjLzk3QW50UGFmSEpQZjF4VG1xZzAvcHlqUkVBRU9raW8xMGhrNGlaOVBZYVowV29GSzdYTndxMEM2UzN0QjBSRVJFUi9idnhteUFSRVJGUkY5bVpyc0c4cFNlZGxnOS9zS25tOU03WFI0cjFuZGZ0cmNUYUhXVjRmMTVmcHhJc2pWNzRPaGNTQ1hEWGxMZ1d5NW1jU2VQN0IrT095Ykh3VThsYURiS2ZUVkpqZmZIWmZmMEJBRkhCd1E3QllRRElyekRncG5lUHd3YmdnZWtKYmFxajM5MnMzVkh1c2c3OFM5L2s0cVZ2Y3NYSE8xOGY2ZlpuMDVYVzZ0c0R3TGJqTlFDQTh3YTZMNWxTWFN1VW1YRlhScVpjWXdJQVJIV0QwaXFlbE5lWjhjcGhsOHVQNSt2YzlsaDRZbVlpNWt5TTl2cjhpSWlJaUtoOUdHZ25JaUlpNmlJS3VjUWhNRmlsZFE0V050Ynl0dG1Bbi9kVVlPOHBMWjc0L0JUZXZhMlBVNTN2VFFlcnNHWjdHU1FTWUhScUVDNFoxbjJDMm5kZkd1OTIzU2UvRmJzc3AySmZ1bVZFU3FBWTFENGJWR2hNdUdQcFNWUnFUZWdUNjRkeC9SeEw5TlNickhqdjV3SklwTUNqVi9Uc29yUDBYSWkvSEgxaW0wcldGRmNib05WYkVCMnNSTEJkRnJmVTh4aTd4eG9EN1pNR2hycmRwa29yQk5MRDNOUS9yMUFMNjExbHRIZVZ0QVIvREU3eWQxaTIrVkExeWpVbVRCc1Jqa0MvcGt4NXZkR0tIM2RWSU5SZmpzbk5CcXN5aS9UWWw2VTlJK2RNUkVSRVJPNHgwRTVFUkVUVVJVYWtCRHJVbHg2M1lCOXE2eTM0L1lWaGtFc2RvK2dTQ2ZEcVRTbTRldEVSL0hHa0JrdldGK0NlYVUzQjY0SktBNTViSldRY1AzZHRjcmNLc3JjbU1jb0g1dzlxeWxiZWQwb0xqZDZDY2YyQ29WSUk3MFB2bUxZMVRlME1Sck1ORDN5Y2dRc0doMkxXdUNpMzJ4VldHWERYQitrb3FEUWdOZFlYSDkvVEQ4RitqbCs3TTRwMCtISnJDV3cySURuS0Y3UEdSVHFzWDdxaEVNdCtMWFRhOS9KTlJWaStxVWg4dlBieHBsSXEzKzhzeC9jN3k5djc4bHAwNGVCUVhEaTRLZEQ5NklwVDJIaWdDditaSEl2WjQ5Mi9GOTRxcURUZ1VFNHRlb1FxTWNSTkNTV3JEVkRyekpCSzRQUStOeEpMeDdpbzBkNVZ4dmNQeHIzVEhBZWdNb3YwS05lWU1HOXluRk9OOWg5M1ZTQW1USWtuWnlVNVBHZlYxbElHMm9tSWlJaTZBUWJhaVlpSWlNNFNvZjV5dkg1TGI3eS9yZ0RUUnpVRlpvMW1HeDc2SkJPMTlSWXN1Q29SVjQ2SmJHRXZuZStWTmJsWXZhM01ZZGtYRDZaaGNKTHJRT2xGUTBKeDBaQ21JRzVqamZibjV5UzNxMGE3cHdIbnkxNXlyZzNla25WN0svRDNDVFgrUHFIRzFtTTFlT242RkFUWlpSMERRajN4K2N2U1VhazFZWEJpQU42L293OUNYTlR0SHB3WWdGc3ZpTUdubTR2eHlwcGM5STd4ZGFqRkh4K3V3dWcrUWVMamd6bGFHRXcyeElZcGtSRFJGSUMxTDlNUzRpOUhiRmpMNzVkR1owRkJwYUZOcjdzck5YNk9NOGRHUXVxbXlreE5uUmxXbXpBVHhOMDJGWnJ1bDlGT1JFUkVSUDh1RExRVEVSRVJkVk1mYml6Q2t2VUZMdGU1Q3hJdit1NDBGbjEzMm1IWlF6TVNjTXNGTVIxK2Z1NkVCeXFSRkNVRWcwdHJqTkFicldmczJJRFF2TkxmUitaMmZXT0puaEIvdWR0U0p6WXJVRjFuZGxoMjVaaElXRzNBeTkvbTRzK2pOWmo5eGhHOFBiY1AwaEw4VUcreVl2bW1JbnkydVJobWl3MFQrZ2ZqbFJ0VElKVklVS1kyd1dpMm90NW9oY0ZrUmIxSitMZC9nai84VkZMb0RGWTgvR2ttdm4xc2tGZzJhUHFvQ0V3ZkZRRkFDSTVQZW1vZkFHRGF5QWluTE9oRzV3OEt4Zk56a2x0OGJ6WWRyTUlqbjUxcWNadnV3bXl4NGNkZDVaQktnQ3RhR0R5cXJoV0M2T0V0TkpJdEYwdkhkSitNOXVhekUreTFwMFk3RVJFUkVYVXRCdHFKaUlpSXVxbVlVS1ZEbG5ON3RTY3IzQnQzVEk3RkhaTmpBUUIzZjVnaDF0aDI1WEJ1TFc1NDU3akxkZlkxMmdIZ3B2Tjd0SGhjcTlVR0FKZzZQQUl2WE9jKzREemlvVDB3V1d6NDRzRUI2Qm1wY3JsTmFZM1I2ZmlBa0ZuZEs5b1hEM3ljZ2FJcUl4Yjg3eFMrZjNJUWlxb01Ea0hUdjArb01mSEovUzJlcjcxeWpRbVAvZThVUHJxN24xTlc5dFpqTmJDME1GWXhjMndrWm83MWJCYkRKVVBEY0hqeEtJL1BxeTBxdFNhRXU2bVIzaDdmN3l4SFdVT0EvT0publQrTHh0ZlIxQWpWOWJIMVJpdnFEQmFvRkJJRStUb093TGpyRDJCdjliWXlweGthN283akxnaCsvMlVKdU8xaXg4RXVWelhhMjRNMTJvbUlpSWk2QndiYWlZaUlpTHFadzdtMStHRm5CWHJIK0dMbEEybE82NjAyWU81N0p6QXcwUjl6TDR4MWFKNTZ0Z255a3p2VVoyOUphb3dmS2pWcXQrdk5GaUhRYnJQWk91VGMzQm5XS3dCZlBqd0FUMytSallYWEprTXVsYUJYdEM4bXBBWGo3K1BDK2Zrb3BQRDNrY0hmUndwL2xReCtLaG44ZldUd1UwbmhxNVRCWHlXRHIwb0tQNlVNRlZvanZ2eXJGTHN6TmZqeXJ4TGNlSjdqZ01LbWc1V2QrbnE4VVYxcnd0ZC9sMkhqZ1Vyc3k5SmkvOXVqSU91QWhxZ21pdzNMZnhNR0xwUnlDWHJIK0lyck1vcjA0bWNOMkRWQ2RaUFJMcGFONlNiMTJhY09EOGZVNGVGZGZScEVSRVJFMU1ITzNyc3lJaUlpb244SnF3MDRrSzJGcVNGdCtaYkZKd0FBMTArS2RybjlobjJWMkordFJYYXBIdk1teDUyeDgrd01TVkUrV0h4N0g0KzMzNW51UHRCdU5BdkJWNFc4QXlLOXJZZ1BWMkhGL2YwZGxpMjlveThzVnJRcjBHeTIyS0JVU0hGMXM4YWlaV29UdGg1cm1oR2cxWnN4LzhOMFBEK25GeUtERkM3cjRYdHFVS0kvdm54b1FKdWZsMU5haitJcW9ibm9rdlZORFZ2bE1na3NWaHR1ZmU4RUR1YlV0dXVjR24zK1p3bEtxb1ZqSkVUNFlQVWpBOFYxazU4N2lPS0dkUUJRMVpEUnZtRi9KVGJzZHo4b1VWQnBFRFBPWjQrUHd0T3prM0Q5ZWRHNGFwenIyUUF2ZjV1TFRRZXFNR2RpTk82YzR2NzNMTDFRaDNsTFRzSlhLY1d2encxMXVZMnZzdk4vSm9tSWlJaW9hekhRVGtSRVJOUkZqdWZYNFp0L3l2REg0V3FIZXVDOVkzd3hiVVFFTGp2SE9ldlZZZ1UrK0ZXbzIzNzNwZkZPcFRET0p2YjEwYmNjcm01eDI0a0RRaUNYdWVsMDJhRE9ZQUdBTG4xUGRxU3JNWDlaT3NiMUM4YXl1L29DRUdxOVQzcHlQOElDNWZqenBlRUFnRDJaV3R6Mi9nbU03aE9FNVhmM3cxTlhKN25jMzNjN3ltQzFBWUcrTW1qMUZxejVweHhtcXczM2ZwU0JGZmYzUjBLNGo5dnlRbzNCN3JRRVB5aGRERDQwWm9rZnpxMUZZWlhyQnFseFlTb01UZ3JBNGRPMVdMKzNFbHVQMVRnMFUxWEtKUmpYTHhnWER3M0RlUU5Eb1pTMy9CbDVvcURTZ0dVYkNsdmZzSUhSYlBWNFZvZmVZSVhlYUlWdlF4TlpINFVVUGdyWFFYQ1RXUmo0aWdoVUlOUkZROXRHZ1hiOUFGcmFydEdXdzlWNDRKTk1qODYzTFZ5VnB5RWlJaUtpTTRlQmRpSWlJcUl1c3ZWWURiN2JVUTVBeUpBdXFUYkNiTFhobThjR1FpNlZZTkYzcC9IbFg2VnVuLy95dDdsNCtkdmNWby96MGZ4K0dOTTNxTVBPMjFzV3ExRFBPc2l2S1VEWld1RHg3OWRHdEJwQVYrdUV3WXBQTnhmajA4M0ZyWjZIdTRheW5qaWVyOE5yYTNNeGMyd1Vab3lPRUplYkdyUHFXeGtVOEVTZHdTSisvdE5HaG1QMXRqSmNNU1lDLzV4UTQzaCtIWjVibFlQWGJrckJqVzVxMXpmV29uLzk1bFMzdGVnQllOWFdVcXpiNXpvVGZOcUljQXhPQ3NBUE95dXdacnVRT2E5U1NPQ2prRUd0TStPeHF4SXh1MWtXL2lmMzlvZlZ3LzYzWldvanByM28rRG44dUtzQzlTWXJMaGdjMnVvQURDRFU3bSt0Zm4rak4zN0l3K2QvbE1CWDJmcGdUS1ZHK0hrS2JhSEphbnYwQ0ZWaTJvaU9MeDNUTzlhMzlZMklpSWlJcU5NdzBFNUVSRVRVUlJJaWZYRFJrRkJjUFQ0S1kvb0VZL3pqKzFCYmJ4SFh4emZMVmxicnpNZ3ByWWRjS3NIQVJPY21pbFcxSnVTVkd4RGdJM09vYVIzWXpiTGUxUTNaK3dFK2p1Y1ZIcWpBQTVjbk9DejdjR09oUXdaMVM4cHFqT0orbFFyM2dlNHFyWEQ4RUgrNVExYTlQWnNWRHJNTW1qdWVYNGVET2JVb1V4dWJCZHFGQ0xPckRQSzIrdkt2VXFoMVpneE9Da0RmT09IekRnMVFZUEYvK3VER2Q0NWgvYjVLak9zWGpPbWpJbHJaay9kU2V2aGkwb0FRVEJrUmp2TUhobUxocW14c1BGRGxjbHVGVEFKNCtDUG5LZ1ArdG90amtGT214NU16a3p3S3RMZUYwU1I4UG42cTFqK2YzREk5QUNBaHd2MGdSWHVrSmZqajFadFNPblNmUkVSRVJOVDFHR2duSWlJaTZpTFRSb1MzbU5sNi9hUm9zVTY3eFFyYy92NEo1SlRXNDU1cDhaaDdrWE9KaUljK3pVUmV1UUgzVG92SG5JbXU2N3QzdFMvL0tvVlBRNzNxNkJESDVwU0J2aktIb0RVQWZQTlBxY2VCOXJ5S2VnREEyN2VsWWt3Zjl4bjhqWm5lWHp3NHdHMm1kMm1ORVJjdlBPaDJIOGZ6aGJJc3czb0ZPaXh2ckJkdW42M2ZIaVhWUm56UzBBeDAzaVd4S0c5bzZBa0EvZUw4OE55Y1h0aHhVbzBwSGRCVTg5V2JVbG9OL05yL0xIWTJINFVVYjk3U0d6cURoMm54YlZCdkZQYlpXa1o3WnBFZUdyMEZFZ25RTjg2dnc4K0RpSWlJaVA1OUdHZ25JaUlpT2d1OHZ6NGYrN0swR0pFU2lGc3VkQTZ5NzhyUTRQZEQxWWdPVm1MbXVDZ1hlK2hhT3FNVlQzeWVoWFY3S3pGeFFBZ0FJQ21xNDBwZEZGY2JvZEVKc3dGNlJYZCtDWTBqcCtzQUFNT2JCZG9ydFVKQVBDelF1M0lqaTMvT2g5NW94ZkJlZ1pnNElBUnJHMG9NTmJJZnBCbjk2RjdvamU2RDB1NUs1R3hZT0FSeFlSMmJyWDJtdGZiYTdhMTlmQkRxUGN4by8ybVA4SDZuSmZnanhJTzY2NTQ0bGxlSE9XOGQ2NUI5dGVURjYzbzVEVmdSRVJFUlVlZGpvSjJJaUlpb202dlVtdkR6N2dvQXdNa0NIVjc2SmdkWGpJbkU0RVNockV4K2hRRUwvbmNLQVBEb1ZUMDdwQ0ZsUjZuUUNPVmNIdmtzRXhxZEJkRWhTckhFeXlBWDVXL2FhOGRKTlFBZ0lraUJxT0NPcmFuZFhKM0Jnc3dpSFFCZ2FMTkFlM2FKVUc0a0p0UzdBSFo4aEEva01vbmJKcW4yaGlRSGlKbmE5bHByaHFycWdQSTJYUzA4VUFHZDBkTDZoaEJLMnRRMWxHYnlVN25QYU04czFtUDFOcUUyL3F3T0hMUUs5cGUzcVRhN1dtL0czOGZWQ1BLVjRkeTBFSStmRjkvQnBXNklpSWlJeURNTXRCTVJFUkYxYytHQkN2eTZjQ2cySDY3RzZtMmxXTE85SEd1Mmx5T2xoeThtRHd2RDEzK1hvYXJXalBsVDQzREowTEN1UGwxUllaVUJtY1ZDNEZtanMyRGlnQkE4ZTAweVpyOStCQUF3dnI5ajhEQzNyQjZENzkvZHJtUDl2RWNZaURodm9PY0J5Zlk2a2xzSHEwMm9CWi9Td3pGNy9taWVFTnp1RTlmMnJQcnNVajFlK2ZZMHJwOFVqU3ZHUkNEWVg0WlVEeHBjZmpTL244dmxualpEUFp1dGYzWkltN2F2TXdpQmRuODNnZmJDS2dQdVg1NEJnOG1HZm5GK21OR0I5ZS9qdzFVdVMvU2NMTlRocGE5ejhlQ01CSXhJQ1hSWS92ZHhOWHFFTmoxUFo3RGk5dmRQWU1yd2NNeWVFQVVmeGRrL1dFSkVSRVQwYjhGQU94RVJFZEZaUUM2VFlQS3dNRXdlRm9iTUlqMCsvcTBJRy9aWFl1bUdRZ0JDVGZEbWdldld6RitXM2htbkt0cWJxWVhaWW9ORUF0eHphVHh1dnpnV3E3YVZvcXJXaktISkFZZ0pkYXpSN3F1VVlreGYxN1hWRlRMM1dmcEg4K3F3TDBzTEFCMVNzeHdBVEJhYjIzVjdUbWtBQ0pua1VydlRPcHhiaStKcUl3SjhaT2dmMy9ac2ZaM0JpdDJaR3RRYnJmamlvVFRjTUtsSG0vZEJMV3NzTCtTcWRNeWVUQzBXckR5RkNvMEprVUVLdkhGcmI4aGIrTG56VnAzQmdnODJGT0xMdjBwZ3NRSlBmNUdOSDU0Y0RGVUxqWHkvK2FjVVIvUHFjRFN2RHA5dExzYmNpMkp3OVhnRzNJbUlpSWk2QXdiYWlZaUlpTG9KcTgxOWNMZFJkcWtlNi9aVzRPOFROUUFBbFVJQ2Z4OFpxclJtWFAvMk1ReE9Dc0NONS9YQWhVTkNJWmUySENTVVNBQnZ3b2cyQUMyZDh2UlJFZGgyb2dhWGpZekFlUU5EVUdld2lBMCtiempQTVloOC9xQVFSSWNvOGVTc2xrdWxXSnNkejJZRDN2dytEd0F3T0NrQW8xTGROMEgxVkwzSmloOTNDVFc2WFdVKzcwb1hBdTFEa3dNY2xpLzdWUmowdUhob1dJc0RBKzZvNjRSR3F1RkJuVnY2NW15VFZhSnY5MHdIZTBhekRma05EWE1qZzVzR2VXcnF6Rmk2b1FDcnQ1VUJBSktpZlBEK3ZMNmROZ3ZBYkxYaCt4M2xXTHFoRUpWYUV5UVNZT2JZU054M2VZSkRrTjNjTU5nanNmdFJ1dVdDR01TR3FyRDRsM3prVnhqd3h2ZDVXTEc1R0hkT2ljT1ZZeU5iL1owbklpSWlvczdEUURzUkVSRlJGOUVicmRBYnJRanlrK0ZJYmgxMEJpdVVjb2xEc0t4S2E4YVJ2RnJzeWRSZ3gwbTFXSXBGSVpQZ3FyR1J1R3RxSE1JQ0ZGaTN0d0lyL3lqQjRkeGFQTHJpRktKRGxKZ3pNUnF6eGtZaHlNOTFtWXdsZC9URmhQN0I3VDcvVFFlcjhNaG5wOXl1bDBpQU4yL3BEVUFJa0MvNFh4YktOU1lNVGd6QXhVTWNTOXdzdnIxUHE4Y3JVNXR3T0Zjb3pSTHNKM3lOelNqUzRXQ09GaElKOE5DTWhIYTlqaDkzVmVDWnI3SmRyaHZTTEpoZVo3RGdXSDV0dzdxbU1oOGYvMWFFdjArb29aUkxNRzl5Ykt2SGxEVjhKUFlERldWcW9YWjlqMmFaL3U0czNWQW9CdmRiNHE0WktpQU1jSGp5M3V1TlZ1Z05WZ1Q2eWFBeldKQmVLTlNvdDgrazl2Ujgyc3BYS2NYZ3BLYlA0VUMyRmtaejY0TlM5cXBxelZqOGN6Nk1aaHRDL09YaWJJcmFlZ3RtTFRxQ01yWFF4SGJHcUFnOGVYVVNmSlVkbnlGdXR0cXdibThsbG04cVJGNjVBUUF3T0RFQVQxNmRpTFFFeHhrUU9vTVZQK3dVQm50Q0F4eHYyUzRaRm9ZTEJvZmkyKzFsK0dCREljbzFKcno0VFM1V2JDbkcvRXZqY2Vud2NJZmdQQkVSRVJHZEdReTBFeEVSRVhXUkk2ZHJjZnY3SngyVzlZc1RBbTQ1cGZXNDliL0hVYVUxTzZ4UFMvREQxT0VSbUQ0NkFxSCtUVi9scmhnZGlTdEdSK0x2NDJwODhuc1I5bVZwOGU1UCtWaTVwUmpybmgzaXRpYjFtZkx6bmdwc1BWWURYNlVVTDkzUXk2TkE0T1RuRHFLNDJ1aTBQTWl2cVRaNjN6Zy92SHhqQ2s2WDFXTjRzOGFrbnVvYjcrZHkrWUNlL25oaVZxTERzaDBuTmJCWWhVR0VRWW4rTUZ0c2VQZm5mS3o4b3dRQXNQRGFaTVNGdFo0SkhSRW9CSHB6U3ZYUTZDendVMG54MjZFcUFFQ3ZhTS9xdThlRUtwMnk2dHVxVncvUGpuVTh2dzYzdm5mQ2FYay9OKzlkUjRvTlUySDUzVTExNk4zOVhOaTc5czJqT0o2dmM3bnVsZ3RqeFA4SCtNancwdlVwZVBmblBEeHlSU0pHOW03Zno1QW4xdTJwRkFkMDRzSlV1Ty95ZUV3WkpnVEZyVFpnN0dON29YZlIxTlpWSTFTNVRJSTU1MFpqMnNnSUxGMWZnSy8vTGtWK2hRRkwxaFhnd3NHaExDVkRSRVJFMUFVWWFDY2lJaUxxSW9tUlBnNlBrNk45OE9UVlNlTC9oeVVISXIvQ2dFR0ovaGlhSElqeC9ZTVIwVXBaa1FscHdaaVFGb3dEMmJYNGNHTWh6aHNZMnVWQmRnQ1lOakljLzV5b3dZeFJrVWlLOG1uOUNRRDZKL2lqcE1ZSWxWd0toVndDaFV5Q2hFZ2YzSDlaZ2tPTjdXa2oybGFYZmYzQ0lZQU5pQWdTZ3QyOVkzeXg5dkZCd213Q21RUlNpUVFoL25LWFdjMWJqd2tsZTFKai9PQ3ZrbUh1ZjA5Zzd5a3RaRkxnbWRuSnVQd2N6NXBuSmtTb2tCVGxnOXl5ZWt4NFlwKzRYQzZUWUVLYVo3TU1yaHdUaVN2SFJIcTByYmVhZjJiK0tobHV2emdXZldLYkF1M3pwOFpoL3RTNE51MjN0TWFJaXhjZTdKQnp0RGNvTVFEcGhUcFlHdUxXRW9rUTNKNDFQZ28zbngvanNPMll2a0ZZM1hkZ3U0ODFvS2MvRGk4ZTFlcDIwMGRGWU1QK1NvenRHNHpySmtVN2xCZVNTb0JodlFKeElyOE9OZ2dsblNLRGxaZzhMQXpYVFhSZnF6L0lWNGJIWnliaTZ2RlJXUFRkYWR4OGZneUQ3RVJFUkVSZFJHS3plVkFNdEFzTXZuODNycDhValFWWEpiYStNUkVSRWRGWlNxdTN3R3F6UVNtWGRrcTVpck9aeFFySXV0bGJzdkZBRlg3WlU0R2VrVDU0OU1xZU9IeTZGcSt0T1kzSFp5VmljR0xic3N0enkrcnh6ay81T0YxV0Q2dk5odkJBQlc2K0lBYm5EV3hiVTlzelJhTVRmbGFsVWdtQ2ZEdG04TVkrMFA3WEs4TWRabWwwQktzTnNGaUZocnlzWDA1RVJFVDA3N0hvdTlQNDQwZ05QcHJmRnowalBVdms2V3pNYUNjaUlpTHFRb0VkRkxEOE4rcHVRWFlBbUR3c0RKT0hOZFdYSDV3WWdLOGVIdEN1ZlNWRitXRHg3YWtkZFdxZHpsMnRmMjlFaHlnOXlnWnZMNmtFa0xhak1TMFJFUkVSVVZ0MXc5c1hJaUlpSWlJaUlpSWlJcUt6QndQdFJFUkVSRVJFUkVSRVJFUmVZS0NkaUlpSWlJaUlpSWlJaU1nTERMUVRFUkVSRVJFUkVSRVJFWG1CZ1hZaUlpSWlJaUlpSWlJaUlpOHcwRTVFUkVSRVJFUkVSRVJFNUFVRzJvbUlpSWlJaUlpSWlJaUl2TUJBT3hFUkVSRVJFUkVSRVJHUkZ4aG9KeUlpSWlJaUlpSWlJaUx5QWdQdFJFUkVSRVJFUkVSRVJFUmVZS0NkaUlpSWlJaUlpSWlJaU1nTERMUVRFUkVSRVJFUkVSRVJFWG1CZ1hZaUlpSWlJaUlpSWlJaUlpOHcwRTVFUkVSRVJFUkVSRVJFNUFVRzJvbUlpSWlJaUlpSWlJaUl2TUJBT3hFUkVSRVJFUkVSRVJHUkZ4aG9KeUlpSWlJaUlpSWlJaUx5QWdQdFJFUkVSRVJFUkVSRVJFUmVrSGYxQ2JoanN3RmYvbFdLTC84cTdlcFRJU0lpY3MwR1dBRklBRWdrWFgweVJFUkUvMzQyRzYrNVJFUkVCQUEyS09WU1ZOZWEwRFBTcDZ0UEJrQTNEclJMSkVDL09EK002QjNZMWFkQ1JFVGswaCtIcTFGZFo4YVU0V0h3VThtNituU0lpSWordFRJS2RkaWJWWXRwSThNUTR0OXRiMk9KaUlqb0RObVZvY0hwY2dNc3RxNUdRQkJhQUFBZ0FFbEVRVlEra3liZCtodktpTjZCV0hCVllsZWZCaEVSa1V1bnkrcHhzbENIdXkrTlIxU3dzcXRQaDRpSTZGOXIxYlpTSE1pcHcrMFh4eUtsaDI5WG53NFJFUkYxc1JlK3prRmV1UUd5YmpUVGpUWGFpWWlJaUlpSWlJaUlpSWk4d0VBN0VSRVJFUkcxUzczSml1bzZjMWVmQmhFUkVSRlJsK3ZXcFdPSWlJaUlxT09WVkJ2UkkvVGZVZTZvcXRZTWY1VU1Lb1ZuYzBaTGE0eUlEdW40MTY0eldGRmRaeElmUndZcG9aUzdQNmZpYWlPc05xR2dwSjlLaHRDenJPWjBiYjBGWDI4cncrZC9GbU5RWWdEK082OVBWNThTRVJFUkVWR1hPcnUrMFJPZEJXdzJvRkpyUWtTUXd1UG5HRXcyVkdpTjR1T1lVQldrWHRhWU1sdHNLRlVMKzVUTEpJaTJxeDlkcVRXaDNtUUZBSVFIS3VDajhINXlpLzN4Z0k1NURVUkVuakJiYlNpdE1Ub3NpdzVSUXQ0QmY0UnNOcUNvMmlBK0RndFF3RmNwL00wMFdXd29zL3U3NSsweHo5U3hza3YxbVBuYUVReElDTUNjaWRHNFpGZ1lGTjJwc0dFYnZib21GOXRQcWpGdFpEaXVIaGVOMUZqWHRadk5GaHMrMjF5TWp6WVY0cjdMRW5EamVUMDY5RHllK1RJYnZ4MnFBZ0RFaGFud3c1T0QzVzU3Tks4TzE3MTFUSHo4K3MyOU1XVjRXSWVlVDJkN2RjMXAvTHluQWdEdzE3RWE3RWhYWTJ6ZjRDNCtLKy9walZhWUxEWUUrYkxCTlJHUnR5eFdRRjFuUmxqZ21RODk2UXhXMUJ1dGJvOWRyakVoc2czMzdFUkVubUNnbmFnRFdXM0FjNnR5c1Bsd0ZWNjRyaGN1SEJ6cXNONW1BNnBxVFFnUGRMeWdIOGpXWXQ3U2srTGp2MThiNFhTRFYxeHRSRXdic2c5elN1c3hjOUVSQUVEUFNCVitlWHFJdU83eGxWbllsYUVCQVB4M1hoOU1HaERpOFg3ZHlhOHdZTVlyaDhYSGY3MHkvS3pMemlPaXM5T3JhMDdqMjMvS3hNZm5wb1hnL1E3S3JqV2FiWmo2L0NIeDhidTNwZUtDaHIvdEdZVTZ6TEVMbHY3eTlCRDBqRlIxKzJPOXR2WTBMRmJnOE9sYW5GeFZoNUc5QXpzbHc3dXREQ1liMURvenFtdE5xTkNZVUtrMW9VSXIvRHRsV0RnR0pmbzdQYWV3eW9EZkRsYkJhZ05XYnl0RFZMRFNiYUQ5dGJXbjhVM0R6OGs3UCtWalpPOGc5SS8zNjVCelAxR2dFNFBzQUhEaitUMGNCdER0UlFjcnNlelhRdkZ4VXBRUEJpYjZvN0RLNEhMN1VIOEYvRlRkcjlyamZ5Nkp4ZnA5RmJBSTQvWjQ4NGM4ZlB2WW9EWU5zbHVzUUVtTjY5ZmRVZXdIckZwanN3RlBmcDZGQTlsYVBEU2pKNmFQaXVqVWN5TWk2a3g2b3hWVnRhYldOK3dBUWI1eUJEYTdmOTE3U292WDFwNkd6bURCbHc4UGNMbzNyS28xUTIrMGVIeU1RQjg1Z3Z3Y2oyR3kyS0N1TTd0TWN2djlVQldlL2pJYnZrb3A0c05WV1BYSVFIR21XVzVaUGE1NzZ4akc5dy9HVTFjbklhU0YrMWI3SkxYT0lvRUVzV0ZkLzEyTWlMekhLQmhSQjNycG0xejhzS3NjQVBEZ0o1bTRibUkwSHJtaUorUXlDZW9NRmp6NWVSYjJaOVhpbmR0U01iSjNvTWY3WGJxaEVKLzhWb1RIWnliaTZ2RlJIajJuY1RvNkFFZ2wzUzlUMFdTeFFhTXpPdzA2RUJHMXhlcHRaUTVCZGdDSUQxZWhHLzdaNnhaKzNGMkJuZWthOGZIVTRlRXdXMjF1Zzd6dU5NK29OMXRzS0ZPYm9ETllvRGRhb1RjMi9HdXdvczVnUVYyOUJWcTlCYlgxWnRUcUxhaHRlRnhUWjRaYVo0YTZ6dHppVGF4Q0puRVphRi81Undtc0RaZTc4RUFGcnAva1BrdGRDQXhYb3JiZUFyUEZoaWRXWnVIclJ3ZDZYSExHSFlzVmVQSHJISWRscjYwOWpkZldubmE1L1lLckVySDFXSTM0T0xlc0hwZStjTWpsdGdDdzhOcGt6QndiQ2JYT2pOcDZ6d01TYmRHZTBqVkpVVDY0Y2t3azFtd1h2dmRrRnVueDgrNEt6Qmp0ZVhDNnV0YmtNTGpVR2Q2OHRUY3VHZXJaYklHbEd3cXgrWEExQU9EcEw3T3hJMTJOVjI5TTZjelRJeUxxTkR0T3F2SEFKNWxuNUZqM1g1YUEyeTZPRVIrWDFoaHh6MGZwMEJtRWEvc0RIMmZnNDN2Nk84eWdlM1ZOTGpZZXFITGFsenMzbmQ4RGoxelIwMkhaYndlcjhQaktMUFNOODhQNGZzRzRjMnFjT0ZzN3I3d2VnRERnb05hWnhTQjduY0dDKzVabm9MYmVnbzBIcXJEbmxBYlB6RTUyU3BKclpKK2sxbGtVTWduMnZYMU9weDZEaU00TUJ0cUpPdERNc1pIWWRxeEdMS0h5MWRaU25DaW93MnMzOWNZOUg2VWpzMGdQQUppMzlDUmV1U0hGbzJuaW4yMHVGalBmWHZ3bUZ3ZHphdkhDZGIwZ2t3THZyeXZBNllZdkVNMXBkRTAzNCtWcUV4NWRjVXA4bkZtc2E5ci83OFg0cFdIcXQ3M2hLWUdZYzI2MHc3S1didkx0eThZQVF2MWZuY0Y1MjBBZk9RSjhaWGp5OHl6c1NGZmppWmxKbURZeTNPVStpWWhhc2p0VGcwWGY1VG90WDdXdEZQSGhLdHg0ZnNlV0JqbmJaWlhvOGZJM2p1L1hqN3NyOE9OdTUydEFhNXBuMUd2MEZreDk0U0RzeG5nNzFPSGNXcWRsNVJvVDFtNXZHbVM1YzBvY0ZISkppNE1HY3laR1kvbW1JZ0JDQ1owVlc0cHg0M2s5WUxIYVlMWFpZTEVBRnBzTkZvc05vUUVLajRMd24veGVoS041ZFI2L2xrWGZ1UTdBdDJiSitnS3MzbGJXK29idE1HMUVPRjY5S2NXcFJGRnJwbytLeFBjN3k4V3M5cFYvRm1Oa3FtZUpCR0VCM1d1Z2ZkM2VTbnk0c1dtbVFWaUFISGRPaWV2Q015SWlPcnNVVlJsaFE5TVhnWWRtOU1STERkODdEbVRYNG9YVk9YangrbDR3bUd5b3E3ZkFaUEgrUzhPUHU0VHZNT21GT3BndE5qd3dQVUZjbDFXaUYvK2YwcU5wQnB0Y0tzWHdsRURrbGduMzBWVmFNeDc4SkJPWGpnakhFN01TRWV6SE1Ca1J0Ui8vZ2hCMW9BRTkvYkhxa1FHNC8rTU1IRGt0M0hRZnlLN0ZqZThjdzlYam81RmZYb1I2a3hWbWl3MExWcDVDZFcwaTVreU1kcnUvSmVzTDhPSEdJdkd4UkFJTVRncUFyR0VHOUk1MHRYaWNsdFFaTEc2ekJmWm5hMTB1bDBzbFRvSDJ0dHprWC9QR1VaZkxiNzB3QmxwOTAvazg4WGtXRHVabzhkVFZTUjd0bDRnSUFIWmxhSEQveHhsaWdBOEFJb0lVcU5BSVU2VGYrQ0VQSm9zTmN5K0tjYk9ILzErMGVnc2UvdlJVcDAxOURndVFvMys4UDQ3bmV4NXd0dWVqa0NMQVY0WkFYeG1DL2VRSTlwTWp4RitPWUg4NXdnSVZMa3VuZmJ5cENFYXpjSlBlTTFLRm1lTWlVVlJweEdVdmVaNGh2V1I5QVphc0wzQzVidW1kZlRHaGY4czF4N2NkcjhIU2h1ZExKTUxyMEJ1Rjl6ZzUyZ2RwOFk1WitPdjJWWXIvRC9HWHcyUzJvYTVoVURvMTFoZDlZcHhMMmZTTThQSDQ5WGdycTBTUDJhKzd2bjU3SXJOSTczR0craXMzcEdCTTM2QjJINnNqL1gxQ2pXZSt6QllmQi9qSXNHeCtQeVJHT3IvM3BXcWpROThiSXFMdVNpYVRlRnc2QzRCNC9RS0VER3Q1Ry9xM0tPUVNYUDdTb1JhRDUrdjNWZUtYdlUwbHgrTERtd2JzRXlKVUxtYzZGMWNibmZyd05DcXBObUpuaGxwOFBIdUM0OHh2KzBDN2ZWazVsVUtDNTY1TnhvaVVRTHowVGE3NHV0ZnZxOFN1REEwK25OOFhmV0ticnNkaitnUWpvb1ZaMkR2UzFhaXFOUU1BUnFVR2lYWGZEV1lyZmo4a3pKSlN5Q1F0enE2U3Q5QThuWWpPTGd5MEUzV3dpQ0FGUHIwM0RVOStuaVhXYTVWS0paZ3lQQXdqZXdkaS9ySjA2STFXMkd6QXEydFBRNk0zWTBpU1kvYVh4V3JEczEvbGlHVm9BT0hpL09wTktSNVBmKzZ1UHR0YzdQQzR0YW4rUkVUTmJUcFFoY2MvejRMWjdtYnUzbW54dU95Y0NOeTgrRGhLcW9VYnNuZC96c2ZwOG5vOE9TdkpvOHhrczlXR1NvMnB3K3FWbDZsTkNBMlF1MncwZWlhUFZXK3k0cDZQMHBGZHFuZGFseHp0ZzZoV2dvWUhzclZpUUJzQXdnTGxMbXVabmpjd0JDYUxGZjRxR2Z4VU12aXJaUEQza2NIZlJ3cXBSSUkxMjhzY2J1SUJZTkhOS1pnOExOeXBybmVGcHVXbTRvVlZCcXl4eTJhLy8vSUUxQnV0WXRDNk0veXdxeHpQZmlXVWlIbjJtaVNrSmZqajBSV254TkkxOHk2SlJVYVJEbjhjRWNyQ1ZHcE1lR0I2Z3ZnWmY3U3B5R0YvQzY1S3hQYzd5N0U3VTVpT1hxVTE0N0Y3RXY5ZjlUZUpDRkpnejV0TlUrVkxhNHh1ZnlkZStpWkhuSDF4VG1vZ2x0N1J6K1YyQlpYMWlBOXZDcEFyV2dsZUhNaXV4Y09mWnNMYzhFSDZxYVJZZGxkZjlJdHpIdlJZdDdjU3ozeVZqVHVueEdIZUpiRXR2emdpb2k0MmFVQUlkcjB4MHVQdHh5M1lKODVlZnZQV1ZKdy9xRzE5dkJiL25OL2krcGFDOFBrVkJ1Ulh0SzJNM2JmYnk4U1pkTDVLS1M0L3A2bDBtZDVvZFpqNTNUL2V1ZnpjNWVkRUlDM0JIdzk5bW9tY1VtSGIxQmhmOUlwMjdQVnkyOFV4TGRhN3o2dW9Gd1B0bDQrS0VFdkVWdGVheFVDN3IxS0tleTZMZC9sOFY3WG5pZWpzOWYvbm16elJHYVJTU1BEbXJiM3gxbzk1K09OSU5UNitwejlpUXBWSWpQVEJranY2WXY2eWRER3JzS1RhaUFFOUhiOTBtQzAyaHd0NXFMOGM3OTdlQjhONkJUaHM5K1ZEQTZEUlc2RFZtNTNPNFdCMkxaNzRQQXNBa0piZ2o3Zm05aGJYUGJFeUN3ZHpoR240ejg5SnhxZytRa2JaYndlcjhQYVA3cjhneFlTcWtKYmd1bkdjd1dSenlCcm9FK3NIdWQzM2habzZNNHFxSExNUm9rT1VXSDUzUHlSRm5ibHNQU0k2dTYzYVZvclgxcDUyS0ZGeTNjUm8vS2NoNlBYSlBmMXh5K0xqS0cvSWJQOStaem1PbnE3Rkt6ZW1vSytMd0JrZ2xOcGFzNk1NcS80cVJjOG9GVDY1cDMrSG5PdkwzK2JpUUxZVzAwZEZZTmE0S0NSRitaelJZd0hDVGUxRG4yVGlRSFpUNlJXSkJPTDdWMWR2d2IzWHgyTndZb0RUUGlzMEpyeTY1clJEa0QzSVQ0Ymw4L3U3dkNHOGMwcWN5MUliQjNOcThmU1hXUTVCOXJnd0ZaNmJrNHpSZlJ3em1pMVc0SDkvRkdQcCtnSmNQRFFNejEzYnkrVWd5UnZmNTRrMzdNTjdCZUxpSVdGNFpVMnV3NndyK3l6NGtocWp3OC9NNkQ1QjhGTkpZVExiWURUYllMSllZVExiWUxMWUdwWlpuYklBOTJRMnpRRHpWY2x3Ky9zbnhkcXo0L29GNDY2cDhhaXVOV0YvMWhHb2RXWm85Qlk4OVVVMmx0L2REMVliY015dXZNeUV0R0JNR3htT1liMENjZVdyaDZFM1dsR3BOZUg1MVRsNDk3WlVwOWNMQU5kTjdJRUxCblhPWUh0TGd4cWRUYVdRb041a3hUcy81ZVBiZjhxdy9PNStHSkhpWEg1R2FqY2FJNVZJWFA1Y2JENWNqWWMvemNUMWszcmdubW54cldaeTdzdlNpZ2tRZ0JBSVdYcG5Yd3hPY3Y1OStQS3ZVckhzei92ckNsQ2xOV0hCVlluc0IwRkUvd3FGVlFhSEVxRURYZlJGYWMzNWcwSmhzbGh4S0xjV1ZWcmgvalF0d1IvUklhNnZNVzBOck5zelcyeFl1NlBwbWo5eFFJalE4MFVuSFBkWVhwM0RkVDg4U09HeXRKeVBVb3EzYmszRmk5L2s0R1NCRGc5ZjBkT2hKR3Fncnh4QnZqTDhlYlFhQy82WDFlcDUyYytPc3FmUlc5ek8rSEpWZTU2SXpsNE10Qk4xSUp0TjZFb2VFYVNBUkFJOGNrVlAzSDJwY0tPbjFWdWcwWnNSRTZiRVkxY2w0b1d2YzNEM3BmRzQ3Snh3SE14MnJEMWJYU3ZjdkJuTlZoek9yY1ZiYzFNUkZTSjhPV2plZ082dEgvTHcvYzd5NXFmaTRIaCtuZHNMKzhKVk9TNlh1M0xyaFRHNDlVTFhaUmh5U3VzeDQ1WEQ0dVBsOS9RVHMvS09uSzdEb3lzY0cvSDBqdkhGa2p2NnVpd0hRRVRVWEhXZEdjK3Z6c0dXaGthRmpXNDh2d2NlbWRGMGM1SVFvY0lYRHczQS9jc3pjTEpRNkVlUldhekh0VzhleFkzbnhXRGU1RmdFK0RnR2lYZGxxdkh1VDhJZ1k2bmFpTlBsOVM1TFJyUkZUWjBaMjQ3VndHeTFZZVVmSmFpcnQyRGh0Y2xuOUZoYXZRVVBmSkxoRUNBZTFpc0FqMTZaaUxzK1NJZGFaMGFaMm9TYjN6Mk9HODdyZ1RzbXh5SEFSd2F0M29MUC95ekJ5aitLeFVBeUFNU0dLZkhCbmYyUUhPM1orZGJXVy9EZlh3cXcrdTlTOFdaWEtvSGJJT2lSMDNWNCtkc2NITThYUHJkMWV5dVJVNnJIKy9QNk9nU0NkNlNyeFo4RGlRUllNRE1SdVdYMURrMXhaNHlPd0l2WDlRSWd6SUI0eEs1UHlZaVVRQ3k3cTU5WWhzMWtzYUcyM3RKcUp2bWVVMExtZVZTd0FsdVAxb2dCaVZCL09SNmFrWURpYXVFRy9xYnplK0MvNjRSeU1qWUlqV1lsRXVDeHEzb2lQRkNPTmR2TE1YOXF2SGpEZjgyRWFLellJc3oyMHRWYlVGQnBnRW9oRmFlZU4wcUs4dW4wZ2VsK2NYNDR2SGlVeTNWNm94V2pIOTByUG43emx0NjRaRmpIQlA3di9TaERiRFQzNENlWldQWElBTVNGcVZwNWxxTnlqUW5QcmNxQjFRWjgvbWNKL2poU2pXOFhESVMveW5XVzRNNTBEZTVibmlFbVBnVDV5dHdHMlFIZ29pR2gySEtrU3Z4OSttcHJLV3JxekhqcCtsNXRLcTlBUk5RVldtdW92ZHV1Mldlb3Z4eEdzN1hWUnVrcXVkVGgrdnptclVKaTE5MGZabURiY1dGMjE4MFg5TURVNGE3N2NjMWJjaEtuaW9WRXJRbjlneEhwWW9iZDhmdzZwQmZxbkpiYkIvTUJZT09CcWhZYnE4NWJjckxGMTlMbzZtYmwwKzZjRW9mNVU5bXZnNGc4eDBBN1VRZGE5TjFwL0xTN0FrOWQzZFRnc3pHUThOWFdVcWM2c081cXc4NWE1SGlCbi92ZkUrTC9OeXdjNG5Eem1lT2lGRUJIOHJReG1ydG1xRC9zTE1mSHZ4VTUxRkVla2h5QVoyWW53V3F6T1h5QmE4d1lJQ0t5dC9WWURaNWRsZTF3UXlXUkFBOU43NG1iTCtnQm85bUdjazNUMzZDWVVCVldQcGlHaFYvbFlNTitvU2EyeFFxczJGS01IM2FWNHo4WHgyTFcrQ2p4Ny9ONUEwTVI3Q2NYczZEV2JpL0hRek1TNEkwTit5ckZVaFFBY09YWXlETjZyTklhSSs1YWxpN2V3QUxDMzk2bGQvYUZ2MHFHRCtjTHM2dXFhczFDRnZtV0VueS9veHdUQjRaZ3krRnFod0E3SUdSZ3YzUjlDc0lDV3YvcWFMRUN2K3lwd0RzLzV6bDhabWtKZm5obWRqSUc5R3pLa2pPYWhXdk04azFGVG9QR1lRRnl6QndiaFRDN3VxaGF2Y1ZoZ1BpQ1FhRlF5Q1I0YmUxcDhUb1Q1Q3ZEZzlPRndaZUNTZ09lL3pySFlaK0xidTR0QnRuM1pXbngvT29jK0tta1dIRi9HbndVcmpPZ0N5b05Za21pYzFLRDhQSU5LUWdKa0dOM2hnYkYxUWFuNjNhalBabGFYUHFDODBEM2RXOGRjN245emd3TkxuM2hFTklTL0xENmtZRXV0K2txemV2NysvbDAzUFg2emlseDJKT3BnZFVtREJ6ZHR6d0RYenc0d09QYXdqWWI4TlFYV2VMdkZRQk1IUkh1TnNqKzQrNEtQTDhxUi95OWlRcFdZT21kampWNW00c09VZUxqdS90anhaWml2UGRMUGl4V29aNnZXbWZHMjNOVDIxUUhtWWpvVEd0THI2M3FPck5IL1RaR3BBVGlzL3ZhTmpOUGI3Umk3eWtOZ256bHFOUTJ6ZUNlTlM0S2ZlT2Qvd2F2M0ZMaU10QnVNbmRTOTNVUEpFYjZZR3kvcGhsNW13OVZpek1wSncwSVFVeVlNR0NnTjFyRlpxMUt1UVJYTlh3WEJJU2VKdnV5WFBkS0k2S3pHd1B0UkIxaythWWlmTFcxRklEUTRQUFBvOVZZZUcyeVUrWmtSMnZzbGc0SW1aMktobXozM1prYUhHMllwajQ0S1FBajdhWmhiOWhmaWVLR2dNRWxROFBRcTRjdmxISUpja3JyOGZPZUNvZjl0N2N4bXJ0bXFBQndLS2ZXWlZEaVA1ZkU0dDVwcm12WEVkSC9QL2tWQnJ5L3JrQU1samNLOHBQaHRSdDdZMEthMEtqeWFGNHRibG5jTkNENTF5dkRFZW92eDZLYlV6Q3lkeURlL2pGZnJOMWRVMmZHR3ova1lmbHZSYmoyM0dqTUdoZUZxR0FGTGgwUmpsWGJoTC9oUCs0cXg3Mlh4YnVzZCs2cG4reitscWIwOEJWTHN5aGtrak55cktJcUkrcnRTclZNNkIrTXQreUNnV2tKL3ZqdThjRjRiblUyL2p3cVpKMXA5QmI4c3NmeHZZNElVdUQreXhJd1kzUUVXcE5UV285MWV5dnc4NTRLOFJyVHlGY3BSWGlnRW05OG53ZHR2UmthblFVYW5kbXBaanNBeUdVU1hEOHBXc3l3dDdkaVM3RVk4QWFFVWlHYm04MXl1Ty95QklRRnlGRm5zT0MrNVJuUTZvWFBYaUlCWHJ1cE42S0NoY0I5WnJFZXQ3N1g5SE96OEtzY0xMbzV4ZVZyczgvMEc5MG5DRklKOE1UTVJPZ01Wc3hhZEFRNlEvdW52NTh0OU0wR1gvUkdTNnZaanZaa0VnbDZ1Sm5GTmlJbEVQZE9TOERpWDRUWkhwbEZlanp6WmJhWUhkbWFGVnVLc1RPOTZUTTZKelVRODZjNmY1OHdXV3hZc3I0QW4vN2UxQzhteUZlR2U2YkZJNmUwSG9keWFzVVppTnFHMG54YXZRVmFuYkJNb3pkRHE3TTRKQS84YzBLTnV6OU14NUk3K2pMWVRrVFVqTTBHcEJmcXNDTmRqZTBuMWRoM1NndVR4WWI3TDB0QVhrWFRmZXdEbjJTMnNCZG5NcW43UnE4Mm0rUGdzRkl1Z2F4NU14Z1B1ZnArMXF1SEwyNitvR21XOTdHOE9qSFFmdEhRTUljYTdZMkJkaCtGMU9FNVArK3VZS0NkNkYrS2dYYWlEcEtXNEk5UWZ6bXE2NFJzcW8wSHFuQTh2dzV2elUxMTJWQ3JMZGQ2cTVzQmU3WE9qSnFHNC9rb3BMaHVZclM0enI1ZSt0aSt3YmhpVEZPUVpIKzJWZ3lDak84ZkxOWm9CNEQ1bHpaTmpTdFR1Mjc0UWtUVW1TbzBKbnk0c1JCcnQ1YzdaR29Ed05Ea0FDeTZ1YmZIWmFldUhoK0ZpUU5DOE9JM3VkaDZyRVpjWGxObnhySmZDN0g1Y0JXK2VYUVFab3lPRklQZjFYVm1iRGxjamNudExJdVJVMXJ2VUkvYlBvTUp3Qms1Vm15WUVpdnVUOFB0NzUvQXlONUJlUExxUklleVkxWWJjREJIS3dhaDNRbnlsYU5jWTBSR2tRNjlZL3hhdkhZZHo2OXphdmpaU0crMGl0UEkzWkZMSlJqVEx3aFBYWjNrdG14SWNwU3Z5K1dOQmljRjRPcHhVVEJiYkhoMHhTbUhqUDY3TDQzSG1MNU4xN3ZVR0YvTUdCMGgzZ1J2MkYrSnZuRittSHVSYzRtMFBabjJRZHltZmZpcHBFaU45V3UxaVZsQnBRRWFYVk9wbWNac04zdnF1cllGcnM4MFRiTitNQTkvZXNyTmxxNUZCQ213NWNWaGJ0ZlB2U2dHKzdJMCtQdUVHZ0N3NldBVjFtd3Z3Nnh4VVMzdWQvUGhhcnhyMTRDdlI2Z1NiOXlTS3M1YUFJU2d5NXJ0WlZqNVI0bERjenhBR0dCcWJITGJYbnRQQ2JYZWw5N0pZRHNSZFg5S3VRUUI3WnhGckRkWVhRNlNON0xaZ055eXBtdnZNMTltdTJ5Q3VqZExBNE9wL1ZucDU2UUd1bTMwdXVsZ0ZSNzVyT2thdGU3WklZaHVwZkY3Vy94eHBCcC9IS2wydWE0OU5kcUo2TitGZ1hhaURqSytmekMrZVd3Z0h2bzBFMGRPQzBHUC9Bb0Ribmo3R0Y2K3dURkRibHkvWUN5N3E2OUgrNjNRbUhEQk13ZGNyc3N0YmJwWnJEZFozVjY4UDl4WWlBODNGcnBjMTFLTjl0UVlYN3cxTjlWdEE5VG1NZ3IxVGtFeFFLajVLdlhndmpPcUE3OEFFZEhaU1crMDR0bzNqem9OOUNsa0V0eDlhVHh1dVRDbVRRT1ZnRkR5NGYxNWZmRDdvV3E4OTB1K09CTklwWkJnMFUxQ0daRzBCRCtreHZnaXN5RXd1M1o3V2J1RDN6L3RhU3FCb2xKSU1HT1VZNkQ5VEIwcktsaUJyeDhkS0FiK3JEYmdTRzR0ZmoxUWlVMEhxc1RzSzN0eW1RUm11eHZpN0ZJOTN2dWxBTy85VWdBL2xSVDk0LzJSSE8yRHhFaGZ4RWVvRUI2b1FFU1FBbEhCU2x3NEpCUUIzOHJjMW9CVktTVG9HZUVEYmIwRkZScVRlQnk1VElJclJrY2dLbGlKanpZVzRic2RRZzF6bVl2cnhyait3ZkJUU1JIb0swZXdueHdsMVFab0dnWUw1RklKbnJzMkdZZHphL0hHRDNrNG5OdlUvMlJZcndCY09pTGNLWkI5dzZRZTJIeW9XanpuOTM3Sng2REVBSnlUNnRpTWMrOHBJZXNzTmt6cE5BancrczI5VWFGdHVjVGE2OS9saVRmbFkvc0Y0OTdMbkxPdHR4eXV4aHZmNTdXNEg1M0JpdXE2amgwRUQvYVRlelQ3VGwzbjNIaTlMVm83aGtRQ3ZISmpDcTU2N1FncUduNDJYLzh1RDhOVEF0RXIydlVBeStIY1dqeSs4cFRZQTBDbGtHRHg3WDJjU2h4SkpNQTMvNVE1QmRtOUlaY0tnYXBhdlFWbXF3MzdzclM0NndNaDJPNm5ZckNkaUxxdjh3ZUY0bzFiUEpzeDFOeUhHNHRjbGo1dDlOR21Rb2NtcDY2QzdPR0JDdnpUTUtnS0NJUGtBM3Y2UXk2VG9LN2VBaitWREw1S0tSUnlLZGJ0clJDL3QzbWFsZjdUN3FhWmZuM2ovR0MyMk5vMGtPM3BkWkdJeUJVRzJvazZVSFNJRXAvZGw0WVh2czRSTC9BaC9uSU02T252VU9MRllHcTl1VXlqNmxyM043YjIrK3dNdmtvWmtxSjhXcTBUKzg4Sk5aWnVLSEFLc2dmN3lmSFNEYjB3YVVCSVo1NG1FZjJMK0NxbGVPRzZYcGkvTEYyY3pYTk9haURtWFJLSCtBZ1ZpcXNOQ1BHWHU2MjkzSktMaG9UaS9FR2grSEZYT1Q3NHRSQzNYUlNMM2pGTkFid1pveVB4NWc5Q29ITlhwZ2FsTlVhRStDdmM3YzRsbzltRzczYzBCYituREF0M21lMThwbzVWcGpaaWY1WVcyMCtxc1ROZDQxREQycFVkaTBaaTQ0RktmUDZuYzAxVW5jR0tmVmxhcDZuT3Zrb3AxaXdZaElRSUZhWU1EOGVHZlpYb0UrZUxsQjUraUF0VElUSllnYnp5ZXB3czFHRjNoa2FjemgzcUw4ZXM4Vkc0WmtJMGRtV284ZFFYUWhiWThrMUZPSmlqeGFLYmVqczBXUU9FR3VzN1h4Y3kyTEpMSFV1Ynpac2NpNlJvSDF5eThLQVlxRzEwSUx2V1phMzA1cXcyWU1IS1UxanoyQ0NFQlFwZmswK1gxNHQ5U095ejJSdXQzMWZScHNiaTYvZFZZdjIreXRZM2RHSEQva284djlxNzdPdm1IcHFSZ0ZzdWNOM28zSjU5TFYzQXM1bDU5bDhMUEFsYWhQakw4ZXcxeWJodmVRWUFJWW5nc1JWWitPcmhBVTdiNXBVYmNNOUhHUTRaa2EvZTJCdjlYZFQ0QllBcngwVGl0YldublY1RGtKOGNJZjV5QlB2TEVlSW5SNUNmTUlnVDVDZERrSjhjUWI1Ti93L3drU0hRVDRZZ1g3azRnUFhGWHlWNC9UdmhkM2wvdGhaM2ZuQVN5KzdxeDJBN0VmMi8xQ1BFZVVaYVpKQUM1NlFHWVdUdlFJenNIWVF0ZGpPUjVESUpYcnNwQmZIaEtsVFhtVEhweWYxdTl4MFgzbnFUN0NxdEdmK2NhSnBCbDE2b2EzTW1lV3ZYeGVHOUFuSGhrTkEyN2JPNUV3VjFUdVg2aU9qZmdZRjJvZzZtbEV2dzB2VzkwS3VITDFadUtjWkhkL2REZkxNdkJmdXl0QjB5ZGF4SHFCSnpMM1Q4RWxDbU1UcGN0RWYzQ2NLQUJIK0hiZXhydEY4OEpBd0pFVTNuVjFKakZBTUFMVTJGTjVwdDJMQy9FbCs0Q01ZQVFPOFlYend6T3hsUklRcTNnd3JoZ1FxM2plZUk2UCt2Y2YyQ2NkOWxDVmo5ZHlrZW5KNkFxY1BEY2RHekI4UXM5eWRtSm1LT1hhbXM1aHFiTWJzemZYUUVManNuQWtxNVk2Unc2b2h3dlBWakhtdzJZZXJ6dXIyVnVINVNqemFkKzRiOWxhaXlHeUNkUGNIMWVYYm1zVFI2QzU3K0lnc0hzbXRiREt4SEJDa2NBdEl6UmtWQXBaQmcrcWdJVEI4VmdmUkNIVFlkck1KdkI2dGFITmg5OU1wRThUcnkrTXhFUERNN0NTYUxEVHZTMVZpL3R4SWZicXgycUpXYWx1Q1BPUk9qTVhWNHVQZ1pqTzRUaktISkFUaVlJMlNoNzhuVVl0YnJSL0RHemFsTzJlV0EwSEQxNlMreVlXeG9odFl2emcrM1h4d0x1VlNDYXlaRVljbDYxN080UEZHaE1lR0p6N093N0s2K2tFZ2N5OGFNVGcxMjJyNXhGdHUvWFhGVlU5WitXSUFjZjc0OHZOWG5QTHJpRkRZZXFBSUFqOHNVbkRjd0JOTkdobVBkWHVHN2lLOUtpbG9YSlk0MGVyUERiTG1IWmlUZ29oWUNIOU5HaHVQZG4vSngzcUFRVEIwZWdTSEpBUWoxbDBQUy92WUlBSURySi9iQUgwZXFzU2RUR0lCS1MvQ0hpdDl0aU9qL3FSbWpJNUJScE1PV3c5VzRibEkwemswTFFWS1VqN2orOHo5TEhNcDkzVDAxWHJ4WER2V1hJeUZDNVpBUjN5allUNDZMQnJjKysyL2R2Z3FIUGhvZDVieUJvZGl3Y0VpSDdlK0N3YUc0KzFKaGRsdDdra2VJcVB0aW9KMm9FMVJxVFpnMU5nclhUSWpxMUF2bjZENUJHRzFYWDcxTWJjSTlINmFMajJWUzRQazV2UkRickJic3NmdzZNZEErWlVRWTB1d0M4ZlpUN1NLQ25FdTVaQmJwOGYzT2N2eTBwMXlzTit2S3FXSTlibDU4dk1Yei8rKzhQc3gySnlLWDVsNFVnK3NuOVlCSzBmWW9XRXZObUFGZ3c4SWhMbXVBUndZcE1DdzVFUHV6aFlEWnozc3EyaHo4WHJXMVJQei9vRVIvREVyMGQ3bGRaeDRyeUZlR2hFZ2ZzY21wUGFWY2duUFRRakJwWUFoR3BBVGgyYSt5eFg0WEEzVUFBQ0FBU1VSQlZBeDFQeCtadzhCb2dLOE1WNDJOeEZWakkxR3VObUh2S1EzMlpXbHhQSzhPZXFNVjlTWXJ4dlFKd3F4eFFybWFuUmthN00zVTRGaCtIZmFkMGpvRTE0V0dzeEc0ZkZRRXdnTVVLS2t4WWwrV0J1bzZpOWh2cEgrOFA0N2wxWW5Uekt1MFpzeGJlZ0tQWEpHSTZ5YzVEbGdzM1ZBZ052ejJVVWp4MnMwcE1KcHR5Q2pTSThESC9kZmIyREFsb2tPVXlDclJpOWV3RUg4NUlvTVVLSzQyaWlWa1RoYlVJYnRVajVRZXZtSUFGUURPNmVNYzlEOXl1cWxFVFVLRUNvRXVBc3IvaGhydEp3dWJCaFRpSTN4YTJMS0pmUm1od0dhZlM3M0o2cFFsMytpbTgyT3dibThsSmc4THc3M1RFcUEzV1J3R3p3d21LMElENUhqcjFsVGM4MkVHeHZZTHdzVkR3OXkrZjQybGhqWTlQeFFoL25LVVZCdWhOMXFnTjdiY284QlR6OC9waFd2ZlBJb0hwL2ZFekdZOUdZaUl1aHU5MGZQWjFjMXA5UzNQak5Qb0xMajIzR2hjUFQ0S2lvYkI5TVpqR1UwMnJOamMxSXk2Zjd3ZkpnOTMvTnM5SWlVSUpvc2FGb3NOWm9zTi9qNHlKRWY3NHVZTGVnQ3RmQ1UwVzJ4WXRiWFVhYmxjSm5GYmdnd0FhdXZOS0xJYlRJNTBVYzUweDBsMW14dTJlbXJXdUNnOGUwMVNwK3liaU00OEJ0cUpPc0hhSGVYNDhOZENUQndRZ3VtakluSCtJTWRnc2x3bWFiVnhXaU9iRldLRFZYY01KaHUrMjFHR0pSc0tISUxmMTB5SWhrb2hnVVpuZ1VJdWdVSW1nYnhaNTNTTEJiajJqV011c3g0YnAxK1hxVTM0ZFg4bGZ0bFRnWk11c3RlSmlEcERlNExzM3Jwa1dKZ1kvTTRxMGVOa2dlZlp5Z2R5dERpZTMvUTM4cnBXQXVlZGVhejdMMHZBOWhOcWg4YllnREFiYWZQaGFtdys3TnpFYTlYV1VwYzNxSzdzZi9zY0ZGY2JIYktVRDJSclhUWkRqUTVSSWpIU0IzOGNxY2FxYlNWdGFuNW1zUUtMdmp1Tmt3VjFlT2FhWkNqbEV2eThwd0xMN1k2amtFdHcrL3NuSGJMelA1cmZEOE5UQW1HMjJIRERPOGZFcHFqUHpFN0crUDdCK00rU2s5aVZJV1NxM3pVbERuTW1SaU9qU0ljN1AwakgrWU5DY2Y5bENlSjFlczhwWWJ1ZWtTcW5abXIxSml0T0ZUZDlEbS9QVFVWZkZ3M1FuMWlaaFhVTnM4VXVIQkxtOG9iNmx6MlZlUEtMckJiZmovTUdoaUQ1L3Y0dGJ0Tldua3pGQitCUU1xaFByR2U5Vyt5YjdRWTIrOTdUMkVDMEpSc1BWSWtaOGZZTzV0UTZ6QXo4L1ZBMWZqL2t1akVkQU53NUpRN3pwOFloeEYrNDlibjJyYU9vMG5wWGM5N2VuamZQd2ZwbmhucjgzWTZJcUN0dFBWYmowQ0MrSTMyMHFSQXIveWhwZlVNQUp3cDByWloxcTY0em82RFNnRzNIYTNEUmtGQzhQVGZWN2JiZi9GT0dnc3Ftb0wxVUlwUXdzMWh0ZUh0dUtucEd1cjdlUGZWRk5vcXFoR1N6NkJBbEpnOXRYOThjSWlLQWdYYWlUbkU0dHhZbWl4RE1LSzQyT2dYYVI2VUdkVWd6MVBSQ0hkYnRyY1JQdThzZHlnYzArbXByS2I1cUpXankyUDlPaVhWRzdZWDR5ekZwWUNqbUxUbUpYWmthc2RGWWN6NEtLWVltQjhEVHNNbUJiSzA0MVorSXFETUUrY2tnYVNIdDZmL1l1Ky9BSnV2OEQrRHZKN05KbTZaTjk5NmxMZEFDWmNsUVFVRUJCVlRBQ1hoNDRzS05udnB6ZXlxbmduTEs2YUc0VVBFRTlOQnppNGlBc2tmWnN5MXQ2ZDV0MHFRWnZ6L1Nwa2t6bWc0bzQvMzZSL3ZNYjVLV1BNLzcrWDQvWDdHSFdoSGpCbWp3ankvemJmL21mYjJ0d3UyMjdYMjJ2dTNHTXNSZjJ1R04ydWs4bDB3aVlQVmovYkhrdTBLSFVMb25LT1VpU01TQ1E5a3hBSmc2TEFUdi9GRGs5SDFSV21OQWFZM255VUk3c21ackJZNlg2UERXSFgzd2JMdDY2UFU2azBPZ0N3Q3hJVDZRU1FUSUpJTERKSjVxWC9lWHZxbVJTdno0N0FCSTdSNUk1NVUxMlFMOG9TN3FzeDhzME5xR3FJdEZRR0s0K3g1ekhibHFTQkN1R2hMa2Nac2dsUlJCcXM3Vjh1OEoyNC9WT3p6SWNQVmV1R0pmOGtXdFBMOXZPeGl5RXhIMUhxM2VqS1UvdHBXTkc1cmlqN0FBR2I3WlZnR0xCVmk0NWlRVy85VTVwTjk4dUE3LzI5NTIvVFYzZktSVHh6VEFXckoxVXJibjcraXV5b3gzUGZxUmlNNU41L2NWTDFFdjJadlhOb3g4VUtMek1QUHVUb2I2eGpjRitIRm5WWThOTWRjWjJvYjNEMHBVb1crY0wyNFlGWVpJalF3WHBhbXgrVWlkdy9ZS21jaTJqOWxpd1RNM0puaDlydGx2SExEVldTWWlPaDIrZVRJTGdSNENWVS9hbDNUWmVNRDdIbDhIQzl0Nk50OThhYmpMRzdVemVTNlJBUGdySklnSWRCNENEUUNOZXBOdEZKUWdBT0VCcnJjRGdDYUQyVGE2cW4wSmtGWVJnVElNVDFYano4TzFFQVRyQ0crenhmbzYvUlJpK1BtSTRlc2podEZrd2ZaajF0Y3NGZ0VQVG82RlVpNkNRaVpHbzk2RTJCQWZLT1VpVk5RMjQ1a1Z1YllSVndNU1ZORDRTUkNwa1NPLzNMbG12Q0FBVVJvNWtzSVZDRzk1elUzTlpsVFlsU2NKVVhzT3FZc3E5UWowazloQzRhMTI5ZG1IdXFqUHZzK3ViRXhFb0J4bHRhNGZLR2p0dm1lMWV1OUx4SVQ0eTV6bUV1Z05xLzRvcy8yL1ZDeGdSSnJ6ZStGS2piYnR2VDliZzNaWG8vMDZZakpiMkdtQWlNNVpNb25nOWJ3WjdlbjBab2Q3eC9aU0lwUk9uY3hjeVMvVDQwU3BkYlJacUZxS3ZyRWRoODM5NHZ6Y3J2dGc3U21Iam1kM1Q0eUN2MEtDNzFwcXRxL2JXNDNsNjBvd2MwemJDTUQ4OGlZODl2RXhXd2VCL25HK3VHNUVxTU54bTAwV2xOVWFvUGFWWU41VjBSMjJzYXVLcXZSUUtTVHc3K0xuUWtSbmo3UHppcGZvSEpaWDF1UlE2bVZRa25QUTN0M0pVTE9UVlBqQXJyNWRld01TL0JEbzEvYm5iVEJhVU40U2JzdWxBb0w5SFlPR0F5ZTFLRzBKQitaY0hvR0w3ZXFtM3pvMkFoc1AxcUNzcGhrWDk3WFc5UTN4bDJIS1N6bTJZL2ZFeEs1RVJHZUw4UU90OVVKblhocU9xNFlFNDlMLzIrblZmZ3ZuSkdQdG5tcHNQRmlER1NORE85N2hESnhyOXRod2ExMVRGNTc0NUxodDh1eUJDU3A4NktFa2lYMVpFMDg5ZC85OWQ5dG9yVi8yVk9PeGo0OWhSTG9hVDA1UHNKVUN5c2xyd0MydlcrZndFQWtDWm8wSmg4a012TGd5Rjk5c3E4QWoxOFRaWGxOcWxCTDMvUHN3UnFZRjRORnJZd0VBbWZGK3FOY1prUnFsUkdxa0VpbVJTcVJFS0pFWTdnT0x4Zm9kdS9WSUhZYjM4Y2ZSVXpyYkRiUkNKbklxL2RMZTl6c3I4ZTVQcDNCSjN3RE1HQlhxRUxTN21wVDFtRjFwbnNKS3ZWZmZoOS90cUxSTk90NlJ6K2YzUTBhTWQyVmFUcGZqSlRwOHY3T3R2V016QTczcXZXMnh3R0UwZ1grN29IMUVtaHJiWGh2aWRUdisva1V1MXJUTUl6TWtSWVYvM1pIbTliNWlEODE5K3ZvRVRCa1c3UFd4QU90a3ZiZTlkYkJUK3hBUm5TM0c5QS9FcTdjbWQybmZmLzk0Q2t1K0szUzdmc293NjRUcXA2bzlQMUQrWW1PWkxXaFBpL2JGbzlmR2VkdytUQzF6KzFBMEo2OEI3LzNjTm5wdlpMcmExdGx0enVXUnRwRjlyLzczSk1SaUFUZGRISWE4c2liY3Z1U1FMWnhYeUVSNDdzWkVpTnFkNGtpUkZqY3UzTyt4YlQybHRjd1pFWjNiR0xRVDlURDdHcWFBNng3dDNUVTZJd0MzWEJLTzczWlVZa3ovUUZ3eFVJUEYzeFRZSm9hN2QxS01ReUN3NVVnZGJsOXlDQUNRbGVDSHhYOU5kVGllZmUxWWs5bXhoNVlnQVArK093MFN1NnVPaytWbjcyUnRSRVRkZGMzd0VNd1lGUXFKU09oVVBmRStrYjRZbDZXQnptQjJXWktydDg5bDcwQ0JGdC9iaGIwVE9oZ09YZDFvMXpQWmk5RUNLemFVWXNGcWExbWNOVnNxY0tSSWkyWDNwc1BQeDNYaStjSVh1Zmp5ejNJQXdOKy95TU1maDJyeC9FMkppQTZTNC9QNS9SeGU0N00zSnRqS3UraWJMZGliMzRCMWU2dXhZSFV0OXVVM3dtaTI0SzRKVVJqZXh4OGI3RVlKcEVWM0hGaHI5U1lZVzBxL05UV2JjYkNsYm41aW1NSmx5WmIyMzVrOXpkWEVxbWVTeFFLOHRDclBvUnlRZlc5QVQrcDFKbHRaSFFBT0hRQUE2NGlMenN6RElMSzdEaEVKUXEvTTRVQkVSQjNUR2N5ZDZvamxUYzM0MVkvMVIwcUVjM20yT3EwSjh6ODhadnUrVWNoRWVISkcyendvZDArSXhzR0NSbXc4V0FzQVdMQTZIenVQMTJQemtWcUh1YzMrZmtzaWtsMGNuNGlvc3hpMEUvV3duWFpCZTF5SUR6UXE1eit6bnBnTTljRXBNWmcvTlJhdHBZWTlsQnhHWTFQYlJZU1AxSE1nWTNJeEVsRFMvdEYrT3hNR0JUazkvWGZuMTczVkhvY2JFaEgxdHE0RTExM2QvMHllcTFWeHRRSDN2M2ZFOXU5OVdJQU0xd3dQOGJpUGZZMzFRRi8zNVZjc0ZtRHhOd1Y0MzI3VWxVUWtZUHJJVUxjaE93RGNOeWtHK1dWTnRvZlZ2K1pVNDFEaFhyejJseFQwc3h0TzN0Qmt3dTdjQnV3OFhvOGR4K3V3TDc4UnpTYm5zTnZQUnd5ZHdZeVZtOXBLbm94STYzZ291MzJ0ZDdsRVpKc3djMmlxNjRmbVVVRnl0ejNPODh2MGFOU2JuSllIK2tvUW9YSGRzOTVndE5nbWJnWFE1YUg5UGVYRFg0dXg3V2piZGMyWS9vSEk5REIwMzE1cHV6STY3WU4ySWlLaTducnFzK01vcVc3N3ZubG9TaXlpTkcxenlJaEZ3TUk1S1hqby9hUFkxQksyLzdTN2JaSnRRUUNldVQ0QjQ3SmN6NnVqOXBXNHJNMWVVbU93WGJNa2hTdVExaklSZXEzT2lJMEhyT2VSaUFSY01WQURDK0F3a20zOEFJM0RmREN0dkoxb25Jak9icnppSmVwaFcrM3FtUTkwMDV1OUp5WkQ3U2o4dG1kZnk3ZWpTZFM2MGp2ditac1N2ZTVaZHNXenU2RXpkRzlTUENJaTZwb2R4K3N4LzROanFHeXBXeTRJd045dlR1eXdEbmhlV1Z0TjlQYmx4MXJWNjB4NDZyTVQrRFduMnJaTXJaUmcwWndVbDJWWDdHbFVFcnc3THcydmZua1NLelpZSi9FK1ZXWEFyRGNPNEcvWHh1SDZVZFpTTXMrdXlIVzRRVzVQTEFMNnh2b2hJOFlYTDYzS3M3MU9pVWpBVkMvS2cxVGFUZmlwTjdZOUZIWlZueDBBN3JveUNuZGQ2VGpNdTFGdnd0dmZGK0ZnWVluTGZTN0wwdURwNitOZHJqdFlxTVgxcis2ei9leXZrTmpxdzU0SmdiNVNLT1hXaHpmcjlsWmo4VGNGdG5WK1BtSThkcDNub2YzMnRoOTFuTjhsek1NY0FFUkVkT2JvRE43UEY5WmV2YzY1QTFoN1lwSFFZWjMyenRab2QvV3cvdVZWK1ZpM3Q2MG4vSmorZ1M3TDZabk1GZ3hPOHJjRjdmYjZSQ294T05uOUJOL1JRWEs4UEN2SjlyUFJaTUh5MzBydzY5NjJhNTJhUmlQdW1SU042Q0E1RGhWcGJVRzdqMHlFbDJjbDRmTU5aUTVCZTA1K0EyNGZGNGxyaG9kMGVvNFFJanI3TVdnbjZrRjVaVTBPUGJpeVhkUm5QOU1xNjV2eDVaOXRQZnErMzFtSndrbzl4dlFMeEpqTUFDU0dPUTZSTTNZaGFDK3Uxa1BxNVdSdHAzdVlQUkdkSC9UTkZtZ05iYjJCN2YvcDBObE56QWtBRFRySFhzTzFMa1lCdVNLWGlHQTBXenplTkRhM20vQ3dxcUhaZG5OYVh1YzRzWE5acmNGakxXaWpDWkI0V04rVDUxTEl4TkRZOVNDdXFqZmlYOThYNGd1N0h0NEE4TVMwZUF4TDliZk81VkhuSE9ZYVRSWnNQVkxuTUZGclRJamNhYnNEQlZyTS8rQW9DaXZiYnR3VHd4UjQ2NDVVUkFjNWIrK0tSQ1RnOFdseHlJajF4UXYveVlYQmFJSFJaTUdMSy9PUWs5ZUFwNjlQd0NYOUFweUM5cGhnT1Vha3FURWlMUUJEVWxTUVNVUjQ0VDl0OWJ3QjRLWkx3aHlDWHJuZDZLNERCWTBvcXRLanBzR0lYU2ZhZW0vWE5MVDlYZzFPN3ZqN3ZLS3VHU3YvS01ObjYwdHRFN2dDMWtsaVE5UXk1TmhObEc0MFd4eEdDUUNBeVFSOFk5Zm1BRjhKeENMZzBNa3pWeC8ybVJzU2NOMUZJZmg5ZncwZS9laVl3OS9kLzgySWQ1aFlkMDl1QTlidHEwWjRnQnloYWlrMEtpbjhsV0pJeFNJY0x0TGk3UitLYk52Nks4V0lDUFR1OStCTXEyNXM3blRnVkZIUERnTkVkTzd5cGxSTFoxa3NjS2pMM2xITjljN1dhRGRiTExaL3E4UFVNcnp5VlQ0KzM5QjJUWk1lcmNTQ1dVbTJVZDc2WmdzMkg2bkZEenNyc1hhUHRSeWNLNGVLdEpqODRoNWMwaThBa3dZSDQrSytBVzVIZ1ArMHV3cHYvcS9RYVVKMmpVcUM2Z2FqMit1ZGlqb0RKR0lCeHBZUmVDWFZCcnp3UlI3ZS82VVlkMDJJd2xWRGdyMGVIVTVFWno4RzdVUTk2TS9EamsvSjNmVm9kOGZWamQ2Zmh4eVBLUlYzWENhZzJXVEd6aFAxK0dsWEZiN2RYdWx3dzIreFdDZU15Y2xyd09ML0ZTQW1XSTZDaXJiem1sd013ZS9JNUJkek9yMFBFWkVuWDJ3cXhhdGZuWFM1N28xdkN2Q0dYVS9iOXJ6OU4ybnkwR0JFYXVSNHh5NFE3TWp6LzhsenUyN09tNTRuUjB3SVV5QzNWT2R4bTU0NjErVlpnVmcwSndXRmxYcXMrTDBVcS80b2N5amJKWmNLZUdwR0FpWVB0ZmJ5cnFwdjlycWU2a1Y5SEh0M2Y3R3BEUDlZbmU5UXdtWDhBQTJldXlrQmNvbkk2YnZOdnNlN1V1Nzh0R0RLMEdBa2hQcmd2dmVPMkVxM2ZMT3RBc2RMdExZUlZBTVRWTGk0WHdCR1p3UWdMc1RIdHUvR0E3Vlk4R1dldzF3aS9XSjljZDlWTVE3bnNMOFpYck8xd2lHVUI2emZsWVdWMWh2cDFFZ2xBdHpVcGE5dU5PTDNmVFg0Y1hjbC9qaFlpL2JQa2ljTkRzTGoxOFhqNVZWNURrRzd5UVJjL2ZjYzIwMjNLeGt4bm52M25TNnIveXpIMzcvSWRTZ2xkOGNWa1U1RDV5MEEzdi9GL2NUczlzWVAwSnkxSWNLaU5RVll0TWI5dnlkRVJOU3h6dFpsdDlmWjRIOUNkcEREUEROaGFobitPVGNWNWJYTjJIeWtGcHNPMW1EejRUcVg1VXFEVkZMY09qWUNCd29hOGNPdVNsZ3MxczRjNi9iV1lOM2VHc2drQWdZbHFUQThWWTMrY1g1SWoxRmkrN0Y2dlBOREVRNFVORG9jU3lFVFlmcklVRncvS2d3aWtYVlM5QTEycjBQV011SjczcVJvVEIwZWduLytyd0EvN0d6ckxGQlVwY2VUbjU3QSs3OFVZOTZrYUZ5ZUZlajFlMEJFWnk4RzdVUTl5SDdTdFNDVkZMRXVldjE1Y3ZQQy9iYVp6MTJSaWdXSElmdjFPaFBLYWcwb3JUSGdxc0hCU0kvMnhiRmlIZTU3OXdnTVJ1ZWI5OVJJSmZMS2RBN3I3RVAyVUxVVUJ3c2JFUnZpZzZ4NFA0OTEzNG1JNk94VjNXREVuRGNQWXZ1eGVxZDFmV045OGR5TkNRNjFRTU1EWlZBckpRNFBabDI1YWtnUWtzTGJSa0paTEVCK1daTXRaSmVJQkR3OE5SWTNYeElHQUtqVkdqM2VlTHY3bnN5TTk4Tm5EL1hEdlVzUDQ2aGR6ZkpRdFF3YlhzNTI2bTIyNDNnOS9yRTZINGVLdEE3THM1TlVlSE51cWxOcG5Ha2pRdkg1aGxLbllMelZSV24rV0hwM21zdDFXcjBaeTM0NWhjMkhhN0h2WktQRFJLR3RScVdyY2VlVlVjaU1kMTNQWEM0VmtCSHRpNXo4QnBmckFXRG1wZDVOT3RwVExBRCt1NlVjZTNJZDIzVFR4V0c0WjJLMDAvYjJ2d2VlQktta3VHdUM4LzVFUk5RN1pCS2h5M09BNlBUbVhwOXZ5Lzc3Snp4UWh1a2pRakh6OVFNT3RkcmJTNDVRNFBwUllaZ3lMTmgyRFhINytFajg2L3RDL0xLbnJRT0F3V2pCNXNOMTJIellXdjVNclJDanR0M0lTVUd3VG1aLzY5Z0lUSDR4QngrdmMxMHFMamE0clNOQWRKQWNyOHhPeHV3eGpYanR2eWR0OWQwQjRFU3BEZys5ZnhRTDV5UzdyUlZQUk9jT0J1MUVQVVRmYk1GMnV3bkRCbld5Tnp0Z0hUYjN4eUhuMm5HdHhnOXM2eEcyNDNnOS92SlB6ejBhVzhtbEF1WmNIb2s3cjRoQ1U3TVpHdzdVNE5lY2FtdzRVT013OFZ0WmJUTStYVitLVDllWElrd3R3OU0zeEdOMFJzZVR4dzFKVVVIa1pTcS82MFM5eTRjQVJFUzlRU29XdWowaDZkbDRyaUIvQ1hKTEhZYzJSd2ZKY2Z2NFNFd1pGdUt5ZDNGeWhNTGh4cytlajlUYWErdUJ5WTQ5d3dVQmVPU2FXS2g5SlZqMVJ4bGUrMHV5dzJTWmFxVUU0WUV5dHplL040d09jL3NhSWpVeWZQeGdCaDc5OERnYW1veFlja2NmdHhPcUpvVXJITDViSkNJQmQxd1ppZHZHUmJxYzB5UTVRb0dQN3MvQSsydFBJYStzQ1UwR013VEJXaE45U0lvLzdtaFhkOTJlVWk1Q2JhTVJlL01kZTdZRnFhU1lPRGdJMDBlRUlqN1V4ODNlYmZyRk9RYnRnbUI5dnhMQ2ZIRGI1WkVZbVc0ZE9aQVlyc0FuRDJaMGVMeWVzQ3UzSGpsNURiYUhCL2RNak1JZFY3aCtMMVFLTVlKVVVsc2QvUFlrSWdHait3YmcwV3RqRWVLbXJ2L1p3RmN1aGx6V3VaNEZScU1GZFRybmlXNkppTTRGWS9vSDR0VmJrN3UwNzc5L1BJVWwzeFU2TGZlbUxudFB1WHBJTUdRU0FWOXNMTU95ZTlNUm9wYmk4Q2t0U3FvZFM4dHAvQ1FZUDFDRGlkbkJHSkRnL09BN09VS0JSWE5TY0xoSWkwL1dsK0RuM1ZYUTZzME82eCs3TGc1emx4eXlQWmkvcUk4YTg2ZkdJaVhTR3ZaSGFtUTRWZVg5TlU3ZldGOThjRjg2ZnR4VmhZVnJUdHF1ajdJUy9IQjVKa04yb3ZNQmczYWlIaUlTQVMvT1RNVHYrMnV3OFVBdEJuV2hQbnRTaE1KbDBLNlVpM0JacGdhUFhodHJXNWFkcEVKMmtzcHRLQ0lSQzhpSzk4UFl6RUJjTlNRWWdTM0QzaFV5RWNZUDBHRDhBSTIxOXU3Uk92eTB1d3ByOTFRNzlHUnNhallqSzk2NzEvQ3ZPOUk2TlJscXNZZmVCa1JFZ0xVMzc1bnEwWHY3K01nemNwNHpyYlRHZ0ZzV0hVQktwQUpUaDRmZ3Nrd05QRlVmZStIbVJPajBadHVjRzFxOUNUV05SdmdweEVpTlZMcXRXUW9BYzhkSFl2YVlDSmZmQlpseGZxalQxc0Jvc3NCc3R0WkhqdzJSNDZhTHczSDFFTThUbFByS3hYaHpiaXFhalJhUDN6TUJ2aEs4YzFjZnpIejlBQWFucUhEbmxWRU9KV1ZjeVVyd3crSy9wbnJjeHAyL1hSZUhBd1dOYU5TYk1DbzlBR1A2QjJKUWtxcFQ1Vkh1dnpvR2QwK01obHdpZ2t3aXVCMUZwcENKM1BhTTcybVo4WDRJOHBQaDFhL3k4ZnpOaWJpa3IrZlFaTjNmQjBKbk1FT3JOMEZuTU1OZ05MZDhWaUtFQmNqTzJJT2w3bmpzdWpoTThXS2lYSHZianRianRyZTg2K3hBUkhRaGtFdUZMbituZHNXdFl5TXdmV1FvZkZ0SzBDMlltWVE2clJGRmxYcGMyaThRbC9RTFFIYVN2OGZybmxaOW9wUjQ0YVpFUERFdEhyL21WR1BOMW5JVVZlcXg5TzQwQlB0TGNjUG9NR3cvVm8rSHA4WTRsYy9MaWxkQnA2K0ZCZFpSZmo0eTZ6WE85U1BETUg2ZysrRDhpb0VhWE5JdkFCK3NMY2JIdjViZzZlc1RPSnFjNkR3aFdDeXVCcnoydnN6N3QrTG1TOEx3dHc0bXhTQTZHMWtzUUxQSjRqUlV2U00xalViVU5Cb2hrNGdnRVF1UWlBUkl4QUw4bGE1NzhHMC9Wbys1U3c0aExFQ0dxQ0E1NGtOOWtCU3VRSHFNTDlLaVBZY2k3Um5OMWdudmZ0eFZoVjl6cW5IdlZkRXVaMjBub2paM3YzTVloNHEwK0h4K1g0U3FaUjN2UUhTR21jenc2aWJ6ZkdFMFdTQVJuNWs3MWZQNXZkVTNlMzZ3UWRRYlZtd294YXRmRldEbG8zMjlMbDFFUkJlT252eGVObHRnZTNpdWI3WkFLaEZPMjF3aldyMFpTdmw1ZWtGQmRKbzkvNTljZkwyMUVzdm05VUZXUXVjN3U1NE83TkZPZEJvSUFqb2RzZ1BXSG5udUpseHpaWEN5Q3RzWERlbVJMMzJKU01DSU5EVkdwS254MVBYeFhwZUNJU0tpczlmNUdnUzdjNlpDZHVEOGZtOFpzaE1SMGJtbUo3K1g3ZSt2VC9kM0lrTjJvdk1MZzNhaWM5enBlTEx1cXA0dEVSRVJFUkVSRVJFUnVjWkhaMFJFUkVSRVJFUkVSRVJFM2NDZ25ZaUlpSWlJaUlpSWlJaW9HeGkwRXhFUkVSRVJFUkVSRVJGMUE0TjJJaUlpSWlJaUlpSWlJcUp1WU5CT1JFUkVSRVJFUkVSRVJOUU5ETnFKaUlpSWlJaUlpSWlJaUxxQlFUc1JFUkVSRVJFUkVSRVJVVGN3YUNjaUlpSWlJaUlpSWlJaTZnWUc3VVJFUkVSRVJFUkVSRVJFM1NCWUxCWkxiemZDbGY3M2I0RUFvYmViUVVSRTVGSHJ0NmpBcnl3aUlxTFR5bUlCWUFFRWRoY2pJaUlpV0NDVmlQREJ2V25JakZmMWRtTUFBSkxlYm9BbmdiNFNUQm9jM052TklDSWljbW41YnlWUUtjU1lNQ2dJY2luditvbUlpRTZYNWV0TElKT0lNREU3Q0NxRnVMZWJRMFJFUkwzc20rMFZhRGFhSVpXY1BmZmlaMjNRTGtCQVdJQWNqMTRiMjl0TklTSWljbW41YnlVSVVrbnh3T1FZM3ZRVEVSR2RSc3ZYRjBNcEYrR3VDVkdJMU1oNnV6bEVSRVRVeXpZZnJVTkpsUUhpc3lkblo0MTJJaUlpSWlJaUlpSWlJcUx1WU5CT1JFUkVSRVJFUkVSRVJOUU5ETnFKaUlpSWlJaUlpSWlJaUxxQlFUc1JFUkVSRVJFUkVSRVJVVGN3YUNjaUlpSWlJaUlpSWlJaTZnWUc3VVJFUkVSRVJFUkVSRVJFM2NDZ25ZaUlpSWlJaUlpSWlJaW9HeGkwRXhFUkVSRVJFUkVSRVJGMUE0TjJJaUlpSWlJaUlpSWlJcUp1WU5CT1JFUkVSRVJFUkVSRVJOUU5ETnFKaUlpSWlJaUlpSWlJaUxxQlFUc1JFUkVSRVJFUkVSRVJVVGN3YUNjaUlpSWlJaUlpSWlJaTZnWUc3VVJFUkVSRVJFUkVSRVJFM2NDZ25ZaUlpSWlJaUlpSWlJaW9HeGkwRXhFUkVSRVJFUkVSRVJGMUE0TjJJaUlpSWlJaUlpSWlJcUp1WU5CT1JFUkVSRVJFUkVSRVJOUU5ETnFKaUlpSWlJaUlpSWlJaUxwQjB0c05JQ0lpb3ZOVDV2MWJlN3NKUkVTbnpab24raU1oVE5IYnpTQWlJaUtpc3dSN3RCTVJFUkVSRVJFUkVSRVJkUU9EZGlJaUlpSWlJaUlpSWlLaWJtRFFUa1JFUkVSRVJFUkVSRVRVRGF6UlRrUkVSRVJFUkVSMGp1UDhPRVRVVlgyaWxGajVhTC9lYnNZNWp6M2FpWWlJaUlpSWlJaUlpSWk2Z1VFN0VSRVJFUkVSRVJFUkVWRTNNR2duSWlJaUlpSWlJaUlpSXVvR0J1MUVSRVJFUkVSRVJFUkVSTjNBb0oySWlJaUlpSWlJaUlpSXFCc1l0Qk1SRVJFUkVSRVJFUkVSZFFPRGRpSWlJaUlpSWlJaUlpS2libURRVGtSRVJFUkVSRVJFUkVUVURRemFpWWlJaUlpSWlJaUlpSWk2Z1VFN0VSRVJFUkVSRVJFUkVWRTNNR2duSWlJaUlpSWlJaUlpSXVvR0J1MUVSRVJFUkVSRVJFUkVSTjNBb0oySWlJaUlpSWlJaUlpSXFCc1l0Qk1SRVJFUkVSRVJFUkVSZFFPRGRpSWlJaUlpSWlJaUlpS2libURRVGtSRVJFUkVSRVJFUkVUVURRemFpWWlJaUlpSWlJaUlpSWk2Z1VFN0VSRVJFUkVSRVJFUkVWRTNNR2duSWlJaUltb3hiVVFJM3B1WGh2RURORzYzbVRVbUhPL2ZtNDV4V2RadFF2eWxXRGduR1JPemc4NVVNNG1JaUlpSTZDekRvSjJJaUlndUdCR0JNbnh3WHpyaVEzMTZ1eW1uWFpoYWhwekZRN0ZwUWJiSDdiNThyRDl5Rmc5RlpwemZHV3JaMlczR3FEQU1UZkZIVW9UQzdUYlRSb1JpY0xJS1NybjFVam96M2cvanNqUjRZbm84d3RTeU05WFVUdG0wSUJzNWk0ZEM3TVhWdjc5Q2pQbFRZL0hQMjFOUGY4T0lpSWlJaU00VGt0NXVBQkVSRWRHWjh0ZHhrY2hPVXVIZmQ2Zmhsa1g3VVY3WGJGdTM1ZFhCVU1pNjNnZmhybmNPWTlQQldzZGxFNkp3MTVWUlhUNm1PNW4zYiszeFkzWmtZS0lmUHJvL28xUDdyTnRiamZ2Zk8zcWFXdFR6TXVQOGtCYWxoRlp2eHFmclMxeHVNeWhSaGZoUUg1VFdHdkR0OWtvQXdOcWNhcXpOcWNabG1ZRjRmRm9jSGxqVy9kY3Nrd2pZdm5DSTE5c1hWdW94OGZrOTNUNHZBT2lOWmx5V0ZZZ29qUnhYRHRMZ2g1MVZYdSticzNob2o3U2hWYjNPaEpHUDdlalJZeElSRVJFUm5RNE0yb21JaU9pQzhlcFhKOUUzMWc4Wk1Vcjg2ODQrbVBYR0FlZ01adHQ2aXdVNFdOallxV05HQmNtaFZucStwREthTFdnMld0eXVidzM0N2R2aWFidmUwR1F3STYrc0NUNVNFY0lEWmRBWnpDaXRNVGhzSXhFTGlBNlNvOWxrUVZHbEhvT1NWSjBLWG05NGJUOE9GSFR1L2U5SnN5OExCd0I4dnFFVWRWcVR5MjFtakFvRkFIeTR0aGhHYzl0bit2S3FQSXhJVTJOc1ppQ0dwL3BqODVFNmwvdi8vdElnQlBoNi9uMnAxNWx3NmYvdFJHVjlzOGZ0QUVBcUVjRmZJVVpGWGNmYmVrdmZiTUdDVmZsNGMyNHE1bHdlMmFtZ3ZaWFpZdjE3NmlwQkFFUkMxL2NuSWlJaUlqclRHTFFURVJIUkJhT3AyWXo3M3oyQy96emFEMzJpbEhqbDFtVGM5KzRSV3lEWWJMTGdodGYyZCtxWUw4OU13cVRCbm10emY3MmxBczkrbnV0Mi9mYUZwOWhmRkFBQUlBQkpSRUZVUXlDVENKajJqNzBvcU5DNzNDWk1MY1BQenc5d1dEWnBjQkJlbnBuazhkd3FoZGlyc1B1VGg5ejNWbCs0NWlRKytyVUVrMS9Nd2VCa0ZkNi9OeDA3ajlmanJuY09PMndYRXl6SHQwOWxvYWhTajhrdjV1REcwV0dZZTBVa2dsUlNGRmJxVWFjMXVqeCtRcGdDQ3BrSVpyTmpNdHQ2cnA0MmQ4a2hweUE4SmxpT3l6STEwT3JOK1BEWFlwZjdSUVRLTUg2Z0JwWDF6VmoxUjVuRHVyTGFaaXo3K1JSVUNnbDI1emE0UGJkV2I0WmMydlpBeGRWREZxM0JoR2FUQldPZTNOWGhhNW1VSFlTWFp5V2hyTmJRNGJidHpSNGJqb2VueEhyY0ppMUs2ZmIzNTNDUkZ0TmYyZWR5M1QzL2RoN2gwUm5qc2pSWU9DZTV5L3NURVJFUkVaMXBETnFKaUlqb2dsSmFhOEFUeTQvajdUdjc0SksrQVJnL1FJTWZkM251c2Z2SlF4bklqUFBEdUtkM283UUxnZWJwb3RXYmNhcktkWHZFSWlBc1FBYUxCU2l1ZHQvbVVMVVVFckdBaXJwbUdOejB1bS9RdWU3ZDNaRVZHMHFoVW9neGIxSTBsdjlXZ2hXL2w3cmM3dWZuQjBBaGs3bDl5SEFtM0hGRkZFUUNzUHkzRXRRMFdoOElMTDA3RGZ0T051RER0Y1dvMDVrd2Ewd0VKQ0lCUVNvcHRyM212cXpMN0xIaFRzdUdQYklkT29NWlZ6NjMyN1lzTFVxSkx4N3RoK01sT2x6ejhsNlh4MW8yTHgxRFVsU1k4K1pCYkQ5Vzc3UStXQzBGQUpUWGRyNUhlMm1OQWJ0T3VIOG8wSkdUNVUxZDNwZUlpSWlJNkh6RG9KMklpSWd1T0g4Y3FzWFNuNHJRMkdUdU1HUS9tNjNiVzQxMWU2dGRybXZ0QWQvUVpISUlkOXY3OHJIK1NJNVE0SUgzamlJbnYrdWhxenNsTGVWbElnSmRUeExxcnhBalRDMURjYlVCalhySFFQOUlrUlp6bHh6cThUWWRhRmNlS0Q3VUI1TUdCNk9tMFlnUDExcDdzMS9jTndERCsvZ2pJZHdINy81MENrRXFLYTY5S01SdGVhRzRVQi80eXNYSUwyOUNZNVB6Z3dteml6b3FvL3NHQUFEVzc2dHgyOVpBUCt2bGVsVzk2OUVBSWY3Vzk3VzgzUU9nNGFuK1dIcFBtdFAydTE1djY1MCs3Skh0dHJJd2s3S0RjTzFGb1ppMzlMRGJFa1pQellpSEJjRGIzeGQ1VmRhR2lJaUlpT2hDd3FDZGlJaUlMa2hMdml0eXUyN081UkY0NE9vWXArWDJwVnUySDZ2SG5EY1BucGEyOVlUU1dvTlhrNlpldThCMVQrcU9qRXhYZTFXU3ByQ2xsM3Brb056bCt2UVlYd0RBSVJmaGRaM081TGJXZVU5NmFFb3N4Q0xnblIrS2JHSC9uUzJUMkM3NmJ3RjBCalBtVDQyRlFpYUN3ZWk2dk5EU2U5SXdQTlVmQzFibmUxMHlaWFNHTldqL2JaL3JoeVVBb0ZGWmU2eFhOYmdPdG9QOXJldkw2aHlEZG9QUjRoQ0dhL3lrRUFRNExMUFAvcThhRW93aEtTb3NtSlhrY2dMYmNWa2FUQjhaQ3JNRjJIcWtEai90UG5jZlVCRVJFUkVSblE0TTJvbUlpSWpheVM5cmN1Z3BucDNrRDMrbEdKc08xc0pndFBiMlBWcXM2NjNtT2JsaGRDaUdwYXJ4eFBManR0N0lZaEh3MHN3a2xOWVk4TmEzaFM3THdsdzFKQWd2M1pLRVgvWlU0NkgzanlJalJva25wc1hqbFM5UGR0aTd2YXJlaUQxNWpxVk1GREl4aHZmeGQxaVdWMlo5bjZLRFhRZnRHUzFCKzc2VHZUTUo2b2cwTlM3dEY0QzhzaVo4c2FrTUVwR0FTL29Gb0Yrc0wzWWNyOGYzT3lzUkd5TEhOUmVGOU9oNW96UnlaTVg3b2JqYWdEMTVydDlyUVFEVVNnbE1acURXVFgzNzFoN3RGZTFLeCt3OFVlOVE0MzNUZ215b0ZHSmMvdlF1bUZ4MFdIOTgrWEdzL0ZzL2pPa2ZpSHNtUm1QSmQ0VzJkZEZCY2p4N1l3SXNGdURaRmJrTTJZbUlpSWlJWEdEUVRrUkVST2U5eDZmRjRjYlJZUTdMYmxsMHdHMll2RGFuR210ejJvTDIxaHJ0ejY3STdWS045bXN2Q3NHMVhnUzEzejZWMWVsalM4VUNyaGdZaE93a0ZUNStJQU8zTHptRUJwMEpyLzRsR1pkbEJxS2syb0NWbThvODFqODN0VXhDZWxHYUd2M2ovTEQ4d1F5cy9LTU1pOWFjaEZidnVvekl3Y0pHcDU3UHJaT2gycXRxTUtLcXdZaVVTQ1VrWWdGR2syUGdQeUJCQlFESWNSTTJuMjdEVXEwUEJ1SkRmYkJ6VVZ2ZGRhUFpnaGRYNWdFQUhyOHVIaEtSMEtQbnZlYWlFQWdDOE9XZlpYQlJWUVlBRUtDVVFDeXk5a0ozdDAxSVM0MzJzaTdVYUxkWDAyakVveDhldzd5Sk1maDZhN2x0dVZRc1lPR2NGS2dVWWl4WW5ZLy9iaW4zY0JRaUlpSWlvZ3NYZzNZaUlpSTY3MVhXTlNPdnpEcHhZMWlBREFxWjZJeWV2Nm5aN0xKdWQ2dWdsdklnMVkxR21NMnVFMVZCRUtEeGM3NTBhelpaY1B1U1EzanBsaVJjT1VpRDkrYWxvYlRHZ05FWkFjZ3RiY0xjZngxQ2FZM3Jod01pd1JvZUcxdk91ZXpuWXV6TGI4UUxOeVZpeHNoUURFeFFZZm9yZStHbVNWNDdVTkNJVWVscTlJbFNZcjlkejNWQkFBWWwrY0Zvc21CUGJ1OEU3V3R6cXBHVjRJZnFCaVBxdEVZa2hTdVFHZStINWV0S2NLeFlod21EZ2pBeVhZMmp4VHFrUkNoNjVKd1NrWUFwdzRKaE1nTmZiWFlmWEFmNnRaU05jVk9mSFdnckhWTmUxN2tIUUhQSFIyTGVwR2lYNjl3OThIbnN1amc4ZGwyY3c3S0ZhMDdpbzE5TE9uVnVJaUlpSXFMekVZTjJJaUlpT3U4dC9la1VsdjUwQ2dEdzF0eFVYTnd5Q2FVcm1YRisrT1NoREpmcjdHdTBBK2d3WUd3TnNyL2ZVWWxuVnVTNjNXNzd3aUdRU1FUY3NtaS8yNTduclpPYnVtSTBXZkQ0OG1OUUtmcGdaTG9hcVpIV1FQdXVkdzZqcHRGOVNDc1ZXOXRuc3V0bHZ1VklIYWE5c2hmUDM1aUlOVnNydWgyeUE4Q2UzSHFNU2xjak04N1BJV2pQaVBHRldpbkJqdVAxYUdwMjNYUCtkTXZKYThDdGk2MjE5a1VDOE44bk1uR3F5b0IzZnJEVzhKODVKaHdBOE9wWCtWaDZkeHBrRXNGamJmcTM3K3pqdEN5dnJBbVRYOHl4L1R4MWVBakMxTmFTTDc4OFA5QnArOWJhK3EwVG9WYTZxYy91SXhYQnowZU1wbVl6Nm5YdUgrUzRVbHh0d0s0VDNYKzQ0ZTRoRGhFUkVSSFJoWVpCT3hFUkVaR2RXcTNSb1Q2N0o4ZUt0UWoyVjd0ZDN4cGt0d2J1cDR0WUJQemxza2dNVG02cmo3N2t1MEpieVA3NS9MNjJXdWl1VEI0YWpNbERnNTJXajgwTUJBQmMrZHh1bktycWVxQzY5V2dkN2dGd2NkOEFyTmhRYWx2ZStzQmp3LzZhTGgrN0owMGNISVQ0VUIvYzljNWhXNjM3eHo0K2hodEdoMkhuY1dzOWVvdkZXamFudmJoUUgvakt4Y2d2YjNJYXZWQlUxZmJ3UkNJV2NQdjRTQUNBdnRtQzR5VmEyN3FVU0tYdGR3Wm9HK2xRVmU5NUl0VHlUcFNOeVl6M3c5UmhJVGhXb3NQc3hRZWMxZ3NDOFA2OTZkaVgzNGdQMXA1Q1ZZUDdCelZFUkVSRVJOU0dRVHNSRVJHUm5menlKcWZhNDU0TTcrTWhhSmRZUTlQV0NWUlBoekg5QTNIdnBHZ2tSeWpRMEdUQ0x6azFtSlFkaEhzbVJtUGp3Vm9BMXZyZEFiN09RYmxLSVlaS0lVYXp5ZUl4ckRXNTZDdzlNbDN0c1dlM3ZaeThCdFJxalJpVzZnOC9IekVhV29Mb2NWa2FBTUN2WGo3WU9KMmtZZ0h6SnNiZ20yMFYyTlR5dmdIQXlYSTlYdm55SkdRdG4yV3p5WUliWHR2dnRQL1NlOUl3UE5VZkMxYm5PK3pmM3N4THd4RVJhTzNOWGxEUjVIQ3NINTRaZ0VpTnpQWnphNC8yaWRsQm1KZ2Q1UGFZTWNGeTIyZnhuNDFsdHRyeWdEVTRINWlnc3YwdWZuUy9kYlRHSit0ZGo4YVlPTWhhN3o4eFhJR2xQeFc1UFNjUkVSRVJFVGxpMEU1RVJFVFV3bXczNCtTWS9vRWV0OTJ3djhaVzI5d2RYN2tZQURwZDFzTmJUMHlMeHcyalF3RUFQKzJxd29JdjgxRlYzNHorc1g3b0crdUxVUmxxYkR4UWkvdmVQZUp5LzVkdVNjSlZRNExRWkRCajBndTdZZXJFODRDcWVpUDI1TlU3TEZQSXhCamV4OTlwVzVNWitHMWZEYVlNRGNiWXpFQjh2YlVDR1RGS0pFY29jTEJRYTZ1ZjM1dG1YaG9Pc1FoWXNEcmZ0a3lqa2lCQUtjV0pVbDJQbkNOS0k4ZWRWMFo1dmIxTUtrS2xtOTdzN1NubFlpaGtJdWdNMXQrMWpCZ2xwbzhNdzVqK2dRNjEvWThXNi9EdDlncDh1NjNTNlJnaUFiaHpnclY5Uzc0dFBHMi90MFJFUkVSRTV5TUc3VVJFUkhUQkV3bldldGQxdXJZeUdZdi9tdUp4bjVHUDdlZ3dpRlQ3V2krMTVsd2VnVG1YUjNUWURuZVRVTHF6N09kVDZCdnJpMzk5WDJqclJSMGVLSVBZbXU5ajhwQVFiRHpndm5kMXZ6aHJPUm1WUW94QlNTcHNPMXJ2ZHR2MkRoWTJPdlg4andtV3UzME5hN2FVWThyUVlNeThOQnhmYjYzQWpSZGJhNTkvK1dlWjErYzhYYUkwY3R4eFpSUUtLcHJ3K20wcGlBaVVJeXhBWnEzSG50ZUFXMTUzTHJIU0ZWT0dCVU1oRTJGdFRqVXV5L1Q4SUFjQWxxOHJ3ZkoxM2swME9uOXFMR2FOQ2JlVnZCbWRFWWpyTGdvQkFCUlU2QkVSS0lORUxHREdLM3RoTWdPUFhodUxXeTRKZDN1OEoyZkU0OGtaOFIyZWQrNlNROWg4cE02ck5oSVJFUkVSbmM4WXRCTVJFZEVGTDhCWEFrR0FyYVJKcTRxNlppeitwc0JoMlIxWFJpRTZTTzdWY1VOYkpyeXMxNWs4bG85cHJjVmQzV2lFMlUwdmVVRVFISG9tQTBCcHJRRTNMMm9yUFpJWXBzQ1NPMU1ScGJHMjc1SitBUkFKY0RtaGFVS1lEK0pEZlpCWDFvVDRVQjlNSFJiU3FhQzlzN1lmcThmUlloMzZSQ2x4L2FoUVRNb09RcDNXaEcrMlZaeTJjM3BESWhhd1lGWVNGRElSVWlPVkR1c2E5U1pzT3VUK1FVVm5MZnZsRkJMQ0ZIaDVWWjVYUVh0bnlDUWlBSUJXYi8wZExxaG93czk3cXJCeVV4azJINjdEcGdYWlVDbkV0dTBMSy9RT2s2R3FmY1ZJREZQQWFMSmdiNzV6RFhxTlNvSzRFQi9VNjB3NFZ0eld3NytPdmQ2SmlJaUlpQUF3YUNjaUlxSUwzRTBYaDZHcDJScUNsOVk0MWpGdmFESmh6VmJISUhqNnFGQ3ZnL2JZRU90MkQ3MS9GRnM4OVByZHZuQUlaQklCdHl6YWo0SUt2Y3R0d3RReS9QejhBTGZIbURRNENFL05TSUJTTHNMSDYwcHdjZDhBeElmNklENVU0YkwwU1d0djV2ZC9LY2Jrb2NHNFltQVEzdnkyRUNYVlhaLzB0RDJwV0VDRVJvYVQ1ZGJYdFBUSElyeDZhektlbUJZUFFRQ1cvMVlNcmY3MDFhLzNSa1NnREZrSmZyYWZUNVRxc0g1ZkRYN2ZYNE05dVExTzVZRmtFc0ZqYmZxMzcremp0Q3l2ckFtVFg4eUJ2dG1DUno0OEJvVk0xSE12b0VYck1YVXQ3K2QzT3lyeDNRN244akN0UHZ1OUZKLzlicDJZVmlRQXkrNU5COEtBdDc0dHhQdHJpNTIyWHpnbkdYRWhQbmpyMjBLSENXMkppSWlJaU1pS1FUc1JFUkZka0JSeWthMUcrZnI5TlFDQXZOS2VxeFVlSGlpRFdtbTkxRHBSMGpNMXZsMUppVkJnL2pXeHVLaVBHa2FUQmMrc3lNVlhtOHNSSGlCRGZLZ1BFc045bklMMnhEQUZwZzRQUVZXOUVkL3RxSURXWU1MZ1pCWHV2eW9Hank4LzN1azJTTVVDNGtKOWtKMmtBZ0NFQmNqdzFlUDlFUmZxZ3lORld0dUVuei91cXNMYzhUcWtSQ3BRVnR1TWozNzFyaXpLNlZSUW9jZkJRaTErMjFlTkgzWldJcmVEM3dHTHhWbzJwNzI0VUIvNHlzWElMMjlDWTd1UkVVVlZyaCtlZUxMbDFjRmVCL0xYTHRnTHViU2xSN3VoOHozTTUwMktSbmFTQ2p1TzErT0RYNTFEOXFFcC9oaVhwVUZwalFHci91ajlVajlFUkVSRVJHY2pCdTFFUkVSMFFRbjJ0NVp6ZWUwdnlWQXJKU2lwTnRoS3ZPdzcyZUJwMTA2NXFJOGFBRkJlMTR6eU91OG10T3lzbVplR1kvN1VXQWdDY0tCQWl4ZFg1dHJLZnRScXJmWG1GVEt4d3o1eXFZQ1haaVpCS2hid3oyOExZREJhc0haUEZRNFdhakZwY0JEVzdhM0dUN3VyWEo0dlZDMUZjb1FDQUpBY29jQ2JjMU9SRUtwQVZKQWNZcnRNV0NFVElVUXR3Lzc4UnZ4K29NYTJmUHhBalczL1FEOEpVaU9WeU1udnVmZThxNjUvZFovWDJ6YWJMTFlIQi9hVzNwT0c0YW4rV0xBNjMxWXZ2enNxNjV1OUR0cU5KZ3Y4Zkt5ZmMyZEhDR2hVRWx3OU5CZ0EwQ2RLaWFkbXhPT3J6ZVcyMzZQb0lEbGVtWjBNQUhqbHk1Tm9Obm1lQUppSWlJaUk2RUxGb0oySWlJZ3VHSkVhR1ZJaXJVR3ZXaW5CK3YwMWVQN3pYS3g4dEQ4QVlHTzdnRFErMU1kam1SQlByaDVpRFMvWDc2dnVSb3M5KysrV2Nvd2ZvTUdhclJWWS9XY1pMSFlaYU92L1NpV0NiWmxFTE9EVlcxT1FFYVBFaGdNMStQTFBjZ0NBeVF3ODlla0pmRDYvTDE2NE9SRWxOUWJrNURrRzRBOVBpY1hzc1cyVFo0WUZ5QkFXSUlOV2I4YUJna1ljSzlhaXF0NkkyOFpGMkVxbDJCdVJwc1pMdHlSQkVJQjFlNnN4cG44Z0Z0NldqRnNXSFhBcTJYTTJFUWxBc0w4VU5ZM0dqamZ1UVJPZjM5T3A3WlUrTFQzYW16clhvNzJxM29nSnorN0IyS3hBM0RBcUROTkdoR0xhaUZBY0s5Ymh4MTFWdUg1VUtEUXFDWlo4VjRTZjk3aCtBRU5FUkVSRVJBemFpWWlJNkFJeUpOa2ZVckVBczhWYWkvcTluMC9oeG92RG9GRkpzT3RFZzFOOWNxM2VqQzFIWFBkT05ucm8yZHMzMWhlRGs2MWxWTDdmNmI1T2RtZEl4SUxUc25xZENUUGZPT0J5KzdRbzY4U2UxUTNXZ0RqQVY0S0ZmMG5Ca0JRVmpwelM0dkdQSFV2RUhEbWx4UnZmRkdEKzFGZ3N2VHNOajMxOERML3RhK3VObmxlbVEzNTVFNDZjMHVKSWtiYmx2enFIc2lneHdYTGNOaTdDcVMzanNqUllNTnZhaTM3Wno4VlkvTDhDUERVakh0TkhodUw5ZTlNeDU1OEhVVnJiOXQ1bnhQamk4L2w5Ty9IdWRNMlZ6KzNHcVNybmtEOHBYSUdocWY0WW51cVA3R1Ivck50YmpSZitrM3ZhMjlNZC9ncnJaWDFYYXQ0YnpSYjh0S3NLUCsycVFrcUVBcmVOaThURTdDQWtSMFFCc0k2TzJIU3dwb09qT0hKVnE1NklpSWlJNkh6R29KMklpSWd1R0d1MlZtQlVSZ0QrdDYwQzYvZlhRQ2tYNGJiTEl3RUFuL3ptV0M5ODNkNXFsTlFZOFBLcWZJL0hGSnp6Yjh5Zkdnc0EySlBiZ0cxSDY3dmRicmxVd05UaDFoN3lEUzU2TEVkcDVLaHFhSWJPWUlhL1Fvd1pvOEtRR2U4SG85bUNuTHdHak0wTXhGTXo0aEdra21ML3lVYmM4Ky9EcU5NNUgrZmpkU1h3a1lvd2IxSTBGdjgxRlY5dUxzZmlid3BRMDJqRTZqL0xzYnFsQjd5M1JBSnd6OFJvL0hWY0pBUUIrR1I5Q1JiL3J3QUE4UEtxZkVScTVCaVpyc1luRDJYZy92ZU80RUNCdGd2dlR2ZElSQUxTWTVRWW1LakNvRVFWQmlTcW9QRnJ1MFEyVzREaUx0Ulk5MFp5aEtMTEl5YnNTY1VDWW9KOUFBQmxkYTVIQjRpOHFFS1RFT2FEU1lPRE1Tb2pBQURRMUd4R1k1TUpRU29wUG51NEwvYmtObUQ1K2hLczNWTUZVd2Q1dnRrQ2h4RVduU1VJMXQ4ZklpSWlJcUp6QllOMklpSWl1cUE4OHVFeEFOWWc3eCt6a3hHcWxpSW5yOEdwTE1iOTd4M3Q4RmdoL2xKa3h2c0JBR3BiU291a1Jpb3hJRUVGc3dWWTlQWEpMclZ4eXRCZ3ZIQnpvc3QxZTNLZGE1cS8vdGNVcEVVcFliRTRCditmYnlqRncxTmljZFdRSUFEQW1pMFZlSEZsSHBxYTNhZWtTMzg2aFlZbUV4NmNISXZyTGdyQnhPd2czTEpvUDQ0V2QyNUMxNVJJQlo2ZWtZQ3NCT3Y3OC9ZUFJYajcreUxiZXFQWmdnZVhIY1U3ZC9mQm9FUVZQcnEvTDk3OHRnQ2YvRmFDM0ZJZGJsbmt1cWQrVHlxdmJjYWt3VUZPNzNWK2VSTzJIS25EbHNOMTJIcTBEclZhSTJRdEpYaGtFc0ZqT082dUovZFRuNTdBbXEwVkRzdDBCalAyMkpYb0daaWdnbHphdVhRNTBGZUMrNitPZ1Z3cW9MclJhQnVWb1pDSjRDTVZvVTVuUlA4NFAvakt4ZEEzV3h3Q2NvMmZCUDNpL0RBazJSOGowdFMyc2tvR293V3IveXpIMjk4WG9xckJpRW1EZ3pCclRBU3lFdnlRbFpDTWttb0RWbXdveGVvL3lsdytzQUdBZS81OXVGdTE2c2RsYWJCd1RuS1g5eWNpSWlJaU90TVl0Qk1SRWRFRjZlb2h3YmlrYndDMGVqUCs3NU1UWHUzend6TURFS21ST1MydjFScHh2TVFhUkI4NXBjWC9mWEljY2FFKzJIV2lheE45SGlweTNiTjczOGxHdkx3NnoybjV3WUpHSkljcklCRUxhRFpaa0YvV2hLODJsK09UOVNWSUNGVWdLVUtCdDc4dmRDZ0Y0OGxudjVmaWowTzFlT2FHQkt6WlV0SHBrTjFIS3NMYmQ2WWhWQzJGem1ERzA1K2R3SSs3bk90N056V2JjZWUvRHVQMTIxSXdNbDJOK1ZOalVkMWd4RGZiS3M3WUpLbmJqdFhoVkpVQjI0NWFRL1d0UitvY3l0aTBaN0VBQndzYk8zMmVhaGMxM29zcTlaaTc1SkR0WjNlL1gvWStuOThYR1RHK0x0ZDl1TGJZOXYvOTRueXhiRjY2dy9yRFJkWjJ4NGY2NElQNzBoR2trdHJXV1N6QWdZSkdmTGVqRWw5dnJYQ29TYjltU3dYV2JLbkFxSFExYmhzWGlld2tGUjZjSElQWll5SXc4WVhkWFNwWFEwUkVSRVIwdm1IUVRrUkVSQmVrYjdkWFlHUzZHbXUyVkNDL3ZNbXJmUTRXTmlJOFVBWjlzeG5OSmd1TVJndE9WalJoOFRjRjBCbmF3c2J2ZG5TdUx2dkU1M2REZ0lEeWxySWZ4NHExdUhiQlhoaU1aaGhORnBndDFoN3o5dWV3OTh5S1hEeXp3blVOOFJPbE9sei82cjVPdFFjQThzcWE4SmQvSHV6MGZvQTFRSC91ODF3OGNIVU1udnowaE1mM3Q2blpqSGxMRCtQQnliSFFONXZ4emJZS3Q5dWVEcWVxRExqeXVkMWViOTlzc3VDRzEvYWZ4aFo1bHBQWGlOUW9KU1F0ZFZYTUZ1QlVsUjRyTjVYaG8xL2JndmFUWlk3bGJrNlU2dkRpU3V0RG1yeXlKdXc2MFlDWVlEbjI1amRpVDI0OU5oNnNSV1Y5czhkemJ6eFlpNDBIYXpFZ3dROTNYQkdGMy9aVk0yUW5JaUlpSW1yQm9KMklpSWd1U0NZejhMZVBqbmU4b1oySDN6OEtjemZxVHJ0VFZ1c1ljSnJNd0xGTzlpSS9HeFJVNkpGNS8xYmJ6KzRtYW0zUFpBWmUrMi9YeXV5Y2kzUUdzOFA3MU1xYndQK2xWWGw0YVZVZUJBRVFpd1JZTEJhWDlkSkxhdzBZOGJjZEVJa0FRN1BGcVZ6UVErOTNYQnJKbmQyNURianJuY011MTdsNlhWM3g4NTZxSGpzV0VSRVJFZEdad0tDZGlJaUl5RXVuSTJTbmM0UEJhRG1yZ2wrTEJUQ2FQUDlDdXBvNGw0aUlpSWlJVGc5UmJ6ZUFpSWlJaUlpSWlJaUlpT2hjeHFDZGlJaUlpSWlJaUlpSWlLZ2JHTFFURVJFUkVSRVJFUkVSRVhVRGczWWlJaUlpSWlJaUlpSWlvbTVnMEU1RVJFUkVSRVJFUkVSRTFBME0yb21JaUlpSWlJaUlpSWlJdW9GQk94RVJFUkVSRVJFUjBUbG8yb2dRdkRjdkRlTUhhTnh1TTJ0TU9ONi9OeDNqc3F6YmhQaExzWEJPTWlabUI1MnBacDRXRTdPRDhPMVRXWGoyaG9UZWJnb1JBQWJ0UkVSRVJFUkVSRVIwRmhxWTZJZWN4VU9SczNnb1pCTGhqSjEzenh2V2N5WkhLQUFBZzVOVitIeCtYd3hKVVoyeE5uaHJ4cWd3REUzeFIxSkxXMTJaTmlJVWc1TlZVTXF0TVdCbXZCL0daV253eFBSNGhLbGxaNnFwWGhtU29zS0toL3NpTWN6OTYyazFiVVFvWW9MbE1CZ3QzVHJucGdYWnlGazhGR0l2VWxKL2hSanpwOGJpbjdlbmR1dWNkSDZTOUhZRGlJaUlpSWlJaUlqb3d1UXJGK09MUi90aGIzNERsbnhYaUlJS2ZXODNDWHFqR1Q1U0VWcWovU0NWRkhHaFBsZzJMeDNmYkt2QWd0WDVxTmVaZXJXTkFKQVo1NGUwS0NXMGVqTStYVi9pY3B0QmlTckVoL3FndE5hQWI3ZFhBZ0RXNWxSamJVNDFMc3NNeE9QVDR2REFzcVBkYm90TUltRDd3aUZlYjE5WXFjZkU1L2M0TFo4N1BncDlZMzN4N3J3MDNMcjRnTnZmaDdnUUh3eE9Wc0ZrQmo1ZVY5emxkbmVXM21qR1pWbUJpTkxJY2VVZ0RYN1lXWFhHemsxblB3YnRSRVJFUkVSRVJFVFVLNjY5S0FReHdYS29sUkk4OTNsdWJ6Y0hBS0F6V0lOMmlkZ2F0Zis0cXdyN1R6YmlIN09UY2ZXUVlBeE45Y2R0Yng3RXlmTGVmU2d3KzdKd0FNRG5HMHBScDNVZC9NOFlGUW9BK0hCdE1Zem10cDdmTDYvS3c0ZzBOY1ptQm1KNHFqODJINmx6dWYvdkx3MUNnSy9uK0xCZVo4S2wvN2NUbGZYTkhiWlpLaEhCWHlGR1JaM3JiUjkrL3lpV1A5Z1hDV0UrZUc5ZU9tWXZQb0NTYWdOK2VHWUFJalhPdmUvRkl1QzdwN002UEM4QXJOdGJqZnZmNjk1REJYMnpCUXRXNWVQTnVhbVljM2trZzNaeXdLQ2RpSWlJem5wengwZGkzcVJvbE5ZYU1PN3AzV2ZzdkxQSGh1UGhLYkdvYVRUaTRpZDJuckh6a3JQejViUFk4dXBnS0dRaXZMd3FIeXMybFBaMmM0aUlpSHFWV0FUY2VIRVlBT0NMVGFYUUdjeTkzQ0tySm9NWjhBV2tkclZFQ2l2MW1QWEdmc3liR0lNZ2Y0bkxrSDF3c2dydjM1dmU0KzJadStTUVV4QWVFeXpIWlprYWFQVm1mUGlyNng3ZEVZRXlqQitvUVdWOU0xYjlVZWF3cnF5MkdjdCtQZ1dWUW9MZHVRMXV6NjNWbXlHWHRuMHVDcG4xUGJIL3JMUUdFNXBORm94NWNsZUhyMlZTZGhCZW5wV0VzbHFEeS9WMU9oUHVmdWN3UG4yb0x5SUNaWGhyYmlwbXZMSVBCUlZOTUJpdDV4U0xCTVFFeXdFQUJSVjZtTXplbFk0cHFYRjlUbGRhcnowOVNZdFNJbWZ4VUpmckRoZHBNZjJWZlY2Zmo4NFBETnFKaUlpSWlJaUlpT2lNbXo0eUZORkJjalNiTFBoMC9lbDdBUDNsWS8xdDlkWTc0NU9ITXR5dW16b3NCQUJ3LzN0SHNXNXZkWmZiMWxWM1hCRUZrUUFzLzYwRU5ZMUdBTURTdTlPdzcyUURQbHhiakRxZENiUEdSRUFpRWhDa2ttTGJhKzdMdXN3ZUcrNjBiTmdqMjZFem1ISGxjMjJkWE5LaWxQamkwWDQ0WHFMRE5TL3ZkWG1zWmZQU01TUkZoVGx2SHNUMlkvVk82NFBWVWdCQWVhMzczdTlGVlhyYysrNWh6SjhhaDJkV25JRFpBdHkrNUpCdC9lU2h3Zmo3elluSUsydkM1QmR6M0I2bk8wcHJETmgxd3YwRGlJNmNMRy9xd2RiUXVZSkJPeEVSRVpFYmVhVk4rSGxQRlJxYmVyOEc1NFh1ZlBrczF1NnBobHdtNEdRRmI3NklpT2pDNWlzWDQ4NHJvd0VBVXJHQWRYOGY2SEY3Yit0L2ozdDZOMHJkOUpiV04xdGd0blRjKzFrdUZVRWtlTGU5ZlcvcUkwVmF6TFVMaEh2S2djSkdoNS9qUTMwd2FYQXdhaHFOK0hDdHRUZjd4WDBETUx5UFB4TENmZkR1VDZjUXBKTGkyb3RDWUxFQUI5dnREd0J4b1Q3d2xZdVJYOTdrOHZySzFlc2UzVGNBQUxCK1g0M2J0Z2I2V2FQR3FucWp5L1VoL3RieUwrVnVQcU5XZS9NYk1YdnhBWmZyWmw1cWZURHcyZTl0ZGVuSFpXbXdjRTR5Y3ZJYmNNc2kxL3UxR3A3cWo2WDNwRGt0My9WNlcrLzBZWTlzdDVXRm1aUWRoR3N2Q3NXOHBZZmRqcnA0YWtZOExBRGUvcjdJcXhJNmRINWkwRTVFUkVUa3h2cjlOVmkvMy8yTkJKMDU1OHRuOGNRbngzdTdDVVJFUkdlRkJ5YkhRT04zWm1PcEI1WWR3YWFEdFIxdTk5NjhOQXhOOGNmank0L2hsejNlOTFhdjA1bmMxanJ2U1E5TmlZVllCTHp6UXhFYTlkYVEvTTRyb3dBQWkvNWJBSjNCalBsVFk2R1FpV0F3V25ERGEvdWRqckgwbmpRTVQvWEhndFg1WHIwbkFEQTZ3eHEwLzdiUC9YdWlVVmw3ckZjMXVBNmJnLzJ0Njh2cXZDL2pZbTlvaWovNlJDbFJyek5oelphS0xoM0RZTFE0aE9FYVB5a0VBUTdMN0o4elhEVWtHRU5TVkZnd0s4bGxqZmR4V1JwTUh4a0tzd1hZZXFRT1ArMW0zZllMRllOMklpSWlJaUlpSXFKZXNILy9mdmo3K3lNbUpxYTNtM0pHalVwWDQvcVdTVHBmLzdvQW42NHZjYm5kZ0FRVjNwdG43WGs4NG04N2JEVzZQVEVZdmF2WDdVbHJyMlZmSDNHM2o5WFRScVNwY1dtL0FPU1ZOZUdMVFdXUWlBUmMwaThBL1dKOXNlTjRQYjdmV1luWUVEbXV1U2lrUjg4YnBaRWpLOTRQeGRVRzdNbHpYVkpGRUFDMVVnS1RHYWpWZXU3Ulh1R2hkSXduYzYrSUJBQ3MvS09zeXpYOWQ1Nm9kNmdudjJsQk5sUUtNUzUvZWhkTUxnNzUrUExqV1BtM2ZoalRQeEQzVEl6R2t1OEtiZXVpZytSNDlzWUVXQ3pBc3l0eUdiSmY0QmkwRXhFUjBUbEZJaEp3MHlWaG1ESXNCTEhCUHRBYVROaVgzNENWbThyd200ZGhyUEdoUHBneEtoU0RrLzBSR1NpSDBrY0ViWk1aK2VWTitIMS9EVlpzS0VHZDFuSFliUHNKT0JVeUVUYThuQTJaUk1DTEsvUHduNDFsVHVkWjgwUW1Fc0o4VUZCelNQMmRBQUFnQUVsRVFWU2h4NlFYOWppdHYyRjBLSjZZRm8raUtqMG1QTmUyWGlJV2NOWGdZSXpwSDRpTUdDVUNmS1d3d0lMcUJpTnk4aHF3K284eWx6Mmt0aThjQXBsRXdMVUw5cUtoeVlUYngwVmlaSG9BUXRSUzFPdE0ySDJpSHN0L0s4R080ODQxTWdIckRkSDRBUnJNR0JtR3hIQWZLT1ZpbkN4dnd0ZGJLL0RaN3lWNCt5NXJiNmVGYTA3aW8xOWQzd1M3RXVncndjd3g0Ymk0YndCaWduMGdGZ21vYm1qRzN2eEdmTDIxM09ObjVZcTd5VkRuWEI2QkI2Nk93Yzk3cXZEdys4ZHc5WkJnWERjaUJNa1JTc2drQWdvcTlQaHBWeFUrK2EzRTF1TUxBTjYrc3c5R3BxdXhPN2NCczk1d1A3ejRqZHRTTURZekVOdU8xdU8ydHc0NnJCdWE0by9wSTBNeElNRVBRU29wdEFZelRwVG84UE9lS3F6Y1dJYW1adWM3dFk0bVE4MUs4TU8wRWFFWWxLaENxRnFHWnBNWng0cDErTisyQ3F6K3M4emx6WjljS21ENmlEQ01INmhCWXBnQ0Nya0lWZlhOMkozYmdNODNsTHI5N0x2ekdYV2xuVjM1Rzh5TTg4TW5EMlhZUHZjQkNYNllQVFlDQXhOVVVDbkZLSzl0eHFhRE5maGdiVEVLSzUwbnBTTWlPdHR0M0xnUnk1WXRRMVpXRmlaTW1JRFJvMGREcVZUQzE5ZTN0NXQyMm9TcXBYaitwa1FBd09iRGRmaGdyZXVKUEFHZzJlNEx4V0EwOTBpSTdvMkdsbElxS3Arekx6WWJsdW9Qd1BxOXVuTlJXemtkbzltQ0YxZm1BUUFldnk0ZUVwSFFvK2U5NXFJUUNBTHc1WjlsY0ZkTkowQXBnVmhrN1JudWJwdVFsaHJ0WmUyQzlrbURnL0R5ekNTSFpiL3ZyOEc4cFVkc1B3OUpVV0ZvaWo4TVJndVdyL1ArdXJTN2FocU5lUFREWTVnM01RWmZieTIzTFplS0JTeWNrd0tWUW93RnEvUHgzeTNsSG81Q0Y0S3o3MThNSWlJaUlqZWtJaEgrZFdjZkRPL2pENHNGcUc4eUlVQXB3ZWlNQUl6T0NNQ2FMUlY0ZXNVSnB3djdtV09zSVczci9ZYlJaSUhKQlBncnhlZ2Y1NHYrY2I2NFpuZ0libDYwMzJOTlJaM0JqSzFINnpBcVhZMFJhUUZPUVh0WWdBd0pZVDRBZ0poZ09jSURaU2lwZGh3V2UzSGZRQURBcnpsdFEyN0QxREw4NjY0K1NMR2JwRXVyTjBNaEV5RWlVSWFJUUEydUdLakI0djhWWU5uUHJtOUcrOGY1NFpGcll1Rm4xL05LNHlmQjJNeEFqTTBNeExPZjUrTExQeDB2L21VU0FRdG1KZVB5TEd1YkxCYnJhK3dUcGNRajE4UmliR1lncEpMTzM2VEZCTXZ4d1gwWkNHMjVrVEthTE5BWnpBZ0xrQ0VzUUliTHN3S3habXNGbnZyMFJLZVA3WTRBQVF0bUpXRmlkcEREOHBRSUJWSWlvbkRGUUExbXZuN0FGclovdGFVY0k5UFZHSkRnaCtnZ3VjdVExbDhwdHRVaXRiOXhFZ25BY3pjbVlzcXdZTnN5cmQ0TVg3a1lBeEw4TUNEQkR6ZU1Dc085UzQvZ1JLbk91L1lMd0lPVFkzRHIyQWpic25xZENiNCtiY2Vja0IyRXU5OXhyQTBhRitLRHQrNUlSVnlJOWZmT2JMR0dBNkZxR2E0WWFQMjkrYy9HTXJ5MEtzL2g3NktybjFGWDI5a1RmNFBYandyRjQ5UGlZWjhiUkdwa21ENHlGQk95Z3pEbm53ZHhxRWpyMWZ0TlJIUTJNWmxNMkxsekozYnUzSW1BZ0FCa1pHUWdPenNiR1JrWnlNaklnSitmWDI4M3NjY281ZFpydVdCL0tTcnJtOC9ha21wMUxiMngxYjdPUGRwdkhCMkdVUmxxTFArdEJKc1BuLzR5TWUydHphbEdWb0lmcWh1TXFOTWFrUlN1UUdhOEg1YXZLOEd4WWgwbURBckN5SFExamhickhLNHR1ME1pRWpCbFdEQk1adUNyemU3RDVFQy9sckl4YnVxekEyMmxZOHJibFk0eE5GdHNrN3JLSkNJbzVTS25mZStkWkIzNXNXWkwrV210Z3o1M2ZDVG1UWXAydWU3YnA3SmNMbi9zdWpnOGRsMmN3N0xPZGxTaGN4K0RkaUlpSWpwbmFGUVNETy9qajFWL2xPR3Rid3RSMVdCRWdLOEU5MHlNeHZXalFqRmxXREJPbE9vY2VrWU5UUFRESTFOakFRQS83YXJDUDc4dHdNbHlhNmdhcXBiaXBrdkNNZWV5Q0VScVpMaHRYQVJlK2ZLa3h6Yjh0cmNhbzlMVkdKYnFENGxJZ05GdUFxd1JhV3FIYlllbCtHUE4xcmJha1Q1U0VZWWtXM3NoMlFmdEw5eWNpSlFJQmVwMUpqei9uMXlzMjFzTmc5RUNtVVJBZHBJLy9uWmRMQkxERkxobllqUysvS01jMVkzT055OVB6b2hIVGFNUi8vZ3lIMzhlcWtXOXpvUVJhV284T1NNZVFTb3BIcmttRnQvdnFIUUlQeCtlRW92THN3Smh0bGhyZkg2NnZnVDFPaE9pTkhJOE5EVUc0N0kwSFg0bXJqd3hMUjZoYWltT250TGhxYzlPNEVDQmRRSXVqWjhFOTEwVmcyc3ZDc0dVb2NINGNXY2xObnBaRTdRamwvUUxnRlFzNEllZFZmaGc3U25rbGpZaFJDM0YzQ3VpTUdWb01KSWpGTGpsMG5EOCs4Y2lBTUM2bkdyVWFvMVFLeVdZTkRqWXR0emVsUU9ESUJVTGFOU2I4TXVldG1IQVQweVB0NFhzWDJ3cXc3cy9uVUpwalFFeWlZRExzelQ0MjNWeGlBbVc0NTI3K3VENlYvZTUvTHphdStXU2NGdDR2ZnJQY3J6elE1SHRtTk5HaE9LUmErS1FuYVRDL0tteGVPRUxhMjgxbFVLTXQrL3FnK2dnT1k0VzYvRDYxeWV4OVVnZERFWUwvSlZpVEI4Wmlyc25XUDgyYWhxTkRzT2N1L29aZGFXZFBmRTM2S2NRNC9GcDhUaFUySWpGM3hSaTM4a0dTRVFDcGc0UHdiMVhSY1BQUjR6NTE4VGkvOW03Ny9Db3lyeU40L2YwOURMcGpVRG9BVUlWQkJGRlFRWHNCY3RhY1YxMTE3cVdMZSs2NytxK2ExMWNkWFhWWGV1NmRrV3hLNHVpaUNKSVIzb0xKSVQwbmttWjh2NHh5U1Foa3pvQmpIdy8xK1Yxa1psenpqeHpabUxPM1BON2ZzL1BIKy85QmVnQTRIRHdOSDRiV2xaV3BtKysrVWJMbHk5WFZGU1VvcUtpZE13eHgyakdqQm5LeXNxUzJkeTNZNXd6am9uVmtPUVFWZFc2ZFAyVFcxVlVjWGdYalh6eXVxSHQzcGRkV0tzei9tKzlwT2FndUtuTlNST0x5YUI1TTVPVUVHbFZUbkhkRVFuYTErK3AwcFdQZW1mWkdRM1N1Ny9QMHY2U2VqMzFpZmRhNXJMcDNvVkNIM29uVy8vODVUQlp6UWF0ZjNSaXU4ZnpkMDcyRk5UcXpMK3M5LzE4OXJGeFNvajBub3YvM3ROMjBkcXNtMWRJYWw0SXRiaWQvdXhCRnFQQ2dreXFiWENyMHRGNkZ0dWlkU1ZhMUhpOTVhKzYzV1NVeGd6d2Z1bDB3WEh4dXVDNGVMK1BrWlVlMXU3emZlNi9lWHJrL1gxKzcyc3ByN1JlYTNiNWI0L1RIZmxsUGV0RGo3NnJiLzhmR2dBQUhIWGUrcVpROTd5K3gvZHpXYlZUZjNsemo0SXNScDAxS1ZZL241bXMxNWJtK3dMbGk0LzNmdGpZblYrcjMveDdSNnVXRmdYbERYcmt2WDBhbGhLaUtjTWlOUzRqb3RQSFg3S3hWUDl6UVgrRjJJd2FQU0NzVlZ1T3lVTzlRWHQyWWEzUzQ0STBjVWpyb0gzeXNBalpMQWFWVlR1MVpwZDN2Lzd4UVRwMnFQZHg3MzF6ano1ZDB4em8xanM5K25acnVmNzR5bTc5NTlaTW1ZMEdaZlVQODdzb3FOUGwwV1YvKzBIN1M1b3Y2QmV2TDVYYkl6MzY4OEVLdFprMGZtQzRMelJOand2U2hjY25TSkllZlg5ZnF5OG5ja3ZxZE50ek8zeHRVN3FyYVVyelU1L2srZ0pjU1NxcGN1cFByKzNXMkl4d3hVUllORHd0dE5lQ2RvdkpvTmUvTHZCTm1aYWtmVVYxdXV2bFhScWFFcUpoS1NHYU5pTEtGNmczdUR6NjZQdGlYVHd0UVhNbXhQZ04ycytjNkEzVFAxMWQ0bnMvRFU0SzFnVlR2Qi9zbmwyVXAwYy9hUDZ3VnUvMDZLTlZ4ZHErdjBZdjN6WkNpZEZXWFh0YWl1NS9PN3ZEc1FkYmpiNnFxYmUvTGRUZHIrMXVkY3hYdnNwWFJJaFp2NXlWb25PT2pkT2pIK3hUUlkxTDgwNU9WbXFNVGJrbGRacjMyT1pXdlZBcmFseDZkbEdlcWh3dS9jOEYvWFhWeVVsNjQrdDhGVFlHR2oxNWpYbzZ6dDc0SFRRYkRkcVNXNk5MLzdaSlRsZnpsMXZQTDg1VFhLUkZsNTZRcUFtREloUnNOZmE0WHlzQUhFa0dnM2U2VGxQZzduSzVWRnhjck9MaVl1M2F0VXV2di82NkJnNGNxRm16Wm1uNjlPbUtpWWxSYUdpb2pNYTJWYjgvWnE5L1hhRGhxYUg2NFB1aXd6b0xxZWswMVRWNDVENW82cVBSWUpETlltajE5Nk9vc2RvNlBySjEwTjRVT05jN1BYcXVuVm1HaDlQc0NUSHFIeCtrNjF2TUpQdnR2M2Zvb3VNVHRMcnhHdFhqa1RiblZMZlpOejArU0tFMms3SUxhMVZkMnpyMHppMXBudWxuTmhsMHpTbmV2dWgxRFI3dFBORDh1ZzFPRHBIRjFEelZMS1pwSWRSMnFzMTkxZXc5Nk0vdThYaS9BR2hQaU0yaytFaUw2aG84eWl2MTMwNnV2UzhBbW1UMUQ5UFprK0swNDRCRFZ6emF0cldnd1NBOWQrTndiY3l1MXZPTDk2dWtxdk5pQ2h4ZENOb0JBRUNmNFhLclZWVnVTMDkvbXF1ekpzVXFQTmlrNHpPamZBc1JQZjFwcmo1Ylc2eWlpZ2EvZmFNbGFkditHazBaRnRtcTdVcDdDc29idERtbldwbHBvVHB1ZUtRdmFEY1lwRW1OZ2ZremkvYnJ6NWRrYU9LUTFxRmhVOXVZTHplV3Fha1F2ckM4UVQ5L2ZJdFNZMjJ0UXZhV3R1OXYva0RUM2hpLzJGRGFLbVJ2OHQyMjVpQzc2Y09QSkowNjFpNmpRU3F0ZHVxbEpmNm50RDd5L3I0ZUJlMDE5VzVGQkpzMGEzeU1sbTRxYTlPci9Md0hOclFLUzN2TGY5cDVIaXUyVldoWVNraXI1eTk1MjhGY1BDMUIvZU9ETkxKZnFEYnViZjRRbWhaclUxYi9NTjkyVFdhTmo1SEI0RzNQNGkrY2w2VHRlUTR0L0s1SUYwNk4xK2tUWXZYQWd1eDIrNVJLMHJRUlVRcTJlaE9BcG1xMGc3M3hkYjRzSm9QMkZqVi93R3lxcW45M2VXRzdDNDY5czd4UWQ1eVRMcXZab0dram92UjJZL3VnbnJ4R1BSMW5iLzBPdnZGMXZ0LzN6WGRiSzNUcENZa3lHcnlWZEE0L3Z3ZUh3c2IxcTFVVTFUcUFhUXJJRGc3TS9HM1QwVzJkYmRQZThRTTlkbmZHM1pQbkZzaTREWVhiNUxTWnRQVExmTmtiS3liOTdkY2I0KzdLY1FNNTFrOWwzSWZqUGRuUnNYL000MjQ2cnIvdFhLN1dnZWFxVmF0YS9leHZURTMvM3JsenB4NS8vSEU5ODh3enlzek0xTWlSSXhVZkg2L2pqejlleWNuSmJjYnpZL1duRmwvVUhpNVdzL2Z2MXkvK3NibE5wZkx4bVZGNjR0b2hjdFExLzVGcXVxWktpYkg1YmpNYkRicDZodmM4djdFc1gvbmxSN1phMldJeTZJYlphWHAvWlpHV3RTaGMyRnRZcHdjWDdKVzFzZjFmZzh1amkvNzZRNXY5Ly9rcjd6bzg5NytkM1dyL2cxMTJZcUtTb3IxLzcvWVYxYlk2MWlmL08wYko5dWEvaFUwVjdiUEh4N1JwNTlkU1dxek5WM1YrY0tGRWU5d2V0YXF5UDlqTTBYYk5uemRJVy9kWDY5S0gyMTkvcHlXRFFSbzdJTnpYS3ZIRm16TWxTZjlwWjNIZTJlTmlOSDVndURJU2cvWFB6L3hmQytIb1J0QU9BQUQ2akIxNU5lMzJZOHdwcmxOK2ViMFNJcTBhbVI3cUM5cDNIbkJvNTRIV2ZiS0RyVWFseFFZcEl6RkltV21obWpuRzJ5TEYxSG5PTGtuNllrT1pNdE5DTldWWWxCNzd3QnY4RDA4TlZYU29XZHZ6SFBwOGZhbnV2dGpiZXowOUxralpoZDdROGZoTWI3L3Z6emMwQityVmRTNnQyRjZoRmR1YmoyOHdlQ3VvMHVPQ05DUTVSR01ITnZkbU5abjg5MHpmdHQ5L1ZWaE5uVnRPdDBkbW82RlZ2L1d4R2VHU3BEVTdLOXNOdmZjVTFQck9hWGU4dTd4UWwwOVAxSXpSMFpvMFpLeSsyMWFoRmR2TDllMldDbVVYMWg2U2tMMnV3ZU03endkckNxRVA3amUvT2FkR1czTnJORFFsUktjZkU5c3FhRC9qR0crSW5WMVlxN1c3bXorUWowcjN2aFpyZDFmNVhleTB5VGRieW5UaDFIaEZoSmlVSGhmVVlRWFdpSDdlQmU5eWl1dmFuV0pjVXVYVTN6OXMvcElwMlc3MVZZVmRQajFKRnpYT1R2REgxTmpVZkZCU2lPKzJucnhHUFJtbjFIdS9nOXR5L2ZlN2Iva2xnOFYwK0NvN0gzbmdiclgzY0YwTlBMdTdiVS8yNlNpazdLMHg5ZVE1ZEhjL1U0MVRkWktlMkdtU29aMmxJem9LTjN0N1BJZGorKzd1NDI5YlEzc242d2lPcVRlM1AzaS96cDd2NFJwVFIvdDA5WGdkQmU2MXRiVytudTRXaTBXdnZmYWFCZzhlTEdsdXQ4ZDZKUDN1L0hSZDNNSGZyNE45UC8rWVRyZjUzVXM3OWVIM3hXMXVEN0o0LzRkZFU5ZjJiM2RUTC9DV2k2YnZiYnltU0l1eitWb0ZYamNyUmNsMnEwcXJuWHJ5NHlNZnNsNTJZcUpNUnJXYU9XY1BOeXNxeE5MbE5XSTZrMkszNmJyVFVycTh2ZFZpN0hMdjlCQ2JxWEVtbXF2empYdFpabHFJTGpndVFkTkhSZnUrdkpXOHhSSWZmbCtrRDFlMmZROFpEZEoxczd6bjRva1BjOXEwdmdFa2duWUFBTkNIZERiTnRLaThRUW1SVnRuRFdsY3UyeXdHblRreFRyUEd4U2dqSVZqMmNQK1hRQVoxYmVIUEpSdEw5YXZaS1JxZUdxTG9VTE5LcTUyKy91emZiZlAyUjkvU1dQVStjVWlFc2d0cmxaa1dvdmhJaXh6MWJuMnpwVzNWMEpEa0VGMHlMVUZqTThLVkdtdHJOUTIzOVJqOXErcmdZdC90bG1Sc0hVQTBUWVV1Nk9TYzVwZDJQMmgvNUwxOXNwZ05tbnRjZ3NLRFRab3hPdHEzNEdwT2NaMFdyeXZWNjEvbisxMkF0S2NPbnZMY2txdHgrb0RSejhsNzk3dEMvZWJjZEowMkxrWVB2WlB0cTdnK3ZURm9iMW5OTHNuMzN1cXM1MmJMKysxaGxnNkQ5dGh3Ny9rdDdrYWYydGdXUFdQRGcwMlNPditXS0N5NGVadWV2RVk5R1dlVDN2Z2RyS3oxWDdYdmJwR1pkQ0ZqNnpYMTlYV3QzbE5kQ2ZpNm9yZU8wM1NzbmdhWEJ4OG5rUHU3dW0ySFl6VjRaREJJSnJOWlJzT1A5M3ovbUk3VDFXTjE1VDNTVjUvYmovazRUZWU5cXFwS1ZWVTk3d1Z0TXBua2NEaFVYVjB0ZGUvUDlWRWxNdFQ3ZDhmZkRMQmdxL2Z2WTAyTGE0bmNram81NnIwTDB3OUlERktReGVpclpuL2t2WDFIUEdSTnNkdDA3V2twMmxkVXE3OWRQVmhKMFRZbFJGbTkvZGozVk9uU3YzV3RvcnN6WjAyS1ZiRFZxTVhyUzNWeUYyWTV2dlRGQWIzMFJkY1cvN3o5N0g2NmZIcmlFV241ZG54bXRNNmJIQ2ZKMjJvd0tkb3FzOG1ndVE5dWtNc3QzWGx1UDExNlFtSzcrLzloYm4vOVlXNy9UaC9uRjA5czBmSnRoNytQUDQ0Y2duWUFBTkJuZU5SeEdORDBJYmVoUlRYdW9LUmdQWG45VUY5WTdIUjV0Q1BQb1QwRnRkcTJ2MFpyZDFYcStNd28zOEpSWGJFMXQwYjdTK3FWYkxkcThyQklmYlNxMk5lZnZXbFJyT1ZiSzVTWkZxcEpneVAwNXJJQ1g5dVliN2VVcTY2aDlmUDR6Ym5wK3RrSnpSVmRKVlZPN1RyZzBLNThoemJ0cTlicW5aVjY3Myt5T2h4VGQ2TzBwdXJ1VGx1NzlpQi9jTG85dXUrdGJEM3oyWDdOR0czWDFNeElqUnNZcmxDYlNha3hObDF4VXFJdU9TRkJkN3l3bzlXaXNJSG83TDNSbmcrL0w5YXZ6K29uZTVoWlU0WkZhZW1tTW8zTkNGTnFqRTF1ai9SK2l4NzdrcnA4UGxwVjFuWXlObk03WDZwMHBHVWw5VldQYlc2MVZrQlg5T1ExNnNrNHBkNzdIZXlGdkxoWDNYblh2VXFLdHZrTjF3NityU3NCWEZlT2N5aVAzZFhINzhteHUvcDRIZTF6enYzckZSNWsxcjN6aGlnKzB1SjNtNjQ4VmtlVno0R2VwKzRjdTdmRzNkUG5jYmpHM1o3ZUdIZDNqbitrZjVjNnV2MWYvL3FYbm5ubW1UYTNkelJESVNnb1NNT0hEOWZJa1NPVm1abXBFU05HS0NrcFNXTnUvYjdUNS9Cajh1Q0NiTTEvdCtORjZNY01DTmN6Tnd5VEpFMzV6U3JWT3pzT1pSdjh6TWlLQ2pYTFlqTEk0L0VXWlJ3c010UWJ0RmNjRko1dnpxbld1SXh3VFIwZXBYT09qWlBKS0gyOXVWenZMQzlzYzR6RHlXd3k2UDdMQnlyWWF0U1E1SkJXOTFYWHViVE1UMEZIVHozNzMvMGFrQkNzKzk3YTA2V2d2VHVhMnZuVTFCMytMeTMyRmRWcTBib1N2Ym1zUU11M1ZtalovZU1iQ3hlOGNvcnFXclVZaWd3MUtTTWhXRTZYUnh1eTIvYTd0NGVibFI0WHBFcUhTenZ5bW1jVEhQeWV3azhmUVRzQUFPZ3pEdTZ4ZmJDRUtPLzlUUXRZU2RKRFZ3NVNRcVJWRlRVdTNmUEdibjJ4dnJUTmg3Q1RzdXpkSHN1WEcwdDE4YlFFVFJrV3FjWHJTelFtSTB4T3QwZmY3L0FHN2Q5dUxkZThHVWs2cHJGUCs3UVJUVzFqV2dmTHA0NjErMEwyejlhVzZPR0ZlOXYwV284TzdmMUx0cUtLQnZXUEQxSmNSTWZsYjUzZDM1SENpZ2E5dWpSZnJ5N05sOGtvalVnTDA0bWpvdlN6RXhJVmJEWHFqeGNPMEZjL2xCMlNWakpkVlZidDFKS05wWm81MnE3WkU3ejl5cHZheG55N3BieE54WDlKWllPVUZLeUVxSTdQUzJLTCswc3FPMTRvcTdUYSt4Z3hFUjIvdi92SEI2bTRza0dWRHBkS1d5eStsWkVZM08yZ3ZVbDNYcU9lakZNNmRMK0RSOXJJckhFYWtCQjhwSWR4OUFndGxpbkVvdlQrR2EzNkFRTjkzY0dMbVhZVXNQZnYzMTh6WnN6UXRHblRsSkNRb09qb2FKbTYydmZ1UjhqbGJwNTExcDZHRm90NzFEdmRxbmQyLzVvaExkYmJaejIvckY1T1A0OFhGZUw5dTFicGFQMzNldFdPU28zTENOY05jMUpsTVhrWHMvL1RxN3U2L2ZpOUxTbmFxdEVEbXRzSzdzcDM2TXVOWmZycWh6S3QyMTNWNWpsYXpRWmZQM1IvbnJ4dWFKdmI5aFRVNnN5L3JGZGRnMGQzdkxERHQwWkxiMm82cHNOUE81K0REVTBKMFp0M2p1elNjYlBTd3pwOHZyOTRZb3MrV2xXc2oxYTFiUS9UNUpXdjh2WEtWL21TdkRNaW43MXh1SlFnUGY1aGpwNWIzSFlSM1BuekJpazlMa2lQZjVpalY1Zm1kMm1jK0draWFBY0FBSDNHb0tTUXhsNk9iUy9JQnlVRis0TDRkWTA5dFllbWhHaGdvamNJZStpZGJIM1d6bUtqR1lsQmtyclhkdUtMeHFCOThyQkk3eUpLSm9QVzdhN3k5ZjVjdmJOU3RRMXVSWWVhTldWWXBFYWtoY3JsOWk2RTJsTFRRbEU1eFhXNi9ma2Q3WXl2UlpqWFM3UHUxKzZ1MUlSQjRScVRFZWJyUFhxd0ZMdk50L2hWVjZYRzJIUlNWclRTNDRKMC85dlp2a0RWNVpiV1oxZHBmWGFWOWhiVzZaNUxCc2dlWmxacWpLM0R0aXFIdzd2TGl6Unp0RjNUTXIyTGZUYjFDeis0Yll3a2JjaXUwcVFoRVJveklFeEJGbU83ZmRxYldnbFYxYnFVVTl6eDg5dlUyQnMreFc1VGZLVEZienVmVUp0SkMzNDNTbWFqUVhlOXZFdnZyU3hTaGNPbGlNYTJMMjh1Sy9CNzdNUm9xMTY2TlZQNVpmVjYrcFA5V3JxcHJNZXZVVS9HdVNXMzVwRDlEZ0xBVDhuQk13c01Cb05DUTBNVkdocXFpUk1uYXZiczJSbzdkcXdzbG82LzdFUmJUVlhmT3c3NDcxdWVIT085MWltcmJoMjBMOWxZcW10T1NaYkZaSkRMTGQzeHdvNVdmL3V5MHNOMDYxbHBldVByQW4yOHV2M1F0cmZ0SzZyVDVwd2FMZGxZcWs5V0YydDNmc2ZYR1I2UHR6ci9ZT254UVFxMW1aUmRXTnVtQlY5dVNmZmIrMzMzMElRdUIvTG4zcjlCdHFhKytWM28wVjdYNE83MGVqSEVabEo4cEVWMURSN2xsYlkvL3BwdXRxcTVZVTZxeGc4TTE2cWRsWHIrODdZaCs4VEJFWm81MnE3OHNucTk5WTMvNnpFY1BRamFBUUJBbjJFMUczVDF6R1E5ZnRCaWk1SjA0NXcwU1ZKK2ViMnZmVXRZVUhPVlYxMDdVNDBuREFyWGhFSGVxdlB1dE1iNGZudWxLaDB1eFVWWWRQRTBiOHVMbGowWUcxd2VyZDFWcFdPSFJ1aTJzL3JKWUpCVzc2aHMweHMwTE1oN09kWmVWYmZCSUYxN2F2TWlWTzMxYnUrdTkxWVU2ZW9aeVlvT05XdnUxSGhmMVU1TDE4L3ErdUpYVFNKQ3pMcjk3SDZTcEZVN0svMVdDN1VNVXl2ODlFbzkzSlp0TGxOQmVZUGlJeTI2WVU2cUlrUE1xcWh4K1cxcjg5R3FZbDA5STFsaFFTWmRjMHB5bTRVL0pTa2pJVmhuVFBSV3hTOWVWeXBYSjUvbmxtd3M4L1dCblRjanVkV2laazNPUHk3Tzk0WElOMXZLNWZGSUg2OHExb1ZUNHpWNWFLUk9IQm1sSlFkOWlTTkpOOHhPVlVLa1ZURmhGbTNhNS8yUTNkUFhxQ2ZqN0JjWDVMdXZ0MzhIQWVDbnBDbGdqNHFLVW1abXBzYU5HNmNSSTBabytQRGhDZzhQUDhLajY5dWFGakwvWVcrVndvTk5DckdhVkY3alZMM1RyYXorWVRweHBMY2xTdFBmeVNaeExkYW9XZmhkb2I0N3FOZDJXcXhONHdlR3E4SGxPYXhCdXlSZCtOREdMbS9iNFBMb29yLyswT2IyZi81cW1JNGRFcUg3Mzg3V3NzMkJ0NXNwcm16b2N0RHVkSGw4MStuK0ZxZzlXRk9GZlVkbWpyWnIvcnhCMnJxL1dwYyszRHM5NnUzaFp0ODEzZENVRU4wMXQ3L2VXVjdvYXgrVEdtUFRnMWNNa2lROXVHQ3YzOVpGT0xvUXRBTUFnRDdsbXBuSjhuZzhldkh6QTZxcWRTa2gwcXJienU2bjZhTzhyVm4rK3M1ZVgzWDIxdHdhMVRhNEZXUXg2cGV6VXJVMXQ4Wlg5Uk5pTStxc1NYRzY1WXcwMzRLR1FaYXVUNHQxdWoxYXRybGNwNDJ6K3g1NytkYldIMUtXYnkzWHNVTWpORGpaVzlINytZYTIxYnpyOWxUcW1NSGg2aDhmcEYrY2txem5GdWY1UXZmaHFTRzY5YXgrT3JheC9ZeDNqTDB6Ulh4UFFhM2UvclpBNTArSjF4M25wQ3ZJWXRUclh4ZW91czZsK0VpTGZqVTdWV2MyZnJDUTJ2YkhIcG9Tb2l0UFNwSWt2Yk84VUN1MmV6OThidHBYclhXN3F6UjZRSmp1dXJDL0xHYURQbDFkb3RvR3Q4eEdnMDRZR2FWYnovUitLZkwxNW5LVnRHaUIwdDR4RHpXM1IvcGdaWkhtelVqU0pZMWZtbnkwcXRqdmg2VWRlUTdmZWJ2bWxHU0ZCcG4wN0tMOUtxeG9rTmxrMEVtam92WDc4L3NyeUdKVVlVV0QvdlpleDcxbkplL0NiTTh1MnE4YjVxVHFrbWtKY3JrOGVtYlJmcFZXT3hWc05lcTh5Zkc2NlhUdk9YdDlhWUVLR3hjamZmclRYTTBZSGEyWWNJc2V1bkt3SG41dnI5NWRYaWhIdlZzeDRSWmRQeXZGOXhyKys0c0RLcTcwN3RmVDE2Z240M1RVdXcvWjcyQlh6Qm9YNDJ2Yk5IL2hYaFgxWUNGWEFEalVUQ2FUTWpNek5YUG1URTJaTWtWUlVWR0tqdTdkZnRoSHMrT0dlMmVaZmIralVzTlRRMzA5MzF2YVUxQ3IxUzNhc0oxK1RJenV1U1REOS9PMEVWRnRacktsTnJhazJWdDRaR2ZtSGN4b2tHSWpMRzBxOUErMTJmZXM2OWIySVVHTkZlMStGclNQQ1BseHhKVWxsVTdOK3RNNm5UUTZXaGROVGRENVUrSjEvcFI0N2NoejZOTTFKYnB3YXJ6czRXWTk4Vkd1RnEzelAyc1BSNWNmeHpzWEFBQ2dDMWJ0ckpUVmJOUzFwNmJvbWxOU1ZPVndLVHpZSklQQkd3VFBYN2hYbjdab1RWRlY2OUxmRnU3VDc4NVBWLy80SUwzN3V5d1ZWalNvd2VWV1FxUlZacE5CdFExdWZieTZXTFBHeFNnODJLU0lZRk9YRnk1YXNyRlVwNDN6dGhseDFMdTFiazlWcS91WGJ5dVhsT2I3K1lzTmJTdWtYL2c4VHpQSDJKVWVGNlFiNXFUcTZwbkpLaXh2VUdTb1NaR05IekpXNzZxVVBjeWkvdkZCdnVuTnZlR0JCZGxLalEzU3NVTWlkTXVaYWJycGpEUTU2bDBLdFhuRC9LOStLTk9rSVpHeVdReHRRdWVFS0t2bVRJanhqYTlsS1A3Ny8relVjemNPVjBLVVZYKytKRU4vdmlSREZRNlh3b0pNdmtCMVY3NURkNzI4cTh2SFBOVGVXVjZvZVRPU2ZJdU0rbXNiMCtUZXQ3SVZiRFZwem9RWVhUSXRRWmRNUzFCRmpVdkJOcU52eHNHZWdscmQ5dnoyVmw4a2RPUmZpL1lySnNLaWk0OVAwR1hURTNYcGlZbXFySFVwUE1qa3F5NWZ2TDVVOHhjMkIvZEZGUTI2N3NtdGV1eWFJVXFLdHVwMzU2WHJ6blBTVlZQbmFyV2cxd2NyaS9YSSsvdGFQVjVQWDZQdWp2TlEvdzUySmpNdDFQZWVldnJUWElKMkFEODZreWRQMW1tbm5hYjA5UFFqUFpTZnBIRVo0VXFJOHE0VHNtcEhwVUpzcmIvUXJhcDFhZlhPU2oyd29MbVYybVVuSnVyMnM3MnpFUmV1S05MWUFlSHFGMmZUMVRPVDlNUkh1YjU5VTJLOFFmdk9BdzVscG9YcXRkdEhIUExuYzlyZGE5dXM1U05KQXhPRE5YRkloSTRkRXFIeGd5TDB4WVpTL2ZuMTNZZDhQSUdJQ1BaZTV4NWMwVDQxTTFLL1B0TTc4MjVNUnJneUVvSzFLOTkvMjUvRHdlbjI2TE0xSmZwc1RZa0dKd1hyNnBuSm1qMCtSb09TdkRNL3kydWNXcmE1N2F4Q0hKMEkyZ0VBUUo5UlcrL1dkVTl1MGM5bkptdld1RmdsMmEwcXFXclE5enNxOWZ6aXZEWlRmaVhwMWFYNXlpNnMxYVVuSm1wa3YxREZoRnRVMitEU3pnTU9mYmV0UXE4dHpWZWx3NlVabysyeW1BeWFNU3h2UVlZQUFDQUFTVVJCVk1hdUJkKzJIN0sydEhSVG1aeHVqOHhHZzlic3FtelQvbVZ6VG8zS3FwMktDalZyUzI2TjN3OUdGVFV1WFRML0IxMDlNMW5UUjBZckpjYW1KTHRWcFZWT0xkMVVwZysvTDliSHE0djE2elA3cWY5SmlUcHBsRjN6MzkzYmFUdVNycWhyOE9pNmYyelJ1WlBqZGViRVdBMU1ESmJWYk5TVzNCcTkvVTJCM2x4V29KWHpqNUdrTnIwN083S3ZxRTduM3I5QmwweEwxQWtqbzVRZTUrMEJXbDdqMU00OGh4YXRLOUZieXdwK1ZOTnJzd3RydFhaM2xjWU1DTk9PUElmZjkxSVRwOHVqMzcyMFUrK3ZMTko1VStJMHVuKzRvc1BNcXF4eGFYZUJRNStzTHRaN0s0cjhyaVhRSG85SHV1K3RiUDEzWFlrdW5KcWdzUm5oaWc0MXE3TFdwVTM3cXJYZzJ3SjlzcnB0cGRUVzNCcWRmZTk2elowYXI1T3o3TXBJQ0ZaSWtGRWxWVTc5c0xkS0M3NHQxR0kvTFhCNitocjFaSnlIOG5jUUFQcTZyS3lzSXoyRW43U0xwM2tYblA5b1ZiR2NibzhxSEM1bDNieENacU5CQm9OYS9aMkxEREhybmtzR2FQb283MnlDZjN5Y3E2Yyt5ZFZ4d3lQMTVIVkRkZldNWkMzZld1RmJnSHhnb3JmMys5YWNtc1A2bk14R2c0YW5oV2hzUnJqR1pZUnJURWE0N0dITjhaN2JJK1gxb01kNlZ3eEtDdTV3b2RHdXNwZ01Tb3YxdHBjcnFHaStQcDR4T2xvUFhqRklacE5CT2NWMVNvMng2ZWxmRHRXZEwrN1FtbDFWN1IwdVlNWXVUS2dia0JDa09STmlOVFhUTzFPdXRzR3Q2bHFYWXNJdGV1VzJFVnEzdTBvdmZYbEFpOWVWOU1wMU92b21nOGZma3RZL0FsazNyOUN3bEZDOWNlZWgvMFlRQUlDZUdIWFRDdldQRDlJcnQ0MW9WVDBLcjZ5YlZ4enBJYUFEVGJNQU9oSWViTkt5KzhkTGt1YjlmYk8rMzFIWjhRN0FVV1RoNzBkcFFFSnc1eHVpVjR5NitUdEZoVmowK2gwamxXenZ2Wms5d0U5Slg3ajJtamNqU2JlY2tkYjVoZ0Y2N3I5NStteHRpVjY5YllUY0h1bWMrOVozdUpobVVyUlZMOTA2UXZHUkZwWFhPSFhQYTN0YXRRTDVud3Y2NjhLcDhYTFV1L1hFUnpseTFMdDExOXorY3JvOG12S2JWVElZcE1GSklZZjhlVzNPcWRiczhUSDY4ODh5V3QyZVhWaXI3N1pWNkx1dEZWcXh2VUxsTlU1WnpRWjkzMWd3MFJOM3ZieExDMWNVU1pLQ3JVWjk5OUNFTmpNNHh3NElsODFpNk5aN0x6clVySnZQU05PNWsrTlVXdTNVQ2I5ZkxVazZLU3RhODY4YUxKTlIrbng5cVc1L2ZvZnV2V3lnVGh0bmw5dmp2ZTJqVlVYYWtlZFFRWG05NmhzOHZuYVI3YkdZRExLWURiS1lqTEthdmYrdWJYRExVZWR0YTFmaGNHcFVlcGorZlV1bTZobzhPdWIybGI1OTdXRm1qVXdQMHpHRElqUmxXS1N2RldTOTA2UDNWeGJweVk5elZGTGwxSndKTWJwOGVwSUdKM252UDFCYXIxZVg1dXZ0YndwNmJZYmU0VEEwSlVSdjNqbnlTQStqVzg1OVlLTU9sTlRyaFp1SGFraHk2SkVlamlRcTJnRUFBSTVLY3liRTZMZm45VmRPVVoydWVteVQzK3JyczQrTmsrU3RmTytvd2hzQUFLQXJQQjRkbG1wZmw5dWp1Y2ZGeTJDUUZueFQwR0hJTGtsNXBmVjYrY3NEbWpnNFFuOThaWmR2UFpRbTk3NjFSMkZCM3JaeFRRdUtTOTZGd3B2NnRxL1BQblFWMXkydDNGR2gvU1gxV3JuZEc2cXYyRmFoL1BLMnN5YWJlRHplZ0w2N1N2MzBlTTh0cnRNdm50amkrL21UL3gzVDZaZWZyOTArUXBscC9rUFFGeGJuK2Y1ZDZYREtaUFMyRDd6enhSMXl1ajM2L1VzN3RiZW9WbGZQU05hTTBkR2FNYnIxMmdVZWp6ZjRybk82NVhSNlpETEpGNnEzdDhENkgxN2VwYnpTT2oxN3cvQld0Mi9OOVo2ai92RkJldjZtNFlvSnQ3UjZuRTM3cXZYUkt1K3N4WmI5N3hkK1Y2U0YzeFZwNnZCSVhUMHpXZU1IaHV2V005TjB4ZlFremY3ejJpNHQ5b3FmRG9KMkFBQ0FvOURhWFZVS0N6SXBNeTFFOTE4K1NILy9jSjkyNUhuN1gwYUhtblhPc1hHNjRmUlVTZEpMUy9MNGtBQUFBQUwyL09JOFBkOGlYRDJVUW0wbVJZZVo5ZkRDZloxdnJJN0g1dkZJdjN0cHA5YnNxdFNsSnlZcU5kYW1kYnVyZFAvYmUzcHp5RjJ5djZSZXA5Mjl0c3ZiTjdnOHV1aXZQeHpDRVhWcy9aNXFEVWtKa2JseEVSaTNSOXBmVXFjM2x4WG94Yytiei9mSzdaVjYrOXRDUGZMZVB0VTd2WlhxVHJkSGozK1lvN2UrS2REczhURWEyOWh6UHlMWTNGaXBicERWYkZTdzFTaHprRUVlU1c2M1J5NjMxT0J5eStYMnlPMldYQjZQM0c2UHltdWMrbmhWc2V4aGxsWmozSlh2MEYvZTlMNldld3BxdFdaWGxkSmliZHFRWGExMXV5djE5ZVp5MzZMeTdmbDZjN20rM2x5dU1RUENkTzJwS1ZxeXNaVHI1Nk1RUVRzQUFNQlJLS2U0VG8rK3YwKzNucG1tNmFPaU5IMVVsSnd1anhwY0hnVmJteHRWZnJDeVdFOThsSE1FUndvQUFOQjkxWFV1M2Z6TTlsNDk1aHZMQ3ZUR3NvSmVQV1pmNEtoMysyMFAwNVhBLzk2Mzl1amV0L2JJWUpCTVJvTThIays3c3hydWZzMy9BcTRIU3V2MTNIL3pKUFhPbHpUNTVmV2E4cHRWTWhxbCtnYVBiMVpDazE4LzEvUDN6ZHJkVmJyK3FhMkJEaEY5RkVFN0FBREFVZXI1eFhuNmVuT1pMcHFhb0RFRHdwVVFiWlhWN0YxOGFrTjJsZDVkWHFSdnQ1WWY2V0VDQUFDZ20rcWRuaDlWMzM2UHg3dWcvSTlGVlczZjZaK092b09nSFFBQTRDaTJmYjlEZjM3ajhFOTdCZ0FBQUlDZkVtUG5td0FBQUFBQUFBQUFnUFlRdEFNQUFBQUFBQUFBRUFDQ2RnQUFBQUFBQUFBQUFrRFFEZ0FBQUFBQUFBQkFBQWphQVFBQUFBQUFBQUFJQUVFN0FBQUFBQUFBQUFBQklHZ0hBQUFBQUFBQUFDQUFCTzBBQUFBQUFBQUFBQVRBZktRSEFBQUFnTDRqSXNTa3N5Ykc2YVVsQnpyY3ptaVFUczZ5YThhWWFJMUlDMU5jcEVVV2swRmwxVTV0ejZ2UjBoL0s5ZDdLUWxYVXVObzlSckxkcWsvK2QweUhqK1B4U0hWT3QwcXJuTnFaNTlESHE0djEvc3FpTGoyWCtFaUx6cG9VcHluRElqVWdJVmdSSVNiVk5iaTF2NlJlcTNkVzZwM2xCZHEwcjZaTHgrcHR0NTNWVDFlY2xLaXR1VFc2NE1HTlIyUU1BQUFBQUxxT29CMEFBQUJkTWpVelV2ZGRObENGNVEwZEJ1MlRoa1RvcnJrRDFDL08xdWErMkFpTFlpTWlOWGxvcEc2WWs2cW5Qc25WaTEva3llUHAyWmdNQmluSVlsUlN0RlZKMFZaTnpZelU3UEV4dXVHZlcrVnkrOS9IYWpib2hqbXB1dlNFUkpsTmhsYjNtVzBtRFU0SzF1Q2tZTTA5TGw3dkxDL1V2Vy90VWIyemh3TUVBQUFBY0ZRZ2FBY0FBRUNYVEJnWW9jZ1Fzd3JMRzlyZDV2d3BjZnJEM0FFeUdpUzNSL3BzVFlrKzMxQ2l2WVcxY3Jxa2xCaXJwZ3lMMGhuSHhDckVadFN2ejBwVFZ2OHczZkhDOW5hRGNVbDY0cU1jdmZWTlladmJEUVlwSXRpc3JQNWh1bnBta3RMamduVGM4RWhkZDFxcW52Z29wODMyd1Zham52N2xNSTBaRUNaSjJwWHYwSUp2QzdVaHUwcGwxVTdad3l3YWtoS2luMDFMVkw4NG04NmRIS2RrdTAzWFA3V2x3L0VCQUFBQU9Mb1J0QU1BQUtCWEhEc2t3aGV5NXhUWDZkWm50MnRyYnV2V0s5djIxK2lMRFdWNjh1TWN6WjgzV09NSGhtdkc2R2pkZm5hNkhsaVEzZTZ4cTJ2ZEtxNzBIL0FYVlRSb1Y3NURTemFXNnUzZmpsSmNoRVVYVDB2UXM0djJxN2FoZFRyK2wwc0gra0wybDVZYzBQeDM5OHJkb2xoOWQzNnRWdTJzMU90TDgzWDN4Ums2YTFLc2poMGFvWi9QVE5iVG4rN3Y0WmtCQUFBQThGUEhZcWdBQUFBSW1ObG8wQjh2OG9ic0paVk9YZlhvNWpZaGUwc2xWVTVkOC9nVy9iQzNXcEoweWJRRWplZ1hHdEFZeXFxZGVuMXB2aVFwSXRpa2dVbkJyZTQvUGpOS00wWkhTNUxlWEZhZ2g5NXBIYkszNVBaSWQ3KzJXOXZ6SEpLa3EwNU9WckNWUzJjQUFBQUEvbEhSRGdBQTBBY1pETklwWSt5YWUxeUNNaEtERkdJemFXOWhyZDViVWFSWHZqcWdKNjhmcG1PSFJHait3cjE2OGZPMi9kU0hwNGJva2hNU2RjeWdDTVZHV0ZUdmRDdTdvRmFmYnlqVmEwdnpWZWxvWHFUMHVPR1Jldks2b2I2ZkJ5VUZhLzJqRXlWSmx6NjhTZXV6cXpSempGMnBNZDZlN0krOHYwLzU1ZldkUGdlbjI2TS92THhMQzM0N1NnYURkT1ZKU2JyamhSMEJuWmVjNGpyZnYyUERMYTN1dStLa1JFbFNkWjFMZi8rd2JWc1pmK043K3ROY1hYVlNrdGJ2cVZKa3FGbU8rdGJQS3lMRXBJdW1KbWo2cUdpbHh3ZkphamFxcUtKQnEzWlc2Sld2OG4xZkpQaVRHbVBUWmRNVE5XVllwQktqYkNxcmFkQ1hHOHYwNU1lNW5ZN05aakhvZ2lrSk9tV3NYUmtKd1FxMkdWVlMyYUMxdTZ2MDJ0SjhyZHBaMmVreEFBQUFBUFFlZ25ZQUFJQSt4bW8yNlA3TEIvbXFzejBleVZIdjF0Q1VFTjF4VGorZGxCVXRpOW5RN3Y3WHowclJkYWVteU5DNFNVMmRXeGFUVVNQNmhXcEV2MUROblJxdm0vKzFUWnYyZVN2U3EycGQycHBibzdnSXEremhadFUxZUxTbndGdnA3YWozQnZLbmpMWDdqdlhCOTBWZGZpNDdEemkwWm5lbHhtV0VhOXFJS0ZuTmhvQVdIaDNVb29xOXNLSzUxVXhFc0VuakIwWklrcjdlVks2eWFtZVhqdmZabWhKOXRxYkU3MzFqQm9UcGIxY1BWa3hqb085MGU5VGc5Q2paYmxXeVBWWm5IQk9yWnhidDEyTWZ0QTMxcDJaR2F2NVZnMzFWOG81NnQyTERyWnA3WEx4bVpObTFjVzlWdTJOS2p3dlM0OWNPVVhwY2tDUnY5WDFWclV2eGtWYWRPdGF1VThmYTlmclhCYnIzclQwOVhtUVdBQUFBUVBjUXRBTUFBUFF4dDUzVlR6TkdSOHZ0a1o3NkpGY3ZmM2xBbFE2WFV1dzIvZnJzTk0wY2JXOTMzNStka0tEclQwdVIyeU85K0htZVhsNlNyL3p5ZWhrTTB1aitZYnI5bkg3S1NnL1RQNjRkcHZNZjNLQ2lpZ2F0MjEybEN4N2NxRnZPU05POEdVbmFWMVNyQ3g3YzJPcTRZd2VFUzVMV1oxZko2ZXBldXZ2bHhqS055d2hYc05Xb3dja2hIVmFCZHlRdDFxYTV4eVZJa3ZMTDZyVWxwL2s0UTFORFpHcnMvUEw5am9vZUhiK2xmbkUyL2VPNm9Rb0xNbWwvU2IwZVdMQkhTMzhvbDlQdFVWcXNUVGVkbnFaVHg5cjE4NW5KcXFwMTZibi81dm4yVGJIYjlQQzh3UXF5R1BYRDNtcjkrWTNkMnJTdlJoYVRRYlBIeCtpMzU2ZHIyb2dvdjQ4YkhtelNrOWNQVldxTVRkdnpIUHJiZTN1MVlsdUY2cDBlUllTWWRNRng4ZnJsckZSZE9EVmVaZFZPdnd2Q0FnQUFBT2g5TkpvRUFBRG9ROUxqZ25UaDhkNHcrZEgzOSttcFQzSjliVjV5UytwMDIzTTc5UG42VXIvN1JvU1lkTlBwYVpLaytRdjM2dUdGelMxZVBCNXA3ZTRxWGZQNEZ1VVUxOGtlYnRiUFp5WjNhVXhCRnFQczRkNzZqYnlTdWs2MmJpdXZ0SG1mbE1iMk13ZUxqYkJvVUZKd20vOHkwMEkxZFhpa2JweVRxbGR2SDZtSUVKTWs2YUdERmpsTmlMTDYvbjJndFBPMk5wMjUrWXcwaFFXWlZGcnQxQldQYk5JWEc4cmtiSHpBZlVWMXV1T0ZIZnBnWmJFazZmclRVaFVYMGR6RzVvWTVxUXF5R0hXZ3RGNC9mM3lMYitaQWc4dWpoU3VLZE9zejI5dDkzSGtuSnlzMXhxYmNranJOZTJ5enZ0NVU3cHNCVUZIajByT0w4dlJnNDZLeVY1MmMxT3B4QVFBQUFCdzZWTFFEQUFEMElhZU90Y3Rva0Vxcm5YcHBTZHZlNjVLM1IvcEpXZEZ0Ymo5bFRJeUNyVVk1NnQxNjdhdDh2L3M2NnQzNllHV1JyanN0UlRORzIzWC8yOW1kanFubElxSFZkYTRPdHZTdlpSdVhJSXYvT3BCNU01STBiMFpTcDhlcXFuWHBnUVhaYmRxOTJNek54NjJwNy80WVd3cTJHblhpU08vNWZYbkpnWGI3MFQvODNsN05HaDhqbThXZzA4YkY2S1VsQjJRMkdYVENTRysxK3F0TDgvMmVyK1hiS3JScVo2WEdEd3h2Yzk5WmsySWxTZTh1TDFSNWpmLzJOKzhzTDlRZDU2VExhalpvMm9nb3ZmMXRZWStlSndBQUFJQ3VJMmdIQUFEb1E4Wm1lTVBYTlRzcjIyM1JzcWVnVnZubDlVcUl0TGE2ZmZTQU1FbVMxV3pVWjNlUGFmY3hySTJoZEh5a1JSSEJKbFU0T2c2bUhmVnUzNzlEYmFiT244UkJ3b09hTDBuTHU5Zzd2U1dQUjFxeXNVekx0NWJybzFYRmZnUG9sb0YyWkVoZ2w4RERVME5sTVhrYjNIKzd0YnpkN1lvcUdyUTlyMGJEVWtJME1qMVVralF3TVZoaFFkNXp0SHBYK3d1V2ZyZXRvazNRbm15M0tyYXhRdjN5NlVtNnFIRm1nejhtbzNkOGc1SkN1dkNNQUFBQUFBU0tvQjBBQUtBUGlXOE16d3ZLR3pyY0xyKzBiZERlMUViRVpKUnZBYy9PaEhVaGFLOXRjS3VrMGlsN3VGbkpkdit0WHpxU1pHOGVaOHNGVEZ0NmNNRmUvZWZMNWdyK0VKdFIwMGRGNitiVDA1UVliZFhnNUdDOStIbGV1MVhlT1VYTjdXbmlEem92M1JVZDFud0puVi9XY1J1YS9MSjZEVXNKa1QzTWU3NWpXN1J5S1c3bnVVcisyOXZFUmpTUE96ellKS256THpYQ2dydi94UWNBQUFDQTdpTm9Cd0FBNkVNc1ptK2xzckd6bFhZTWJXOHlObFk1cjloZW9aOC92cVZYeDdWMmQ2Vk95b3BXVnY4d1djMEdYOS93cnBnMEpFS1NWT2x3YVd0dTF4WkNyYWx6NjhQdmk3VmlXNFZldkNWVHFURTJQZjNMWWJyeFgxdTFmR3ZieFU2MzdhOVJYWU5ITm90Qms0WkU2cFYyV3VjY3pHdzA2TUVyQjJuOW5pb3QzVlNtblFjY012ZzV0KzFwUE9YcTN2S3drdFB0Ym5PYnFjVnJmdFZqbTdWcVovc1Y4UUFBQUFBT0x4WkRCUUFBNkVPS0dxdWc0eUk2cnNyMmQzOVpsYmZhZTJCaWNLK1A2NU0xM29VL2c2MUduVFVwenU4MkNaRldqY3RvM1E2bFg1eE5rNGRGU3BLV2JpcVRxMjIrM0tIQ2lnYmQvTXcyT2VyZHNsa01tbi9WWUtYRnRxMnFyM2Q2OU0yV01rblNzVU1qRkJYYXRYcVQ0MGRFYXNib2FQMzZyRFJOemZTT3M2U3l1V3ErNVNLci9pUkcyUnIzOGI1dUJTMzZ1WGRVV2Q5VUFkOVNhVlh6NDJZY2d0Y1FBQUFBUU04UnRBTUFBUFFoYTNkN3E1akhaSVRKYlBSZldwMWl0eWtwdW0ySXUyRnZsU1J2MjVpbWZ1MysvUGE4ZEMzOGZaYitldVdnTG85cjBkb1M3Y3AzU0pKdU9qMVZ5ZmEyajMvMnNiRjY0ZWJoK3ZDdTBab3hPbHBtazBGL3ZIQ0F6RWFEWEc3cG41L3U3L0xqdGJSOXYwTi9mWGV2Skc5TGxZZXVIT3ozM0x5NjFGdkZIbXcxNnRkbnBYVjZYTFBKb0YvTlRwWGtiWS96d1Vydmx3bWJjNnJsZEh0cjFDY1BqV3gzLy9oSWl5OFEzNXBiSTBuYWZhQldGVFhlVmp3VEd5djUvZkczRUdwMllhMnZqYytNMFcwWHUyMlNHRzNWb252RzZEKy96dFR4bVZIdGJnY0FBQUNnOXhDMEF3QUE5Q0h2clNpU3h5TkZoNW8xZDJxODMyMnVuNVhpOS9iUFZwZW9vWEVCMVR2TzdpZXpxVzBZUFNBaFNPZE5qdGVBaENBVlZiYnVJZDRVTGplMXIybko1WmJ1ZkdHbjZwMGVSWWFZOWR5Tm1ScWUybm9oemwwSGFyVnFaNlhTWW0xNmVONWdmWGpYYUUwYzdBMmJuLzN2Zmw5UTN4TnZMaXZRVno5NEs5WXowMEowN1duSmJiWlp2clZDU3pkNXR6bDdVcHp1T0tlZjJ2bXVRc0ZXby81NjVTQU5TZlkraHhjL3oxTng0L2x3MUx2MXhZWlNTZExQVGt6MDliNC8yRTJucDhsazlKNmJSV3RMSkhuUDRhZU4xZjhYVDB2dzJ5dC9XRXFJamgvUk5pRDNlS1NQVjNuM25UdzBVaWVPOUIraTN6QTdWUW1SVm1XbWhtclR2cTYxNGdFQUFBQVFHSUoyQUFDQVBtUlBRYTNlL3JaQWtuVEhPZW1hZDNLU1FtM2VCUy9qSXkyNisrSUJPbk5pckc5N1Q0dm00UG5sOVhydXY5NnE4YXorWWZybkw0ZjVnbVNqUVpvNlBGSlBYVDlNTm90QkpWVk92Zmg1WHF2SHJuUjRXNWVreGdUcHpJbXhHcDRhb3JDZzVzVTJ0KzJ2MFI5ZTNxbmFCcmVTN1ZhOWV2dElQWFRsSUowNjFxN2hxU0hhWGVEUU00djJhODB1YjJWOVU5WDltbDFWZXZ6RG5JRFB6ZisrdWx0bDFkNHhYajB6V1NQNmhiYlo1Zy8vMmFVOUJiV1NwTXRPVE5RSGQ0M1d2QmxKbWpRa1FnTVNnalJtUUppdW5wbWtoYi9QMGtsWjNxcnhiN2FVNjZsUGNsc2Q1N0gzYzFSZDUxSjBxRmt2M3BLcHFabVJ2dEErMlc3VmZaY045TDBPVDM2Y281emk1c1ZZSC84d1J5VlZUa1dIbXZYOFRjTjkxZXNHZzNUaXlDZzllZjNRZG1jclBQMXByaS93ZitqS3dicDRXb0tDcmQ1TCtwaHdpLzR3dDcvdmNmLzl4UUhmdGdBQUFBQU9MUlpEQlFBQTZHTWVXSkN0MU5nZ0hUc2tRcmVjbWFhYnpraVRvOTdsQzl5LytxRk1rNFpFeW1ZeCtDclltL3pqNDF5RkJwbDA2UW1KbWpBb1hHLzlacVNxNjF5eW1ZMitDdmNLaDB1L2ZHcXI4a3JyVysyN1pxYzNJRGNacGYvN1dZWWs2ZllYZHVpek5TVytiVDVaWGFKZEIycjEwSldETkNBaFNLZU90ZXZVc1hhL3o2T216cTFncTFGak04TDB4TFZETlAvZGZRRlZ0UmRYTnVqLzN0eWp2MTQ1U0dhalFmZGVPbEFYUExpaDFjS3NwZFZPWGZub0p2MzVaeGs2UGpOS3FURTIzWEtHL3pZeUhvLzA1amNGdXYvdDdEYTk0N01MYTNYRDA5djB0NnNIS3pYR3BuOWNPMVQxVG85cUc5eUtDUGErRG02UDlQeC84L1RQejFxM3hDbXRkdXBYVDIvVjM2OFpvdjd4UVhyK3B1R3FxWFBMYUpTQ0xFWTU2dDE2YzFtQkxqaXU3WXlGb29vR1hmZmtWajEyelJBbFJWdjF1L1BTZGVjNTZhcXBjeWs4dVBsTGp3OVdGdXVSOS9mMTlGUUNBQUFBNkNhQ2RnQUFnRDZtcnNHajYvNnhSZWRPanRlWkUyTTFNREZZVnJOUlczSnI5UFkzQlhweldZRld6ajlHa2xSZDYycTFyOGNqUGJoZ3J6NVpYYUlMcDhacjNNQnd4WVpiNVhKTGV3b2MrbnB6bWY3OXhRSGZvcXN0cmMrdTBsMnY3TkpWSnljcE5TWkkxWFV1WDZqYzByYjlOVHJudnZVNk9jdXVHV09pTlNvOVRIRVJWcG1NM3BCNWEwNk52dHBVcXZkWEZDdXpYNGp1dnRnYmVrOGRIcVYvZnBhckp6N0tiWFBNcnZwc1RZayt6aXJXckhFeEdwQVFwRnZPVE5PREMvYTIycWFreXFsZlBiMU40ekxDTlh0Q2pFYjNEMU95M2FZUW0wbTFEUzdsRnRmcCt4MlZldnZiQW0zZjMzN3d2MnBucGM3NHYvVzY1SVFFblRBaVd1bnhObG5OQm1VWDFtcmw5a3E5OVUyK051MnI4YnZ2RDN1cmRmNERHM1RKQ1lrNk9TdGFLVEUyT2VyZCttcGptUjcvS0VmakJvYnJnblllZDJ0dWpjNitkNzNtVG8zWHlWbDJaU1FFS3lUSXFKSXFwMzdZVzZVRjN4WnE4ZnJTbnA1Q0FBQUFBRDFBMEE0QUFOQ0hHQXplc056dGtkNzZwa0J2ZlZQUVpwdndZSk1zamRYcCswdnEydHd2U2V2M1ZHbjlucXB1UC83Qzc0cTA4THVpVHJkemU2UkY2MHEwYUYxSmg5dXQzRjZwOCs3Zm9BdW5KdWhuSnlSb1hZc3g3UytwVjliTks3bzl4dCs4dUZPL2VYRm5wOXV0M2xXcDFic3F1MzM4bHNwcm5Icnk0MXc5K1hIM3Z4d29xWExxOFE5ei9MYk4yVk5RcXdYZkZyYTdyNlBlclJjL1A2QVhQei9RN2NjRkFBQUEwUHNJMmdFQUFQcVFPUk5pOU52eitpdW5xRTVYUGJaSmpucDNtMjNPUGpaT2tyZnl2UzhzaHVtb2QrdUZ6L1AwbnlVSGZBdXVBZ0FBQUVCZndtS29BQUFBZmNqYVhWVUtDeklwTXkxRTkxOCtTSU9TZ24zM1JZZWFOZS9rSk4xNnByZm4rRXRMOGxSVDF6YUkvN0VpWkFjQUFBRFFWMUhSRGdBQTBJZmtGTmZwMGZmMzZkWXowelI5VkpTbWo0cVMwK1ZSZzh1allHdHpEY1VISzR2MXhFZHRXNUlBQUFBQUFIb2ZRVHNBQUVBZjgvemlQSDI5dVV3WFRVM1FtQUhoU29pMnltbzJLS2U0VGh1eXEvVHU4aUo5dTdYOFNBOFRBQUFBQUk0YUJPMEFBQUI5MFBiOUR2MzVqVDFIZWhnQUFBQUFBTkdqSFFBQUFBQUFBQUNBZ0JDMEF3QUFBQUFBQUFBUUFJSjJBQUFBQUFBQUFBQUNRTkFPQUFBQUFBQUFBRUFBQ05vQkFBQUFBQUFBQUFnQVFUc0FBQUFBQUFBQUFBRWdhQWNBQUFBQUFBQUFJQUFFN1FBQUFBQUFBQUFBQklDZ0hRQUFBQUFBQUFDQUFCQzBBd0FBQUFBQUFBQVFBSUoyQUFBQUFBQUFBQUFDUU5BT0FBQUFBQUFBQUVBQUNOb0JBQUFBQUFBQUFBZ0FRVHNBQUFBQUFBQUFBQUVnYUFjQUFBQUFBQUFBSUFBRTdRQUFBQUFBQUFBQUJJQ2dIUUFBQUFBQUFBQ0FBQkMwQXdBQUFBQUFBQUFRQUlKMkFBQUFBQUFBQUFBQ1FOQU9BQUFBQUFBQUFFQUFDTm9CQUFBQUFBQUFBQWlBK1VnUEFBQUFBQUFBQUlFNTU5allJejBFL0FoNVBCNHQvZmVkS2kvY295R1RMOURRNCtZZTZTSGhSeWd4Mm5ha2gvQ1RRTkFPQUFBQUFBRFF4OTE5Y2NhUkhnSitoRHdlank1NTM2cUtRbW42cUdoZHkvc0VPR1JvSFFNQUFBQUFBQUFBUUFBSTJnRUFBQUFBQUFBQUNBQ3RZd0FBd0NGeHp5VURqdlFRQU9DUWlZMndIT2toQUFBQTRFZUVvQjBBQUJ3U1owK0tPOUpEQUFBQUFBRGdzS0IxREFBQUFBQUFBQUFBQVNCb0J3QUFBQUFBQUFBZ0FBVHRBQUFBQUFBQUFBQUVnS0FkQUFBQUFBQUFBSUFBRUxRREFBQUFBQUFBQUJBQWduWUFBQUFBQUFBQUFBSkEwQTRBQUFBQUFBQUFRQUFJMmdFQUFBQUFBQUFBQ0FCQk93QUFBQUFBQUFBQUFTQm9Cd0FBQUFBQUFBQWdBQVR0QUFBQUFBQUFBQUFFZ0tBZEFBQUFBQUFBQUlBQUVMUURBQUFBQUFBQUFCQUFnbllBQUFBQUFBQUFBQUpBMEE0QUFBQUFBQUFBUUFBSTJnRUFBQUFBQUFBQUNBQkJPd0FBQUFBQUFBQUFBU0JvQndBQUFBQUFBQUFnQUFUdEFBQUFBQUFBQUFBRWdLQWRBQUFBQUFBQUFJQUFFTFFEQUFBQUFBQUFBQkFBZ25ZQUFBQUFBQUFBQUFKQTBBNEFBQUFBQUFBQVFBQUkyZ0VBQUFBQUFBQUFDQUJCT3dBQUFBQUFBQUFBQVNCb0J3QUFBQUFBQUFBZ0FBVHRBQUFBQUFBQUFBQUVnS0FkQUFBQUFBQUFBSUFBRUxRREFBQUFBQUFBQUJBQWduWUFBQUFBQUFBQUFBSkEwQTRBQUFBQUFBQUFRQUFJMmdFQUFBQUFBQUFBQ0FCQk93QUFBQUFBQUFBQUFTQm9Cd0FBQUFBQUFBQWdBQVR0QUFBQUFBQUFBQUFFZ0tBZEFBQUFBQUFBQUlBQUVMUURBQUFBQUFBQUFCQUFnbllBQUFBQUFBQUFBQUpBMEE0QUFBQUFBQUFBUUFBSTJnRUFBQUFBQUFBQUNBQkJPd0FBQUFBQUFBQUFBU0JvQndBQUFBQUFBQUFnQUFUdEFBQUFBQUFBQUFBRWdLQWRBQUFBQUFBQUFJQUFFTFFEQUFBQUFBQUFBQkFBZ25ZQUFBQUFBQUFBQUFKQTBBNEFBQUFBQUFBQVFBQUkyZ0VBQUFBQUFBQUFDQUJCT3dBQUFBQUFBQUFBQVNCb0J3QUFBQUFBQUFBZ0FBVHRBQUFBQUFBQUFBQUVnS0FkQUFBQUFBQUFBSUFBRUxRREFBQUFBQUFBQUJBQWduWUFBQUFBQUFBQUFBSkEwQTRBQUFBQUFBQUFRQUFJMmdFQUFBQUFBQUFBQ0FCQk93QUFBQUFBQUFBQUFTQm9Cd0FBQUFBQUFBQWdBQVR0QUFBQUFBQUFBQUFFZ0tBZEFBQUFBQUFBQUlBQW1JLzBBQUFBd05FaDYrWVZSM29JQU5CajN6NHdYcUZCcGlNOURBQUFBUHhJVWRFT0FBQUFBQUFBQUVBQUNOb0JBQUFBQUFBQUFBZ0FRVHNBQUFBQUFBQUFBQUVnYUFjQUFBQUFBQUFBSUFBRTdRQUFBQUFBQUFBQUJJQ2dIUUFBQUFBQUFBQ0FBQkMwQXdBQUFBQUFBQUFRQUlKMkFBQUFBQUFBQUFBQ1FOQU9BQUFBQUFBQUFFQUFDTm9CQUFBQUFBQUFBQWdBUVRzQUFBQUFBQUFBQUFFZ2FBY0FBQUFBQUFBQUlBQUU3UUFBQUFBQUFBQUFCSUNnSFFBQUFBQUFBQUNBQUJDMEF3QUFBQUFBQUFBUUFJSjJBQUFBQUFBQUFBQUNRTkFPQUFBQUFBQUFBRUFBQ05vQkFBQUFBQUFBQUFnQVFUc0FBQUFBQUFBQUFBRXdIK2tCNFBESnVubkZrUjRDZ0U1TUd4R2x4Mzh4NUVnUEF3QUFBQUFBQU4xQVJUc0FBQUFBQUFBQUFBRWdhQWNBQUFBQUFBQUFJQUFFN1FBQUFBQUFBQUFBQklDZ0hRQUFBQUFBQUFDQUFCQzBBd0FBQUFBQUFBQVFBSUoyQUFBQUFBQUFBQUFDUU5BT0FBQUFBQUFBQUVBQUNOb0JBQUFBQUFBQUFBZ0FRVHNBQUFBQUFBQUFBQUVnYUFjQXduekNHZ0FBSUFCSlJFRlVBQUFBQUFBQUlBQUU3UUFBQUFBQUFBQUFCSUNnSFFBQUFBQUFBQUNBQUJDMEF3QUFBQUFBQUFBUUFJSjJBQUFBQUFBQUFBQUNRTkFPQUFBQUFBQUFBRUFBQ05vQkFBQUFBQUFBQUFnQVFUc0FBQUFBQUFBQUFBRWdhQWNBQUFBQUFBQUFJQUFFN1FBQUFBQUFBQUFBQklDZ0hRQUFBQUFBQUFDQUFCQzBBd0FBQUFBQUFBQVFBSUoyQUFBQUFBQUFBQUFDUU5BT0FBQUFBQUFBQUVBQUNOb0JBQUFBQUFBQUFBZ0FRVHNBQU1CUHdQUlIwVnIvNkVROS9vc2hIVzdYTDg2bUpYOFpweGR1SHE3SUVQTmhHaDM4T1g5S25KNjVZWmhPR1dOdmQ1dkxweWZxdVJ1SGErWm83elp4RVJiTm56ZElzOGZISEs1aEFnQUFBT2dDZ25ZQUFJQkR5R28yNkpQL0hhUG5iaHl1SWNraFhkcm5zV3VHYVAyakV6c01ZSHZxcGpscHNvZVpWVmJsVkhtTnM5ZVAzMlJzUnBqV1B6cFI2eCtkS0t2WmNNZ2U1MkRySHZFKzVxQ2tZRW5TaEVIaGV1MzJFVHBtY1BoaEcwTlh6WjJhb0ltREl6U3djYXorbkQ4bFhoTUdoU3ZFNXIxc3orb2ZwcG1qN2ZyOUJmMlZFR2s5WEVNRkFBQUEwQW5LbUFBQUFBNmhrN1BzU3JaYkZSdGhVVzV4WFpmMkdUTWdUSkswZG5kbHI0NWx3cUJ3elJ4amw4Y2pQZkZ4VHNESEM3V1o5TWFkSTdVaHUwcFBmSlNqZlVWZGUzNkhVcDNUclNDTFVVM1Jma3k0UmVueFFYcjJodUY2ZjJXUjduODdXNVVPMXhFZG95UmxwWWRwV0VxSWF1cmNldm5MQTM2M0daY1Jydjd4UWNvdnI5ZUgzeGRMa2hhdkw5WGk5YVU2T1N0YXZ6cy9YYmM4dXozZ3NWak5CbjAvLzVndWI1OVRYS2ZaOTZ3TCtIRUJBQUNBbnhLQ2RnQUFnRVBveklteGtxUmxtOHRWWGRkNXdOcy9Qa2hSb1dibGx0U3BvTHloMThaaHN4ajBwNHN5WkdoTW9OLyt6YWgydDgwdnI5Zk1QNjd0OUpqblRvNVRXcXhOa1NGbTNmM2E3dDRhYWtBYzlkNmczV3p5UHRGUDE1VG9oNzNWZXVDS1FUcmptRmhOSEJLaHEvKytXWHNMait5WEFsZWNuQ2hKZW0xcHZpcHEvTDh2NWs2Tmx5UzlzRGhQVHJmSGQvdDliKzNSbEdHUk9pa3JXc2NPaWREeWJSVis5Ly9xM25HS0N1MzRjci9TNGRLSi83TmF4Wldkdjljc1pxTWlnazBxcXVpOTl5VUFBQUR3VTBIUURnQUEwSXRPRzJmWGcxY01hblA3WjJ1S3U3VC8yQXh2aTVPMXU2dDZkVngzbkpPdWZuRTJWZFc2MnEyc1Q0eTJLakxFclBvR2o5LzdXeklacFl1bkpVaVMzbGlXTDBlOXUxZkgyMU8xOVc0cFZMS1ltanNrNWhUWDZmSkhmdEFOczlNVUUySDJHN0pQR0JTdTUyNGMzdXZqK2NVVFc5b0U0V214TnAyY1pWZE5uVnN2Zko3bmQ3K2thS3RPR1d0WGNXV0QzdnFtb05WOUJlVU5lbmJSZm9VSG16dDhuOVRVdVdXek5MOHV3VmJ2T1duNVd0WFV1OVRnOG1qNkg5WjArbHptakkvUmZaY1BWRUY1ZmFmYkFnQUFBRWNiZ25ZQUFJREQ0TDdMQitxK3l3ZTJ1bTFmVVoxKzl2QVArdXJlY1cyMm56TStSblBhV2ZCeTRZb2kzZlh5THAwN09VNS91bWhBcS91bWpZalMra2NuU3BJV3JTdlJiYy90MEp3Sk1acDdYTHdjOVc3OTRva3QycmkzdXMweE05TkM5ZHlOdytXb2Qrc1BMKy9zOVBsY2NGeThVbU5zYW5CNTlQS1grWjF1MzFNTGZqdksxMis5Ty83ejY4eDI3enQ3VXB3azZlWm50dXVMRGFVOUhsdFBYWHRxaW93RzZhVWxCMVJXN2UyVC84OWZEdFBHdlZWNllYR2VLaHd1WFQ0OVNXYWpRVEhoRnEzOGEvdHRYYTQ0S2JITmJaUHUrRjZPZXJkT3U3dDVWc0t3bEJDOWNlZkkvMmZ2dnVPcnJPLytqNyt2czNOTzltSUd3cFFsRzFIVVZseEZxQXRIdGE1V083UzF0YmJXMjdhM3R0VmZxN2VydGEyMXRiWFZvdGFCaUdDTElvcWlvRXhsYjBpQUJNamV5ZG0vUHc0NXlVbk95ZUFraFBGNlBoNCt6TG5tTjRNejN0ZjMrbnkwKzFDOXJueDRZOVJqUFhmblNFMFpscVJiLzdoVmEzYTFMbHVVbVdLVkpCVjM0WjBXQUFBQXdNbUNvQjBBQUtBTFZkYjZ0V1YvS01qT1NMYXFWNHBOWmRVK0hhcG9QWXY2VUxsSFBuOHd2TDBramVqdmtzbVF0aGZVeVIrSVByTzhjVVo2ZVkwM3ZHOVNna1U1bVhaVjEvdTF2NlJCVWlqSUh6OG9VYis4YnBEOEFlbmU1M2RGRGRsenN4MzY4KzJueVdJMjlJTm5kK2p6UFczUHBuZlp6YnA5Um45Smt0VnNhT24vbTlEbTloMnQvMzNSQTEvb2NJelowbTV2VUlGZyt6UHQ3VmFUVEViSHRtLys4OTFSVUtmdlBMMnRRK1BzakMwSEluL2V1ZGtPelpxY3FZcGFuNTUvUHpTYi9VdWpVM1htYWNrYTFOdWh2eTB1VkVhU1ZiUFB5bEl3S0cwOTBQcjNOVERiSVpmZHJQemlCdFUydEM0N0UrMzdQbmQwcWlUcG8wMFZNY2VhbGhqNmFGQldIYjFKYmxaeXFQbHFNVFBhQVFBQWdGWUkyZ0hnSkxScDB5YjE3dDFibVptWlBUMFU0SlR6NmZaS2ZicTlVcEwwNkMxRE5XTml1aDZibng5dVpobk5kWTl2bGhRcTNiTDRWK05WVnUzVE5ZOXVhdmRjU3pkV2FPbkdVSEE2L2ZRMFBmV3RZZnA4VDdYdWZIYUhKS2wvaGwydjNETkdEcXRKRDcyV3A0ODJ0dzVaKzZUWjlMZnZqMUJTZ2xrLyt2dk84TmpiOHFQTGNwU2VlR3pmUnY3b3VSMWF2clg5c2YzOXpoRTZZMWl5Zmpabmw1YXM3L2hzOWFwNmY4eGE1MTNweDVjUGtOa2svZVdkZ25ETi90dG45Sk1rUFRsL3YrbzlBZDF6eFFBbDJFenkrSUxodjQzbW52MytDSjA1UEZtUHZKSGZvWitKSkowN0toUzBmN2dwOXM4a1BTazBZNzJzSnZxTTljemswUHFpS29KMkFLZXVtbGRma1h3K0pYNzlCb1VibjBnSzF0U280ZzlQeVhuUnhiSlBtcVNhVi80dDY1QWhzazg5ODVpTXkxOXdRRFZ2emxQeU4yK1Q0WEpGM2FiaTBmK1RkY2dRdWE2NitwaU1DUUJPTlFUdEFIQ0NDd1FDOG5xOXFxK3YxOXk1Yy9YV1cyK3BwS1JFVHp6eEJFRTcwSU1zWmtQbmpFcVIxeDlzY3haeGMyZVBTSkdrRG9YZEhWRlk1dGJyeTR0MDY0VjlkUCsxdWJyLzJ0dzJ0My82dThNakhqL3pUb0dlV1ZRUXNleWNrU242MnBFbW5iOWJzRjh2ZlhRbzZySEdEMHJTMys4Y0lVbWE5ajlyNWZHMVg4UGQ0MnQveG5wN0d1dVB1eHptdUkvVjFhYU5TTkY1WTFLVlY5U2cxNVlYeVdJeTlPVXhxUm96d0tXMXU2dTFhRjJwQm1UWmRlVlpXVjE2M243cGRvM0xUZFRCY28vVzUwVy9XOEV3cEJTblJmNkFWRm5YOW96MkVrckhBTWVFditDQWF1YTlvYVNidnlGVFNrclRpbUJROHZrVTlIa1Y5SGdWckt0VHNMNU9nWm9hQlNvcUZhaXNrTCtrUlA2aUlwbXpzNVgwelZzbFNYV0wvcXY2SmUvRk5TYkh1VitTNjRvcjR6ckdpU3hZVXlQMzJqV3lqNThRRWJKTFV2M0h5eFFvTFpFcExVMHltUlJzYUZEdHdnV3lqUjRqSXpHeCs4Y1dETXFYbDZmYU4rY3A4Y2FiV3EzM0Z4VElmL2lRYktmSGJvWWVUZWs5UDVienE1Y3E0YnpwVWRjSHlzcFU5Y0kvNVpyMVZWbUhuM1pVWXdlQWt3VkJPd0NjZ0FLQmdJcUxpNVdmbjYrdFc3ZHF6Wm8xV3J0MnJkenVVRGtKbTgzV3d5TUVjUGFJRkNVNnpGcTJ1VUkxRFg0OWZOTVF6WnFjMFdaZDhHa2pRMEhLaW0xZEU3UUhndEpUYisvWEpaTXkxRGZkcHUwRmRSSHIrNmJibFpSZ1ZsNVJnOXplcGlBOHhXbFI3N1RXenlQWktWWTkrUFhCa3FUUHRsZnBuKzlIYitRcFNWNS8wL0U4dmtDWGhPZ2RVWE9rbEVxUzQvaDdtenQxZUxLa1VQbVlkVTgybGRQeEJZTDZ6ZXQ1a3FTZlhaVXJpOG1JdXYvUnV2S3NMQm1HTk8vVElzV3FwcFBxdE1oc2trcXJ2VEczeVRwU283MklvTDFUL0g2LzZ1dnJWVnhjckU4Ly9WUUxGeTdVRDM3d0EwMmJOcTJuaDRiam5ka2kzLzc5cW5ubFpTVi85NDd3NHVwL1BTL1BoZzB4ZHpNU0UyVktTWkVwTXlNVTBBZURFYUZ3d2dVWHluQTZPemNXajBkMTc3NFRzYWp5NlQvSnQ2ZjluaDV0c2VRT1Vzb1BmcWhnZmIzSy92Zm5jUjJyVWRyUGZpRlROMDAyYWZqc1U4bnZWOEwwOHlOWGVEeHFXTEZjNWo1OVpCMGFhb2p1dXZ4eWxUL3lzT3FXTEpicml0bWRPaytnckV6bHYzbW96VzFzNDhjcjZhWmJ3bzh0L1hOa24zcW0zSjk5S3Z2RVNiS09pdXhWNHRtNlJaSmtIenUyVTJOcGp5a3RUU2FIUXpYejNsRGF2ZmRKSmxQN093SEFTZXI0K3dRQ0hLY21EMDNTUDM0d1VtdDJWZXZXUDI2TnVrMkN6YVNWajAxV1laa25vZ0daSkEzdGs2QjU5NTNlNXY0OTVlcHBXWm94TVVPdmZWS2t4VitVUmQzbTV1bTlkZDZZTlAxNzJXRzl0NzVNV2NsVzNYZjFRTDIvdmx6L1hSdTdIQUs2bHR2dDFwbzFhN1I4K1hKdDJiSkZoWVdGS2kwTi9meURIYWhkRE9EWW1YR2trZW03bjBkL1hwV2F5cjIwOUpzYkIrczNOdzV1OC9qLy92aXdIcDZiMzZreHRTeEg4K1N0dzNUaHVEVDk1Qjg3dGZOZ2ZYajU1V2RrNnFFYklzL3Z0SnYwNTl0UFUyYXlWYVhWWHYzOHhmakNsZTVTZFdRMmRvcXI5WXoyNjgvdHBYTkdwV2pPaDRmMDJmYnVMeFBUMHZzYnlqVnVVS0xLYTN5cXF2TnBTTzhFamMxTjFKeWxoN1RyWUwwdW1aaWhzMGVtYU9mQmVnMDdpZ2F3MFZoTWhpNmZtaWwvUUhyenMrS1kyNlVsSGlrYkU2TSt1OVJVT3FhWTBqRWRVbDVlcm8wYk4ycmp4bzNhdkhtek5tM2FwTnJhV2k2R284UE12WHZMZWVGRnFudjNIVFY4dWtLT3M1b3V6cGhTVStXNjlISVpDUTRaRG9jTVI0S01oQVNaWEM3SjNQWWRQWTR6ejVJcFBiMVRZd25XMXJZSzJ1MFRKc2lTa3hOKzdNdmJLMTkrdmh6VHpwYXMxbGJIY0s5Wkxabk1zazlzYWdCdXpnaTlWaHAydTFKK2VGZXJmUUlWbGFyKzEvTnlYVEZibGdHaGMva1BIVkxOYTY4cThmb2JaTTVxSGFpYlVsUERYNWZlZTQva2I5M0xva1BNWm1VOCtuaXp3UVRVOE9rS1dVZU9sTGxQbjRoTkcxYXZVckN1VGdtWFg5RTBqb3hNT2M0K1IrYTB0RmFIOXUzZnI4cmZQeG56MUtuMzN0ZG1lWmZhK1cvS25OcjZ1SzZacytSWnYxNDFjMTlUNnIzM2hTNWV0UGlNVVBIa0V6R1BLMGtaLy9lb1pHbjkrMnRVZHY4dkZLeXJpN3F1OUtjL2FiVXM3UmYzZC9ydkRRQk9WQVR0T09FMTFyOTk2TFU4dmI2OHFLZUhjMEs2OXB4ZUd0SFBxYlc3cTZVdm9tOXo5YlJzNVdZNzlOYkswSWYwc2JtSnVtaGN1cVlPVDlIYVhkVXhtOWVoYXhRWEYydnUzTG1hTzNldUtpb2lTMUEwRDlnTm8ydG5RUUk0T2k2N1dlZWZuaWEzTjZnUE5zU3VpVjFWNXdzM00wMTJXdFEvdzY2YUJyLzJGVGUwZTQ2RFpXMC83N3JzWnRtdGhzcHFZZ2VualU4WnZoaE5WNXU3ZEVxbWh2ZDFxcWJCcnp1ZTJhNlNxbU03cS9tWjIyUGZqcDVmM0tCTC8xOW9kbWRqVU54WTVxU1IxV3pvMW92NnFGZUtUUWRLM1QwU3RHL0lxOUUzbmdwZGJEY1owdnlmajFWaG1VZC9lU2RVbnVlbTZiMGxTWSs5bWE5bnZ6ZENOb3VoRFUrZEVmTjQwWDRtZVVVTnV1dzNUVE5kcnpnelM3MVNRaitMSlErMmJsbzc5cTVWa3BvYW9aYkdxTS91c0pxVTZEQ3J3UnRRZGYxUmhsYW5BSi9QcDFXclZ1ay8vL21QdG0zYnBvcUtDbFZWVlNrUWFMOTBFaEJOd2dVWHFtSGRXdFV0WENEYnlGSGhFTmx3T21VYlA3NUh4K2FZZG5iRTQ3cEYvNVV2UDEvT2l5K1drWlRjYW52dnpoMHlMQmE1THJ1ODljRk1KbGtHdGk1dkZuQ1ZTSkxNdlhxMVdtL3AwMGZtZnYzYUhLTnR6QmpKZDVUUFdaYklDeFlOSzFjcVVGR2hwSnREczhpcm4vK25MSDM3S3VHODZhcGYrb0VrcWViZkw2dm0zeSszT2xUdGdyZkNYeWZkOWkxWmN3YkllZWxsa2lSZlhwNDhHemNvNGVLdnlMRGJKWVV1RmxoeWNsVDUrOThwK1R1M3kzcGEwL045ME8xVzdSdHpReVZxV2pCY0xqbG56WkwvMENFWkZyTVNyN3RlQ2dibDI3OWZEY3Mva2VQc2N5SXVqa1JsTXF2K3c2V3FXN2dndktodTRRTFZMVndnNjhoUlN2cjZqUXI2WTcrM2FIVzRZMUEyQndDT0Z3VHR3Q2x1N01CRWplam5WSjA3RUxQTzdzVEJTY3JOZHVod3BTZmN6Ty85RGVWNmYwTzVMaGlicHA5ZFBWQS9lbTVuM0dPeFdReXRlV0pLK3hzZWNhRFVyWmtQcm8vN3ZNY2JuOCtua3BJUzdkeTVVOXUyYmRPS0ZTdTBvZG50d2RGbXJrY0wyQ3NySzFWU0V2cHdZanB5QzJmamRvWmh0UG92R0F5Mld0WjgyMWhmRzRZUlBqNkFrRXNtWlNqQlp0TGlMOHJDRFMraldidTdPdHpzOGtlWDVlaldDL3JvdFUrSzlQdUYrNC82M0dNR0pPcXRuNDlWYnJaRFQ3eTFULzlhR3YyNVhRcUZ2WkxVa1F6dzFVK0tOTEsvUzIrdktkRzJndWd6MmJwRDQ5T0wyeHRVb01Yem44a3daTGNhNGJyc2tsUnlaTFoxZGtwazBONFlPSHQ4UWYzanZkZ2xiNDZWbVpNemxKdnQwQjEvMlI0ZS8zMy8ycVhyenUybGRidXJKWVVtSVc0OVVOdHEzNEhaRHJuc1p1VVhONmkySWZMdnE2RE1IZjdhWWpiMDdZdjdTZ3I5L0hZZmF2cTlEZXZybE5YYzlOcVIwZGdJdGJydFJxakZsSTJKNFBQNVZGTlRvOE9IRCt2ZGQ5L1YyMisveloxbTZGcG1zeEpuWDZXR1R6K1ZjYkxmRGVIenF2Ui83bzI2cXVxdno3UmFWdkhrNDYyV3BmL3ExeEVoZjlMTjMraWFzWG05cWwvOHJteWpSc3N5TUZlKy9IeDVObTZRZGZCZzFiMzdqZ0xsNWJJT0d5YkhXVTBYSHp5Yk5zcTlibTJvdkV1ejkrclduQndaU1VuaG11ZlYvL3lITERrNWNuNWxSc1FwQTFXaDF3SlRjdVJGaTBCNTZBSytLUzM2TFBIbWR6N1lKNGMrVzduWHI1ZVI0SlRycTVkS05wdXE1N3dnNzY1ZFN2OTE5UEkwdHVHbnlUZ3lvNzUyM2h1eW5YNjZyTU9HeTV5V0x1dklrWkxQcCtwL3ZTRGI2YWZMUGlYeWdyQjMxeTdWTGZxUEVxKzZSdWErZldQOFFBSGc1RVRRanBQV2pJbnBldlNXb1VlMTc1ZCt2azRWdGUxZnBXOHNKOU5TMzNSYnpCbG9rNGNtdFZwM05MZi9kNVZiTGdqTm5udmw0OE9xcW9zZUJsMTdwT25kOCs4ZmpKajErUERjUEUwYmthTHp4NmJwek9ISitteEg5Tm1CeTM0N1VhbXV0cDl1cXV2OU91OFg2MVFhNHdOK2MxYUxTY2tKNW1NK203SzdCYjExS3N2YnJTZWVlRk03ZHV6UWxpMWI1UEdFQXFOWUg5Wmp6V0QzK1h4NjRZVVhOSC8rL0hBUUhpc2tQNXBsTFk5bmJuYUxjdlB3dmVXMkpwTXBITW8zWDk5OFdmUGxMWmUxZFZ6RE1NTGppTFY5eTJNMi83cmx1Tm82WHVOalZlZkpZN1ZyK3phVGtweldtT05xdVYvTDhUUS9UL054Tks2TGRWd2N2NjQvdDVja2RhcTAxdm1uaDJhbWZSQ2pmbnMwdy9vazZNdGowalJoY0tMR0RVcVNKS1VuV1pTZUZIck85YlpURjkxcUR2MmRkYVJScVNUOTZwVzlIUjViVjdGWlFtUDh6cCszNnZNOWtZMDh6eDJWcXFlL08xejE3cWJ4Rng2WjZkOHZ3eDVlWmpFWnV1M0MwSWY5MTVZZjd2RzdzS3htUTNmT3pOSEMxU1ZhdnJXcEh2KytZcmNlbmJkUE5rdm8zN2ZYSHd4ZmlHbnUyZStQMEpuRGsvWElHL2tSKzdkMDAzbTkxZWRJcmYzOUpRMFJ4M3JubCtQVk43MHB0R3VjMFQ1elVvWm1IaWw3RkUxT3BqMzhQdWJWVDRyQ3RlVlBOYnQyN2RMMjdkdTFmZnQyclYyN1ZudjM3ZzMzU2Vub0JYR2dvNnpEVDJ2VlpOSmZXS2pTbjl6ZDdyN0ozNzFEMXVIRG82NExsSlNvL09IZnRMbC82di9jSjNOMnI0NFB0Z3M0TDcxTXRoR2hadHFCOGdwVi9mMVpKVjd6TlZseUIwcVNmSVdGcW5ucFJTWGQ4ZzJaczBPZlU3eDc5NnAyN3V2ZE5xYjZqejlXb0twU3pobmZsZ0lCMWIyN1NLYjBERmtHRDFibFU3K1hGQXErYmVQR2hmZnhsNFR1QkxhTkhSdXpibm13dWxxZXJWdVVlUFUxVWRhRlBsdkZDdHFqbGFTSnhsOVlLTy9XTFVxNDRFS3BneGRyekgzN2hrUHkybmx2eURJd04vSU9Cb3RGaHRPcG10ZGZrem03bHl3RFE3K2JZRjJkYXY3OWtneXJ0ZFc0QWVCVVFOQU94S0hCRTFCZVVlVHQvYm5aRHZrQ1FSMG9jVWNzdDVnTjljK3dxOEViMEtIeXlBLzRwYzBDNDFqaGZieSs4L1MyVmtGNFRxWmRGNHhOVjUwN29PYy9pRDY3cjArYVRSZFBTRmRwdFZkelYwU1c1aW1xOU9xNTl3cVZsR0RSRjN0cm91NHZTWFh1Z096V3BoQWt3Ulo2bzlsOEJtS2R4eSt2UDZqcC8vdDV1OS9MckVrWmV2am1JU282MmNyVkJMeXFLODNYMG5VZnFyZzRkaDNkam54WUR3UUMycmt6L3JzTTBEYWJwQkpKMy8yd1o4ZGhNcGxrczlsa05wdGxNcGtpd3ZubXk1cGZWR2kramNWaWliZ1EwTlkrMGI1dWZyekdZelUvVHZqWWh3TUs5cHJhc3orc1l5REJadEt3dnFINjJyKy9yWFg5OWVZMTJmZVh1RFhyb2ZVYTNDdEJ1ZGtPbFZYN3RERS85dk5wUzdNbVorcldDeVByeEJhVXVmWFhkd3ExWWx0RnUwMHJFK3l0bjQ4NzRtZFhEd3hmVE9pSWp0eXQ5TE01dThOM1RUWG5zSWJHV09kdVBVYm5rZkUzdjJ1Z3NleE9UcFpkRnBNaFh5Q28yeS9wcDc3cE5wWFgrdlRNb29JT2o3dTczSFJlYjVsTjBpTnZORjFrVDAreUtOVnAxWjdEOVczczJYSDkwdTI2ZlViYkpSV2FzMWxOSGJyWUxVbE91MWtKTnBQcVBhZFdDUm0zMjYybFN6N1FraVZMdEhQblRsVlZWYW0rdmo0Y3JMY00yR085WHZ2OWZyMzAwa3Rhc21SSnQ0LzVaR0xlVVN5M3hhUS9QSkVXL3JkL3NucmdnUWRVTy9jMU5YejZhWGhaeXAwL2tHWFFrZDRaL29CTTZlbHlYdnlWbU1md2JOd2d6K2JOTXJuYWIzcHFuM0tHckVPR1JDeno1dVhKL2Rtbk1mYm9YdWFVRkpsN2gxN2JqQ08xd2szcDZlRmx3U01YdGN3Wm1lRmxnUmFsRmJ1YXYraXdwTWhaOUVrM2YwTzE4K2JKc05rbEhkMGRMUFVmTDVNcE5UVTg4N3k1UUZXVlpEYkxjTGtpeDFMUk9LTzlxUlo5M1g4V3F2NkREOEtQVTM1NFY3alVUdDBINzBzbWt4eG5uM05VWTR3bGNmWlY4cGVXS2xoNzVNNnJZREJVTnNjd2xIejc5MlMwS0JuejRJTVBkdW41MFRtSER4L3U2U0VBcHdTQ2RweTAzdjI4VEI5c1dOM2g3Yk5UYlBydkErTWlsczArSzB1L3VtNVF4TExtTTlJZm5iY3ZvZzVxWXpQVW9ncHZ4SEtwcVJucXB2emE0NllaNm5lLzBrOG1RNXJ6NGFId0RQNW52emRDbS9iVjZQbjNENnFxM3ErYnAvZVJ4V1FvSThtcTFZL0hEa3B1T2I5M3EyVlRmN3BHOVo1QVJHUFlFZjJjZXUzZU1kcDlxRjVYUHJ3eDZyR2V1M09rcGd4TDBxMS8zS28xdTZwYnJjOU1PVGx2WHpmc0tlby9lclllZitwSFdyOSt2ZDUrKzIwVkZCU29vS0FnWEFKRzZ0aE1PWXZGb2tzdXVVUTVPVGtLQm9NS0JBSUtCQUlLQm9NUmp4dHJ4alpmMy9Mcmx2OXZlUnl2Ti9MMzBEaStRQ0FRTGtuVDhyL20yOFZhMTVIdE9ySi80L2NZNnppZEhXUHp4NGZLM2JLWURhVzVMREtNMXNkdVBIN3pNYlQzZlhkMGpNMEZBZ0UxTkxSZjA3dW5HU21qVG9tZ1BSQU1odXV1Tjljdnc2NFVwMFg3Uzl5cXJnODk1elplZUIyWTdaQVVDbHZYL3o1MlRlNUc5NzZ3Uysrc0sxTmVVWU4yRk5acC9kNGFCU1ZkZTNhMmRoK3MxL3lWc1MvV05kZDR0OUh4SEppbUhCbGpaVjNyTzgwU2JLRzdRZXFhbFU4cEtIT3IzaE5RZ3Mya1FiMGRjbGhONGRuc3YxK3d2OGZyaS9kTHQrdTdNL3BwZjBtRGZuZmJNUFZKczZ0WHFpMVVqejJ2UmpmK2JrdVhuT2Z5cVpsS3NKbkNaZDdhTTJmcEljMXBvOHhRYy9kY01VQTNUKy9kNlFzMEo3bzc3N3hUQncvc1ZWMWRuWHkreUwvSHp2Ukw4ZnY5K3V5eno3cGxqQ2N6c3lTL3BQY0tlM29rM2UrQkJ4NlFiZXg0bVRLejVDOHViaFY0QityclpNN0lsR0d4eUwxaHZaS3V2eUZ5cHJMWHE5ci8vQ2MwSzdsZi8zYlBaODBkMUtyOGgweW1IZ3ZhcTErY0k3MDRKMkpaUjB2SGRCZm5oUmZKUG1HaURHZUNhbDU2VVVaU2ttemp4c20zTDE4SkYxeWcyamZueWIxcXBkeXJWcmJhdDJXRDBMU2YvVUttekV3RnlzdFZ2K3dqeWV1TjJNWjExZFZ5VER0YmdlcnFxTFBDQStYbGtzMG1JNkhwSW9wdDlPa3lwYVRLZitpUUdqNWQwYlJ0YWFrOFgzd3UrNFNKTXFXa3hQMXpxUDdIYy9Kc2pteXNYclduZFhQMDhvZCtIZjdhY2RaWmNsMTlyZDU2NjYxVzIrSFlzMWlJQVlIdXhMOHduSENpaGQrU2RQKzF1YnIvMnFZR09ZMGhiMGRGdTcyK3ZNWWJEa3VjZHJOeXN4MnFjd2VVVnhTYWJkYlJtVitkc2FPZ1R0OTVlbHVYSDNkTGl4cXZ1ZGtPelpxY3FZcGFuNTUvUHpTYi9VdWpVM1htYWNrYTFOdWh2eTB1VkVhU1ZiUFB5anFxR3JHU1d0WFNsYVJ6UjRkbVhueTBLZmFzazhiYjF4c2IyclhVMk9DdStHU2IwWDZFdytIUTFLbFRkY1laWjZpa3BFVDUrZm5hc1dPSFZxOWVyVFZyMXFpdUxsUmp0MlhZTERWOXVEZVpUTHI0NG9zMWJkcTAxaWZvWm0wRjN4MVoxanpJajdaZGUrRjNaNDdYMGVNM0QrMmJyLy9HVTF1VWxXclZMNjdKVllMTmFIZS9vL2w1dERXR1JsNnZOL3k5eHJwNDBuSlo4NTlOclA5SDI3ZjV1bWpiTmg5RHkyVkw5aVFkMWQvVWljYnRqVjd1NCtHYmhtalc1QXc5UG4rZmxyWW9EOU84S1dvc2lRNkxCbVNGeXFFMFZ2R2F2N0k0SEtwUFB6MU4xNTZkSGQ2KzhRSnZjN0hLbXNXNmtIckhqSDY2WTBZL3ZiV3FSUGUvdENlOC9ORjUrWHBpL3I0Mnh6dCtVSkwrZm1mbzF2OXAvN08yM2ZJMFhuL3IxNHhVbDBWV3M2RmdVQ3FKY25FMXhSVUsycXRhaE9kYkQ5UnE0dUFrblRNeVZWZWVtU1d6U2Zwa2E2WGUvS3hqRnlDNmk4VnM2SkdiaHlqQlp0THd2cEd6VEd2ZGZpM2ZGcnNNVEdjOXQ2UlFnM29sNk9HNWVSMEsyanVqc1p4UFhSdjlCMDVHZi83em43VnY3dzV0M3J4Wjc3Ly92dkx6ODFWZVh0N3FPYm5sYTNKTEpwTkpVNlpNVVhaMmR0VDFpRzcreW1MWkxDYWROK2JrbjlFdVNkYmh3MlVkUGx6ZUhUdGFCZDdCMmpxWmV2ZVNiSFo1dG01VnhSLy9vT1JiYndzM3g2eGI4cDZDMVZWeVhuMTF0NDJ2NXRWWG9vYktrbFQycTErMnVXL0xramYyTTZZcThXdlhoUjgzTHgzVFVkMWRPc2FVbVNsVFpxWTg2OWZMWDFLaTFDTzEzeHNibXRhK09hL0ROZG9idy9PYWVYTWxyMWZXMDBiSU1mVk1TVkwxbkJmQzJ3V3FxaFFvTDQ5WklxajBKM2ZMc051Vi90dEhaTW5ObFNVM1Y1NHRteU9DZHQrK2ZDa1lsSHZkV3JuWHJZMTZqT2FNeE1TSXV1MkJJNU45R2o1ZG9ZYmxuOGcrYWJLU3ptaC9Ra0J6NXZSUU9iSkxMNzIwVS91aDZ6a2NEcDExMWxrOVBRemdwRWJRamhOT1JhMVAyNXMxWWV1VGJsZHlnbG1IS3p3UmRkV2poYnlkdFhSamhaWnVEQVhDalNWZHR1enYzaG5wVmZYK21MWE91OUtQTHg4Z3MwbjZ5enNGNFZ2dUcyOHhmM0wrZnRWN0Fycm5pZ0ZLc0puazhjVlhJN2E1YzBlRmd2WVBOOFd1UVp6ZTJKQ3RwdTJHYkVWVkoyZlEzc2d3REdWbFpTa3JLMHVUSmszU1ZWZGRwYXFxS2kxYXRFZ0xGaXpRM3IyaFdzblJBdmVlMUx4Mis4a3VtT0tUUGN1aGlaTkdLeW5CM1A0T3gwQzB2NEZZZnhlZFdkNDRzejZlWTd6M2s5WWY4QkRTdkNscU5CYVRvYi9kT1VJRHN1emFzcjlXSDdYeEhOcW93Uk9JZUwxc0tkbHBDZGZ2THFueXRubngrRkI1WkRrMGYwRHlCOXArdnZINm00SjFqeThnVHp2MTRxUEp5UXhkV0RoYzRZbm9FZElvMVJsNlBXaThRNkRSMmwzVm1qZzRTWGZPNmkrcjJWQkZyVSsvK3ZlZVZ2c2ZhMzNTYkJvM3FPbFcrajJINi9YUnBnb3QyMXloOVh0clduMlBOb3NSOCtLSUpEMXorMm10bHVVVk5laXkzMnlRMnh2VVQ1L2ZGUzdYMXBYQ0plQ2lsUE01bVZtdFZvMGRPMVpqeDQ3VlJSZGRwSnFhR20zWXNFRWZmL3l4VnE1Y3FkcmEycGl2eWMyZlB5MFdpNjY1NWhwTm5YcnkzK0hUbGViK2RMVVNuVlo5OS91ajFDZjlKRzhLMmhhdlYvN2lJdGxheGVoVEFBQWdBRWxFUVZST1AxMjIwYU9WOHIwN1ZmWDNaMVh4K3llVi9NM2JGS2lyVmYyUzkyUWRPVXEyTWFlM2Y3eWpaQnN4UWtaQ1FzUXkzNTQ5OHUzZkZ5cFJFbVhXckh2TmFzbGtsbjNpeElqbDFpUDF2V1d4S3VPSjN4M1ZlTXk5KzBRMEFlMFdIbzlxRjh5WDQreHpvamI1N0V5TjlvYVBQcFIzeXhiSmFwVTVNN05wdjJZVCtlMW5USlgxdE5iUDg0M2NhOWJJWDlaMkx4akx3SUZLdk83NlZzc2JsaStYditpd1hGZk9qbGh1V0VPdnEvV0wzMVg5c284VXJBOU5NQXRVVk1veVlFQ29HZXlBQWVIdGZYbDVxbjdsWmJsbWZWVzIwOGUyT1paNzc0M2U2QmJIanNsa2tzUGg2T2xoQUNjMWduYWNjRDdZVUs0UE5qUUZESS9lTWxRekpxYnIyY1dGZW4xNVVSdDdkcjk2VDBCajcxb1ZkZDJ1Zy9VeDF4MXIwMGFrNkx3eHFjb3JhdEJyeTR0a01SbjY4cGhValJuZzB0cmQxVnEwcmxRRHN1eTY4cXlzTGoxdnYzUzd4dVVtNm1DNVIrdnpvdGNnTmd3cHhXbVJQeEM5VElEVU5LTTkydXpHazVWaEdMTGI3Y3JLeXRMTk45K3M2NisvWGx1MmJOR3laY3UwWnMwYUZSY1hxNlNrUkg3L3FUVzdFSzFGQzhPUG13c2ZwdVBqWXNTSjZON1pBelZwU0pKS3E3MjY2Mjg3NWZhMkgxb2ZLSFhybWtjM3hWei92OWZtaG1mQWw5VjRkZTFqbTNRY1hLdUwwRGpyZTllaDZIWEwrMmFFWGc5YU5qRC9jRk81dm4xeFgxbk5odndCNmFmUDc0cW9WejkyWUtMdXZqeEhyMzFTcEVYck90NndObDc3Uzl6YWVxQk9IMjRxMXp2clNyWDNjTnNsbjQ3bWpyS0NNbmVyN2R1ejhySEpIUTdrWnoreVVmYkd1dm5IY2NtaDdwYVptYW5NekV6bDV1YnFzc3N1VTJWbHBSWXZYcXlGQ3hlcW9LQkF0YlcxRWFYVldsNTh0TnZ0Y2pyYnI1Mk5Kb2JGSWNOaVZZTFRLYWZ6MUEzYWZmdjJTWUdBckVmcWIxc0dERkRxWFQ5UzViTi9WZVdmL3lURFlwRXBOVlZKeldhSWR3ZmJ1UEd5alJzZnNhejJ6WG55N2Q4bjErVlhTT2JXci9uZW5UdGtXQ3h5WFhaNXpPTjJwTUZyVzlKK2NiOU02ZWx4SFNPVzJvVUxwR0JRenBtekpMOWZnY3BLeVREQ2R4SjBoaWtyUzg2dnpKQjc0NGFZMjloR2oyN3pHTjQ5ZXhTb2FWMW1NK0k4NlJteXA3ZHVjTzNadGxYKzhyTFdKWU9PQ1BwOE1tZGt5akp3b0JwV0xKZnpra3VVY041MFZUNzlKL21pbElxcGZ2NmZNY2ZndlBReUpadzNuZWM4QUtjRWduWWdUbmRjRXJxdC9tamQ4dFFXZmI2bjQ0M3Z1c0xVNGFIYkZYT3pIVnIzWkZPNUFGOGdxTis4bmlkSit0bFZ1YktZdWphY3UvS3NMQm1HTk8vVG9waGhUcXJUSXJNcFZKWW4xalpaUjJxMHQ5Zms3MlJtdFZvMWJ0dzRqUnMzVHRYVjFkcTVjNmQyN3R5cGxTdFhhdjM2OWVIeU1nQ09QYnZWVUtyTHFsU1hKZUsvSVgxQ00vOXV1NmlQYnA3ZVcybUpGcVVsV3ZYb3ZIeDl0cjFLdjd0dG1KNWF1RjlyZDBkK2FMNThhcWF1T3pkYlhuOVFkeiszVTRlN29HeFdiclpEVjB6TlVsVzlYM09XSHRUM1ovYlhWV2RsYWU2S25pMnQwdExwQTBPenZ6ZnZxMUZTZ2xsT20xbVZkVDU1ZkFHTnpVM1VlV05DNFViTHNqdFpLVTBoM0Zzcmk3VXlTalB3U1VPUzVQVUhqMm5RTGtsZmV5ejJ4WStXdlA2dXU2T3NMYVhWM2c0SDdUNS9VSW1PSTdYeFQ3RVo3VzFKU1VuUk5kZGNvOW16WjJ2UG5qM2FzR0dETm0zYXBJMGJOMnIvL3YydGFyb0RSNnRoNVdlUzFTckw0TUhoWmFhTVREblB2MEExcjcycW9OOHYyNFFKTXBJNlhxNnQ1dlZYVmZQNnEzR1BMVkJSRWFvYkhpVms3NmlVSDk0VjF4aWkxVFR2Q3Q2dFc5V3dZcmtNbDB2bEQvOVd3ZXJRNjRyemtwbEt1UEFpU2VwVWpYYmJxTkhTcU5GdEJ1M3REOG9ydzI0Lyt2M2I0Snc1UzVvNVM1TFVzR0o1ZUxscjVrd0ZqalEvclYyNFFQSjRRN1BpR3o4M0JvT3FtZnU2VENtcGNsNThzU1RKMGp1eWFUc0FuTXdJMm9HalpES2FtckJKVW5HVnQxWE44TDdwZHFXNkxEcFE2bFpWaTluWnVka0pQVlpmOHYwTjVSbzNLRkhsTlQ1VjFmazBwSGVDeHVZbWFzN1NROXAxc0Y2WFRNelEyU05UdFBOZ3ZZYjFTV2ovZ0IxZ01SbTZmR3FtL0FHMVdTTTNMZkZJMlpnWTlkbWxwdEl4eFNkNTZaaU9Ta3BLMHNTSkV6Vng0a1RObWpWTGRYVjFXcjU4dWZyMDRVMHQwQk4rZlBrQVhYOXVyNWpyeHc1c0toM2k4UVZWVk9uUnJSZjIwZmhCaWZySEQwYnF4WThPNlE5djc1ZmJHOVRvQVM3ZGYyMm9MOGx2WDgvVEYzdmp2ekNibm1qUkg3NDlYRGFMb1NmZk9xRFhsaGZwMGlsWnV2dXlBZHA2b0U2Yjk3VmRLLzVZT250a3FISGJtbDNWR3RuZkZhNzUzbHhlVVlQV05iczQ4ZFVwR1hydzYwMEIxSmRHcDhwaE5hbkIyeFFLOXo5U2ttWmY4ZkhWUk5oa2hGN2pXczdRNzI0ekgxemZxZTJkamlNejJxUDBaem5WbWMxbURSczJUTU9HRGRQTW1UTlZYbDZ1Z29JQ0xWdTJUSXNXTFZKNWVmdGxuNEJZQWlVbGNuL3h1ZXhUenBEUldQN0I3MWZ0Mnd2VnNPd2ptVkpUWlVwUGwvdXp6eVIvUUluWFhOdWgwTnMrNVF4Wmh3eUpXT2JOeSt0ME0xVGZnZjB5OStuZHFYMGFOYXhZcnRvMzVoN1Z2aTBsbkgrK25MTzZ0aDY0WWJmSmxKb3FjKzgrTW1kbnk1eVZKWE5HaGl6OWM4TGJkTFpHZTFzcW5uaE0vc0xZblg5ZFY4NVcwTzJXWVlzZHRQdnk4MVQ1aDZmYVBFKzBPd2dhWjZCSFl4a1VlbjF0V1BhUkFpVWxTcjc5ZTdJT0d4WmU3MTZ6UnNHYUdybHV1RkhXNGJITDNnREF5WXFnSFNlbDlDUkxtMEZ0UEJKc0p0MXlmbTlkZjI1dlBUNC9QN3g4N29vaVBiT29JR0xiaDI0WXJNdlB5TlR2M3Rxdjk5YVhSYXg3NGE1Um1qQTRVVDFoUTE2TnZ2RlVxTTY4eVpEbS8zeXNDc3M4K3NzN29mSGZORDMwQnZteE4vUDE3UGRHeEZVanR0RVZaMmFwMTVFWmhrc2VuTkJxKzhheU9vMk5VRXRqMUdkM1dFMUtkSmpWNEEyb3VwNFArQzBsSmlZcU1URlJWMTU1WlU4UEJUaGw1UlUxcUx6V3A1SXFyMHFxUENxcDhxcTR5cXRwSTFJMG9wOVRUNzI5WCsrdkwxZFp0VGZjeEhQdHJtcFYxZm4wM1JuOWROTjV2WFh1cUZROVBuK2Y3cjgyVnphTG9WYytMdElibjhZLzIzeFVqbE9QZjNPWSttZlk5ZTduWlhwNTJXRkowb092N3RWZjdqaE5mLzNlQ0gzbjZXM3RObVk5RmlZT1RsS3ZWSnVxNnZ4YXU2dTYxY1hwbWdhLzF1MnUxdi9OeXc4M1VyM3B2TjY2NTRvQk1nenByVlVsbWpBb1NRT3k3THJ0b2o1NityOU5yOUg5TWtMQnhPNUQ5UnFWNDlJcjk3UjllMzVYbVBIckwxUlkxdm9DOFpEZUNUcGplTExPSEo2c1NVT1R0WFJqdVI1NmRXKzNqeWNleVFtaDEycG10TGN0SVNGQkNRa0o2dHUzcjZaTW1hSTc3cmhESzFldTFJSUZDMlR2cGxtb09MbFZ2L3B2eVRESk9mMThTWkozK3piVnZyMVEvc0pDV1ljTlU5SU5OOGxJU0ZEMUM4L0x2WHFWQWxWVlN2N0dOeVZiMjZWMnJMbURXcGNRTVprNkZiUjd0MjlYb0tJaVZKLzlLTmpIanBPbFg5dDNDVGQ4OXBuY3ExY3A1UWMvYkhNN1UwcnFVWTJoTFpiQlE1UjJmOXROWGp0VG83MDl6Z3N2VnFBMjlzVjE2K0FoY3E5WkxjUHBpcm1OT1NNemFuMTJLWGFOZGtteTVBeUlza2N6d2FEOHhjV1N6YWFhMTErVlk4b1pzaytlSW45SnNXcm12aWI3cEVtRTdBQk9XUVR0T0dta0oxcDA3ZG5aK3NxRURFMGFtcVNKZDY5U08zM2FPc3htTWNJekVFY1BjR24wZ05BYkd2OUo4UGx5NXVRTTVXWTdkTWRmdHF2ZUUvcUc3dnZYTGwxM2JxL3dETUY0YThSYXpJYStmWEdvWVpEYkc5VHVRMDFsVFliMWRjcHFicHJoa2RIWUNEVkdVNzd3YlBaVHVHd01nT1BidjVjZDFyK1BCTmpOOVVxeGFVUS9wL1ljYWxCZVVlUk02a0JRK3V1N2hmcDRTNlVldm1tSUJ2Vnk2RS9mR1M0cE5KdjcwWG41clk3WEdXa3VpNzUxY1Y5ZC82VmVzcGdNdmIyNlZBKzgzTlFjZE5YT0t2MzZsYjE2NkliQm1uUDNLUDNyZzBONmRuRkIrSFdoSjF6L3BkQmRBZjlkV3lwZklLaXFlci9HM3JWS0ZwTWh3MUE0WEpkQ3ZUMGUvUG9nVFQ4OVZFcm16NHNLOUpkM0NuVDJ5QlE5Yy90cHV1M0N2dnBzZTFXNExNK1EzcUU2c2RzUEhOc3lXeGFUb1pFNVRrMFluS1NKZzVNMGZuQ1MwaE9iM280SGd0TEJvNml4M2hGRCt5UzBlZEc4bzZ4bVF6bVpvWm0wSjN0VDhxN21kRG8xZmZwMFRaOGVmYVlvMEZMUTdWYjkrKzlKa2dLMXRYSk1QVXZCQ1JNbHcxRFZuNStXZC9jdUdRbE91V1pmSmNlMHM4T3pwcE8rZWF1cVgzcFJuaTgrVitYZi9xcVU3OTBaTWFPNmtTa3pNMmJ6VWZ1a3liSlBtdHloY1FZcUtsVHoyaXN5WEM0NXpqenJxTDVYSXpGUmxzU21TVWplclZ0VSs5Ly95dlhWcjhwNld1aHVKdE8yYlpJa3k4QmNLUmhVOVQrZWs1R1lxSVR6cHN2Y0svYWRaTjBwV0Zzcnd4NWZ6NENHNVorb1lma25FY3VhQi9heEJHcHFaTWxvVm44OUVKQm4vUmVoTDhzclpCbVlHN01HZTNzMTJ0dGtHSEpkZGJXY3M3NHE5K3JWYWxqeGllcmVXU1NaVERLbHBpcng2bXM3ZjB3QU9Fa1F0T09FbHB2dFVOLzAwQnViNzgvc0gxN3U5UWRsTmhuNjU1MGo0NW8xUGlySHBldk96ZGFGNDlMRDlVanJQUUV0V0ZXaTF6NDVySjBINnpXaS80bmIxTVZxTm5UbnpCd3RYRjBTVWVOMVg3RmJqODdiSjVzbDlJWTgzaHF4TjUzWFczM1NRcituL1NVTkVjZDY1NWZqdzc5RHFXbEcrOHhKR1pvNXFYWGpua1k1bWZad1lQRHFKMFhoMnZJQWNDTGJzcjlXMXo2MlVYZGZOa0JmUHhJMHV4eG05YyswdHdybnBWQ0E3dllGMU9BSmFGUk82UFdvK1N6amtmMmR1bnBhdHI0NkpWTUpOcE5xM1g3OWR2NSt6VjNSdW5uNFc2dEtaREVidXUrcVhOMTJVUjlkZWthbTNsNVRvaVZmbEduVHZscmRlbUVmL2VqU25GYjdkY1NhSjZhMHY5RVIvMWh5VUl1L0tOUEY0OVBsRDBndkx6c1VzZDdYNGlwNm56U2I1dHc5V3RrcFZsWFcrZlRnSzNuaHU4aVdiNjNVcTU4VTZXdm5aT3ZQdDUrbXAvOTdRUFdlZ0U0ZjZKTFBIOVNXL2JVeURPbkdKN2NjMWZmVkdjV1ZYczJhbktHSGJoZ2NzVHkvdUVFcmQxUnA1ZllxcmRwWnBjbzZYL2oxOTJqdUtKT2srMS9hbzdkV2xVUXNxL2NFSWhxUlR4aVVKTHUxYzcxWTBsd1czWFZwanV4V1ErVzFQaDBxSjJnSHVrdXdvVUZWei81VnZnUDdaUjA1VWpWejV5cjVtOThNaGN4ZXI0SUJ2eExPdjBBSjA4K1gwYkxKcE1ta3BCdHZVbzNkTHV2Z3dWRkQ5cTdpMjcxYjFTL09VYUMrVHNtM2ZhdjFXRHA3dkQxN1ZMZjRYWGwzN3BCMTZMQ21FamxTYVBaUDQvY1NDTWc2ZEtqcWxuNGc5NnFWc280YUplZjVGOG95S0ZSdXJTdEwwU1IrL1lhbWl3NCtuM3o3OHVYWnZsM2U3ZHZrTzNCQWFiKzRQNjdqVzBlT2ttUGFORWxTOVQrZWEzK0hRRUNlRFJzVUtDK1g1WXlwa2tJWFphcGZlRjdlN2R0a3lSMmttdGRlVVdJd0lOdUVpWEdOclMxQmowY0tCaFQwQnlURGtMbFBIL2tMQ2xUKzZDTnlURHRIampQUGpQdnZBUUJPTkFUdE9PR2NQdENsbVpNeTlhWFJxY3JKYkxydDF1ME5hc1cyU3IyM3ZsUWZicXlJbU9sMnRDNGVuNjRycG1aSkNwVUN5TTEyYVBPKzJwTW0xTDNwdk40eW02UkgzbWlhS1ptZVpGR3EwNm85aCt1NzVCejkwdTI2dlJQTlltMVdrMHBqekdadnlXazNLOEZtVXIySEVqSUFUaDV1YjFDUHZKR3ZsVHVxOU5BTmd6V3l2MU92L25TTUhuc3p2MVd6MHUvTjdLK3ZuWk1kc1d6ei9sQ1krbiszRE5FbEUwTVhMSDJCb09hdkxOWWYzajZna3FyWXo3RnZmRnFzamZtMStyOWJobWhJN3dUZGVrRWZYWGRPTDkzMHU4MEtCby9OblZ6K1FGRFhucDBkYXA2OW9panFCWWJtRHBaNzlOSkhoM1RHc0dROThQSWVGYmY0L240N04wK0pEck5tVGM3UVBWYzAzUTcvNGFhS2NOMzJEZm5IcGluNTZsMVZLaXp6YVBYT1VLaStha2RWbTgxdFk5MVIxcDd5S0RYZUMwcmQrczdUMjhLUFcxN29qdWFWZTBaclZFNzBzZ1RQdjMrdzArTUMwSEYxYnkrUWIxKytrbTYrUmJiUlkxVDE5NytwOG85L2tDVjNrS3dEQjhvMmVvd01zMW51ZFd0RFpVa01rd3hEQ3ZyOWt0K3ZvTjh2YzNxNi9DVWw4bXphSk51WU1lRmpsLy9tb2JqSEY2aXFWTjEvM3BaN3pScVpNaktVY3V1ZDdaY2NhWU4zNTA3VkxmcVBmUG41c3VRT1V2SWQzNWQxNk5EdytxRGJMZCtlUFUzQnJka3N4NWZQaytQc3M5WHc2YWVxVy9LZUt2LzBCMWtHRFZiU2RkZkxuSlV0KzhSSjhYNmJvVk5sWk1pemFhTWFQbDRtYjE2ZTVQTkpOcHRzUTRmSmRlWHNjTTMxampaRGJWbEQzcHllSG1xTzJnYmYzajJxL05NZkk1WVpDVTdacDU0cFNhcGYvSzY4MjdmSmRlVnNPYWFkcmVvWDU2ajZ4VGt5TFZvazY1QWhNaVVueTdCYUpZdEZoc1VpNjVDaHNnNGNwUHFsSDRUL1h1VDNLK2p6eWRLL3YreGpUcGRNSnZsTFM2VmdVSWJWcW1CTmpUeGJOc3RYVUNEdm5qM3lIeXlVckZiWngwOVF3cTIzeWR5N3QveUhENm5oNDJXcVcveU82dDU5Ui9iSmsrUzg2Q3N5cFhaOU9SOEFPQjRSdE9PRWM4WFVMRjF6ZGloVWFQQ0dadkdsdWl4NjlNMTh2YjQ4Y29iZWJYL2FHbTZBM3A3c0ZKdisrMERrTFhwN0R0ZHI0ZW9TdmZEQklTVTd6ZnJIRDBiRzNEOHIyZGJxdzJpcUsvUlBySCttdmRXNm5tcUUycWhmdWwzZm5kRlArMHNhOUx2YmhxbFBtbDI5VW0yaDJYTjVOYnJ4ZDEwenUrL3lxYUZabE85dktOY0ZZOVBhM1g3TzBrT2FzL1JRdTl0SjBqMVhETkROMDN2M2FHa0RBT2d1U3plVzYydVBidExqM3h5cTBRTmMrc1UxZzdReHYxYmJDNXJLbmV4dGRsRzAxdTNYMGcwVmV2WGowR3ZodzNQek5iaFhnbGJ0ck5MTEh4Mk9LT25WbGgyRmRacjl5RVpkTkQ1ZHQxN1FSMzk5dDFBN0Q5WnI1OEY2L2ZNWWhhc3V1MWxwaVJZOStkYitEbTMvei9jUHhoeGJNQ2o5Yk01dWZiNm5XamVlMTF2OU0rMWF2N2RHajd4eDdDK2FGNVo1Tk9QWFgzUjQrMWgzbEIwckcvSnFOYnlmVTVZamI2WUNRYW13ekszWGx4ZnBoUThJMm9IdVpKOHlWYWJNTE5uR2hqNmZKSC9udTNLdlhpWDN1blZ5ci85Q3dibzZCUU1CcWZHL1lPeEpSa20zZkRQaXNmT1NtWjJlYVJ6MGVGUzNjRUg0c1dHeksxQmVvWVFMTGxUQ0JSZktpTFB2Z0dFMlM0R2drci8xSFZsSEh2bk01ZkdvOU9mM1JYeHZqaTk5T1hKSGkxV09jNzhreDlRelZiL3NJM20yYjVNcExVMm16TXlJSnAzeGNxOVpyVUJEZ3hLK2ZKNnN3MCtUZGRDZ1ZvMW1XelpEamNYY3Era0NlZXBQZmhxeEx1UHhKNlB1WStuWFg4NlpzOEsvYXlNeFVmYlR4OHBJU3BJazJjODhTektaNURqblhFbFMwczIzeUxONWt0eHIxOGkzTDErQjJqcko1MVBRN3d0ZEtBaUVacUhMTUVJWGFrd21HVWUrdHAxMm1ocFdybFR0L0hsTjV4OHdVSWJOcHZvUDNwZmhkTW82WkloY2w4d01YUXhwMWdQQTNLdTNYRmRmSytjbHMxVC95Y2Z5Yk5rY2VWY0NBSnprQ05weHd0bDlxRjRmYnFyUU8rdEt0WFJqdVg1OS9XRE5tSmdlZFZ0ZkoyYTFlMzJ0dDEyd3FrUUxqdHg2UFhsb1VwdjdYejB0UzFkUHk0cTY3dTdManU1VysrNWlNUnQ2NU9ZaFNyQ1pOTHh2NUp2c1dyZGZ5N2ZGTGdQVFdjOHRLZFNnWGdsNmVHNWVoNEwyenJCWlFoY3I2dHpNYUFkd2Npb29jK3VtMzIvUlQ2OFlvTUp5ZDBUSUxrbi8vdml3NXE0b1VpRFF1cVJLUmExUDF6eTY2YWpPR3d4S2l6OHYwK0xQeTlyZnVCdlV1djI2Nis4N3UvU1lyeTB2MG12TFc1Zk1PZG5WZXdMaGh1UE5kU1R3LyszY1BQMTJicDRNUXpLYkRBV0R3Wk9pUHcxd0lyQU1IQ2pMd0lGTkN3eEQ5ak9teW42a1ZFaFV6Y1AyNWwrM2FNUnBuemhKcHZUb241OWlIcnEyTmpKb2R6aVUvTDN2ZCtvWUxVUGw1aXlEQnl2bFIzZEhMclRabEhqOTF4VjBoeTRVbXpNell6Zlp0Tm1VY09GRlNyandvazZOcWFQc2s2ZklQcm50TW1ndG02RjJLWnROQ1JkY0dITzFPU3RMemxsZmpkeGw5QmpaUm8rSnNVZmJUS2xwb2ZNWmhxeERoc3FTRS9vOG0zcmZ6enUwditGeXlmbVZHWEorWmNaUm5SOEFUbFFFN1RqaHZMenNzRjZPMG1TdXB6WGVBdDdjQmVQU05iSy9VNHZXbFdyM3djaFNMRmROeXc3WExUL1crcVRaTkc1UVUrMzZQWWZyOWRHbUNpM2JYS0gxZTJ0YWhUVkhVeU0ycjZoQmwvMW1nOXplb0g3Ni9DNGwyTHArQm4vak1ldmRmT29IY1B6NzJaemQrdG1jM1ozZXorY1A2dUUzb2pkRERRWWxUNVFMeFRpeGVYekJxT0Y0VHdrR096ZDVBVUFQYVY2TFBVcGRkdWNsTStXOFpPYlJIZHJsaXRrNHRUdDF0Q0ZyVDB2NzN3ZDZlZ2hkeXR5clYyZ0dQUUNnVXdqYWdTNnlkbmUxbmwxY0dMRXNKOHVoa2YyZFd2SkZlYmd4VzZPelI2YjJXTkMrdjhTdHJRZnE5T0dtY3IyenJsUjdEN2RkL3paV2pkaUIyUTY1N0dibEZ6ZW90aUZ5Vm5sSFN4UTB0L0t4eVIwTzVHYy9zbEYyNjVFWjdkUm9Cd0FBQUFBQVFBOGlhQWRPVVY5N3JPUGxCR0xWaUgzMit5TjA1dkJrUGZKR3ZwWnZqYi9jVEdtMXQ4TkJ1ODhmVktJalZCZXhqaG50QUFBQUFBQUE2RUVFN1FCYU1SbFNackpWRmJXK1kzcmVtUSt1NzlUMlRzZVJHZTBOekdnSEFBQUFBQUJBenlGb0I0NFRvM0pjZXVXZTBkMStuaG0vL2tLRlpaNVd5NGYwVHRBWnc1TjE1dkJrVFJxYXJLVWJ5L1hRcTN1N2ZUenhTRTRJUFlVeG94MEFBQUFBQUFBOWlhQWRPQVZaVElaRzVqZzFZWENTSmc1TzB2akJTVXBQYkhvNkNBU2xnMGRSWTcwamh2WkphTE94YWtkWnpZWnlNaDJTcEtLcTFoY09BQUFBQUFBQWdHT0ZvQjBubkFTYlNRazJrNnJxL1hMYVRUcXRuMU9TMU9CcG10Vjh4eVg5ZE1lTWZuR2ZLOFZwa2M4ZlZMM0hyN0VERXlWSk5USEtsTnd4SS9ZNW43aDFhTHZuMm51NFhqYyt1ZVhvQjl0QnhaVmV6WnFjb1lkdUdCeXhQTCs0UVN0M1ZHbmw5aXF0MmxtbHlqcWZiQlpEa21TekdHMkc0OC9jZmxyVTVmZS90RWR2clNxSldGYnZDV2g5WGszNDhZUkJTYkpialU1OUQya3VpKzY2TkVkMnE2SHlXcDhPbFJPMEF3QUFBQUFBb09jUXRPT0VNeXJIcFgvK2NHU3I1ZHNLYXJ2OFhMZWMzMXZmdXFodnhMTE4rMnFpYm51ZzFLMERwUjJmQlQ0Nng2V2tCSFA0Y2Iwbm9BMzUwWS9kMVZidnFsSmhtVWVyZDRaQzlWVTdxblM0TW5aWUhReEtXdzkwL3VkYkhxWEdlMEdwVzk5NWVsdjQ4VHUvSEsrKzZiWTJqL1BLUGFNMUtzY1ZkZDN6N3gvczlMZ0FBQUFBQUFDQXJrVFFqaFBPM3FMNmlNYzFEWDc5L2IxQzdTeHNXdjdNb2dJOXM2aWdVOGZ0bFdMVGV3K09qenpYNFlidzF3M2VnSlp0cnRDY0R3OUYzWC9oNnBKT25mT0Z1MFpwd3VERVRvMnhxeFNXZVRUajExOTBlSHV2UDZqckh0L2NqU05xMjRhOFdnM3Y1NVRGRkpyNUhnaEtoV1Z1dmI2OFNDOThRTkFPQUFBQUFBQ0Fua1hRamhOT1diVlA1OXkzVm9aaEtCQU1xcm8rZWltWHJ2RDJtaEl0L3FKVWt1VHhCUlVNdHQ3bWFFSjlTYnJscWU0dkUzTThxZmNFTlBhdVZhMldkeVR3LyszY1BQMTJicDRNUXpLYkRBV0RRZm5wZndvQUFBQUFBSURqQkVFN1RraFYzUkN1SDY3MHRBcUNnMEhKN1kyU3JwOGlQTDVnMUhDOHB3U0RrczkvNnY0K0FBQUFBQUFBY0h3eTlmUUFBQUFBQUFBQUFBQTRrUkcwQXdBQUFBQUFBQUFRQjRKMkFBQUFBQUFBQUFEaVFOQU9BQUFBQUFBQUFFQWNDTm9CQUFBQUFBQUFBSWdEUVRzQUFBQUFBQUFBQUhFZ2FBY0FBQUFBQUFBQUlBNEU3UUFBQUFBQUFBQUF4SUdnSFFBQUFBQUFBQUNBT0JDMEF3QUFBQUFBQUFBUUI0SjJBQUFBQUFBQUFBRGlRTkFPQUFBQUFBQUFBRUFjQ05vQkFBQUFBQUFBQUlnRFFUc0FBQUFBQUFBQUFIRWdhQWNBQUFBQUFBQUFJQTRFN1FBQUFBQUFBQUFBeElHZ0hRQUFBQUFBQUFDQU9CQzBBd0FBQUFBQUFBQVFCNEoyQUFBQUFBQUFBQURpUU5BT0FBQUFBQUFBQUVBY0NOb0JBQUFBQUFBQUFJZ0RRVHNBQUFBQUFBQUFBSEVnYUFjQUFBQUFBQUFBSUE0RTdRQUFBQUFBQUFBQXhJR2dIUUFBQUFBQUFBQ0FPQkMwQXdBQUFBQUFBQUFRQjRKMkFBQUFBQUFBQUFEaVFOQU9BQUFBQUFBQUFFQWNDTm9CQUFBQUFBQUFBSWdEUVRzQUFBQUFBQUFBQUhFZ2FBY0FBQUFBQUFBQUlBNEU3UUFBQUFBQUFBQUF4SUdnSFFBQUFBQUFBQUNBT0JDMEF3QUFBQUFBQUFBUUI0SjJBQUFBQUFBQUFBRGlRTkFPQUFBQUFBQUFBRUFjQ05vQkFBQUFBQUFBQUlnRFFUc0FBQUFBQUFBQUFIR3c5UFFBY095OC9PUFJQVDBFZExIOG9nYWx1aXhLY2ZGUCtXU1I1RFQzOUJDQWJ2UGcxd2YxOUJBQTRLaTVITHhHQXdBQUlEYlN1VlBJbUlHdW5oNEN1dGpYbjl5c095N3BwenRtOU92cG9RQkF1NjZZbXRYVFF3QUFBQUFBb0Z0UU9nWUFBQUFBQUFBQWdEZ1F0QU1BQUFBQUFBQUFFQWVDZGdBQUFBQUFBQUFBNGtEUURnQUFBQUFBQUFCQUhBamFBUUFBQUFBQUFBQ0lBMEU3QUFBQUFBQUFBQUJ4SUdnSEFBQUFBQUFBQUNBT0JPMEFBQUFBQUFBQUFNU0JvQjBBQUFBQUFBQUFnRGdRdEFNQUFBQUFBQUFBRUFlQ2RnQUFBQUFBQUFBQTRrRFFEZ0FBQUFBQUFBQkFIQWphQVFBQUFBQUFBQUNJQTBFN0FBQUFBQUFBQUFCeElHZ0hBQUFBQUFBQUFDQU9CTzBBQUFBQUFBQUFBTVNCb0IwQUFBQUFBQUFBZ0RnUXRBTUFBQUFBQUFBQUVBZUNkZ0FBQUFBQUFBQUE0a0RRRGdBQUFBQUFBQUJBSEFqYUFRQUFBQUFBQUFDSUEwRTdBQUFBQUFBQUFBQnhJR2dIQUFBQUFBQUFBQ0FPQk8wQUFBQUFBQUFBQU1TQm9CMEFBQUFBQUFBQWdEZ1F0QU1BQUFBQUFBQUFFQWVDZGdBQUFBQUFBQUFBNGtEUURnQUFBQUFBQUFCQUhBamFBUUFBQUFBQUFBQ0lBMEU3QUFBQUFBQUFBQUJ4SUdnSEFBQUFBQUFBQUNBT0JPMEFBQUFBQUFBQUFNU0JvQjBBQUFBQUFBQUFnRGdRdEFNQUFBQUFBQUFBRUFlQ2RnQUFBQUFBQUFBQTRrRFFEZ0FBQUFBQUFBQkFIQWphQVFBQUFBQUFBQUNJQTBFN0FBQUFBQUFBQUFCeElHZ0hBQUFBQUFBQUFDQU9CTzBBQUFBQUFBQUFBTVNCb0IwQUFBQUFBQUFBZ0RnUXRBTUFBQUFBQUFBQUVBZUNkZ0FBQUFBQUFBQUE0a0RRRGdBQUFBQUFBQUJBSEFqYUFRQUFBQUFBQUFDSUEwRTdBQUFBQUFBQUFBQnhJR2dIQUFBQUFBQUFBQ0FPQk8wQUFBQUFBQUFBQU1TQm9CMEFBQUFBQUFBQWdEZ1F0QU1BQUFBQUFBQUFFQWVDZGdBQUFBQUFBQUFBNGtEUURnQUFBQUFBQUFCQUhBamFBUUFBQUFBQUFBQ0lBMEU3QUFBQUFBQUFBQUJ4SUdnSEFBQUFBQUFBQUNBT0JPMEFBQUFBQUFBQUFNU0JvQjBBQUFBQUFBQUFnRGdRdEFNQUFBQUFBQUFBRUFlQ2RnQUFBQUFBQUFBQTRrRFFEZ0FBQUFBQUFBQkFIQWphQVFBQUFBQUFBQUNJQTBFN0FBQUFBQUFBQUFCeElHZ0hBQUFBQUFBQUFDQU9CTzBBQUFBQUFBQUFBTVNCb0IwQUFBQUFBQUFBZ0RnUXRBTUFBQUFBQUFBQUVBZUNkZ0FBQUFBQUFBQUE0a0RRRGdBQUFBQUFBQUJBSEFqYUFRQUFBQUFBQUFDSUEwRTdBQUFBQUFBQUFBQnhJR2dIQUFBQUFBQUFBQ0FPQk8wQUFBQUFBQUFBQU1TQm9CMEFBQUFBQUFBQWdEZ1F0QU1BQUFBQUFBQUFFQWVDZGdBQUFBQUFBQUFBNGtEUURnQUFBQUFBQUFCQUhBamFBUUFBQUFBQUFBQ0lBMEU3QUFBQUFBQUFBQUJ4SUdnSEFBQUFBQUFBQUNBT0JPMEFBQUFBQUFBQUFNU0JvQjBBQUFBQUFBQUFnRGdRdEFNQUFHcnhPQ2NBQUNBQVNVUkJWQUFBQUFBQUVBZUNkZ0FBQUFBQUFBQUE0a0RRRGdBQUFBQUFBQUJBSEFqYUFRQUFBQUFBQUFDSUEwRTdBQUFBQUFBQUFBQnhJR2dIQUFBQUFBQUFBQ0FPQk8wQUFBQUFBQUFBQU1TQm9CMEFBQUFBQUFBQWdEZ1F0QU1BQUFBQUFBQUFFQWVDZGdBQUFBQUFBQUFBNGtEUURnQUFBQUFBQUFCQUhBamFBUUFBQUFBQUFBQ0lBMEU3QUFBQUFBQUFBQUJ4SUdnSEFBQUFBQUFBQUNBT0JPMEFBQUFBQUFBQUFNU0JvQjA0VHJ5ODdMQnVmMmE3ZlA1Z3Q1MWpmMG1EZnZ5UFhTcXU4bmJiT1FBQUFBQUFBSUJURFVFN2NCencrb01xcS9acTdlNXF6ZnVzdUZ2QzlvcGFuKzUvYVk4T2xEU296dTN2OHVNREFBQUFBQUFBcHlxQ2R1QTRZRFViK3RiRmZYWHVxRlQ5L2IxQzdUNWMzNlhIOS9nQ2VueitQbTB2ck5mdGwvUlRUb2E5UzQ4UEFBQUFBQUFBbk1vSTJvSGpoTU5xMGkrdUdTaWJ4YVQvZlhHUHZMNUFseDE3d2FvU0xWbGZyZ3ZIcHVuODA5TmtNaGxkZG13QUFBQUFBQURnVkVmUURoeEgwaE90K3ZaRmZWUlE2dFpqOC9lcHdSTi8yTDZ2dUVFdkx6dXNNUU5jK3Q5ckIzWEJLQUVBQUFBQUFBQTBSOUFPSEVjTVE3cDRRcnF1bUpxcCtaK1Y2TjB2eWhRSUhIMjk5Z1p2UUErK2xxZEFVTHAzOWdEWnJjeGtCd0FBQUFBQUFMb2FRVHR3bkVtd21YWHY3SUhLelhib1gwc1BxYURNYzFUSDhRZUMrc3VpQW4yeHAxbzNuOWRidy9zNnUzaWtBQUFBQUFBQUFDU0NkdUM0OWY5dUhDS3ZONkRIMzl5bldyZS9VL3NHZzlLUzlXVjY0N05pWFRJeFExK1prTjVOb3dRQUFBQUFBQUJBMEE0Y3A0YjBkdWk2TC9YUzZsMVZldnEvQlozYXQ2TFdwNysvZDFCOVVtMjYrN0ljdVJ6bWJob2xBQUFBQUFBQUFFdFBEd0JBZEdhVG9hdW1aV3ZsamlxOStWbXh6aGlXcFBQR3BMVzduejhRMUtOdjVxdW93cU9uYno5TjZVbldZekJhQUFBQUFNREpZT3hkcTNwNkNBQk9VR3VmbkNLcitkVHREOGlNZHVBNFpyY1krdVYxZzVTVFlkZHpTdzZxb05UZDV2YitRRkF2Zm5oWWl6OHYwMjBYOWRWcC9hakxEZ0FBQUFBQUFIUTNnbmJnT0plZWFORUQxdzFTWWFsYlQ3MTlvTTF0VjJ5cjFQTWZITlRrb2NtNlltcm1LWDBWRVFBQUFBQUFBRGhXQ05xQkU4RG9ISmV1TzdlWGxueFJwbGMrUHF4Z3NQVTJWWFUrL1d2cFlRVUNRVDF4NjFBbE82a01CUUFBQUFBQUFCd0xCTzNBQ2NBd3BObG5aZW1jVVNuNjAzOEt0SHBYVlVUWTd2VUg5ZXppUXUwK1ZLZUhiaGlzUkpxZkFnQUFBQUFBQU1jTVFUdHdnc2hJc3VyblZ3K1V5L0gvMmJ2UHdDaktyWUhqL3kwcHU4bW1iSHBDQ2lIMFhnVnBJaUJOeFlxZ1lrSHNCU3UycTZMWUMxZXVlbFZVTEhBUkJmVkZwQWdpQ0tMMDNrc1NTQS9wZmJQdC9iQmt3NUxkWk5NSTRQbDlrY3c4TS9QTUpwczFaODV6anBJdlZxZVRWMnkwNy90NTh5a1diY3pteGt0REdkRGV2d1ZuS1lRUVFnZ2hoQkJDQ0NIRVA0OEUyb1c0Z0lRSGVqSHpsbmoyblN6bHk5OHpzQUs3azByNGVHVTZDUkZhYmhvY2lvZGE2cklMSVlRUVFnZ2hoQkJDQ0hFdVNhQmRpQXRNejlZNmJyZzBsQi8remdaZzg5RWlsRXA0OGFZNDlMNGVMVHc3SVlRUVFnZ2hoQkJDQ0NIK2VTVFFMc1FGeGtPdFlOS1FNTnFFYXdId1ZDbDQ3T29ZMmtkcFczaG1RZ2doaEJCQ0NDR0VFRUw4TTZsYmVnS2llWFdidHFXbHB5Q2FrUUlvcjdUdzlOZkhlUHJybHA2TmFHcFRSMGJ5eUpXdFdub2FRZ2doaEJCQ0NIRkJpZ2owNVBYSmJYaDVZUkxKMlJYbjVKb2IzK3lOVHFPaTUyTmJNRnRxSCt1blVYSFBxQ2hpUXJ4NTVMTWo1MlIrelNFc3dKTTdMbytnZFpnM0QzeHlHSXUxY2VlYmVVczg0L3NGOCt5ODR5emJsbHZuK0U3UlBpeDhzak1IVWtxWitPNyt4bDFjaUVhUVFMc1FRZ2doaEJCQ0NDR0VPQ2Yyek83WGJPZSs1S2x0bEZkV1I3ZW5qb3lrZHhzZG56N1FnVnRuN2VkVWtkRytiL003ZmRCNE5yelF3LzJmSEdiandjSkd6ZGRnc2pDOGV5QlJlaTlHOTlLemNrZWUyOGMyOWV0WVhHNW00RFBiRzNSc1dJQW5OdzBPUmExVU1IVmtKSE5XcFRmcDNBQzBYa29lR3RlSzRuSXpINjlJYy9zNGxSSSt1YjhEdjJ6TFljbm1uQ2FmVjNNNGwrOFIwYlFrMEM2RUVFSUlJWVFRUWdnaHpxa0tvd1ZySXpPZkFSUUs4UFp3SGpCLzU2ZVRkSTd4cFZPMGx2L2UxNTdiM2ovZ0VHUzBXdUZnYW1tOXJoY1Y1SVcvdG1uQ2FRYWpsVGNYbitDRGU5b3haVVJrdlFMdFZTeFdHdlU2S2hTZ1ZEVDhlSUE5eVNWOHNUcWRlMGRGY2Qvb0tOYnZMK0JRV2xualRucVdWa0hlVEJvY2poVXJhL2ZrdTMzK0NRUER1S1NkSDczYTZOaVpXTXpKVTRZbW5WZHpPaGZ2RWRHMEpOQXVoQkJDQ0NHRUVFSUlJYzZwcVI4Y1lzK0pra2FmSnlGQ3c0L1BkSFc2cjhKb1lkcG5SL2h1ZWhmYVIybDUrNDRFSHZuc2lEMTRhVFJiNjExcTVJM0piUmpYSjZoZXg5eCtlVGhQakkrcGRVeUhLSzNMVE9iRGFXWGMrUFkrcC9zZS9MUnhtZlVqdSt0NWIwcENnNCt2OHVtdjZWeldKWkNVSEFPS1JnYnVuVG1TWHNiM2YyWXhhVWdZTTIrSlo5SzcrekhWVWFQR1Q2UGlnYkZSQU16OUxiM09JTHRTQWZNZjcweVhHQjhHUHJPZDRuSnprODIvU3ZmV3ZuejVTRWZVU2dYRC9yV1QzR0tqeTdIbjRqMGltcFlFMm9VUVFnZ2hoQkJDQ0NIRVJTbXJzSkxuNWgzbjQvdmFNN1J6QUZmMDBQUHJ6dG96eCtjLzNvbHVzYjZNZkhFWFdZV1ZqWjlEUVNVN0V4c2VNRDE1NnR6VWx6OVQreWd0aTZaM2FkQnhJN29IdWoxKzlNdTdTTTl6N3pYK1lGa3FvM29HMFQ1S3kxMGpJL24wMTlwTHlEdzJQZ1ovclpvVHB5cVk4MnZkNVd5ZXZEYUdMakUrYnMybElmdzBLdDYrUFFGMVk1Y1FpUE9XQk5xRkVFSUlJWVFRUWdnaHhFWHJyME9GekZtVlJtbUZwYzRnZTMzMWIrZkhuQWM3MU5pKzg5L1YyZW1YUExYTlhoWm1YTzhncmhzUXlrTnpEcnVzbGYzQ2hEaXN3TWNyMG1yTmVHNU9Gb3UxeHZ5cVNwQllyYmJWQXU2cXFvVnZNRnF4bkZVTHhXS3RibjU2dGpjbXQrR055VzNzWDEveTFEYisvZk5KWnQ0U3o3MmpJdmw5VHg1SE04cWRYck4vT3ordUh4Q0MxUW96dmszQ2FIYWQvYTVTd3BQWHhITEwwREMzNzZraFpreUtKeUxRczFtdklWcVdCTnFGRUVJSUlZUVFRZ2doeEVYdG8rV3VzNStuaklqZzBhdWlhMnhmL1VvUCs3KzNIU3RteWdjSGE0eXBORmtkZ3VGNlh3OFVDaHkyblJsYnZySnZNSDNiNm5qenRqWk0rL3hvamZPTjdLN254b0doV0t5dzVVZ1JxM1kxN1lNQmR4M05LT2VTcDdZNWJQUFhxdm5qOVY1WXJGWXUvOWRPU2cxMWwxYUoxSHV5OGlYYjYzalZhN3ZKeksrWnZaNldhK0JBU25XdC9PaGdiM1FhRmFtNUJvcktUUGJ0RnF1VkpWdHl1UDdTVUhxMDl1VzVHK080OHo4MXZ5ZEtCYnh3VTJzQS9yYytrKzNIaTEzT0wwcnZ4V3VUNCtrVnI2dnpYaHBqNHVCUVJuUVBwTHpTMHFnbXZPTDhKb0YySVlRUVFnZ2hoQkJDQ05GaWduUWVySDIxcDl2am02cWtTNVVUMlJXczNadHYvN3AzR3ovOHRDbzJIaXlrMG1UTDNIYVZPYjBqc1poaC85cHAvM3JqbTczUmFWU01lSEVuWmlkSjM4L09PODZpcDdzd3JHc2dENDV0eFVmTFUrMzdXZ1Y1TVdOU2Ezc1dka3NGMlYwcExETnhNS1dVempFKzlHdm41L0NhdVhKSk8zOEFrck1ybkFiWkFUNVptY1luSzZzZmhLeDhxUWM2allxUGxxZXliRnR1amZHdkxVcm15V3RpZU9XN0pLZm5zMWpoeFFXSjNEYzZpdGxMVTV5T1VTbmhzYXRqbURnNERFKzFnZ3FqaGRXNzhyaXFiODNNK3NacUc2bmhpZkd4bEZkYWVIOXBDczllSDF2dmM3VDBlMFM0UndMdFFnZ2hoQkJDQ0NHRUVLTEZXYTF3b3BaNjVERWgzcmhUM3ZyWkcyS1pOTml4RE1pdHN3NjRiQ3k1Wms4K2EvWlVCNDJyYXJUUCtEYXB5WU9WQmFVbXBuOTFqSWZHUnZQemxsUDI3UjRxQmU5TmFZdE9vK0xOSDA3d2Y1dFAxWEtXbHZQWG9VSTZ4L2h3YVFkL3R3THQvZHI2QWZEM1lmY2F0cmFOMEJDcHI3Mjh5dUcwTXU3KzZGQ3RZN1lmTDY1MWpOWkx4VzNEd3UxalgxNllST3N3VFpNSDJqV2VTdDY5b3kxZUhncGVYcGhNV203dERWbnIwbFR2RWRFOEpOQXVoQkJDQ0NHRUVFSUlJVnFjMFd6bDZ0ZjJ1TnhmbFMxZWw5d2lJOG5adG1Ca1dJQm5pNWJxdU9lS1NCNGExOHJwdm1VdmRIZTYvWm5yWTNubXJLem45NWFjNU92Zk01dDhmdlgxNjg0ODdyNGlrdEc5OU14YWN0SmxuWGtBclplU29WMENBTndLeWdNTTdlTFlTTlhIUzJVdlViUCs5VjRFK0xnT1pYYUs5bUhQN0g1Tzk4MzlMWVAzejhodXQxcGhaMklKWDY1Slo5MitBZ0JhaDJuY21tTjlQSGRESEszRHZGbTFLNDhmL2o1Ri8zWitqVHBmVTcxSFJQT1FRTHNRUWdnaGhCQkNDQ0dFdUdqTVdaWE9uRlhwQUh4NFR6dUdkQTV3T2JaYnJDL3pIKy9rZE4rWk5kcUJCZ1c2TS9JcjJabm9QSk8rUHJJS3pvOHlJRWZTeTloeXRJaCtiZjI0dG44SUM5Wm51Ung3YmY4UWZMMVZKR1ZWc09sd2tWdm5Qek9qL041UlVVd2NGTWFkSHh6RVpMYVNrVjlKbWNIOUpxd0F2aG9WZms0Q3p5VVZabTZmZmFCZTU2cXZzYjJER0g5Sk1PbDVsYnk4MEhtWkczRnhrVUM3RUVJSUlZUVFRZ2doaFBoSEtpd3p1WjF0ZlN5ampHQS9mN2ZHZG92ejVacExRamlXV2U0MG9LdFF3TnlITzdMdlJDbGZya2tucjhUazVDem5wM2xyTStuWDFvL2JMNC9naDcrek1SaXROY2FvbFFwdUhtSXJ6VEwvRC9jZVVIU0w4NlYxbURjVlJndmVIa3I4ZmRURWhYcnozQTJ4dlBKZE1qZTlzNi9lYzYxdFJVRnphaFhreFFzM3hXRzJ3TlBmSEtPNHZPN0dzZUxDSjRGMklZUVFRZ2doaEJCQ0NQR1BkT0pVQmRNK1ArcjIrUDd0blFmYUZRcm8yVnFIaDlwV0lQdnJhYllzZVZkQjVyRzlndWpkUmtkOHVJWTVxOUtjampsZi9iRy9nTjFKSlhSdjdjdWpWOFh3MW84bmFveTVlMVFrMGNGZVpCVlVzblJMamx2bm5UZ29ES1BaeXQrSGloaldOWUJQVjZaeDE4aElicmcwbEgwblMvbng3L096YnYzWjFDb0Y3OTZaZ0krWHJhSHI3cVRHcjJnUUZ3WUp0QXNoaEJCQ0NDR0VFRUtJZnh5THRUb1RlMWpYd0ZwR3dvYjlCWmdzTlRPM08wVnJ1WEZnR01PNkJxTDNyUTZ6SGMwb1o5bTJISlp0emExeGpGSUI5NDJKQXVDalpha1haTGJ6aklWSkxKcmVoWnVIaExGbVR4N2JqaFhiOTdXTjFIRDN5RWdBWm42ZlRJV3g3bkl2VVhvdnh2UU9ZdjMrQW9yS2JkbjloV1VtWm55YnhFZjN0dVBaNitNNG1GTEt3ZFN5NXJraE4yZzhxMnZPTy9QSHZnTEtLeTA4ZG5VMG5hSjkySGFzMkY3Q1NQd3pTS0JkQ0NHRUVFSUlJWVFRUXZ4aktCWGc3YUcwQjNRQlprOXRXK3N4QTUvWjdqUWdQcmhUSU5jUENBRWdKY2RBUktBbmFwV0NDVy92eFd5QjZkZkZjT3ZRY0pmbi9kZUVPUDQxSWE3T09kL3owU0UySFhHdnp2bTVjRHl6bkM5K1MrZmVVVkc4TjZVdFUvNXprT09aNVlUNmV6QjdhanZVS2dVcmR1U3lmbitCVytlYmVrVWtLaVg4OEhjMkkzdm83ZHMzSENqZ3AwMm51TFovQ00vZUVNZHQ3emR2WGZYYUJQdDU4UGJ0Q1M3M2o1dTVtOWhRYjI0ZEdrNWhtWWxudnptT3RlYXpHWEVSazBDN3VPaGMzaTJRKzBaSDhlTC9Fam1VMW5KUE9vVVFRZ2doaEJCQ0NPRStUN1dDUGJQN05mdDFBbnpVS0JTMmhwaG55aWt5TW50cGlzTzJlMGRIMFNySXkrVzVVbklxV0wwN2owVWJzOWwwdUlpTmIvWkdkMGJ6emRRY2cwTXpWSDhmRmZGaEdreG1LM3RQbE5ZNG4xNm5KamJFbStKeU04Y3l5dTNiaTg3RHJQZFBWcWJSSmNhWGdSMzkrZXpCRGp3Kzl5Z3ZUNHFuVlpBWGg5UEttUGxkc2x2bjZSQ2w1ZHIrSWFUbEdkaHdvTUFoMEE3dzlvOG5DZlgzNUpYdnp2K0dvbGYzRFVHaEFIK3R1a1l6M2JPdGZiVW5BQnNQRm5ML0o0ZmRPdis1ZW8rSWhwRkF1N2lvK0hpcHVPZUtLRHBFYWZuOG9ZN2MrdS85SkdkWHRQUzBoQkJDQ0NHRUVFSUlVUWVyMVZZejNaV1lFRytVaXNaZDQrWWhZZlpTSmxrRmxRNzdTaXJNTERtcm52aU5nMEpyRGJRdjM1N0w4dTAxeThOVVdiQStpd1hyc3dCYkp2MFhEM2VFTVBod1dTcHoxMlRVR1AvZWxBUmlRN3o1Y0ZrcTMyN0ljdnUrV29MWkFrOThlWlI1ajNhbWJhU0dieDYxMWFWUHpUVnczOGVIYXp6SWNPV3g4ZEVvRlREM3R3eW5HZUNsQmpQM2YzSzR4UnFiVmtuSk1kQnQycFlXdXo2Y20vZUlhRGdKdEl1TFNxbkJ6QjJ6RC9EeC9lM3AzVWJIZis1dXgwM3Y3S084c3U1NllPNVkrMnBQZ25RZUxwZU1uV2xvNXdEdUdCN0IvSFdack5ualhnZnpobGo4ZEJmYVJXcDU1LzlPTW0rdGU1Mjh6OVFuUWNmY2h6dXk3Vmd4VXo0NDJBd3pkRjlFb0NkM2pZd2tJdENUUno0N2dybHB2bTFDQ0NHRUVFSUlJUzRBUnJPVnExL2I0M0wvMmRuaTlhSHhVdkw2clcyNHNtOFFmNXd1WjVLY2RXNFQ4eDRhMTRyZWJYUnNQMTdNbDcvWERMTDNhK3ZIeU81NnNnb3FXZnhYOWptZFcwT1ZHU3o4dlBVVVQ0eVBzVzlidjcrQS9CS2oyK2RJeXFvZ05rVEQvMjJxdmRscFRyR1J3L1dzWEJDazh5RFl6Nk5leHpUR0c0dVRlWC9wU1pmN2U3Ylc4Y1p0YlFDWTlONSs4a3VNYnRXd3I5S2M3eEhSZUJKb0YwM3UxcUhoVEw4dXB1NkJicGl4TUtuZVhhVXJqQlllbm5PRTc2ZDNJUzdVbThmSHgvRGFJdmVXS3pXbCs4ZTBvbE8wbGtxVHBjR0I5anN1ajZCOWxKWjMvKzhrdWNYT1A2UVVpdE9QS3B1aDdsZGNxRGMvUDkrdDNzYzE5QW12MWt2RjZKNUIrR2xWVEw4MmxqZCtxTm01dkM3RHVnYldXVnV2TWFaL2ZZeVZPL0thN2Z4Q0NDR0VFRUlJSVpwT3NKOG5BTy9lbVlDL1ZrMW1maVdoL3JadCswNlcxSFpvazlMcjFGelZMeGlBOWxGYVhwZ1F4MCtiVHRuTHg3UUs4ckxYLzM3N3g1TVl6ZWQvY2U5MmtWcW1YeGREdjdaK2dDMGU0KzJoNU9ZaFlmUnVvK085SlNmWmRManV1dktMTm1hejlXaFJuZmY4NDkrbjZoMGpPdGRaOFBtbEp2SnJWZ1N5aXdtdWp1MWs1bGU2alBXSUM1TUUya1dUeXk2c2RLZy8xaERSd1Y2TmV1SllVbUhteVMrUDhiL0hPM1Bqd0ZDV2JEN0Z2cE8xL0tacllzTzdCZElwV2t0NXBZV1hGemFzaHBpUGw0bzdoa2VnOTFVenRFc0FIeXhMWmVHR3JCckxxS3FXQkZtYXNjTkdYb21KM1VuRmRZNGIyREVBVDNYRDF5Z2R6eXpuMFMrT01PZUJEclNMMGhLazg1QVBIU0dFRUVJSUlZUzR5T1VXRzkxSzJCcjR6UFo2blRkUzcwbmJTQTFncTVuOXgvNENYbG1ZeEtMcFhRSDQ4MkNody9pNFVPOW1xMytkVjJ4aXpJemRYTjQ5a0ltRHdyamgwbEJ1dURTVVl4bmwvTG96ajVzR2hhTFhxZmxvZVJxcmQ1L2Z5VjI5NG5YY05US0N3WjBDQUtnMFdmbHlUVHB6Zjh2Zzlzc2p1T2VLU05wSGFabnpRQWQySjVVd2IxMG1hL2JrdVZ5MWZqeXpuT09aNWM1M0NxRDUzaU9pYVVtZ1hUUzVWYnZ5V0xXcmNSOEtMMHlJNDhhQm9ZMDZ4NEdVVWhiOGtjbmtZZUU4ZlYwc2s4OVJaMnExVXNHalYwY0RNSHRwQ3VsNWxYVWM0Vnlwd2N5TmIrM2xoWnRhYzFtWEFKNjlQcGFyK3diejByZEpIRW12WGlxbHNBZmFHejExbDQ2a2x6SHQ4Nk4xanFzcXJYT205bEZhRmszdlV1OXI5bTZqc3pjR2NjZm9sM2VSbmxmSmhnTUZESGx1UjQzOVQxd1R3L2grd2Z6NDl5bmVQNnU1emRuei9lekJEcFJYV2hnMVkxZU4vZTdXbUJOQ0NDR0VFRUlJMGJMNkp2amhvVkpnc2RwcW9uKytPcDFKUThMUTY5VHNUQ3doTTkveDcvVXlnNFhOUndxZG5zdlVCQm5tSm91VlZUdnpXTFV6ajdZUkd1NGFHY25ZM2tFa1JFUUJVRmhtWXVQQmducWQ4K1A3MmpkNlh1N1ErNm9aMXplWWF5NEpvVzJFN2VHRjJRTEx0dVh3M3hXcDl0akhKeXZUK0hWbkxvOWNHYzN3Ym9GMGIrMUw5OVlKNUJZYitXVnJMc3UzNTNBd3RYN2xYNFM0VUVpZ1hWelVsdS9JWmZLd2NMcTM5bVZZMTBEVzdtMitXdWxWYmhvY1NteUlON3VUU2h3YWwzaDVLTGpuaWloaVFyeDU2cXRqYnAzclZKR1JSejQ3d3RqZVFUeDNReHlkWTN4WStGUm41djZXd1NjcjB6Q1pyU2hQUjlxYjRrTy9PVmdzMWlhcmtWL3JkVTdmdnNsc3BhRFVWR04vNWVtYVp3YVR4ZW4rS21mVzNxOXRuQkJDQ0NHRUVFS0k4OXVTTFRrTTZoVEFMMXR6K0dOL0FWb3ZKWGVOaUFSZy9qckhIbWRyOSthVFdWREpHNHRyTDJHcXFHTVJ0MUpaOTd4YWgza3pyazh3ZzA1bmhGY1lMWlJXbUFuU2ViRGdpYzYyTFBBL01sbXoyM1VXZUJXTEZhY05STjJsVU9DeWVXYVl2eWZEdWdWd2VWYzlmZHJxVUo4ZVdHYXdzR1R6S2VhdHl5UTExMURqdUtTc0NoNzc0aWlkb24yWU9qS1NZVjBEQ2RKNWNQdmw0ZHgrZVRocGVRYlc3UzNnejRNRmJEbFNkOGtZSVM0VUVtZ1hGN1ZMMnZuWi8zMy9tS2g2Qjlxdkd4RENqSW10YTJ6ZitHWnYrNzgvWHBuR3h5dlNBQWoyOCtDQk1hMG9OWmg1ZHQ1eGh3KzdBQjhQcnI4MEZMMnZtdFNjYUdiLzRqcXIrbXpMdCtleS9WZ3hyMDJPcDE5YlArNjVJcEw5SjB0WnV6Y2Z0YXIrZ2ZiYkx3OTNhRlFDdHFhb1p5NlJHLzF5ZFRaMy8zWitEVjQrZHpTam5FdWUydGFnWTRVUVFnZ2hoQkJDWEp6bVA5N3BuRnluS3RGTm9ZQzNiazhnMU4rRFBja2xOY3F6dUxPS084VFBnMjV4dmdBVW5rN00wbmdxOGZaUVVsUnVvbXVzTHo1ZUtneEdxME9BWE8rcnBrdXNMMzBUL0xpMGc3KzluRTJseWNvUGY1L2k0eFdwNUpXWUdOY25pTnVHUmRpendEUHpLL2wyUXhZLy9KVk5VYm56MWRVUGZucVlqUWVkWitHN1kyUjNQZTlOU2FpeFBUYkVtKytuZDBIaldmM2s0RUJLR1Q5dHl1YVhyYm1VR3VwZTdYMGdwWlRINXg0bFBOQ1RpWVBDR0g5Sk1FRTZENkwwWHR3eU5Jd3VNVDdzT0Y3c1ZxQjl4c1RXWERjZ3BINDNWMDlyOStZM3VPZWN1ellkS1hMN0d1ZnFQU0thamdUYVJiTTRYN29jRCt3UVlQOTNoeWd0UXpvSHNINi8rOHV3S2lvdERqWENBMzA5VUNwc3RkV3NwN3VQbHAzeDRmTE05YkhvTkNxZW5YZTh4bFBkcklKS25waDdsTThlNnNCZEl5TTRsbG5Hc20yNWJzOGxxN0NTdXo4NnhPM0RJb2dKOGJZL05QQlExei9RbmxOazVFQ0tyV2E5MWt0RlhLZzNaUVlMeWRuVk5kRXFUVlk4VC8rR3lDMDJzdlZvM1RYYWgzVU54TXZEL1JydEhpb0ZzNmUyWStHZldiVitYMjRkR2s3WE9COWVYSkNJd1NoUHVvVVFRZ2doaEJEaVFsZFlabXFTbGRrcXBZSUFuN3JEVzFmMURXWm81d0RLREJhZW41L28xcmxYdnRTRFNMMW5qZTJGWlNaN1RmRXVzVDU4OFZCSGgvMkgwMngvYjhlRmV2UGxJeDBkU3F4YXJiWUE5UEx0dWZ5OEpjZGhKZldTelRrczJaekRvSTcrM0RVeWt0NXRkRHgyZFRTM0Q0dGc3TXhkbEJtYWY3VjRsUk9uS25qbW0rTThlVTBNcTNmbjhjdldISTVsTkt5T2VtWitKZTh2VGVFL3Y2UndhUWQveHZVTkpqNU13NE9mSG5aN0JYeEJxYWxCcFhsOU5Tcjh6b1A0VkVPYzYvZUlhRHg1bFVXeldIK2dBSzJuRyt1bFhHZ1hwU1ZLNzlXb09maHBWZlNNdHoxcC9uMVBQcGQzQytUTzRSSDFDclF2MzU3TDh1M1Z3ZkNxR3VSWHZiYmJvY1FJd0poZVFWelJROC9TclRrdUEramJqeGZ6OW84bmVPNkdPRjZlRk0rSjdJb2FUVnBqUTd4NTQ3WTIvT2VYbEJyZHVhMVcrT3IzRElkdEhxZlhwUm5yV2s5MmhtWGJjdTF6N0pPZ1krN0RIVG1RVXNxVUR3NDZqUFAxdG4wWUhjMG9aL3JYZFplN1dmdHFUN3c4M0c5aSsvS2tlQVoxOHFkbkcxL0d6ZHhOWG5ITlVpMWhBWjdjTnlZS1A0MksyQkJ2cG4xMmxLekNodFc5RjBJSUlZUVFRZ2h4Zm5qd2t5UHNPVkhTNlBNa1JHajQ4Wm11ZFk1YnRpMkhnUjM5V2JJNWh4T25LdHc2OThIVVVzSURQVEVZTFJqTlZrd21LeWR6S3BpOU5NVWVJRDZaN1poa2w1aFZ6bXVMa2dGSXpxNWdaMklKMGNGZTdEMVJ5dTZrWXY0OFdPaVEwT2ZNbndjTCtmTmdJVDFhKzNMdnFDalc3Y3MvcDBIMkttdjM1amRwQ1Y2THRmcmU2dXY5cFNtMTlsdHo1WjRySW5sb1hLdDZIM2MrT05mdkVkRjRFbWdYemVMWmI0NDM2dmltYUlZNnVtY1FhcFdDVTBWR1h2dzJrUUVkZXRLN2pZNHVNVDQxZ3R1TjFTcklpMzlOaUNNbHg4QjcvM2NTZjYwYTc5UEx4elNlU3JSZUtyVGV0djhhakZiUzh5cUoxSHZ5M3BTMlRIaDdINFZsMVFIbWg4YTFva3VNRDNNZTZNQ2FQZm04ODlPSldwL2Flbm5hTXNnTnhuUC9vZHNZRDQ5cnhaVjlnekNhclR6K3hUR25RWGF3clFTNGRkWitQcmluSFoyaWZWandaR2Nlbm5PWUF5blNQRVVJSVlRUVFnZ2hMalJOWFpyaldFYTVXK2MwVytEcHIrc1hxM2hpN2xGN1B6QlhzZ29ydWZUcDdTaVZVR20wVW5IVzMrYVB6NjI3SkkwcnU1Skt1UCtUdzA3M05kWHJ1SHAzWHJPWFM2bXZGLzZYeUF2L2MyL1ZRVjNtckVwbnpxcjBKam5YdWRKUzd4SFJlQkpvRnhldHEvb0dBN0JtZHo1RlpXYitiOU1wSmcwSjQ0N2hFVHo1cFh2TlNOM1JLMTdIVzNlMFFhZFJvZE9vV1BkYUw3ZVBqUWowNU0zYjJ2REFwNGZ0OWR5Zm0zZWN4S3h5cG82TVpIaTNRQVoxRE9DVFgxUDVhazJHMHlZb1hoNjJqUGFLeXVZcnFkS1lHdTNPM0hGNUJIZGZFWW5GYW5zbzgvZmgycDltSjJkWGNNdDcrNWw5ZHp0NnQ5SHg1U09kZUhiZWNYN2YwL3pOYllVUVFnZ2hoQkJDL0RQVkZXU3ZVbEpSZDcxeUljVEZUd0x0NHFMVVBrcEw5OWEyc2pIL3R6a2JnSG5yTXJscGNCZ2p1dXVKRHZZaUphZG1aK3o2OHZaUTh2N1V0ZzYxcmlxTUZncExUUlNXbVNnc05WTlFacVNrM0V4eHVabmljaFBGNVdaS0s4d0UrS3A1L09vWUJuYjA1K1loWWZ6dmp5d0FqR1lySDY5SVk4WDJYRjY4cVRWOUVuUk11ekthMFQyRGVPbmJKSHR0ZGJEVk9LL3ErbDFoYlB3SHU0K1hpbXY3aDlDM3JSL1RQajlpMzU1WFltSjNVdDAxMmdkMkRNQlRYWHVOOXNtWGhmUDQrR2dBWHZrdWlWVzc4bW9kRDdaR3RyRWgzdno3NXhSdUhoTEcyTjVCekpyU2xqZC9TR2JoaG16N3VDa2pJbmowcXVoYXp6VnBjQmlUQm9mVmVVMk5wOUxsdzRYM2w2WXc5N2NNcC91RUVFSUlJWVFRUWdnaHhEK1BCTnBGaytnVTdjUFQxOFUyMmZtaWcyMzEyYWNNajJSOHYrcXUwdC8vbWNXeTdYVTNFTDFqZUFRQSswK1cya3VNcE9ZYVdMTW5qNUhkOWR3L3VoWFB6VzljZVJ1d0JkVS9YcEZHLy9iK2ZMcytrOTNKSlc0MzhnRHcxNnJSZXFuNDRhOVROZllsWjFjdzVZT0QzRHdrakdsWFJkTStTc3ZNbStPNTRlMjk5dXgzalZkMUhmekcxbXRyRjZubHQ1azk4UEZTMlp1eGxCbk1yTjJieitHME12NjdJcTNPYzh5OE9SNC9yZXNtSTNkZkVjbkQ0MXBodGNMYlA1MWcwK0ZDM3JramdkVzc4bHdHM05VcUJUY05ERU92VTdNL3BaUm52amxPYnJHUnlaZUY4OXdOY1FUN2VmTGhzdFNHM2JRUVFnZ2hoQkJDQ0NHRUVFMUFBdTJpU2ZocHFodVBOcVdZRUM5aVFxcWJvdjZ4dis1U0lWRjZMMGIxMUFNdy80OU1oMzJmcmt4blJEYzlZL3NFOGNWdjZmWXU0ZlZWbFdIZG9aVVA0MTdaemJjYnNocDBudi84VW5lQWVNSDZMUDQ4V01DTWlmRzg5ZU1KZTVBZHdFOVQvUll1YmNCU3RZNnR0TncweUpiZFhSVWczM09paEsvWDJGNjM3RUlqMHo1M3Y1N2NDd3VjMTFCVEt1QzVHK09ZTURBVWs4WEtqRytUK0hsTERwT0doREdxcDU3NGNJM0xRUHZZQVR1clpnQUFJQUJKUkVGVTNrSG9kV3JLREJaKyt0djJRT0tkbjA1U1ZHYml3Ykd0dU9lS1NCSXp5MW0rUFpmLy9aSEpqMy9YZkdnQjhQeU5jWXpxcVdmQitpdytXZW42b1VIN0tDMmZQZGlCOGtvTG8yYnNjanFtdkZLV0JRb2hoQkJDQ0NHRUVFS0lhaEpvRjAxaTA1R2llalZXdUc1QUNETW10cWE4MHNLWVYzYTViSVRaRUk5ZkU0MWFxU0E1dTRJVloyVy9IMGt2WTgyZWZFWjBEK1NKOFRFODhLbnpwaUpWT3JiU01xQ0RQKzJqdEhTSThrSHY2d0hBclVQRDdXT0NkQjZrNVRXK0RFMXRUcDR5TU9XRGd6VzIrMm1yMzhKbEJ2ZUR2NE03QmZEQW1DZzZ4L2pZdDJYa1YvTHNOOGZaa1ZqTTdaZUhOMGxOOW1tZkgyWHQzbnlldUNhR0NRTkRNUml0UFBYVlVkYnRLd0JnOGNaczdob1JTZHNJRFRkY0dzTGlzekw3VlVxNGQxUVVBTjl2ekhLb2UvZnByK2tZVFZiQ0FqeFpmdnI3YkRCYU1SaWQveXhWbGJUSktUTGFNL2FkS1M2dnZrWnQ0NFFRUWdnaGhCQkNDQ0dFcUNLQmR0SGtiaDBhenRnK1FjeGJtOG1xWGJsT0czaFcwWGdxdWVlS0tONzg0VVNOZmEyQ3ZIajYrbGdPcFpieTBmSzZ5NVlBOUc2alkyUjNXemI3eHl2U25EWXUrWEJaS3BkMURXQlFKMzh1NnhKZ0QvbzZNN3BYRUhlZUxrTnpwbFc3OHRpVldNS2U1Qkl5Q3d6Y1B5YUsrMGRIdVRYSE15M1prbVB2cEQyNmw1NjNiMCtvOXptcXVOdUVkZnJYeCtnVzUyc1BzaC9QTEtkTnVJYTBYQU03RW0xMTJEUHlLdGwwcE1qbE9mUythdHBGYXNrck5uRWtvOHpsdUx3U0l3QnpmazJuZlpTV2oxZWtzZjE0ZGExM285bktCNytrTVBPV2VLWmRGYzN2ZS9NZEhycGNQeUNVNkdBdlNpck1mTEc2WmszMHVXdmNyNU1lcExNOUpNay9QU2NoaEJCQ0NDR0VFRUlJSVpxS0JOcEZrMUlyRmJTSjBOQWhTc3RidDdmaDhXdWkrWFo5Rm92L3lxYW96SG5HOVlTQm9meXlOWWQ5SjIxTlByVmVTcWFNaU9TT3l5UHdWQ3ZvMTlhUHRYc0xISnFBT3FQeFZESmpVbXNBdGgwclpzVU81N1hjRTdQS1diUXhtMG1EdzNqbStqaTJIdDFMcVl0czhOUmNBMGZUeTlsM3NvUURLYVU4ZkdVMGZob1ZMeTlNY3NoOHJsSlFhbklyQzlyWFcwV3duNGZETm9QUlFtNXgvWUxBZmxvMUhpb0ZsU1lyeGVYdVpWOGJqQlpPWkZmd3c5K25tTGMyRTcxT3pkeUhPenFNV1ZWTHpYU0FZVjBEbVQyMUxkc1RpM2hpN3JFNnIxbFlabUxxaDRlYzdsdXlKWWRyQjRUUUsxN0htN2NsY085L0QyRzEyZ0xqMDA0M052MThWVHFGWlkzTExvOEwxUUEwU1JOY0lZUVFRZ2doaEJCQ0NDSE9KSUYyMGFSTUZpc3ZMMHppMDEvVHVHdEVKTmYyRCtIUnE2SzVxbTh3Tjc2OUQ1UFpNY1hjYUxiaW9WTHczcFMyVEhwdm43MVJxVjZueG15QkgvOCt4VWZMVXpsVlZIY0ErdW5yWW9rTjhjWm90akx6KzZSYXgvNTNlUnFqZXdVUnFmZmt1UnRqZVg2Kzg5cmlpelptczJoanR2M3IrMFpIQWE2YmZYNjdJWXVQM1dnYU9yNWZNRE52aVhmWXRuWnZBV3YzN3F6ejJDcSszaXBXenVpQmgwYkZoOHRTK2VwMzk3Tzd6NlRYNlZ6dTZ4VHR3OEluTzNNZ3BZeUo3KzVyMFBuZDhmeThSQlk5M1lYKzdmeDRjbndNN3k0NXlXdTN4cVBUcURpY1ZzYlhheHQyYjFYYVJtancwNnF3V09Gd211c01mQ0dFRUVJSUlZUVFRb2h6N2IvM3RTYzF4OEJYdjZlVG5sZFo2MWlWRW5iKzIxYnVkOWkvZHRZN2FWTTBIMlZMVDBCY25ETHpLM2x0VVRKalh0N0YxNzluOHVTWHgrZ2M0OE9MTjhYeDBzVFc5bkZyOStiejE2RkNJZ0k5K2ZXbG5qeC9ZeHg2blpxMWUvTzUvczI5ekZpWTVGYVEvZHIrSVZ3M0lBU0FXVXRPa3BSVlVldjR3aklUYnl4T0J1Q3F2c0ZjYzBsSUkrNjJaYncwc1RWK0dsdlFQN3V3OWwvQ0RkVXVVZ3RBVW5iRG1zYTZLeTNQd1BQekU3RllZZkt3Y09ZLzFwbExPL2hUWWJUdzNQemp0WllmY3NkVi9ZSUJPSkJTMnVqTWVDR0VFRUlJSVlRUVRTOGkwSk12SCtsSVhLajNPYnZtMjdjbnNHZDJQMjRjR0hyT3Jpa2FwaytDamoyeis5VllrZDhTSWdJOStkZUVPRDY2dHgycUpvaXM5b3ozWlZCSGY2NGJFSUxWU1Fsa2NlR1FqSGJSck5RcUJjWGxKbVpQYlVkTWlCZGdLOGV5OTBRSkFCWUxUUC9xR044KzJZWG9ZTnYrNStjbnNuUnJqdHZYR05qUm54ZHVpZ05zV2VILyt5UExyZU5XN3NoalJMYzhydWlwNTRXYjRrakpxWENvSDM2K1Vxc1V2RFN4TmFONjZ1M2Izcnl0RFRkY0dzb0h5MUxZbVZqU1pOZnEzdG9YZ0QxSnpzODVzcnZlWmRQVSt6ODV6TWFEaFc1ZmErM2VmRDVhbnNyRDQxclJOZFpXUDM3bWQ4a2NUVzlja0Q4aFFzUEV3V0VBTFA0cnU0N1JRZ2doaEJCQ0NDRmF3dFNSa2ZSdW8rUFRCenB3NjZ6OURrbDNtOS9wZzhhejRSSE4rdjU5ZXE1NXFoVnNlNit2MitOVGN3Mk1mV1czdzdhcUVxL05aZnJYeDFpNXcxWmlkczZESGVqZnpxL1pycFdjWGNIVnIrMXhlM3hjcURjL1A5K3QzdGZwTm0xTHZZOEIwSHFwR04wekNEK3RpdW5YeHZLR2s3NkQ5WEhINVpFQWZMOHhpNHo4NWtta0ZPZUdCTnBGa3d2MFVUT3loNTR4dllQb0ZhOURvYkJ0enk0MHNueDdEajl2eWFGYm5LOTlmRkc1bVhzK09zU0g5N2FqVGJpR2YwMklRK3VsWk5IR2JLZk5UTTgwc0tNL3M2YTBSYTFVY0RDMWpHZm4xVjB2L0V3dmZadEV4Mmdmb29POStPamU5ancwNXpEYmpwMi93ZlpPMFQ2OFBLazE3YU5zbWVaTHR1U1FtbVBnOXN2RDZaT2c0K3RwbmZqclVDRWZMRXRsLzhuYWE5clhSZU9wWkhRdld6Qi9RQWQvdnQxUTh3RkdkcUdSL1NlZEIrRnozVmlKVUVXbGhFbUR3MnMwbnAwOExKems3SEwybm1qWXZVVHFQWms5dFIzZUhrb09wcGJ4ODJiM0grQUlJWVFRUWdnaGhEaDMzdm5wSkoxamZPa1VyZVcvOTdYbnR2Y1BVRjVadmJ6WmFvV0RxZlg3MnpBcXlBdC9iZjFEWDZONzZYbjc5b1I2SHdjdzVMa2Q5dDV0NjEvdlJZQlA3ZGN2TGpkejJmTTczQ3IvNGFGVzRxZFJrVk9QdjdlYnc2YkRoYlgrelQrZ3ZUOTZuWnAxK3dvb3JhanViK2Zwb1dCa2R6MkZaU2IrUE9ENndVZERWKzNubFpqWW5WUjNUR2RneHdBODFZb0dYUVBnZUdZNWozNXhoRGtQZEtCZGxKWWduVWVEeTdkMGlOSnlXWmNBU2lyTWZQWnJlb1BuSk00UEVtZ1hUVUtuVVRHOG01NHh2ZlgwYSt0dlh6cFRYbW5oOXozNS9Md2xoMDFIQ3UxTFlIckdPOVlGVDhzemNPdXNBN3g5UnhzR2R3cmcrUnZqbURnNGpJOVhwTEZtVDU3VDBpRmpld2Z4NmkzeHFGVUtVbk1OUFBqcFljb005YXN4VW1vd00rM3pJM3cxclJOK0doVWYzOWVCTjM1STVzZS9UelhrWldnMkNSRWE3aDBWeFJVOTlDZ1V0bHI0SHk1TFplNXZ0dHJsQ3pka2NkZklDQ1lORHVmU0R2NWMyc0dmdFh2emVYOXBTcDFsZEZ5NWJrQUlQbDRxVEdZcmwzVUpZRWpuQU5idkwzQVlzenU1MksxbXFLNTRleWk1cG44d2t5K0xzSzlvT0p4V3hwZHJNcGc2TXBJT1VWcm1QZGFaRmR0em1iY3Vnd01wN3RkWDc1T2c0NjNiRXdqeDh5QzcwTWhUWHgzRlZOZVRHeUdFRUVJSUlZUVFMYUxDYUdIYVowZjRibm9YMmtkcGVmdU9CQjc1N0lnOWptQTBXNW40N3Y1Nm5mT055VzBZMXllb0dXYnJuaktEQlMrUDZqaEZWVmIrbVE4UXlpck5HTTFXaHYycjdwNXQ0M29IOGNadGJad0dvamNjS0dESWN6dHFiSC9pbWhqRzl3dm14NzlQOGY3U0ZKZm5iaCtsNWJNSE8xQmVhV0hVakYwMTlwZWNFVEN2aWtXNE12ZmhqdWgxT21ZdE9VbHlkblZNSWtqbndjanVldEp5RFR3NzczaXQ1MmlJSStsbFRQdjhhSjNqMXI3YWt5Q2RoOE8yOWxGYUZrM3ZVdTlyOW02alkrMnJQZDBlUC9ybFhRNDEyQjhjMXdxRkFyNzRMWjM4MHVwU3R5Tzc2M2x2U3QwUGUycTc5dnRMVStyOFhvbW1KWUYyMFNTdTdCdk1zOWZIMnIvZWtWak1rczA1L0xvemx6S0RCVSsxQXEybkNyVktRVmlBSitOUDE4dzJHS3MvWEVvTlpoNmFjNFFKQTBONVlHd3Iyb1JyZVBmT0JFNFZHVm02SlljLzl1ZXpPNmtFcFZMQms5ZkVjUE1RV3ptUXBLd0s3djdvWUlPZjZCN0xLT2VST1VmNCtQNzJhRHlWekpqWW1zdTdCdktlazFydkNocit4TE8rdEY1S2huVUo1SWFCb2ZSdVUvMWdZdXZSWXQ3OElabWpHZFVsVlFyTFRNeGFrc0s4dFpuY056cUthd2VFTUt4cklFTTZCL0xUcGxQOGQwVnF2VjZmNkdBdkhya3lHb0Fudmp6R3M5Zkg4dnF0YmJoNTFqNU9uakkwK3Q2NnQvWmxiTzhneHZZT3NtY1haQmNhbWZOckdvdi9zcTFrV0xVemp5a2pJcmh6UkFUaitnUXhyazhRT3hLTFdiNHRsM1g3OHNrdWRINC8vbG8xRDR5Tll1S2dNQlFLMjVLekJ6ODlURXBPNCtjdGhCQkNDQ0dFRUtMNVpCVlc4dHk4NDN4OFgzdUdkZzdnaWg1NmZ0MlpWK3N4OHgvdlJMZFlYMGErdUl1c0p1cGY5dXZPUEg3ZnM5WHQ4YUgrbml4L3NYdU43YU5mcmc1WWQ0alM4djMwTGh6UExPZmFOL1k2UGM4WEQzV2tiMXNkVXo0NDZIUzFmYkMvTFRoOHlzbmZ3eWF6MVo1SmY2YkswM0VYZzhuaWRIK1Y0dkxxUUhwdDR5NVdGb3ZWNFFGSXMxM25qUHkvSHExOUdkbzVnSXo4U3VhdHpYUVlaekJaYXMyU3IzcFFrRmRpd3VxaXNIdDVQWk5SUmVOSm9GMDBpYVZiY3Bnd01KVGZkdWV6WlBNcFVuT3JnNXJQM1JESHhNSE9HNHZzT210Smo5VUszLzJaemJKdHVkd3pLcEliQjRZUzR1ZkJsQkVSVEJrUlljK2VyZ3F5NzA0cTRaSFBqamc4OVd1SUhZbkYzUDNoSVQ2NnJ4MytXalY5RXZ6d1VpdlJhVlI0ZXlncExETVJHK0tOLytrbFh4VXVmdm5lUHpxSyswZEhOWGdlb2Y0ZVhOb2hnS0ZkQWhqVU1RQXZqK3JBL3FZalJjejlMWjFOaDR0Y0huK3F5TWpNNzVPWnR5NlQ2ZGZHTXFpVFB6ZGNHc0s0UGtGOHN6YVRMOWVrVTJhd0VPQ2p4bVMyVW1ZdzB6SGFWZys5NnFHSDNsZk5yQ2x0MFhncVdiMDdqN1Y3OHltdk5QUEovUjM0ZWxvbkhwNXpwTjczcGZGVTBpZkJqMHM3K0hOWjF3Q2k5RjcyZlVmU3kxaXdQb3RmdHVaUWFhcitjREJack14WmxjN0NEVmxNSGhiT3BDSGg5SXJYMFN0ZXgvTTN4ckUvcFpUdHg0clplN0tFZlNkS1NNK3J4TWRMeGVKbnVoRG03d25Ba3MwNXZMNDQrWng4V0FvaGhCQkNDQ0dFYUx5L0RoVXlaMVVhcFJXV09vUHM5WFhkZ0JCbVRHeGRZL3NMRStKNFlVS2MvZXRMbnRwV3I3OGpqYWE2VjA4UDdod0F3Qi83Q2x5T0NmUzF4Unp5aXAzSE9FTDhiSC9ybm1xaUJ3cU40VTU1SFZkMTB6dEYrN2pzOS9iRzRoUDIwclczWHg3T0UrTmpIUFpYTlVXMXorT01oeG45Mi9tNVBHOWRqbWFVYzhsVDJ4cDBiRU1vRlBEc0RiYWZ1ZmYrNzZROUhuTG44QWk2eGZueXljbzBsNnNjVkVyWStXL2JmVjcvNXQ0R2w2MFJUVThDN2FKSmxGU1lYVDZSUFpUbVdFUE5aTGFTV1ZESjBxMDUvT0NpUkV0SmhabFpTMUw0Ny9JMFJ2UUlaSHkvRUJJenkxbTkyL1loKzU5ZlVna1A5T1ROSDA1Z01qZE5PWkE5SjBxWThQWStadDRTenhlck16aVVWc2JsM1FKNS95N0haaUluVHhrd3Vyam1xU0tqV3g5NC9qNXFoMkF6UUx0SUxRdWY3SXhhVlIxY3p5NDBzbUo3TGo5dXlxNVhDWmprN0FvZStQUXdBenY2ODlTMU1jU0hhYmgzVkNTKzNpcmUrdkVFdHcwTForcklTSWRqam1XVW85T28rT2JSenNTRWVIRThzNXhYdjBzR1lOUGhJbDc5UHBrWEpzUXgvL0hPN0hOUmw5MlpFRDhQbGp6ZkRWOXZsWDFiWHJHSlZidnlXTHIxVkozMTE0dkt6WHkwUEkzUFY2Y3pvcHVlOGYxRDZOZldqeTR4UG5TSjhiSFAvWlpaK3lrMW1IbGhmaUtQWGgzTk96K2R2Q0NhMndvaGhCQkNDQ0dFY1BUUjhqU1grNmFNaU9EUnE2SnJiRi85U2cvN3Y3Y2RLMmJLQndkcmpDa29OWEU0cmJva2FZVGVDeitOaXF5Q1NvY3Nib3VMRE9IR0dOekpGbWhmdHkvZjVSaTlQVXZaZWVBMDJNKzJQN3VvNVFQdFZmYWZMR1hQQ2NjWXdmQnVla0w5UFZpMkxaZWk4dXJYVmVPcDVKcExRc2dyTWZIcnpseUhZOXBGYWgxVzh3UGtGQms1a0dLTEdXaTlWTVNGZWxObXNKQ2NYYjNDdjlKa3hmTjBkRE8zMk1qV28zWEhBWVoxRFhSSWJLeUxoMHJCN0tudFdQaG5WbzJTdW1lNmRXZzRYZU44ZUhGQklnWmo3VDlERXdlRjBiR1ZsczFIaWxpMXl4YnJpZzcyNHY0eFVYaDdLTm1WVk96d3N5b3VEQkpvRjgzdXg3OVBOYmptZVlYUndpOWJjL2xscStNdjRNOVhOMCtEaUl6OFNxWitlTWorZFZKV3VjUCs5THhLWHZrdXllWHhpLy9LNXVNVnJ2K0hvTXI0ZnNITXZDWGVZZHVSOURKbUxVbmhob0VoYk5oZnlPOTc4OWlaNkg1QTI1bU5Cd3ZaZEhndk53MEs0NHFlZXY3emk2MGUyNWxCZTRQUnlyWmpSWHk1SnAzaWNqT3pmajdKbE9FUlBQckZVWWVWQW92L3lpWTl6OENMTjdXbVc2eXRtZTNRem9Fc2U2RTdGVVlMblA0TVVhbkFRNlhFUTZYZ3E5OHpXTEEraTlsTFU3aGxhRGdiOWhld2RsOCtPNDRYMTlubzltd0dvNVZsMjNOWnRqMlhZRDhQQm5iMFozREhBRHJIK2pEdDh5UDJiSU5OUjRycVhiZnZUQWRTU2h2Y2VWd0lJWVFRUWdnaFdzS21UWnZvM3IwN0dvMm1wYWZTN0U1a1Y3QjJiM1d3dW5jYlAveTBLalllTEtUU1pQdTc4TXhTcTJmNmZVOCt2KytwUHZidDJ4TVkzVXZQbkZYcExOcVkzV3h6anRKNzBUM09sNHo4U25Zbk8vODdYNkd3bFVJMVcyemxZWjJweW1qUGNWRkt0U1ZzUEZUSWg4dFNIYmExamRBUzZ1L0JwNyttMWFqUmZzMGxJV1RtRzNoajhRbUhZeVlORHFzUmFGKzJMWmRsMjJ6eG9ENEpPdVkrM0pFREthVTFIcUpVSmZZZHpTaG4rdGQxOTVGYisycFB2RHc4Nmh4WDVlVko4UXpxNUUvUE5yNk1tN25iNllxRHNBQlA3aHNUaFo5R1JXeUlOOU0rTytxeWxGRk1pQmVQWGgyTndXamxqY1VuMEhncThmSlFNbU5pUE40ZVNuWW5sZkROV2FWa3hJVkJBdTFDMUNJcHE0SStUMnhGclZKZ3RlSnk2ZGpISzlMY0NyQlhXYklsaHlWYmNtcHNuLzlISnZQL2FOcGZwbVlMTEZpZnhZTDFXZlp0djJ6TFlkV3VYTXhtYWpRSVBmdC9QTTcwMTZGQ3JucDFOeU82NnhuY0tZQ0VTQTBCV2pWK1dnKzhQVlI0cWhVb3puZ292UG1JcmN6TmQzOW04OTJmVGZjL0xUbEZScFpzem1ISjVwcXZvUkJDQ0NHRUVFTDgwN3o2NnFzVUZSVXhac3dZaGc4ZlRwczJiZkQxOWNYTHk2dnVnMXZZc3pmRU1tbHdtTU8yVzJjZHFKRWxYV1hObm56V25QRTNhMVdOOWhuZkpqVlpqZmFtZHUyQUVCUUsrUEh2YkZ3bHl3ZG8xYWlVdHF4c1YyTkNUdGRvZDlXelREUzloOGUxNHNxK1FSak5WaDcvNHBqTHNqNVpCWlhjT21zL0g5elRqazdSUGl4NHNqTVB6em5NZ1pTYVdla2plK2p0alhILzc3bXVEdnNNUmlzdkxFaDArVE1nem04U2FCZWlEcFVtcTBQdDhJdUIxVXFkeTVoY01acXRyTmlSeTRvZHVVNzNLeFRJQjRJUVFnZ2hoQkJDbkdPbHBhVXNYcnlZeFlzWEV4a1pTZmZ1M2VuYXRTczlldlFnTGk3dXZBMjY1eFlaN1ZuUFlRR2U5Z0RreFVLdFZERCtrbURNRnZocGsrdlYvb0crcDh2R3VBamtRblhwbUZQblVlbVllNjZJNUo0cklwM3VhMGlOOXNab1RJMTJaKzY0UElLN3I0akVZb1ZudnpuTzM0Y0xheDJmbkYzQkxlL3RaL2JkN2VqZFJzZVhqM1RpMlhuSGF5UXovbjJvaU1sRFRSU1VHU2txTTJPMldPM1ovUDlabG1KL1B6aXJVWCsydGEvMmRMcjk2OTh6ZVcvSlNYZHZWVFFSQ2JRTElacVVCTm1GRUVJSUlZUVFvbVZZVC85QmxwNmVUbnA2T212V3JFR3YxOU9xVlN0R2pCakI4T0hEMGV2MUxUeExSM05XcFRObmxhMDg3SWYzdEdQSTZhYWh6blNMOVdYKzQ1MmM3anV6Ump2WUFvME5vZGVwYXcxMjE5YzEvVU1JODdlVmZQbnRsWnBCMGFyU3BWV05VSE5kMUdmMzlsRGk2NjJpd21paHVOenNzTTlWM2ZvelRSb2NWbVBsZ0RNYVQ2WExZUFg3UzFPWSsxdUd3elpuTmRvYndsbU5kbGQ4dkZSYzJ6K0V2bTM5bVBiNUVmdjJ2QklUdTVQcXJ0RStzR01BbnVyYWE3UlB2aXljeDhmYlh0Tlh2a3V5MTFHdnpmMWpvb2dOOGViZlA2ZHc4NUF3eHZZT1l0YVV0cno1UXpJTE4xU3Y4aitRVXNwbC85cGgvM3I2ZFRIMGJxTmpSMkl4ODlkVi85eVdHeXdOYm5SYVVtR3VlNUJvY2hKb0YwSUlJWVFRUWdnaGhMZ0lLQlFLckZhclBlQnVNQmpJeU1nZ016T1RiZHUyOGU2Nzc5S3RXemV1di81NmV2ZnVqYSt2TDk3ZTNpZ1U3amVHYkVtRlpTYUgrdXkxT1paUlJyQ2Z2MXRqOWI1cUpnd01aVlRQSUhvbjZPajEySlo2OXhWelJxMVNjUGZwYkcrRDBjcnh6T295SW0wanRYaW9xbC8zb0twR3FDNENxL1pzOXZPa2JNektIWG1zM0hIdSs1dTFpOVR5Mjh3ZStIaXA3QTFzeXd4bTF1N041M0JhR2Y5MW82enZ6SnZqOGRPcVhPNi8rNHBJSGg3WENxc1YzdjdwQkpzT0YvTE9IUW1zM3BYbk11Q3VWaW00YVdBWWVwMmEvU21sUFBQTmNYS0xqVXkrTEp6bmJvZ2oyTSt6UmkxN2dMYVJHaVlPRHFPb3pNd3ozeHgzU0Y3OGZtTTIzemRqN3dEUjlDVFFMb1FRNTZtTXBMMXMyMlo3bXUzcWYzenJ1NzAyRFRuWHhYTDlCcisrSmFrWVBUMDVkdFFEbjlNTmVNN0Z2VGYyTmJHZThYOXZMWG50bHI3K1ArM2UzZFZVODdyUWZnODA1RnhOZVcybFVvbFNlWEV0bFJkQ0NORXlxajZIenZ4L2o2cC9tMHdtZHV6WXdZNGRPd2dLQ3FKcjE2NTA3ZHFWYnQyNjBhRkRCN1JhYll2TTJWMG5UbFV3N2ZPamJvL3YzOTUxb0QwdTFKdEl2UzNUL01HeHJlemJqV1lyS3FXQ0x4L3FTTTk0MzRaUEZsdFdkRVNnN1JvcE9SVk1mSGUvZmQvS2wzcllydy9WR2UxamV3Y3h0bmVReTNOR0IzdlpNODYvK3pPYjF4WWw4NzgvTXZueGIrZGxhWjYvTVk1UlBmVXNXSi9GSnl0ZEI2SGJSMm41N01FT2xGZGFHRFZqbDlNeDVaVXRreVhkc1pXV213YlpzdkdyQXVSN1RwVHc5UnJiMzh2WmhjWjYvVnk4c0NEUjZYYWxBcDY3TVk0SkEwTXhXYXpNK0RhSm43ZmtNR2xJR0tONjZva1AxN2dNdEkvdEhZUmVwNmJNWU9HbjA5K0xkMzQ2U1ZHWmlRZkh0dUtlS3lKSnpDeG4rZlpjaCt1OU1pa2V0VkxCUzk4bWtwbC8vcFFFRWcwamdYWWhoRGhQYlZqOEh0dVgxZ3k2dEhTMlNWTmV2N0huYXVualBmSXJ5Vk1xK05kQlQrbzYxZGxCMXFhY1IxTjlUMXA2SHU0Y1g5dnJlSzduMHB6SG40dDV1UE5hWGdqM2NTNk9iNnB6V2EzV0pnM09ueTg4UGF1REJLN3U0K3g3ZCtmZnJwdzl4cDF6dVhySVZ0dTFHM1A4MmVkcTdQSE9YaGQzWHdkWFAzY3Q4VHE0NHM3eHFzTTVWS2dWekhvckVLMlgwdW1ZK3R4TFE4YzM5Rnp1bkxjeHh6ZDA3bzM1Mldyc1hOemQzcGpYcXpHdmc3TXhWZStCaHI0T3pvNXY3UDFXL2J1c3JHYkR4ZG9DN2dDNXVibXNXN2VPRFJzMkVCZ1lTRVJFQkQxNzlnUUdPSjFEUzdPY01mZGhYUU5ySGJ0aGZ3RW1KeW5wWFdOOUdOczdtQ0dkQTRnT3JxNVpiekJhK2V0UUlhdDM1N0p1YndGR2MrUFQyYVAwWHR3M09zcnQ4WjRlU3JmTGhHaTlWR2c4bGZiQXQ4Rm94V0IwWHU2bXFrUktUcEhSbmdIdXpKbmxhR29iVjJWWTEwQm1UMjNyMW56cjQ4enlOSU03QmZEQW1DZzZ4L2pZOTJma1YvTHNOOGZaa1ZqTTdaZUhOMGxOOW1tZkgyWHQzbnlldUNhR0NRTkRNUml0UFBYVlVkYnRLd0JnOGNaczdob1JTZHNJRFRkY0dzTGl2eHdmYXFpVWNPOG8yL2Y2KzQxWkRtVmJQdjAxSGFQSlNsaUFwME9RSFdEcXlFZzZ4L2l3YUdPMlE0TmZQNjBLallmcXZHM3VLMXlUUUxzUVFweW5UTVpLRE5UK0IycHRBWTF6NFZ4YzU3eStodEdDV1FHRmhlNWxvVGJYdmRTV05kMGM1QnJuMXpYT2xZdnA5V3J1NjF4TTMzY2h6aGNxd0FLc3phaHJwQkNpdmt3bUU2V2xwWlNXbGpvTjJMYzBwY0pXbjd5b3ZEcjRXMWVBZCtBejIydlVNUWU0NXBJUWJod1lDa0NGMFVKRnBZVUFIelZ2LzNTQ1JXZVY2TGpydzRNbzNYd09IdXJ2eWZJWHV6dHNHMzlKTUJwUEpXdjI1RE84VyswUEJnRG1yYzFrM2xyMzZzby9lVTBNdHcwTHA3elNVdWZZcXBJMCtTNXF2emRVVm9HQlpkdHk2eDVZVDhjeXl1My9IdERCeng1a1A1NVpUcHR3RFdtNUJuWWsydXF3WitSVnN1bElrY3R6NlgzVnRJdlVrbGRzNGtpRzY1L3R2Tk92elp4ZjAya2ZwZVhqRldsc1AxNWQ2OTFvdHZMQkx5bk12Q1dlYVZkRjgvdmVmSWM2L3RjUENDVTYySXVTQ2pOZnJLNzVRVFYzVGMxdFBlTjl1VzlNRkFhamxWTkZSbVpNYkUxc3FEZXRRelhvZFdvK1dKYktaNnZTV2Y5Nkx3Sjg2aCsrcmFyOUw4NHRDYlFMSWNSNWF0aWtaN211ZjNDTjdhNnl5VndGZG1vTCtEVDJtSE45L2ZQdDNoLzkvQ2doL2g0OGRuVTBHcythd2ZibXZMNDdHdlA2TnVhNmRSM1RrdGUvbU82OXFkNFA1K0xhRjlQMTYzdHRzL25DYlVSbE5wdGRaa0hLejF6elhxTXgxejVYODJySStNYk02NmROcC9CVUt4blcxVEdqdmJtdVhkZSs1cjUrUzE3YjNXTmE4dmV2dTlmL0ovMGUyck5uRHdhRHdhM3pWUjJ2MFdnSURRMUZyOWN6YXRRb3hvMGJoMWFyNWR2ekxFQVg0S05Hb2FqWjNER255TWpzcFNrTzIrNGRIVVdySUM5Y09aNVp6cnA5QmF6Y2tjdmF2Zm04UENtZTBiMmNONGMxMVNPcjNXaXFPZmFMMzlKcEhhYmhqY1hKYmdYYTY4TlRiZnM5V0dhbysvOHo0a0kxQUtUa0dPb1lXVDhIVXNwNGR0N3hKajNuMlU1a1YvREQzNmVZdHpZVHZVN04zSWM3T3V4ZlZVdk5kS2pPdXQrZVdNUVRjNC9WZWIzQ01oTlRQenprZE4rU0xUbGNPeUNFWHZFNjNyd3RnWHYvZXdpcjFmWWdZOXJwUnJTZnIwcW5zS3p1MVFBcUpmejdybmFvbFFyVVNuaGdqT1BLaC94U0V3ZFRTeDIycGVZYTZ2eVpWQ2dnTnNTN3p1dUw1aU9CZGlHRU9FOUZ0TzVLMzc2dDZoNG9Xb3psSng4MG9kNE1HZG9abmNaMU14MGhoTGdRdVJQb2EyejJmbE5tLzUrTHVUUzJIRk5UenFXNWpqOFg5K0Z1U1premoxLzgxRlk4TlI3YysyQW5JczZvYWR5UTY5ZFhTLytjdXdxd3R2UmNXdUw0ODIwZWpkV1U5ekY1OG1TeXNySmNucmZxWjBlbFV0RzVjMmV1dXVvcXVuZnZqcmUzTjE1ZVh1aDBPcnk4WEFlb1c4ck5ROEtvTU5xeXRyTUtITXRvbEZTWVdiSWx4MkhiallOQ2F3MjBMMWlmeFlMMVdVMC9VU2RzNVVlT09VM0lhYXlxYzVZYmFzOW9ieHVod1UrcndtS0Z3Mm5uMzJxRnVuejNaL1VxQTcxTzUzSmNwMmdmRmo3Wm1RTXBaVXg4ZDErenplZjVlWWtzZXJvTC9kdjU4ZVQ0R041ZGNwTFhibzFIcDFGeE9LMk1yOTFjZG1XMlZOVzdWMk15V3ptVVZzYnVwQkwySkpldzkwUUpxYmsxSDRwTS9mQWc2WG0xbDVMUmFWUnNmTE4zUTI1Tk5CRUp0QXNoaEJCQ0NDRnFhRWk5ZENHYWpjb0xoZG9EYjQwR2pjYTlRTHNRL3lSVkRiV3JndXhWdjUvVmFqVyt2cjZFaDRjemR1eFl4b3daZzE3dlBJUDdmS0x4VXZMNnJXMjRzbThRZit5MzFjbE96cXBvNFZrMW44M3Y5SEU3SUgvZG0zdng4amlkMFY1SGM5S3IrdGxXU0I5SUtYVXIwOW9kVlVIdDV2YkMveEpyUEVoeHBWMmtyWWx2VW5aNUhTTWJKeTNQd1BQekUvbjNYVzJaUEN5Y0h2RTZ1c2I2VUdHMDhOejg0NWpycnVSajk5WVBKeWdxTTdQdlpBbVZUbFpFaUF1VEJOcUZPSS9NZWJBRC9kdjVOZHY1azdNcnVQcTFQYzEyZmlHRUVFSUlJWVFRTGFjcXdCNFpHVW1QSGozbzBxVUxQWHIwSUM0dTdyek1XRDlic0ovdFFkcTdkeWJncjFXVG1WOUpxTDl0Mjc2VEpTMmVCb3R2QUFBZ0FFbEVRVlE1dFdhVlcyeDBPOUJ1TWx2eDliYXRwaTJySmFNOUlVTER4TUZoQUN6K0s5dmx1UG9xTERYVnF6YTduMWJGNEU0QkZKV1oyWENnd08zajZsUHFwbnRyWHdEMkpEbi9HUm5aWGUreWFlcjlueHhtNDhGQ3Q2KzFkbTgrSHkxUDVlRnhyZWdhYTZzZlAvTzdaSTZtMXkvSVg5Vm8xWldJUUU4eThxVVo2b1ZHQXUxQ25FYzJIUzRrdDhoMWc1SUI3ZjNSNjlTczIxZEE2Um4xNlR3OUZJenNycWV3ek1TZkIxeC9RR1JMeDJvaGhCQkNDQ0dFdUNocHRWcUdEeC9PMEtGRFNVaElRSy9YNCtQajA5TFRjbHVrM3BPMmtiWjY0djVhTlgvc0wrQ1ZoVWtzbXQ0VmdEL1BDb2JHaFhxN0RKNWVhTWErc3J0ZTQ3WGVwelBhSzV4bnRFZnFQWms5dFIzZUhrb09wcGJ4ODJiM01zUGRrWlpuY0ZxYnZYMlVsaGNteERGclNZcTlXV25WOXNHZEFzaklyejVPNDZuazg0YzZzbkpuTHQvL21ZWEIyUENNYm8ybjBsNW5mMEFIZjc3ZFVMTTBVSGFoa2YwdUh0VFVGb001bTBvSmt3YUhjK2Z3Q0lmdGs0ZUZrNXhkenQ0VHBTNk9ySjJuV2tHWEdGOTZ0dkdsWjJzZFBWcnJTTTJ0WU9LNyt4dDBQdEZ5Sk5BdXhIbGs3bSsxMS9PYSszQkg5RG9kczVhY0pEbTdldGxja002RGtkMzFwT1U2LzhBVFFnZ2hoQkJDQ0hIeGV1YVpaK2pkdXpjYWphYWxwOUpnZlJQODhGQXBzRmpodzJXcGZMNDZuVWxEd3REcjFPeE1MQ0h6ck96ZU1vT0Z6VWVjSjVyVnA1SHBoY2hQWXd2bk9jdG83NU9nNDYzYkV3ang4eUM3ME1oVFh4M0ZaR20rMTBQcnBlVCswYTI0NWJJdzFFb0ZyOTRhenpXdjc2bTFITXFFUWFGMGpmV2hhNndQZDE0ZXdkemZNbGowVjhNQzd0Y05DTUhIUzRYSmJPV3lMZ0VNNlJ6QSt2Mk8yZUs3azR2ZGFvYnFpcmVIa212NkJ6UDVzZ2lpZzIwclF3Nm5sZkhsbWd5bWpveWtRNVNXZVk5MVpzWDJYT2F0eStCQVN1MzE4UDIxYW5yRys5SXpYa2V2ZUIyZFluendVRldYNDdOWUlUSHo0aTJWZERHVFFMc1FRZ2doaEJCQ0NDSEVCV3pRb0VFdFBZVkdXN0lsaDBHZEF2aGxhdzUvN0M5QTY2WGtyaEdSQU14Zmwra3dkdTNlZkRJTEtubGo4WWxhejNrK3RSSkppTkEwU1FhK2gwcEJkTEEzQU5sRjFROGYvTFZxSGhnYnhjUkJZU2dVdHRLeEQzNTZ1RjRsV09wRHBZUnIrNGZ5d0pnb2d2MDhzRmhoOFYrbitNOHZLUTVCZHZYcEFQS1pJZlN2Zjg4a0k2K1NSNjZNSmliRWkrblh4WERIOEFnK1dabkdUNXV5M2E1MUhoM3N4U05YUmdQd3hKZkhlUGI2V0Y2L3RRMDN6OXJIeVZPTnYrL3VyWDBaMnp1SXNiMkQ4TmZhUXFqWmhVYm0vSnJHNHIreXNWaGgxYzQ4cG95STRNNFJFWXpyRThTNFBrSHNTQ3htK2JaYzF1M0xKN3V3WnNiOG5TTWltSEpHVnJ6SmJHVm5ZZ2s3amhlelBiR0lYWWtsbEp5MVdtSGxTejBhZlQraStVbWdYWWp6ek9oZWV0NitQYUhXTVQ4LzM4M3A5azdSUGk0L3VOOVlmTUxwRWlvaGhCQkNDQ0dFRU9KODhOUlh0cXhqaFFMZXVqMkJVSDhQOWlTWHNIcDNuc080YVo4ZnJmTmNJWDRlZEl1ejFlNHVMTFUxQXRWNEt0RjRLaWtxTjZQMVV0SSt5dFpFczZLeU9ySjcvNWdvN2g4ZDFTVDNjNmJ5U2d1N2s2dkxsL1JzcmNQTG8zNVBBZ0o5MUV5N0tob3ZEd1g1cFNaN2xyK1BsNHJGejNRaDdIUTkreVdiYzNoOWNUTGxsZlhvenVrbWxSTEc5UW5tN2lzaWlRMnhCZnozSkpmdyt1TGtHcG5jR2s4bDExd1NBa0IraVdQQWVkV3VQSDdmazg4TkEwTzRmMHdyUXYwOWVQR21PTzY0UElML3JraGwrZlpjQW56VW1NeFd5Z3htT2tiYnlpQVpqTFo3MHZ1cW1UV2xMUnBQSmF0MzU3RjJiejdsbFdZK3ViOERYMC9yeE1Oemp0VDczalNlU3ZvaytIRnBCMzh1NnhwQWxMNjZyOEdSOURJV3JNL2lsNjA1RGc4U1RCWXJjMWFsczNCREZwT0hoVE5wU0RpOVRtZXFQMzlqSFB0VFN0bCtySmk5SjB2WWQ2S0U5THhLL2p4UXdHVmRBdGgwdUlpL0R4V3k5VmhScmZYMkFWSnpEWFd1MUZBb3NIOVBSTXVRUUxzUTU2bjlKMHZaYzhLeGh0andibnBDL1QxWXRpMlhvdkxxanVGVkgxNTVKU1orM2VuWWxLUmRwSmJlYlhUblpNNUNDQ0dFRUVJSUlVUmpYZFUzbUtHZEF5Z3pXSGgrZnFKYng2eDhxUWVSZXM4YTJ3dkxUQnpQdERXcTdCVHR3NWVQZEt3eDVsQmF3MnByMTBkYXJvRjdQanBrLzlyVmZNKzA4TW5PZElwMlhtZi9xelhWcFdkTERXWmVtSi9JbzFkSDg4NVBKOWwrdk5qcE1VM2h5ajdCekx3bEhyQUZmLy96U3dvcmQ5Z2VoQ2dVc09udFBrNGJ1MjdZWDdQTWo4bGlaZUdHYkpadHkrV0JNYTI0YVhBb01TRmVQRFN1Rld2MjVISGJzSENtam94ME9PWllSams2allwdkh1MU1USWdYeHpQTGVmVzdaQUEySFM3aTFlK1RlV0ZDSFBNZjcxeXZCcm9oZmg0c2ViNmJ2ZEVzUUY2eGlWVzc4bGk2OVZTZDlkZUx5czE4dER5TnoxZW5NNktibnZIOVEralgxbzh1TVQ1MGlmR3h6LzJXV2Z2WmRxeVlhMTdmNi9iY0FLWitlSkQwdk5yNzd1azBLamErMmJ0ZTV4Vk5Td0x0UXB5bk5oNHE1TU5scVE3YjJrWm9DZlgzNE5OZjAyclVhTC9ta2hBeTh3MDFsczVOR2h3bWdYWWhoQkJDQ0NHRUVCZU1aZHR5R05qUm55V2Jjemh4eXIxYTFRZFRTd2tQOU1SZ3RHQTBXekdackp6TXFXRDIwaFI3Wm5kU2RybkRNU1VWWmo1Zm5jN1I5T3J0SDY5STQrTVZhZldhYjVpL0o2dGZhZnJTSG51U1Mya1hwVVd0dEdXK1c2eVFubWRnMGNac3Z2N2RzY2ZicGlORmpXcWVlU0NsbEc3VHR0UTVic21XSEViM0N1THZ3NFVzV0ovbGtHVnR0Y0tPNDhWMGpQWkJvYkI5ZmFxd2tsOTM1ckZnZmFiTGN4YVhtM25yeHhNczJwak4wOWZIOFBYdm1SaU1WcEt5cXIvM0JxT1ZiY2VLK0hKTk9zWGxabWI5ZkpJcHd5TjQ5SXVqNUpkV0p5SXUvaXViOUR3REw5N1VtbTZ4dGhVTlF6c0hzdXlGN2xRWUxmWWFOaW9WZUtpVWVLZ1VmUFY3Qmd2V1p6RjdhUXEzREExbncvNEMxdTdMWjhmeFl1cGIzdDVndExKc2V5N0x0dWNTN09mQndJNytETzRZUU9kWUg2WjlmcVRlcXd5R1BMZkQ3YkhGNVdhM3ZvZWkrVWlnWFFnaGhCQkNDQ0dFRUVLY044d1cvcCs5T3crenN5N3ZCdjZkZlFtVHlVSUNDUWxoaDRSRkZnVkVjRUdoWU1HRm9vaDZ1VkJyamZ2ckRsWkJYOEJXd0JmVUNrVkxwUXE0VUMwS0JheFNXUVJFUUl3bGlzaG1RTEluczI5bnpubi9pQm1KTTFuUEpIT1MrWHl1SzFjeXoyOTU3cE1jQ0h6bmQrNG5INy82c2MxYTgrR3JIdDFvS0xxeW81QmpQL0ZBcXFxcVVpeVYwdEV6dU9FRm82Q252emhpK0huU1p4N2E2Tm9McjM4eUYxNy9aS3Fxa3BycXFwUktwVTN1WDc0MXpiL2lrUzBhMjVqSGwvVGs3Ny95NS9VMzNyODhQM3BvUlFZSE0reUJycmN0V0pYYkZxd2FjWis3Zjl1V1U4Ly9WVjd4dkNrNWJ0Nms3RE96S1pPYWF6T3h1UzZOZFRXcHI2MWFwMy8vejMvWG5pVDU5bDFMOCsyN2xtNXgvWDlwZWZ0QWJ2ajU4dHp3OCtXanRpZVZUZEFPRmVxZEo4N01PMCtjT2VMWWx2Um9Cd0FBZ0IzVnBwNDhidDhLNGZxU3R2NnRlcEs0Vk1wRyszUHZpRXFsTlNmRXQ4VEFZQ2szUDdnaU56KzRZc1R4dFNmdVlUUUoycUZDamRTamZVdm8wUTRBQUFEd1owSjJ0Z1pCTzFTWVd4NWNtVnNlMUZNTEFBQUFBTFlYd3g4RERBQUFBQUFBYkRJbjJxSEN2T3pneWJuc0hmdU8rcjZYL25CUnJ2cnhzeHVmQ0FBQUFBQnNGa0U3VkpnbHEvdHkwLzBqUDZ5akhMOS90bWZVOXdRQUFBQUFCTzFRY1JZdTZzN1ozM2hzck1zQUFBQUFBRGFSSHUwQUFBQUFBRkFHSjlxaFFzeWJQU0hmK3NpQlcvMCtuN3JtOGR4dzMvS3RmaDhBQUFDZzhzMC9lYmZNUDJtM1VkdnY4bHVleWVVM1B6TnErOEgyUXRBT0ZhS3RxN0JadmRrbk50Zmt1SG1UMHQ0OW1Ec1hydDdrZFl1VzkyMUplUUFBQU1BT2JGbjdRSmExOVk4NE5xMjFQdE1tMW0zU0hCaXZCTzFRSVo1WjJUZGliL2I5ZDJ2T3AxNi9SNzV3dzZJOCtIakhPdGVQbXpjcHo2NzY4N3FtK3VwODdiMXpjOHN2VitRN2R5MUozMEJwbTlVUEFBQUFiTCsrZisreWZQbW1wMGNjVzN2cS9mcTdsNjczdFBwNy8zcFczbm5peksxWklsUTBRVHRVcU9hRzZzdy9hVmJlOU5KZFVsdGRsZlBmdkZkZWMrR0M5QmZXSDU2Ly90anBPWGpPaEJ3OFowTGVmdnlNWFBYalovUGR1d1h1QUFBQXdJWk5tMWlYZWJNbnJHZXNmdWpuOWM5eG1wM3hUZEFPRmFhbU9ubnQwZFB6N3BOM3k4NFQ2MUlzSmRmZnZTeGZ2SEhST2lGN2JVMVZrdVM1RWZyVnR5M09zeXY3OC81VFptZjNhUTM1MkdtNzUyMHZuNUVyYm5rbTM3OTNhUWFMMi9qRkFBQUFBTnVGMXg0OUxhODlldG9HNTV4K3pMU2Nmc3lHNThCNEpXaUhDbEZUbmZ6MTgzZk8zNTA0TTNPbU5TWkpGanpabVF1dmZ6SUxGM1d2TTdlcHZqcXZPV3JOWDJ5ck9nZldHZnZSUXl0ejI0SlZPZjFGMHpMLzVGbVozbHFYVDUreFI5NTIvSXg4NWVhbjgxOFBiSG9mZUFBQUFHQjhlUER4anR6Lys0NFJ4NDdZdXlWSDdOMlNCeDdyeUFPUGpUem4rZnUwNVBDOVdyWm1pVkRSQk8xUUlVNTUvczc1djIvYUswbnk5SXErZlBIR1Jibmx3WlZKa3FxcTVON1BQejlOOWRYRDF0MzVjTnV3YTRWaUtkKzZjMmx1dW45RjNuM3lySnh4M1BUc1BxMGg3LzNyV2ZuSmdwVmF5UUFBQUFEcnVQLzNIUnZzMFg3RTNpMjU3OUgyRGZab0Y3UXpuZ25hb1VMY2NOL3luSFQ0MU56elNGdXV2V05KQ29OL0RzTkxwZVRCeHpveWQvYUVWRld0K1hwWlczOXUvZVhLWEh2SDR2WHUyZEV6bUgvNjNsUDU3cytXNXVOL3MzdXV2bTJ4a0IwQUFBQUFScG1nSFNySS9Dc2UyYUt4alhsOFNVLysvaXRidmg0QUFBQUFXRDlCT3dBQUFBQ01jKzg4Y1diZWVlTE1EYzZaZjlKdW1YL1NidHVvSXRpK0NOb0JBQUFBWUp4YjFqNlFaVzM5STQ1TmE2M1B0SWwxbXpRSHhpdEJPd0FBQUFDTWM5Ky9kOWtHSDRZNi82VGRjdjNkU3pmNE1OU05uWWlISFptZ0hRQUFBQURHcWN0dmZtYTk0Zm5tK1BKTlQ2ODNxSWZ4b0hxc0N3QUFBQUFBZ08yWkUrMEFBQUFBTUk3czBscWYvLzdzb1p1OWJuTWZodnFxQ3hia3lhVzltMzBmMkI0SjJnRUFBQUJnSEJrc2xiS2lZMkNqODNacXJFMURYZFd3NiswOWd4a29GRGQrbjJKcGkrcUQ3WkdnSFFBQUFBREdrZVh0QTNuWlAveHlnM05PZWNIVWZQcU1QZFBlVTh5Q0p6dHo3TnpXM1Bkb2U1NjNSMHVXcnU3UHUvL2xrU3hlMWIrTktvYktwMGM3QUFBQUFKQWthYXlyenRtbno4bUZiOTQ3SFQyRGVmc1hGK2JYVDNVbVNSNTRyQ01mK05ydnN2dTB4bHo3b1FOenlKeWR4cmhhcUJ5Q2RnQUFBQUFneDg1cnpmZlBPVGhuSHJkTGZ2Rm9SOTU0OGNONTlJODk2OHk1KzdkdGVkK1Z2MHQ5WFhYKy9mL015em1uNzVHV3Bwb3hxaGdxaDlZeEFBQUFBRENPSFRKbnA4dy9lYmU4YUc1ckJnWkx1ZXpHUmJucXg4K210SjRXNi9jODBwYlhmLzdYdWVodCsrWU54MDNQaVlkT3lYVjNMczUzNzE2YWxSMkZiVnM4VkFoQk93QUFBQUNNTTlWVnlYSHpKdVhNRisrU1l3NW9UWkxjL3ZEcVhQVDlwL0tIWlgwYlhmL0hsZjE1NjZVTDg0NFRaK1p0eDgvSWUxNDVLKy84cTkzeTQxK3R6RTkvdlRyM1BOS1cxVjFDZDhZUFFUc0FBQUFBakNQSEhOQ2F6N3h4eit6U1dwOGtXZkJVWi83NXBtZHl6eU50bTdWUG9WaktGYmM4aysvOGJFbm1uelFycDcxd1drNCtmR3BPUG54cVNxWGtZMWYvUHJmK2N1WFdlQWxRY1FUdEFBQUFBRENPM1B0SVcrNTh1QzB6cDlUblgzLzh4L3ppMFk2eTlsdlpVY2dGMzMweVg3cHBVVTQrZkdwZWRlUzAzUGU3ZGlFNzQ0cWdIUUFBQUFER2tXSXArZXkzbnhqMWZkdTdCL1B0dTVibTIzY3RIZlc5b2RJSjJnRUFBQUNBOWJyODVtZHkrYzNQakhVWlVOR3F4N29BQUFBQUFBRFluZ25hQVFBQUFBQ2dERnJIN09EMjM2MTVyRXNBdHRDMDFycXhMZ0VBQUFDQVRTQm8zOEY5OTJNSGpYVUpBQUFBQUFBN05LMWpBQUFBQUFDZ0RJSjJBQUFBQUFBb2c2QWRBQUFBQUFES0lHZ0hBQUFBQUlBeUNOb0JBQUFBQUtBTWduWUFBQUFBQUNoRDdWZ1hBQUFBQUFCVXNQYkhVL1A0ZDFKVktxU3c5eHVUaVh1TmRVVlFjUVR0QUFBQUFNRDZGUXVwNmx1VlVuRWdLUmJHdWhxb1NJSjJBQUFBQUpJazMvbm9RV05kQWhYb04vODdrQzlkWEp1Qi9tSStkT2FlbVh1UTl3bkQxZFZValhVSlkwclFEZ0FBQUVDUzVJQlp6V05kQWhXb2EwbGphcXVyTWxpVjdENnQwZnNFUnVCaHFBQUFBQUFBVUFaQk93QUFBQUFBbEVIUURnQUFBQUFBWlJDMEF3QUFBQUJBR1FUdEFBQUFBQUJRQmtFN0FBQUFBQUNVUWRBT0FBQUFBQUJsRUxRREFBQUFBRUFaQk8wQUFBQUFBRkFHUVRzQUFBQUFBSlJCMEE0QUFBQUFBR1VRdEFNQUFBQUFRQmtFN1FBQUFBQUFVQVpCT3dBQUFBQUFsRUhRRGdBQUFBQUFaUkMwQXdBQUFBQkFHUVR0QUFBQUFBQlFCa0U3QUFBQUFBQ1VRZEFPQUFBQUFBQmxFTFFEQUFBQUFFQVpCTzBBQUFBQUFGQUdRVHNBQUFBQUFKUkIwQTRBQUFBQUFHVVF0QU1BQUFBQVFCa0U3UUFBQUFBQVVJYmFzUzRBQUFBQUFLZ01oVUloQXdNRDYxenI2K3RMcVZRYStuVlBUODg2NDdXMXRhbXJxOXRtTlVJbEVyUURBQUFBQUVtU2h4NTZLQmRlZU9FNjEzcDdlN042OWVxVVNxV2NmLzc1YVd4c1hHZjhZeC83V0k0Kyt1aHRXU1pVSEVFN0FBQUFBSkFrbVRkdlhsYXRXcFgyOXZZUng1Y3NXYkxPMXhNblRzekJCeCs4TFVxRGlxWkhPd0FBQUFDUUpHbHViczVMWC9yU0pFbXBWTnJnanlSNTBZdGVsQWtUSm94bHlWQVJCTzBBQUFBQXdKQlh2L3JWcWFtcEdmcTZxcXBxblI5cnI5WFUxT1RrazA4ZXF6S2hvZ2phQVFBQUFJQWhjK2JNeWV6WnM0ZEM5ZldaUFh0Mjl0eHp6MjFVRlZRMlFUc0FBQUFBTUtTNXVUbno1czNiNkx6RERqc3NreWRQM2dZVlFlVVR0QU1BQUFBQVF4b2FHakp2M3J6VTFkVWx5VkEvOXVmK3VyYTJOZ2NjY0VDYW1wckdwRWFvTklKMkFBQUFBR0FkQng1NFlDWk5tclRlOGVibTV1eTMzMzdic0NLb2JJSjJBQUFBQUdBZGMrZk96YTY3N2pyMGRhbFVXdWRrKzg0Nzc1eTVjK2VPUldsUWtRVHRBQUFBQU1BNjZ1cnE4cktYdld6RUI2SldWVlhsaEJOT0dHb3RBd2phQVFBQUFJQVJuSFRTU2FtdnJ4OTJ2YTZ1THFlZWV1b1lWQVNWUzlBT0FBQUFBQXl6eXk2NzVNZ2pqMXpuVkh0VlZWV09PT0tJekpneFl3d3JnOG9qYUFjQUFBQUFSblR5eVNldjgzVlZWVlZlOFlwWGpGRTFVTGtFN1FBQUFBREFpSTQ0NG9oTW1qUXBWVlZWcWFxcXlwUXBVM0xZWVllTmRWbFFjUVR0QUFBQUFNQ0ltcHViTTNmdTNLR3Y5OXR2djdTMnRvNWhSVkNaQk8wQUFBQUF3SWorTW1pZk8zZXVvQjFHVUR2V0JRQUFBQUFBbGFtcXFpcjc3NzkvZHRwcHB4UUtoZXkvLy82cHJuWjJGLzZTb0IwQUFBQUFXSzhqampnaTA2Wk5TMmRuWjQ0NDRvaXhMZ2Nxa3FBZEFBQUFBRml2eVpNbjU5aGpqMDFQVDA4bVQ1NDgxdVZBUlJLMEF3QUFBSkFrT2VRRDk0MTFDVlNxanBrcEZRZHpuZmNJNi9IQUYxNlF1cHFxc1M1anpBamFBUUFBQUlBTktrMllOZFlsUUVVVHRBTUFBQUFBRzFSVkxVYUVEZkdJWUFBQUFBQUFLSU9nSFFBQUFBQUF5aUJvQndBQUFBQ0FNZ2phQVFBQUFBQ2dESUoyQUFBQUFBQW9nNkFkQUFBQUFBREtJR2dIQUFBQUFJQXlDTm9CQUFBQUFLQU1nbllBQUFBQUFDaURvQjBBQUFBQUFNb2dhQWNBQUFBQWdESUkyZ0VBQUFBQW9BeUNkZ0FBQUFBQUtJT2dIUUFBQUFBQXlpQm9Cd0FBQUFDQU1namFBUUFBQUFDZ0RJSjJBQUFBQUFBb2c2QWRBQUFBQUFES0lHZ0hBQUFBQUlBeUNOb0JBQUFBQUtBTWduWUFBQUFBQUNpRG9CMEFBQUFBQU1vZ2FBY0FBQUFBZ0RJSTJnRUFBQUFBb0F5Q2RnQUFBQUFBS0lPZ0hRQUFBQUFBeWlCb0J3QUFBQUNBTWdqYUFRQUFBQUNnRElKMkFBQUFBQUFvZzZBZEFBQUFBQURLSUdnSEFBQUFBSUF5Q05vQkFBQUFBS0FNZ25ZQUFBQUFBQ2lEb0IwQUFBQUFBTW9nYUFjQUFBQUFnRElJMmdFQUFBQUFvQXlDZGdBQUFBQUFLSU9nSFFBQUFBQUF5aUJvQndBQUFBQ0FNZ2phQVFBQUFBQ2dESUoyQUFBQUFBQW9nNkFkQUFBQUFBREtJR2dIQUFBQUFJQXlDTm9CQUFBQVlBeWNjZXowL1BkbkRzMEZiOTVyMk5pTEQ1eVVLK2J2bjEwbjE0OUJaY0RtcWgzckFnQUFBQUJnUjNYV0syYmsrRU1tNTRmM0xjKzM3MXE2enRqZXV6Wm5sMG4xbWRCUU0yemQyMTgrSTBmczNaTHZuMzF3THY3K0gvSWY5eXhiN3oydWZNOEJPWHEvaWFOZSsxcFBMdTNOcXk1WWtDUjUyY0dUYzlrNzl0MXE5L3JZMWIvUExRK3VISGI5L2t0ZWtQcmFxckwzNytnWnpJcys4VURaKzhCZkVyUURBQUFBd0ZaeStqSFRNMnRxUTI1YnNHclkyRjY3TmlaSkhuMjJaOWpZdXk3L2JjNDVmWSs4OXVocE9mY05lK2FFUTZmazNPdWV5SkxWL2NQbTN2dElXMWEwRDZ5M2hoZnUzNW9wTGJYNTZmK3VUbGZ2NE5EMStycXFuUEM4S1duckx1U3VoVzNyWGIrMGJmZzl4OHJLamtKS0tXMzJ1cXFxcWt6WlNSVEsxdVBkQlFBQUFBQmJ3VEVIdEdiVzFJYjBEWlR5dlJGT3BPODdzemxKOHJ0bnVvZU45UTJVY3U1MVQrU0J4enJ5eWRmdGtXTU9hTTFsNzlnM2I3ajQ0V0Z6ci9yeHN4dXM0NnIzemMyVWxwWjg0WVkvNU1tbHZVUFhwN2JVNVlUblRja3pLL3B5OWpjZTI2VFhkT2ZDMVhueE9ROE91LzdoMSt5ZVZ4KzVjNzUzejdKYytzTkY2MTIvLzI3TitlcDdEa2hQZnpGL2RkNUR3OFk3bi9PTmdKR2Nlc0d2MHRHejRUa2ptZHBTbC84NS83RE5YZ2ViU3RBT0FBQUFBRnZCNmNkTVQ1TGMvT0R5ck80cXJETzIyNVNHVEo2d0pwcGI4RlRuZXZmNHdYM0xzM0JSVno1OXhwNzVoMnMyTFF6Zm1ncURwV0d2SlVuNkI0cEprcjVDY2NUeHRaNGJrbTlvSG14dkJPMEFBQUFBTU1xbXROVG1wUWROU3BKY2Q4ZVNZZU1IenBtUUpGbmVQakJpTzVqbit2MnpQWG5McFFzM09PZWt3NmZrODIvZFo0TnpmdkRKUTBhOFBtLzJoQ3k0N01nUnh6NTMvVk81N3M3aDlZK1ZuLzNqRVdOZEFveEkwQTRBQUFBQW8yeS9HYzJwclZuejhNNXZmL1NnOWM3YmVXTGRla1B1amZuVU5ZL25odnVXcjNQdDRUOTBEVHNoLy9KRHBtUjZhMTF1dW45RjJuditmSXE4cWI0NnJ6bHFXbFoyRm5MckwxZXNXLy9NNWh5eGQ4c1cxYlUxTFhpeU00UEZ6VjlYVzFPVmcvLzB6UTNZR2dUdEFBQUFBRERLQ3NWU2V2clhud2czMVZjbldkT0x2VmphL0lkN0ptdmF1UHlsbi8yMkxWKys2ZWwxcnUwN296blRXK3Z5TDdjK002eEgrMnVPbXBiRnEvcnl1ZXVmV21mTm1jZnRVcEZCKy93ckh0R2puWW9rYUFjQUFBQ0FVWGIvN3p0eTFFZnZIM0ZzeHVUNjNIcmVvU21Wa2xQTy85VkdXOGNBbFUvUURnQUFBQURiMEFtSFRrbVMvUEtKamxFUDJkOTU0c3k4ODhTWkk0NXRTWS8yU3FOSE81VkswQTRBQUFBQTI5REpoMDlOa3R6eTRJcU56Tng4SS9WbzN4SWo5V2cvNnhVejhzRlRaMjl3M1puSDdaSXpqOXRsby9zMzFWZXZOOXkvOUllTGN0V1BueDF4VEk5MktwV2dIUUFBQUFDMmtmMTNhODZCdTY4SmZNODVmWStjYy9vZW03WCt3MWY5UHYvOXE1WERydC95NE1yYzh1QjlvMUpqSmRPam5Vb2xhQWNBQUFDQWJlVDFMNXFlWk0zRFVtdXJxN0t5bzVCbDdSdHVIMU5WdGVhRWVaSU1idUdEVTBmRE5iY3Z6dmZ1V1RiaTJDZGZ0MGYrNnJBcHVmYU9KYm5pbG1mV3U4Zit1elhucSs4NUlEMzl4ZnpWZVErTk9LZW5mL09EZEJocmduWUFBQUFBMkFhbXROVG1WVWRPUzVKODlsdFA1ak5uN3BtblYvYm16VjlZdU1GMUp4NDJKUmUvYlorMGR3L201NCswanpqblpRZFB6bVh2MkhmVWEzNXVHNWUrZ1ZMNkJnb2p6cXV2clVxU0xHOGZ5T3F1a2Vja1dlYzArb2Jtclk4ZTdWUXFRVHNBQUFBQWJBTnZQMzVtR3VxcThzQmpIZm5QbnkvTGlZZE95Ykh6V25QRTNpMTU0TEdPRWRmVTExYmx2YStjbFNUNXhrOFhwNnR2NU5QZVMxYjM1YWI3UjcvbisrK2Y3ZG1rZVZOYjZwSWtxem9IUnIyRzU5S2puVW9sYUFjQUFBQ0FyV3ptbFBxYytlSTFEd205OHRZL0prbStkTk9pSERPM05lZStZYytjL2srL1RuOWhlRnVZRDV3eU8zdE1iOHhUeTNyejlkdit1Tjc5Rnk3cXp0bmZlR3pyRkw4SjlwamVsQ1JadEx4dnE5NUhqM1lxVmZWWUZ3QUFBQUFBTzdxUHZHWk82bXVyY3M4amJibm5rYllreVcrZTdzNTM3bHFhUGFZMzVydzM3RFZzemFrdjJEbHZmdW11R1N3bW43NzI4ZlFOakYxLzlnM1pkMFpUSmpiWHBGaEtIbm1tZTZ6TGdUSGhSRHNBQUFBQWJFV3ZlTjdrdk9KNWs5TTNVTXI1MzNseW5iRkxibmdxaCt5eFUwNTV3ZFIwOUJieWovL3hWRXFsTldzKzg4WTlVMVdWL09QMVQrYVhqM2VPdVBlODJSUHlyWThjdU5WZnc2ZXVlVHczM0xkOHhMRlRqOXc1U2JKd1VWZmF1amUvNy9wSXpudkRuam50aGRPR1hTKzNSM3RMVTAwV1hIYmswTmRYL2ZqWlhQckRSV1h0Q1ltZ0hRQUFBQUMybWwwbTFlZFRaK3laSlBucWo1NFoxbHFsYjZDVUQzenRkL20zOTgvTm1jZnRrbGxURy9LTFJ6dnl3VmZOVG5WVjh0VWYvVEhmdm12cGV2ZHY2eXBzVm0vMmljMDFPVzdlcExSM0QrYk9oYXMzZWQzNldzTHNNNk1wYnpodVRVdWM2KzllZjUyYnE3TjNNQ3M2dG02Lzl5VHI3WGtQbTB2UURnQUFBQUJiUVgxdFZiNXcxcjZaUEtFMkR6N2VrYXQrL095STg1YXM3czliTDEyWXI3MTNibzZiTnluSHpadVVKTG4wQjR0eTFVOUdYclBXTXl2N1J1ek52djl1emZuVTYvZklGMjVZbEFjZjcxam4rbkh6SnVYWlZYOWUxMVJmbmErOWQyNXUrZVdLZk9ldUpadmNvbWJtbFBwYzlvNzkwbGhYbmQ4ODNaMGYvSHprRSs5YjR1TC8vRU11L3M4L2pOcCtzTFhwMFE0QUFBQUFvNnk2S3ZuOFcvZkp3WE1tWkduYlFENTgxZTlUS0k0Y1lPODJwU0YvZCtKdTJXMXF3enJYRDkyckpmdk5iTjZzK3pZM1ZPZkRyOTQ5MTMza3dCeXl4MDQ1LzgxN3BiNjJhb05yWG4vczlCdzhaMEkrK3ByZGMvT25EODJiWDdKckd1bzJ2T2I1KzdUa0cvL253TXpldVNGTDJ3YnkwYTgvdXQ3WE45cjIzS1V4SHpobGRtNzhoK2Zsc0wxMkduSE9KLzVtVHE3OThJSDUrNy9hTFhObmJkN3ZJV3dKSjlvQkFBQUFZQlRWVkNjWHZIbnZISC9JNVBRT0ZQT2hmMzEwV0J1VUNRMDFlY2xCay9LYW82YmxxUDBtcHFvcTZTK1VjczN0Uy9LYnA3c3kvK1RkOHRLREp1VWxCMDdLeng5dHovVS9XNXFmL3UrcTlCZEdEck5ycXBQWEhqMDk3ejU1dCt3OHNTN0ZVbkw5M2N2eXhSc1hyYk9tdG1aTmdQN2NYYTYrYlhHZVhkbWY5NTh5Tzd0UGE4akhUdHM5YjN2NWpGeHh5elA1L3IxTE0xajg4OXpXNXRxOCs1Vzc1UTNIN3BLcXF1VEpwYjE1ejc4OHN0N1dNcU5sMnNTNm5IRG9sTHpxeUowemIvYUVKRW14bEp6Mnd1bkQrdGRQbmxDYi9YZHJ6b0d6SitTZzNTZmtQYS9jTFV2YkJuTEh3NnZ5M3crdHluMlB0cTN6bW1BMENOb0JBQUFBWUJTOThjVzc1cFZIVEUzdlFESHZ1L0ozV2ZEVW1pQjQ5MmtOZWVIK3JYbkpnWk56MVA0VFUvZW4wSHQxVnlIZnUyZFpycnRqU1phMDlTZEpibjVnUmM0NGRwZTgvUlV6Y3ZSK0UzUDBmaFBUMDEvTVBiOXR5OTIvYllqbEJKc0FBQ0FBU1VSQlZNdUNKenZ6NkxQZFNaSy9mdjdPK2JzVFoyYk90TVlreVlJbk8zUGg5VTltNGFMdWRlcHFxcS9PYTQ1YTg0RFJWWjNyQnY4L2VtaGxibHV3S3FlL2FGcm1uendyMDF2cjh1a3o5c2pianArUnI5ejhkUDdyZ1JXWjBGQ1Q2ejl4VUhacHJVK1MzUER6NWJudytpZlQwNzkxVXV1RGRwK1FseHcwS1M4K2NQSTZwOUtYdFBYblArOWRsdis0WjFrV3Irb2Z0bTVWVnlGdi8rSnZNcjIxTGljZU9qV252R0JxNXMyZWtOT1BtWjdUajVtZXR1NUMvdWZYcS9LamgxYm03dCswWlJzZHhHY0hKMmdIQUFBQWdGRjAzUjFMY3RoZUxmblduVXR5MzZQdHFhMnV5bGZmZTBDTzJMdGxhRTVoc0pRN0hsNmRtKzVma1o4c1dEbnNwUHJBWUNuZnZIMXh2bjNYa3J6NnFHazU4OFc3Wk44WlRUbitrTWs1L3BESldkVlZ5RmxmL0UwTzJuMUMvdStiOWtxU1BMMmlMMSs4Y1ZGdWVYQmxrcVNxS3JuMzg4OVBVLzN3N3RGM1B0dzI3RnFoV01xMzdseWFtKzVma1hlZlBDdG5IRGM5dTA5cnlIdi9lbForc21CbHV2b0c4Nmx2UHA0UHZtcDJMdnIrSC9MQVl4M0Q5aGd0a3lmVTVsL2ZOM2VvOXQ2Qll1NTRlSFZ1L01YeTNQSHc2azBLeDVlMkRlU2J0eS9PTjI5Zm5EMm1OK2JWUjA3THE0N2FPZE1tMXVVMVIwM0w0WHROektzdStOVldldzJNTDRKMkFBQUFBQmhGaFdJcEg3cnEwWFcrUHZlNngvT1Z2ejhnai95eEt6Lzk5ZXJjOGZEcXRIVVhOcnJYd0dBcDE5KzlOTmZmdlRTSDdiVlQvdnI1TytlWUExcno0YXNleldPTGUvTFk0cDZjZFBqVTNQTklXNjY5WTBrS2czOU9vRXVsNU1ISE9qSjM5b1JVVmEzNWVsbGJmMjc5NWNwY2U4Zmk5ZDZ6bzJjdy8vUzlwL0xkbnkzTngvOW05MXg5MitLaEI2VGUrN3Yydk9IaWg3ZjQ5MmJob3E0YzhvSDdOanB2VlZjaDM3cHpTZmFiMlp6L2VtRE5OeU82KzdiODVQeVRTM3R6MlkyTDhxV2JGdVVsQjAzT0cxKzhTMzV3MzNLbjJSazFnbllBQUFBQTJNcitzS3d2cDV4ZjN1bnBYejdlT2F3ZmVaTE12K0tSOWE3WjBOakdQTDZrSjMvL2xTMWZYNjcvOTRORm83NW5zWlQ4ejY5WDVYOSt2V3JVOTJaOEcvNjVFUUFBQUFBQVlKTUoyZ0VBQUFBQW9BeUNkZ0FBQUFBQUtJT2dIUUFBQUFBQXlpQm9Cd0FBQUFDQU1namFBUUFBQUFDZ0RJSjJBQUFBQUFBb2c2QWRBQUFBQUFES0lHZ0hBQUFBQUlBeUNOb0JBQUFBQUtBTWduWUFBQUFBQUNpRG9CMEFBQUFBQU1vZ2FBY0FBQUFBZ0RJSTJnRUFBQUFBb0F5Q2RnQUFBQUFBS0lPZ0hRQUFBQUFBeWlCb0J3QUFBQUNBTWdqYUFRQUFBQUNnRElKMkFBQUFBQUFvZzZBZEFBQUFBQURLSUdnSEFBQUFBSUF5Q05vQkFBQUFBS0FNZ25ZQUFBQUFBQ2lEb0IwQUFBQUFBTW9nYUFjQUFBQUFnRElJMmdFQUFBQUFvQXlDZGdBQUFBQUFLSU9nSFFBQUFBQUF5aUJvQndBQUFBQ0FNZ2phQVFBQUFBQ2dESUoyQUFBQUFBQW9nNkFkQUFBQUFBREtJR2dIQUFBQUFJQXlDTm9CQUFBQUFLQU1nbllBQUFBQUFDaURvQjBBQUFBQUFNb2dhQWNBQUFBQWdESUkyZ0VBQUFBQW9BeUNkZ0FBQUFBQUtJT2dIUUFBQUFBQXlpQm9Cd0FBQUFDQU1namFBUUFBQUFDZ0RJSjJBQUFBQUFBb2c2QWRBQUFBQUFES0lHZ0hBQUFBQUlBeUNOb0JBQUFBQUtBTWduWUFBQUFBQUNpRG9CMEFBQUFBQU1vZ2FBY0FBQUFBZ0RMVWpuVUJBQUFBQUZTRzF4Njk4MWlYUUFYcjcrOVBUVTFOYW1wcXhyb1VLbEJkVGRWWWx6Q21CTzBBQUFBQUpFaytjK1plWTEwQ0ZheXFxaXJublhkZXpqMzMzTEV1QlNxTzFqRUFBQUFBQUZBR1FUc0FBQUFBQUpSQjBBNEFBQUFBQUdVUXRBTUFBQUFBUUJrRTdRQUFBQUFBVUFaQk93QUFBQUFBbEVIUURnQUFBQUFBWlJDMEF3QUFBQUJBR1FUdEFBQUFBQUJRQmtFN0FBQUFBQUNVUWRBT0FBQUFBQUJsRUxRREFBQUFBRUFaQk8wQUFBQUFBRkFHUVRzQUFBQUFBSlJCMEE0QUFBQUFBR1VRdEFNQUFBQUFRQmtFN1FBQUFBQUFVQVpCT3dBQUFBQUFsRUhRRGdBQUFBQUFaUkMwQXdBQUFBQkFHUVR0QUFBQUFBQlFCa0U3QUFBQUFBQ1VRZEFPQUFBQUFBQmxFTFFEQUFBQUFFQVpCTzBBQUFBQUFGQUdRVHNBQUFBQUFKUkIwQTRBQUFBQUFHVVF0QU1BQUFBQVFCa0U3UUFBQUFBQVVBWkJPd0FBQUFDTUk4VmlNVmRkZFZWT08rMjB0TGUzYjdYN1BQVFFRL25idi8zYlBQdnNzMXZ0SGxBcEJPMEFBQUFBTUk2VVNxV3NYcjA2Ly9WZi81V3ZmdldyR1JnWUdQVjdMRjY4T0c5NzI5dnkyOS8rTnYzOS9hTytQMVFhUVRzQUFBQUFqQ00xTlRWNS8vdmZuOWU5N25YNS9PYy9ud1VMRm96cS9uMTlmWmsvZjM2ZWVPS0pmT0lUbjhpY09YTkdkWCtvUklKMkFBQUFBQmhuYW10cjg0VXZmQ0c3N3JwclB2akJEMmJWcWxXanN1L2c0R0MrL3ZXdjUvYmJiODliM3ZLV25IcnFxYU95TDFRNlFUc0FBQUFBakVOVHAwN054ei8rOFN4Y3VEQ2YvT1FuMDlQVFUvYWVqei8rZUM2OTlOSWNkOXh4K2N4blBqTUtWY0wyUWRBT0FBQUFBT05RZFhWMXpqampqSng1NXBuNSt0ZS9udXV1dTY3c1BkLzR4amVtV0N6bW9vc3V5cFFwVTBhaFN0ZytDTm9CQUFBQVlKeXFxYW5KUlJkZGxCZSs4SVg1MHBlK2xJVUxGMjdSUHIyOXZmblFoejZVaFFzWDV1eXp6ODQrKyt3enlwVkNaUk8wQXdBQUFNQTQxdFRVbEM5LytjdnA3T3pNeHovKzhmVDE5VzNXK2xLcGxCLys4SWU1K3VxcmM5cHBwK1gxcjM5OXFxdkZqb3d2M3ZFQUFBQUFNTTd0di8vKytlQUhQNWlmL3ZTbk9lKzg4elpyN2ZMbHkvUFp6MzQyczJiTnlqLy84eitudWJsNUsxVUpsVXZRRGdBQUFBRGpYSFYxZGQ3NjFyZm1sRk5PeVZlKzhwWGNjTU1OS1JhTEcxM1gwOU9UajN6a0kxbTllblgrL2QvL1BSTW5UdHdHMVVMbEViUURBQUFBQU5scHA1MXkwVVVYWmU3Y3Vibm9vb3Z5MUZOUGJYQitvVkRJRlZkY2tlOTg1enY1MEljK2xMbHo1MjZqU3FIeUNOb0JBQUFBZ0NUSnJGbXo4c1V2ZmpHUFBmYllSbHZJM0hiYmJibmtra3R5ekRISDVGM3ZlbGZxNit1M1VaVlFlUVR0QUFBQUFNQ1F3dzgvUE85NzMvdnkzZTkrTjVkZmZua0toY0t3T2N1V0xjdEZGMTJVMXRiV1hIWFZWV2xxYWhxRFNxRnlDTm9CQUFBQWdDRzF0YlU1NjZ5emN2enh4K2U4ODg3TG5YZmVPV3pPK2VlZm40VUxGK2JpaXkvT25EbHp4cUJLcUN5Q2RnQUFBQUJnSGJ2dXVtc3V2L3p5MU5UVTVKSkxMc215WmN1R3hxNjU1cHA4OWF0ZnpWbG5uWldYdi96bFkxZ2xWQTVCT3dBQUFBQXd6T3pacy9PMXIzMHR0OTkrZXk2Ly9QSWt5VU1QUFpSenpqa24rKzIzWCtiUG42OHZPL3lKb0IwQUFBQUFHTkhMWC83eXZQdmQ3ODdGRjErY0pMbnh4aHRUVlZXVmYvdTNmOHZNbVRQSHVEcW9ISUoyQUFBQUFHQkVEUTBOK2NBSFBwQjk5dGtuU1ZKVFU1Ti8rcWQveW1HSEhUYkdsVUZscVIzckFnQUFBQUNBeWxRc0ZqTjkrdlJjZSsyMWVlS0pKL0wwMDAvbjVKTlBUcWxVU2xWVjFWaVhCeFZEMEE0QUFBQUFyS05RS0tTbnB5ZTl2YjNwNmVsSlUxTlQ1czJibDNuejVxV3pzek9GUWlGTlRVMXBiR3dVdUVNRTdRQUFBQURBbnd3T0RxYXRyUzI5dmIwcEZBb3BsVXJENWd3TURHUmdZQ0JkWFYycHI2OVBTMHRMbXBxYUJPNk1hNEoyQUFBQUFCakhTcVZTQ29WQ09qbzYwdG5aT1dLNFBwSmlzWmplM3Q3MDl2YW1ycTR1cmEydGFXeHNURTFOelZhdUdDcVBvQjBBQUFBQXhxRy9iQSt6cVFIN1NBWUdCcko4K2ZMVTFkV2xxYWtwVFUxTmFXaG9jTXFkY1VQUURnQUFBQURqU0xGWVRGdGJXM3A2ZXRiYkhtWkxQYmV0VEYxZFhWcGFXdExjM0R4cSswT2xFclFEQUFBQXdBNnVXQ3htY0hBd1hWMWRhV3RyMityM0d4d2N6T0RnNEZCYm1VbVRKcVdob1VGYkdYWllnbllBQUFBQTJFRU5EZzZ1MHg2bVdDeHU4eG9HQmdheWJObXkxTlhWcGJtNU9ZMk5qZHJLc01NUnRBTUFBQURBRHFaWUxLYTl2VDNkM2QyajNoNW1TdzBNREtTOXZUMmRuWjJwcTZ2THhJa1QwOWpZS0hCbmh5Qm9Cd0FBQUlBZFFLbFV5dURnWURvNk90TFoyVGttcDljM1ptMk5hOXZLMU5mWEQ3V1ZxYTZ1SHV2eVlJc0oybmR3aDN6Z3ZyRXVBZGhDN3poaFp0NS95cXl4TGdNQUFJQUtWeXdXMDkzZFBhYnRZYlpVZjM5L2xpNWRtcnE2dWpRMU5hV3BxVWxiR2JaTGduWUFBQUFBMkE0TkRnNm1zN016WFYxZEZkTWVaa3NOREF5a1VDaWtxNnNyOWZYMWFXbHAwVmFHN1lxZ0hRQUFBQUMyRTJ0YnIzUjJkcWFqbzJPN09yMitNV3RmVzA5UFQzcDZldExRMExCT0gzZWhPNVZNMEE0QUFBQUFGVzV0VC9PMUxXSjJwSUI5ZmZyNitySnMyYkxVMTllbnFha3BqWTJOMnNwUXNRVHRBQUFBQUZDaFNxVlMydHZiZDRqMk1GdXF2NzgvL2YzOTZlenNUSDE5L2RBcGQ2Z2tnbllBQUFBQXFDQ2xVaW1GUWlIZDNkMXBiMjhmRjZmWE44VkliV1VhR2hwU1UxTXoxcVdCb0IwQUFBQUFLc0hhSUxtM3R6ZTl2YjBaSEJ3YzY1SXExbCsybFdscWFrcDlmYjIyTW93WlFUc0FBQUFBaktGaXNaak96czUwZFhWbFlHQmdYTGFIMlZKcjI4cDBkWFdscnE0dUxTMHRhV3BxR3V1eUdJY0U3UUFBQUFDd2pSV0x4UlNMeFhSMWRhV3RyVTI0WHFaQ29aQkNvVERVVm1iU3BFbXByNjlQZFhYMVdKZkdPQ0ZvQndBQUFJQnRwRmdzRHZVWjF4NW02K2pyNjh1U0pVdFNYMStmNXVibU5EWTJwcUdoWWF6TFlnY25hQWNBQUFDQXJleTU3V0VLaFlJSG5HNEQvZjM5R1JnWVNFZEhSK3JyNjRjZW5xcVBPMXVEb0IwQUFBQUF0b0pTcVRRVXNIZDBkRGk5UGdaS3BkSTZENW10cjYvUHBFbVRVbGRYbCtycWFxRTdvMGJRRGdBQUFBQ2pxRlFxcGJ1N083Mjl2ZW5wNlJHd1Y0aFNxVFRVVnFhaG9TR05qWTFwYW1yU1ZvWlJJV2dIQUFBQWdGR3c5dUdtbloyZEtSUUtLWlZLSG5KYW9mcjYrdExYMTVldXJxN1UxOWVudGJVMTlmWDFZMTBXMnpGQk93QUFBQUJzb2JYdFlicTZ1dExlM3U3MCtuYW1VQ2lrVUNpa3U3czdqWTJOYVcxdFRWMWRYV3BxYXNhNk5MWXpnbllBQUFBQTJFekZZakY5ZlgxRExXSUtoY0pZbDBTWmVudDcwOWZYbC9yNitqUTFOYVd4c1RIMTlmWDZ1TE5KQk8wQUFBQUFzQms2T3p1SDJzTTR3YjVqV2R2SHZiKy9QeDBkSGV1Y2NvY05FYlFEQUFBQXdFWU1EZzZtcDZjbnExYXRTckZZSE90eTJNcEtwVklHQndmVDFkV1ZycTZ1TkRVMURRWHUxZFhWWTEwZUZValFEZ0FBQUFBaktKVks2ZW5wU1c5dmIzcDdlek13TUREV0pURkcxcjRQR2hvYTB0alltT2JtWnFmY1dZZWdIUUFBQUFDZW8xUXFwYXVyS3gwZEhSa2NITlFlaGlScjNoZHIrN2gzZG5hbW9hRWhFeWRPVEgxOS9WaVhSZ1VRdEFNQUFBQXc3cFZLcFJTTHhYUjNkNmU5dmQzRFRWbXZVcW1VUXFHUVFxRXcxRlptMHFSSnFhMnRUVlZWbFllbmpsT0NkZ0FBQUFER3JiV25sSHQ2ZXRMVDB5TmdaN090ZmU4ME5qYW1xYWtwVFUxTjJzcU1RNEoyQUFBQUFNYWRVcW1VN3U3dWRIUjBaR0JnSUtWU0thVlNhYXpMWWp1MnRxMU1SMGRIR2hzYjA5TFNvcTNNT0NKb0J3QUFBR0JjV05zZXBxZW5KKzN0N1I1dXlxaGIyMWFtczdOenFLM014SWtUVTFkWHA2M01EazdRRGdBQUFNQU9UWHNZeHNMYVQwMzA5UFNrb2FGQlc1a2RuS0FkQUFBQWdCM1MycUN6czdNei9mMzlLUmFMWTEwUzQ5RGFiL1QwOXZZT3RaVnBiVzFOYmExb2RrZmlUeE1BQUFDQUhjcmc0R0I2ZTN2VDF0YW1QUXdWWlcxYm1jN096a3lZTUNFdExTMnBxNnRMZFhYMVdKZEdtUVR0QUFBQUFHejNTcVZTK3ZyNjB0M2RuZDdlWGdFN0ZhK3JxeXZkM2QxcGJHeE1ZMk5qbXB1YlUxTlRvNC83ZGtyUURnQUFBTUIycmJ1N094MGRIUmtZR01qZzRPQllsd09ickZRcXBhZW5aNml0ek5xSHAyb3JzLzN4SndZQUFBREFkbWR3Y0RCOWZYMVp0V3FWaDV1eTNTdVZTaWtVQ3VubzZFaG5aMmVhbTV1SCtyZzc0YjU5RUxRREFBQUFzRjFZMng2bXQ3YzMzZDNkMnNPd1F5cVZTaU8ybFhIS3ZiTDUwd0VBQUFDZ29wVktwZlQyOXFhOXZUMERBd01wRm9zcGxVcGpYUlpzVmM5dEs5UFoyWm5HeHNhaGg2ZFNlUVR0QUFBQUFGU2tZckdZM3Q3ZXRMVzFwYisvZjZ6TGdURlJLcFV5TURDUWdZR0JkSFoyWnNLRUNVTjkzTFdWcVJ5Q2RnQUFBQUFxU205dmIzcDZldExUMDZNOUREeEhxVlJLWjJkbnVycTYwdFRVTk5SYXhpbjNzU2RvQndBQUFHRE1hUThEbTY1VUtxVzd1enM5UFQycHFhbEpjM056Sms2Y21KcWFtckV1YmR5cUh1c0NvQks5OWZoZHMrQ3lJM1BtY2J1TWRTa0FBQUN3d3lxVlNpa1dpK251N3M2U0pVdXlkT25TOVBiMlpuQndVTWdPbTZCVUtxVlFLS1M5dlQzUFBQTk1WcXhZTWZTTktyWXRKOXBoSzZtcVN1cHFxbEpYVTUzNjJxclUxZjdwMTNWVmFheXJUbU45ZFJycmF2NzBjM1dhRzZvem9iRm16WStHTlQrM05OWms0b1RhdERiLzZjZUVtbnptVzAva2xnZFhibFl0Wnh3N1BlODRZV2J1ZTdROW4vem00K3VNdmZqQVNYbmppM2ZKZWQ5NklvdFg2WGNIQUFEQTFsY3FsZExYMXpmVUlrYi9kU2pmMnJZeTNkM2RReTFsbXBxYVVsc3JBdDRXL0M3RFZuTDl4dzdPdmpPYlJtV3ZnY0ZTT25vR3M3S2prTmJta2YreFBlc1ZNM0w4SVpQencvdVc1OXQzTFYxbmJPOWRtN1BMcFBwTWFCais4YUczdjN4R2p0aTdKZDgvKytCYy9QMC81RC91V2JiZU9xNTh6d0U1ZXIrSjViMllEWGh5YVc5ZWRjR0NyYlkvQUFBQVkyOXRlNWorL3Y0TURnNk9kVG5zWUVxbFV2YmFhNitVU3FYY2V1dXQyWC8vL1hQdnZmZm1nZ3N1eURubm5KTVh2dkNGbzNhdk8rNjRJMjk1eTF1eSsrNjc1NDQ3N2hpMWZjdTE5bE1pUFQwOTZlam9TRk5UazdZeTI0Q2duWEhqeSsvY0x5OCtjTkptclRuNzlEazUrL1E1bXpUM0wwUGkvLzdWeW5UMFRremZRREc5L2FYMEY0cnBIU2ltYjZDWXZ2NWkrZ3JGSExudnhCeXl4MDc1MVJPZCtlYnRpOVBWTjVqdTNtSzYrZ2JUMWJ2bVIyZnZZQVlHTi81eHVkT1BtWjVaVXh0eTI0SlZ3OGIyMnJVeFNmTG9zejNEeHQ1MStXOXp6dWw3NUxWSFQ4dTViOWd6Snh3NkplZGU5MFNXckI1K211RGVSOXF5b24zOUQ2RjU0ZjZ0bWRKU201Lys3K3AwOWY3NVA1YnE2NnB5d3ZPbXBLMjdrTHNXdHExMy9kSTJKeGdBQUFCMlJJT0RnK25yNjB0N2UzdjYrdnJHdXB3a3lUWFhYSk5QZnZLVFplL3ozdmUrTngvNXlFZUdYYi80NG92ejVTOS91ZXo5MTJmKy9QbjUrTWMvbmlUNTBZOStsSGUrODUxYjdWNWYrdEtYY3VxcHB3Njd2di8rKzQvS24rZkVpUk96WU1Ib0hMeXJxcXBLUTBORGVudDdoOW9QTFZ1MkxFODg4VVRPUFBQTW5IYmFhVG52dlBNeWNXTDVCd25YN2wrcEo4WkxwVklHQmdZeU1EQ1E5dmIydExTMHBLV2xKVFUxTmFtdTFsRjh0RlhtdXdDMmd0OHY3a2xMMDRiZjhsTmFhak5uV3VPdzY0OCsyNVBPbmcxL2wvMlBxOWI5aStXS1c1N0pGYmM4czk3NWpYWFZlYzFSMDVJa2wvNXdVUjU0ckdPRCsyL0lNUWUwWnRiVWh2UU5sUEs5RVU2azd6dXpPVW55dTJlNmg0MzFEWlJ5N25WUDVJSEhPdkxKMSsyUll3NW96V1h2MkRkdnVQamhZWE92K3ZHekc2empxdmZOelpTV2xuemhoai9reWFXOVE5ZW50dFRsaE9kTnlUTXIrbkwyTng3YjNKY0hBQURBZG1oN2FROHpkZXJVekp3NWM3UFhMVjI2TkV1V0xGbnYrSVFKRXpKdDJyUk4zbS81OHVVcGxVcHBiR3hNUzB2TFJ1ZFBtREJoay9mZTJuYmVlZWRVVlZWdDlycGlzWmdWSzFhTWVqM056YzNwN2UxTm9WQklrcHg2NnFrNTVKQkQ4b0VQZkNEZis5NzNjdmZkZCtlNjY2N0xubnZ1V2RaOTFuNGlZM3M1S2Q3UjBaR3VycTZobGpKTlRVM2JUZTNiQTBFNzQ4YWxQMWkwd2ZGWEhqRTE1NXkrUjFaM0ZmTGdZeDA1L3BESitaOWZyODd6OTJuSnBBbTErZkpOVCtkL2ZqMzh0UGo2blBXS0dmbmdxYk0zYWU2L3ZYL3VKdTk3NlE4WERRdThUejltZXBMazVnZVhaM1ZYWVoyeDNhWTBaUEtFTmYrb0wzaXFjNzM3L3VDKzVWbTRxQ3VmUG1QUC9NTTF3bkFBQUFDMjNOcVdGZHREZTVpVFRqb3BGMXh3d1dhdis5S1h2cFJMTHJsa3ZlUHo1OC9QL1Buek43cFBxVlRLNXo3M3VWeDU1WldaTm0xYXJydnV1dXl6eno2YlZjdExYL3JTUFBqZ2c4T3VYM2poaGJuKyt1dHp4aGxuREoxK0g4bHZmdk9idk9sTmIwcHpjM1B1dXV1dVllTTc3YlRUQnU5LzIyMjNiZEVKOFdYTGx1VUZMM2pCWnEvYm1LYW1OYTE4QndiKy9LbjhPWFBtNVBycnI4OGxsMXlTNWN1WFo0ODk5aGdhdS8zMjIvUFd0NzUxay9hKyt1cXI4NUtYdkNUSm40UDJTajNSUHBLMWJXWFd0bkJxYm00ZU91Vk9lYmFmZHdGc0pmTm1UOGo3VDVtVll3NW96YStmNnNwSHYvNW9UamgwU280L1pITHVmYVF0Ri8vblUvbjhXL2ZKWmUvWU4zYzh2RHBmdWZtWkxGelV0ZEY5bjFyYXU5NWd2cUd1T3NjYzBKb2t1ZnUzYmVrYjJQUW5RVC8xbkpQaXlacFQrQzg5YUUxTG5PdnVHUDZkOUFQbnJQa085L0wyZ1JIYndUelg3NS90eVZzdVhiakJPU2NkUGlXZmYrdUcvOEwvd1NjUEdmSDZ2TmtUc3VDeUkwY2MrOXoxVCtXNk85ZC9FZ0FBQUtoTWhhZWV5dW92WEp6V2Q4MVAzZHg1STg3cHZ1bkd0SC8xWHpMdDhuOUp6WXpOUHpsTTVTdVZTaWtXaStudjcwOWJXMXZGdEllcGRIMTlmZm53aHorY0cyKzhNVHZ2dkhPdXZmYmF6UTdaazZTK3ZqNVRwa3daZHIyaG9XSG81NUhHMTNydUNmb056UnNySjU1NFluNzN1OTl0OXJyWHZ2YTE2eDM3N25lL215UzU4c29yaDM2Zk50ZmFFL04xZFhWYnRINHNGWXZGRkl2RnRMVzFwYjI5UFR2dHRGTmFXMXRUWFYyOVJaOU9RTkRPT0hia3ZoUHpwcGZza3BjZFBEbTlBOFZjK3NORitmcFBuazN4TDlxaEwxcmVsemQ5NGVHODZTVzc1ajJ2bkpWdmZXUlM3bHk0T3RmZHNTUjMvN1p0MlB5MWZySmdWWDR5UXIvMG11cmsvLzN0ZmttU3I5LzJiTDV3dzRaUDJtL01mak9hVTF1ejVsK0EzLzdvUWV1ZHQvUEV1dldHM0J2enFXc2V6dzMzTFYvbjJzTi82QnAyUXY3bGgweko5TmE2M0hUL2lyVDMvUGxrZlZQOW1qWTVLenNMdWZXWDYzNGtiTCtaelRsaTc0MS9KQTRBQUVaYjV6WGZTT2QzdjFQV0hzMm52Q29UMy9GM1NaTGlxcFZaZmZGRjJlbjFiMGo5ODU0M0dpVnVGN3ArOEo4cC9QR1oxT3k2NjFpWHdoanA3KzlQVDA5UGVucDZ0c3VBL1pwcnJzazExMXl6emUvN3h6LytNZTk3My92eXdBTVBwS3FxS3N1WEw4LzU1NStmODg4L1ArOTYxN3R5MWxsbjViVFRUdHN1UXM5RERobjV3TjFvYTJobzJLU1QxNzI5dlNrV2k1czB2NmFtSmk5NjBZdlc2UkgvczUvOUxQUG56OC9zMmJOejAwMDNyVE8vdWJsNTZOZmI0NG4ya1pSS3BhRzJNazFOVFVPdFpaeHkzenpiOTdzQU50UE1LZlU1NGRBcCtac1hUczhlMHh0VEtpVTMvbUpGTHJ0eDBRWlBleGRMeVRkK3VqZzMvbUo1L3U2dlp1YjFMOW9seDgyYmxDVnQvYm54dmhYNTZjT3I4dXNuTzFNc3JUbTEvYTJQSExoSjlienQrQmw1Mi9FenR1aTFyRzBoVXlpVzB0Ty8vaFB4VGZWckhtN1JOMUJLc2JUeGg2cU9wRERDdzFoLzl0dTJmUG1tcDllNXR1K001a3h2cmN1LzNQck1zQjd0cnpscVdoYXY2c3Zucm45cW5UVm5IcmVMb0gwcnUvLysrek5yMXF6czZuOThBQUJHTk9IMDE2VjZJMjBSL2xLcHJ5K2QxMTI3enJXcXV2b1VPenV6OHZ6UFpQSTUvNUNHd3c1UDN5L3V5Nm9ML3U4bTcxdC95UE15NWJQbkowbFdmdkxzOUQvOHY1dFYxMStxTzJCdXB2N2o1MVBxNnNxU043MmhyTDNXZXU2cDlPTEtsZW01L2FkcFB2bVZxWjVjL2luWTdsdHVUdnNWWDltaXRSUGY5ZTQwbjNSeTJUVnNydmJML3puZHQ5NnlXV3Nhamp3cWs4LzVoNjFVMGJiVDE5ZVh0cmEyREF3TURKM3MzUjd0dXV1dTJYdnZ2VGQ3M2ROUFA1Mm5ubnBxNHhOSGNPdXR0K1pqSC90WTJ0cmFjdFJSUitXb280N0tGNy80eFNUSlF3ODlsQ2VmZkRJZi92Q0g4ODF2ZmpQbm5udHVEajMwMEMyNno3WnkyR0dIYlZFb1d5Z1U4dEJERDIzeS9DdXZ2SEtvYmN1R25Ibm1tYm5ubm50eTZhV1g1dVNUTiszZkM4OXRmYk0yVEsrdXJsN24rcFZYWHBrTEw3eHcyTm9ISDN4d25WWTBJL25SajM2VS9mYmJiNU5xR1N2RllqRmRYVjNwN3U1T2JXMXRKa3lZa0oxMjJrbmd2b2tFN1l3THo5K25KUjk1emU2Wk4zdE5HNVZDc1pRZjNMYzgvL3JqUCthSkpiM0Q1bDk5MitKY2ZkdmlZZGRYZFJYeStlLzlJVmY5K05tY2NlejB2TzZZWGZLM0o4ekkzNTR3STIzZGhaejk3NC9seVEyMGpKa3hwU0VIN05hY3dXSnl4OE9iM3U5OUpHdGJ5TnovKzQ0YzlkSDdSNzdmNVByY2V0NmhLWldTVTg3LzFVWmJ4N0Q5S3hRSzZlN3V6cXBWcTNMampUZm01cHR2VGtkSFJ6NzN1YzhKMnY4L2UvY2RKbVY1ZUgzOFBOUHJObGhnNlVVNjJGQ3hZcVNvQ0JvVkxBVGVxTVQ0aTdHWGFFekVpZzI3MFdDSnhvcFJVV01VUVJUc2lxQWdTQWNwZ3NJdXNHeWZQdlArTWU2d3k4ejJYWFpodjUvcjhncjcxSHNHTWd4bjdqazNBQUJBRlZ3bm55Snp1L1oxT2lkYVZKUWN0SHM4eXJyOVR1MjY0WHJ0dnVjdVpkMXlXMkpmMnY5ZEtsTjZlclhYTEgzcnpVby9PNDQvUWRZS0ZSTEJWYXNVV3J0R3JsTkh5MGhSYytEN2VMNWtOc3M1YkU4SVpXNGZmdzlvT0oxcWM5LzlTZWRFZHUxU3diUjdsWGJ4SmJMMjdpMUpDdi8wa3dxZitJZlNyNzVHbGhRMUwrYTJleFozTEhscnBneXpXWjd4NXlTMjdiemlNb1czL0pUeU1lNjQ5UCtTdGpsSGpsTDY1VmRXMnBaK3hWVXlmdTFZVHR6cnRWZWxhRlNlQ1JNcmJZLzVmQ3I4eDZNcDc3ZXZHQjZQMHY5OGVhMk9MWDdoMzAwOG1xWVZpVVFVRG9kVlVGQ2dRQ0NnV0QwbmRMVWtJMGFNYUpLTzlsU0tpb3AwMzMzM0pXYlFUNW8wU2JmZWVxdG16Tmp6ZW5MNjZhZHJ5SkFobWpKbGl1Yk5tNmV6eno1YkV5Wk0wQTAzM0tEMEdsNUhtc3NMTDd6UW9qcmF5NFB5a3BLcTE2cmIxK3BiVDlNY1lyR1lRcUdRQ2dvS1ZGUlVKSy9YbXdqYzk0ZHZXRFFYZ25hMENqOXNMcEV2R05XQ05VWDZlUGx1SGRyRG96T09hcXN6am1yYm9PdCt0cUpBYzViczBpbUh0WkhOWWlTcVpLNzYxN3FrWTUwMmsvNXpmYnphNVQrZjUrcSt0K3IzcVhkZGpEbzBQcU5reWNiaVJnL1pMem01b3k0NU9YVzNZbjA2MmxGL2tVaEVQLy84czVZdlg2NFZLMVpvNWNxVldyVnFWV0xSbDVvV3JRRUFBRURqTVdWa0tQT1cyMVQwNUQ5bDZaQ2owTVlOa2lUN2tDR1Z3dnp0Wi85V2FYLzRvMXhqeGlhMitUNzVXREgvbm9sQXJ0R25WYnAyeVNzdktiUjJqVHpuVFpBcE16UHAzb0dsUzJYWXJQSmU5SWNVQXpQSjJyZGY4dVp0djBpU0xGMjZKTzIzZHVzdVM0K2VWVDdXeUk0ZEt2dGdqanhublMxVGVvYktQcGl0NExKbGNvMGRLKzJWdlFhWC95RC9GNS9MTTJGaTBnY09sczVka3E1dFAvSW9tZllLN2NybXpKWWlFVG1PUGE3UzltaFJVWlZqM0ZjTW15MXBYRlVwZWZPTkpoNU40eXNQM2ZibmVwaVc0TzIzMzliZGQ5K3RIVHQyS0QwOVhYZmRkWmZHamgyYjh0aU9IVHZxMldlZjFYdnZ2YWZiYjc5ZHI3enlpdWJNbWFQYmJydE5wNTkrK2o0ZStmNm4vTi9CeGNYRmpYcmRaM01ramdBQUlBQkpSRUZVUC96aEQ1VVdUWjB4WTRadXYvMTJuWFRTU1hyeXlTZVRqbzlFSWhvd0lMNTJ4ZjRVdEZkVTN1TmVYRndzaDhNaGw4c2xoOFBCTFBjVUNOclJLZ1JDTVYzMDJLckV6MTNheGwvYzhncEQybDBTcXVxMEtxVzVMTXJKdEtrc0VOVjdpM2JwdlVXN2Fqem5iK2QwVjQvMkR1MHNDaVZWcmpTVjBZZTNrU1ROV1Z6eitPb3FWVWQ3ZmREUlhuOCtuMDlmZlBHRlB2endRNjFldlZvRkJRVXFMWTB2MUhzZ3pDb0JBQURZWDFrNmQxYlcxRityQlg0TjJsdUVZRkRiengyWGNsZityVk9TdHUyODVxcWtiZTMrL1dJaTVDOSs0ZDh5dWR4eW56MU9pa1pWK3VhYk1weE9aVnozRjhsa3FueGlKQ0wvRjUvTE9XeFlyUlpETGZ6SG96TDI2andPYjk2a1dEU21ndnZ1cWJROTFnSXFTNkw1K2RwK1p1M0RUM09iaGszNjJwZktGemNOQm9PS1JDSUg1TDgxbXJxamZlblNwYnI3N3J2MXpUZmZTSktPTys0NFBmREFBOHJKcWJsS2R1ellzUm8yYkppbVRwMnExMTkvWFZkY2NZWCs5Ny8vYWVyVXFXcmZ2bTdmeEdsSys2cWp2YmJLWi80WEZCUWs3WHZoaFJmMHlTZWZhUExreVRyaGhCUHFkRjJ6MlZ3cFlDNmY0T1oydTFNRzZUNmZML0hyL1RWb0x4ZU5SbFZXVmlhLzMxK3BWc2EwOSt0OUswYlFqbGJ0K1huYjlQS255UlV4TlJselJCdmQ4LzlxMzk4MmVVU09mdnZyN1BtMmFWWjlQVzFJbmU4cFNlYy9zRUlydDVUVzZ0aStuVndhMkRWZWxmTzM4ZDMxdC9IVmQ0WHQ3YnJuMXV2RHBmbEoyK2NzenRlY3hRdnJkQzAwWENBUVVDZ1VrdC92MS9idDJ6Vjc5bXk5Kys2NzFRYnJGYi9PRlE2SEZRdzI3cmNhV3NMWHhacDlETkdJWXRHd3d1R3d3dUhtL3dkSHN6OGZMV1FNVXNzWVIwc1lBd0NnYmlMYmZrbFpiVkpSMjhlbnk5SzVjNzJ1bjMvN0xRb3VXWkw0dWVpWnAxVDB6Rk9TcEhiLzJuZDFJdDRMTDVMOXNQaS9TU0k3ZDJqM25iY3IvYkxMWmUwVG45RWUzcnhKQlE4OW9Jd2IvaXBMcC9oakRhNWVxYUxwZTdyVEE5OHVrditMejVWKytaVXlUQ2I1UHA2dlNGNnVzbTY5SXpsa3J3ZVR4eVBEWnF1ODBXeVdZWW9selhTUE5mTDczUG93dkY1bFhIbDFyWTR0ZXZaZlRUeWFob3RHb3dvR2d5b3FLcW9VRkI2bzJyUnBvNDRkYS80QWFHOTVlWG5LemMydGN2L1NwVXYxeUNPUDZPT1BQNVlrdFczYlZqZmRkSlBHalV2OWdWZFYwdExTTkczYU5KMTAwa202NmFhYjlPR0hIMnJSb2tXNjg4NDdkZnJwcDJ2NjlPbTY3Nzc3cXIzR2l5KytxQmRmZkxIR2U1V1ZsVlhaTlg3ampUZnEwa3N2VGJsdlgzVzBWNXhOdnJjZVBYb2tudXMyYmVJVEQvZisvUWtFQXBvK2ZicTJiOSt1TGwyNjFEbG8zMXQ1TlUxVjN5U3YrTzBQaDhQUm9IdTFGT1d2RDhGZ1VBVUZCVXBQVDVmYjdhWldSZ1R0YU9YYVpWalZ0NU9yNWdQM2twTlorMDhoUngvZVJsZWR2dWVya0Yrc0tsUW9YUFhpcGFrTTd1WlIyelJybmM0NTk3aDJrdUo5OUJhVG9memlzSFlVVmY4RzFERGlNOHdsS1hJQXpsTFlId1dEUWExY3VWSnZ2dm1tOHZQenRYSGp4a3B2RkdvSzJLWDRYK3l2dmZaYTRnMUhLclg1eTdBeGptbm9YN3I3WWd4MTJXL2VsS3VpWExPZWVDeExWb3VSOHBqbUdtZXFZL2IrODlJY1k2anBtTnI4bVc3cy9mVzVSbTNHYWJId05zdGtNbFg3M0tiYVYvRzViU212VGZ0aW5Qdml6MmxMZUcycTZibXN6VFdhYWh4MUhVTk5Xc0pyVjIwMHg1L04rakR5ZmxUSVp0WW44MzVXcGlmNTliV3U0enpsbEZPcVBkWTVZcVJzQXdaVzJoWmNzMXErdVI5VWVjN3V1NmNxc0RBK1c5V2NuYTNzWjU1TE9pYnRnb3NVSFJmdk1zK2Y4bmU1eG95VjQraGpKS25HL3ZiR1pHN1RWcFp1M1NSSmhpMys3d3h6dS9hSmJURi9QRmkxNU9Ra3RrVjI3YXgwamNDU3haS2t3c2NmVStIajhRVWM3WWNkTHR0aGh5bThjVVBLMmZCU2NrZTc0ZldxL1VzemtvN3pYdlNIcEVBOXZHMmJGSWtvN2RMTEttMlBGaFhGKytuMzh1V1hYNlljUStMZTlYek5PdmJZWTVPUHRWcGxQN0oyTlpuR2Y1SWZyNlRFYk9mYWpLTzYvZlY5UDlXeFkwZTFiZHRXZnI5ZlpXVmxDZ2FEQitUczlWUk9QZlhVUnU5by8vVFRUeE9oc00xbTA4U0pFM1hOTmRmVXE4ZTgzT2pSbzNYb29ZZnFtbXV1MFlJRkMzVEZGVmZVKzFxTnJhazcycVBSZUk1aXQ5dVRBdjFJSktKQUlDQm5oWFVkMnJXTFp5SjdCKzB6Wjg3VTl1M2JaYmZicS96UW9DNTI3b3kvTm1abHBWNE11dUtFdC8xOVJuc3FzVmdzMGVQdWREb1QvN1hXV2U3OEN4Q3Qyb1hEYzNUaDhKcS9xbFZmb3c5dm83ditYMCtGSWpINWdoR2x1eXlhOHNvRzdTcXVXMTNOb3hmMzFrbURrenNZcTVMbHRlaU1vK0lMRk4zeG4wMjZmVUlQYmMzM2E5SkRLNnM5NytURHN2VEFoUWVwcUN5aWI5YWs3ams4YVhDbUhyMjRkKzBIWDB1UHZMdEZ6MzIwcmRHdnU3K0tCWXEwNXR2bHVtcldJbTNhdEVtNXVibUpOOGRWdmRtdDZzMXpLQlRTZ2dVTG1teXNyWmxaVXFta3QxdlFOOEtCbHFRKzRWcFR6NEpwcXVzMzlMcjFDVVVhcWltdTMxS2YzNmE0ZmszaDAvNzAvRGIxUFJyam1oWi9SQ0hEMFBRTkpobEd3NjlaVTlCdTY5ZFB6aEVqSzI4MG02c04ydDFqVDVkajZOSHlmZmFwSXIvOG5QSVlTL2NlZTM0d0RGbHlPc28yYUhDdHg5MVlDaDY4WDNxdzhzS290YTJPS2VjNmRiU3MzYnZMNUUxWDJkdzVDbnkvUk40TEowdVN6RzNiS3UxUGY2N1ZXSkptclRlaVcyNjVwZEd2YVJpR1B2cm9vNlR0alZFZGMvUE5OemRvYkJYVjUvOGo0OGFOMDVneFl4U0pSQnB0SEMzZHhJa1ROWEhpeEpvUHJNSVZWMXhSWmRoOTRva25hdUxFaVFvR2c3cjY2cXZWcVZPbmV0K25vcHljSE0yWU1VTlBQdm1rVnE5ZXJURmp4aWdZRE9xODg4NUxlZnd0dDl5aTk5NTdUeGRlZUtHdXZQTEtsTWRJMHFwVnF6Ung0a1M1WEM1OThjVVhLWThwWDJDME9aUUgxaSsvL0hKU01EOS8vbnhObmp5NTB2aktuKzh0VzdZa3RvVkNJVTJmUGwxUy9QZStOdFU5TmRtK1BkNlNVRldOVC9tNDdYYjdBUjArUjZOUmxaYVd5dWZ6eVd3MnkrMTJ5K3YxSHRDUE9SV0NkclJxeXphVmFQMjJ1bjhOcmt0Ymg0N3NYWDJ2K0psRHMzWGJoQjZLUm1PNjdybDF1blIwSjZXN0xQcDQ2bUgxSFc2dFhUUzhvK3hXUTkvOVdLei9mck5ESngrYXBlTUhwR3RJTDYrKyt6SDFRaUEyaTZITFQ0dC9MZlNsVDdhck5KRDZ6VlZ1UVVDenZtMzh6dmY2L0Q0Y3lBeERpa1pDS2kwdFZUQVlsTlZxVmJpZTNaTVdpMFVEQnc1VTI3Wjczc3hYREFkcU0wdWxwbVAyM2wrZmE5Ym1HdFZkdHpiSDEvVm53ekNxUGVhYnRVVnkyRXdhMU5VdHN5bjFCeUUxWGJNeHhsMSszY2ErWmwydlVkUHg5YmxlZmNaWmwvTWI2ODlxZVRkamExQ2I1NndwZ3JxV01LT09NZXpSRXNiUkdHTm9qRCtyQjhwejBSaWFjaHdsd1pCa0dMTFpMVEpWODl2V25NK0Y3ZUJESkVtaGpSdFRCdTNCcGQrcjhJbkhLMjJyV0IxakgzS0VWR0dXWnVIamo4bjMwWWNwNzVWMzBlK3JIY3ZlZ2E5ejVDaWxYNzRuWUt0WUhWTmJlMWZIV0xwMGxhVkxWNFZXcjFMZyt5VnluVFoyenl4NWI1cGNwNDZ1MC9YM2x2Zjdxc1BQMmdiYXNWaHNuLzJaTUR3ZXBmLzU4bG9kVy94QzZwcWdwbjQvVWROejBScStqYmR0MnpZZGM4d3hUWDZmbDE5K1djY2ZmM3lkWnNsZmNNRUYxZGFpVkdReW1mVG5QKy81TU12aGNGUlpTMUllOUdabloxYzU2MXFTdk40OUdVZDF4MVdscVR2YXl5dU0zRzUzMHI3eVN0V0srM3IwaUgrd3VYbnpab1ZDSVZtdFZqMzY2S1BhdW5XcnNyS3lkUFhWdGF0NnFzbTZkZXNrU1YyNkpDL3FMTzJwamprUVo3T25VdjY2dXk5ZmYxdVNBLzlWRktqR25NWDU5ZTVvcnlwb053enBxckZkTkhsa2pzTFJtRzU4NFVkOXVxSkFsNDZPZjVyNjRkSjhCVU4xZTdFNTRpQ3YybWZVYnFaSHh5eWJKZ3lMZjVMNjlBZS9TSkwrTVd1TGp1MmZybHZQNzZIeDkvMmdZSW91NmF2R2RsSDNkZzV0M3VIWDgvTi9xZkw2SzdlVTZhYVhmcXpUK0ZFUHRqVDFIenBHZjVweWtUWnUzS2p2di85ZUsxYXMwUExseTdWNTgrYkVZYWtDMjcxREE0ZkRvWXN2dmpqbFYxelJNSU92WEtqc2RnNDlmTjFBZVoyc3VJN1dvYjRmK2xYVUZCL3cxZWNlTFdFTXJXV2MrMm9NZGIxUGJlb1dtbm9NdFRtbUpZNnpQaC82MXZVZUZZOFpPM1dwMHB3VzNmdUhQbXFYWVUzYVg5dDdOR2QzckxYWFFYc1dTRTNCNVBXcStKV1hFei9iRHp0Y3ByMENwZURLRlFxdFd5ZlhhV05rV0pPckpYMGZ6NWZNWmptSG5WajUzbjM2eG45aHM2bkRmOSt0MS9ndDNickpkVXJsOER4YVZLVGREOXd2VTFxYXZMK0xCK094c2pJWmRudWxEdzNxSS8yS3EyUlVxSUdRcEpMWFhwV2lVWGttVkE3aFl6NmZDdi94YU5JMUhuMDBlVnR0MVBVMUwrM1N5NUxxYktyak9QYTRsTnNmZnZqaE90MjNzVjhMT25mdXJLeXNyQU82T3NaaXNhaFhyOXF2dHhhSlJMUnAweVpKVXMrZVBXdjlHckwzek8vUzBsSU5IRGl3aXFQcmJzV0tGU2tENTFSMjdOZ2hxWDdoZVYwMGRVZDdZV0docEQyTG5GWlVIc0pYN0VudjNMbXpuRTZuZkQ2ZjFxOWZMNy9mbjVqTmZ1T05OemFvd3FmY2poMDdFalBtRHpua2tKVEhsQWZ0QjBvL2UxVk1KaFBWTVNKb0J4cmRwQk03YVBMSUhQbUNVVjMzNzNYNlltVmhwZjEzdjdHNVh0VXh0UTNhcnorem0yd1dRMSt2S2RUWGErTDNYclcxVEs5L2thZnpUMmluMjg3dnFiKzlYRGtvUC8zSXRwcjBtdzZLUktWYlpteFFvSTRmQktEcDJHdzI5ZTNiVjMzNzlsVlpXWmwyNzk2dHJWdTNhdTdjdVpvN2Q2N0t5c29rMVM1d0I0REcwQnBtdXdGb2dWemJaWEpaMWFsTFYzWE1hcnFxa2Faa1NzK1FwV2Z0QXo3SGNjZkxjZHp4bGJZVlBmT1VRdXZXS1czeXhWS0sxK1BBMHFVeWJGWjVML3BEbGRldFM3MUpLdGxQLzB2bWR1MmxZRUM3NzdsTDBaMDdsSEh0OVFwdjNhcXlqK2JLLzhYbmF2L1NETzI4N21xRmY2eDVnbzdubkhQbG1mai9Fais3VGgxZDVXejRzam16cFVna1pWQ2RWUFVqYWZEZ3Bxdmw4WC8xcFFxbTNkc28xL0plZUpIY1o1NnR3dzVyK204LzE0Yk5acFBiN1U0c2h1cjMrNXQ3U0kwbU96dGI4K2JOcS9YeCtmbjVPdnp3d3lWSnMyZlBicFJaeVczYXRLbFhDQm1OUnJWclY5Mi9YYjVoUTd6bnN0dXYzemhwS2szWjBaNmZuNjlnTUNqRE1CTGQ2eFVWRkJSSVVxWDdHNGFoUVlNR2FkR2lSZnIwMDAvMSt1dXZLeEtKNk1RVFQ2eXlacWV1eW11a2V2YnNtVmg4ZFcvbGk2VTY5L3JnOEVCaEdJYThYcS9jYnJjc0ZrdXJEZGpMOFM4bG9KRzkvbVd1anVtWHJuKyt2MVhMZnlyZHAvY2VlVWltUmg2U3FVQW9wcW12YjZxMDc4RjNOdXZnN2g2TlBiS05pdjFoM2Z2bVpzVmk4WE51LzEwUEdZWjA3OHhOV3JLaEpPVzFCM1J4NnovWE45NG44RldaOHNvR3ZiTndaODBIdGtJdWwwc3VsMHVkT25YUzBLRkRkZjMxMTJ2Ky9QbDYvLzMzdFhidFdwV1dsaVkrTFcrdFg5TUNBQUJvRElWUFBKNVU4MUpmMGRMNCsydVQxNlBBNHU5VSt1Yk1wR1BzUnh3cDkxbG4xM2l0eU02ZE1qeWVsQ0Y3YmJXNTcvNmFENnFHT1RNK0t6YTBhYk5DcTFaS0ZvdEszMzFIaHNNcGErOCt5cmo2MnNSc2RrdVhMbktmV2ZYanFqZ0x2UzdCZFUwZkZxUmZjVlhLNEwweFdRL3FyZlFycXU2d2w2VEFzcVh5Zi9xSnZMKy9zTnJGYnEyOSt6VDI4QnJNYkRZblpxYjYvWDRWRlJVcEVBZ2tGcVE4a0h6eXlTZTY5OTU3ZGZiWlordVNTeTVwOHZ2Tm1UTkgyZG5aZFQ2dnRvdUdWclI2OVdvVkZoYktaREtwZi8vK2RiNW5TMUgrcmU2Y25CeFpVM3liWi9mdTNaS1VGUFFmZGRSUldyUm9rUjU2NkNFRmcwRmxabWJxdnZ2dXE5TzlBNEdBM24zM1hhMWV2VnByMXF6UjZ0V3I5ZWlqajJySWtDRjY2NjIzSkVsanhveXA4dnp5V3B2bTdMZHZiSVpoSkhyWTA5TFNXbjI0WGhGQk8xcTFHODd1cWh2Tzd0cW8xd3lFWXZyemsydXEzTjlVSGUzdE0yeWFjbDY4Zyt5WnVUOXJ5ODVBMHJpdSt0ZGEvZnZLL3Bwd1FudDFibVBYb25YRnV2cU1MaklaMGpOemY5RnJYK1JWZWYzQzBuQ2R1dG5UWEdhZE1DQkRSV1VSZmI2eW9OYm43VDF1Vk0zcGRHck1tREU2OWRSVHRYWHJWcTFZc1VJclZxelF5cFVydFdyVnFsYlZHUTBBQU5DWW5DTkd5amFnOGlTVDRKclYxUzZHdXJkWUlLRGk1NTZWWWJkSlZxdGtzeXU2ZTdlQ0s1YkxjOTZFeEhGbDh6NlUrZWV0dGJwbTZNZjFzbmF0MzZ6VXNqbXpWZlRrUDJzK3NCYmNaNCtUZDhKRXBWOTJ1YXg5K3NuU3BZdjBhOUFTS3kxVjdOZGd5WlNaVlczZ1hURm90L2JzVmVVQ3FyNlA1eXUwWnJVTXQxdUtSQlh6KytRY01iTEtnTnJXcjE5OUgxcXRtZHUxcS9UWWR0MXd2ZXlISGlyUDd5WWx0c1g4ZnZrLy9VU09ZNDZST2Fkams0K3BxVGdjRHRudGRvVkNJZmw4UHZsOHZzUUVud1BCYTYrOXB0V3JWeWRtUlZlbGI5KytOVjdyOXR0dnIzWFArcjVRSGdRUEhqeFltWm1aalhMTkcyKzhVYSs5OWxyUzlvWjJ0QmNWRmFsNzkrNkpueSs5OUZMZGVPT05rdUlmR0VoUzc5NjlVNTY3ZFd2OE5YVHZ4emh5NUVnOThjUVRDZ2FETXB2TmV2enh4OVdoUTRmRS9pVkxsdWllZSs3UnBFbVQxS2RQSDMzMzNYZmFzR0dETm03Y3FEVnI0cm5POXUzYmt4YTgzYlZybHhZc1dLQkZpeGJKWkRMcHJMUE9xdkp4bFFmdEIwSjFqTWxra3NQaGtNdmxrc1BocUZkVjBJR09vQjJ0V2w1aFNMdEw2aDVHcHJrc3lzbXMzMWRXbTZLajNXWXg5TkRrM3NwMFc3UjRRN0dlKzJoYnl1TnlDNEs2NEpHVit0ZmwvWFhDZ0F5ZE1DQkRrdlRJLzdib3VYbXB6eW4zYzM0Z1pUZDczMDR1VFRtM3V4NTZaNHNXYnlpdXRQMkVBUm5hdG52UGVVNmJTZis2dkwvbUxObWwxNy9JcGFLbWtaak5ablhyMWszZHVuWFRxRkdqVkZCUW9MeThQSDN3d1FmNjZLT1BFbit4QXdBQW9IWnMvZm9sQjhSbWM2MkM5bGhacWFKbFpkcDV6WldLNU9iSzJ1c2dXVHBYWGlUUE0rRjNpVjhIbHRiY1RTeEp3U1ZMRk4yNVUvYlRxcDQ1V1IzSE1jZkkrdXZpZ0ZVcCszQ3VmUFBucWMwOTFjLzROTGRwSTFtdGNvNDZSYkdTRWdVV0xWUnd4WElGZnZoQjRVMGJsWFhIMURxUHo5eWhRM0psVERTcTRwZGVVR2p0R3FWZmNaVjhuMzRpUlNLeUgzNjRTdDU0UTg2VFJzZzJhRkNkNzlYWUFvc1dLclIyamR4anhxYmN2K1BTLzZ2eTNIYi9mbEdtUmdwQW01SmhHTExaYkxKYXJYSzczUXFGUWlvc0xOenZBL2V0VzdjbTZqOSs5N3ZmVlh2c29FR0RhcXpucktvK3BEbXNXYk5HTDc3NG9pUnB3b1FKTlJ4ZGUxNnZ0MTR6OHV1cVlnZDllWWY3SVljY29xS2lJcFdXbGlvakkwTTJtMDFMbGl4Si9CN3VYUmVWbDdkbk11SDQ4ZU4xM0hHVmE2YzJiOTZzaFFzWHltcTFhdGl3WWJybm5udVN4dUZ3T05TblR4LzE2OWRQL2ZyMVU1OCtmVFJvMEtERUJ5cGp4NDVWejU0OXEzd2NxUlpxM2QrWVRDWjVQQjU1UEI2WnpXWm1zRmVEb0IydDJ2UHp0dFY3TWRSNy9sL3QreFVyYXV5T2RwTWhUYnZnSUEzdTVsWmVZVWpYUGJkZTRXanFBTHRUbGwwWERNOVJwemFWZStVTzdlbFZuMVdGV3Z0TFdhM0g1TEtiZE9tcG5UWHhOKzFsTVJtYU9xbW56cng3V2NxRlZzdWRlM3c3RGU3bTF1QnVibDAwUEVmUGZiUk5iM3hGNE42WXJGYXJzck96bFoyZHJZRURCK3JhYTYvVmdnVUwxTFZyNDM1ekF3QUE0RUJrenVsWTVXS2h6dCtjSk9kdlRxcjIvSmpQcDhCMzN5bFdXaXBUbHk3S3ZQRnZ5ci96TmptT3Fid28vZDdWSjViT25hdTliblRuVGhVODhaaE1hV2x5alRxbEZvOGttU2s5UTZiMGpNVFBnZSsrVmZITEw4cjcrd3RsUHl6ZVFXMWV2RmlTWk8zYlQ0ckZ0UHZ1cVRLbHA4djkyN1BpczlZcktIdC9sc3JtZnFEd3BvMlNKTVBybFgzZ0lMbEdqcEsxRGwzMFZZbHMrMFVGanp5czhOWXR5dno3Rk5tUE9ESWV0RXR5anp0SHNYQlkrYmZlTE0rNDhmS2NlMzZENm5RYUlsWmFxc0tuNGdzcytqNzVXTFpERDB1cWlVbjc0LzlWR2FhYktpemV1RDh3REVNV2kwVVdpeVZSSzFOWVdLaFFLS1JvTkxyZjFWZmVjc3N0aVc4Q1AvWFVVN3Jqamp1cUROUGZmUFBOUnVsbzN4ZTJidDJxU3k2NVJINi9Yd01IRHRTNGNlTWE3ZG8zMzN5emJyNzU1a2E3WG0xODl0bG5rcVNoUTRkcStmTGxLVDhVNmRXcmw0NDQ0b2pFejIrOTlaWnV1T0dHeE0vejU4K1h6K2VyMUpYKzAwOC9TWks2ZCsrdVljT0c2ZGxubjlXQUFRTTBjT0JBOWUvZlgvMzc5MWVQSGoyU2d1VnAwNlpwNmRLbGNqcWR1dTY2NjZvZCsvNWFIVk94SHNicjlUSjd2WllJMnRFcVRYdnJKMDE3NjZkNm56L3IyMTExcWxGcEttYVRkTmVrWGhwK2NLYjhvYWl1ZlhaZFVvanZ0cHQxNHFBTW5UazBXMFA3cE1rd3BHQTRwbGMremRXcXJhVzZkSFFuL1daUWhrNGNtS0Z2MWhWcDVwZDUrbVQ1N2lvRGM3TkpPdXZvZHZyejZFNXFtMlpWTkNiTi9HcUhIbnR2UzZWekxPYjRtNU9LVjNsaC9uWnR5dy9xeXJGZDFEWGJyaHZPN3FvTFIrVG95VGsvNiswRmVZb2NlSFYvTGNMUlJ4L2QzRU1BQUFCb0ZReUhRN1pCZzJUdDNWdnVNODVVWVBGM2l1N2NLY2VSUjFVNkxtdnEzWlYrTmxjem96bTRmTGtLSHJwZjBaSlNaZjE5aWd5dnQwRmpESzVjb1pMWFhsVnc2VkxaQmg4c1U2WHdwOEs3OTBoRXRrR0RWZnIybS9KOTlLSHNSeHdwejdqeHN2WWZFRDh5RUpEaGNNZ3pjWkxzaHcrSmgrdDdCWlRCWlV2cnZQaHFyTFJVSlcrOHJ0Slo3OHJXcDYvYVB2eVl6Q2tXUC9TY04wR1didDFWK01qRDhuM3h1VHhuajQ5L0VMSVBBL2RZYWFueWI3OVYwWUlDdWM4ZXI5TDMvcWNkZi9xam5MODVTZmJEaHlqNmF4V0ovZkREVTFmSFJLT0toVUtTenlkalAxMG8wZUZ3eU9Gd0tCZ003bmUxTWpObnp0VDgrZk5sczlua2REcjEwa3N2YWYzNjlicnp6anQxMEVFSE5mZnc2bTNCZ2dXNjhzb3JsWmVYcC9idDIrdnh4eDlQMld2ZUZOYXZYNjgzMzN4VHMyZlAxdjMzMzUreVUvNjIyMjdUa2lWTE5IejRjSTBZTVVLRGF2aFd5c0tGQzdWdDJ6YWxwNmZycUtPT1VsbFo1UW1DWHE5WFJ4NTVwRzY1NVpiRUJ5SFBQdnVzcGs2ZHFsZ3NwdkhqeCt2YmI3L1ZwazJiTkgzNmRGMTc3YldKYzdkczJTSXBYa25UdjM5L0xWeTRzTWJIK01vcnIraWYvNHpYY04xODg4MDFMaks3ZnYxNlNkb24zd0pvRENhVFNVNm5VdzZIUTA2bms0QzlqZ2phMFNxY2VuaVdwbDNROUg5UjN2RENlczFabkYvdE1ZM1owZjY3WVIxMDJwQTI4b2VpdXVMcHRWcTJPYjdRVXRkc3U0N3BtNjRUQjJacWFOODBXWDhOdlF0S3czcnI2eDE2OWJOYzVSWUdKVW16djl1bDg0NXZyNHRHNXVqb1BtazZ1aythZk1Hb3ZsNWRxSzlXRjJyWnBoS3QyeGIvaTJ6TUVXMzF4NU03cWx0MnZGdHMyYVlTM1QxemsxWnVxZndYbmRObTBwbEQ0MytKN0YzTk0vZjdmTTFmdGx2amo4dldwYU03cTEyNlZiZWMxMTBYRHMvUlAyZHYxZnZmTmY4SEdBQUFBR2hkZGx4eWNlTmN5RENVOFpkNHA3QWlFUlhQZUVYVzNyMWxPL2dRU1pMOThDSEttbnEzYklNR0o1MGE4L3NWMmJaTjV2YnRKVW5SL0h3VnYvaUNmSi9NbDdsREI3VzU2MlpacStnbnJvM2dzcVVxZnZrbGhkYXVrYlZmLzZSeHhQdytCVmVza01uNzYyS0NGb3ZjdnoxVDd0R25xV3p1SEpXODhZWjIzWFNqckFNR0tPT0txK1ErNit3YUYzQ3R5Mktva2J4Y2xjMTZUMlVmenBWaHRTbjkwc3ZrSEQ2aTJ1czdqajVHdG4vMlZmR0x6NnZ3OGNkVS9PTHpzaDk1bEp3bkRVLzVIRGVtNFBJZlZQajRQeFRKMzZYTUcyK0szL2ZFMzZqNDFaZFZOdmNEbGMxK1AzSHNqa3YvTDc1QWJQa0hFZEZvL0w5Zk9ZZVBVUHFWVnpmcGVKdWF6V2FUeldhVDIrMVdJQkJRVVZHUmdzRmdjdytyU3ZQbXpkTmYvL3BYU2ZHdzlJZ2pqdERFaVJQMTlkZGZhOVNvVVRybW1HTTBjdVJJZGRucm14elZpVVFpQ29WQ2ljZTk5OEtjVFczMzd0MTYrT0dIOWRKTEx5a1dpNmxYcjE1Njl0bG5LL1dlTjRYYzNGeTkvLzc3ZXV1dHQvVEREejlJaW9lMXI3MzJXbExRdm12WExxMWN1VkxMbGkzVDBxVkw5ZkRERDZ0OSsvWWFNV0tFVGozMVZCMTc3TEd5N1BWaFdYbjl6UmxubkNHcjFhcjA5SFJ0M0xoUjRYQlkwV2kwMHJjTWR1L2VyUnR2dkZGejU4NlZKRjE5OWRXNit1cXI5ZW1ubitxQ0N5N1E5T25UZGV5eHh5WW1vNjFidDA2U05HREFnRm85MWllZmZES3htT3JFaVJNMWNlSkVTZExLbFN0VlZGU2tuSndjWldabUpzYjArZWVmVitySmI4bE1KbE9sMmV1R1lkUllsWVJrQk8xb0ZRS2hhSjNyV3VwN241cDhzYXBRb1hEZHBtNFA3dVpSMjdUa1Q2QmYvU3hYaC9YMDZqK2Y1MnJodWlKWlRJYWV1YnlmaHZUYU04c2xISW5wc3hVRm12WHRMczFibHA4MFV6MFVpZW5sVDdmcnRTOXk5ZHVoMlpvd3JMMTY1emcxL09CTURUODRVN3RMdzVyODJDb042dXJXblJQanZXTmJkd1gwMkh0YkVoOHFHSWEwWU5vUmN0cVNlN28rWDFHWXRDMGNqZWsvbitkcDFyZTc5T2ZSblhYZUNlM1VOZHV1eThkMDFyeGwrVlRKQUFBQVlKL3lUSnkwSjJDdXBaamZyK0xubjZ0eWY5SFRULzNhVjM1WFlwc3BNMU8yQ3JQWGk1OS9UcVgvZmJ2U2VjNVJKMHVLejQ2UDdOd2g5N2h6NURubkhCbU9CczU0dGxpa1dGU1pVMjZWZmNnUmljZVFPK0ZjcVVMZGgvdU0zMVkrejJhVGErd1pjbzQ4V2FYdi9rL0JKWXRsems2ZVlaNUtYUlpEamVUbHlmL3R0L0tjZTU1Y284ZklxR1ZGaHlrclMrbFhYeXYzV2VOVTlzRnNCWll1bGZ1c3hxdkpxRW9rTjFmbWR1MlVkZXR0aWRucWxtN2RsUG5Ydnl2bTl5dTBmcDJpK2ZtS2xwUW9GZzVKMGRpdjRYb3MvbnhYK0NlUC9haWhUVDdlZmFXOFZzYnRkc3Z2OTZ1b3FFaUJRRURSYU12NSt2SkxMNzJrcVZPbktod09hL0xreWZyOTczOHZTWHJ2dmZkMC8vMzM2NTEzM3RGWFgzMmxyNzc2cXRKNS9mcjFrOFZpU2FvUmlVUWlpa1FpbFdwei92Q0hQMmpLbENrcDczL09PZWZVYTVad0pCS3BjbDl4Y2JGR2p4NnQ3ZHZqMWJqang0L1hIWGZjMFNSMUpiRllURXVYTHRYOCtmTTFiOTQ4clZpeElyR3ZRNGNPT3ZmY2MzWGVlZWVwVTZkT1NlZTJhZE5HcjcvK3VyWnYzNjczMzM5ZmI3Lzl0bjc0NFFmTm1ERkRNMmJNVUVaR2hrYU5HcVhUVGp0Tnc0WU4wNG9WS3pScjFpeVp6V1pkZU9HRmllc1locEUwUzMvcjFxMGFOMjZjY25OemxaR1JvYnZ2dmx1bm5YYWFKT25FRTAvVXBFbVQ5UExMTDJ2eTVNbTY1cHByNUhLNTlQMzMzOHRxdGRZWWdtL2Z2bDIzM0hKTElzQS85OXh6ZGVlZGR5YjJMMXEwU0xmZWVtdVY1M2ZvMEVGang2WmV3NkU1R1lhUkNOalQwdEtZdmQ0SUNOclJLbno4UTRFKy9tRkpjdzlEa2pUbGxRMzE2bWcvYVhEeTEwbkQwWml1Zlc1ZHBaOXZmWFdEL3ZsLy9iVG1sMUo5OGtPQlBsdFJvTUt5Y0kzM0NFVmltdmxWbm1aK2xhZkRlbm8wNW9pMk9yWmZ1cTU3YnAxKzNPN1RqOXQ5T3ZYd052cDZUYUZtZkphcmNHVFBtNGhZVEZyOFk3SDZkM0hMTU9JLzd5Z002b01sK1pyeFdkVWQrTVcraU81N2E3UGUrREpQTjQ3cnFoZm1ieWRrQndBQXdEN25QUEUzTXJkclg2ZHpva1ZGMVFidHBxeE1wVTIrdU5yRk9wMG5uQ2lUeHl2WnJESXNWbGs2ZHBRNWhzaC9BQUFnQUVsRVFWVHQwUGczWUEyWEs2bGlwaVp0SDNtc3luMjJBUVBWNXY2SEttMHpIQTZsWDNXTllqNmZKTW1TazVPNC85NE1oME9lYzg2VnpqbTNkbU41OEpFYWo2blloMjhiTkZqWlQweXYxYlZUc1hUcnByUkwvbFR2OCt2S09XSmtsUjhpeEN1RVd2YnMxWDJodkZZbUVBakk1L1BKNy9jM2U2M00vZmZmcnllZWVFS1NkTmxsbCtuNjY2OVA3T3ZVcVpNZWVlUVJYWHZ0dGZyNDQ0LzE5ZGRmYTl1MmJkcTFhNWRLU2tvVURvY1RzNmpMKytqTC81TlVhUWJ3bVdlZVdlVVlObTNhMU9pUHkrdjE2b0VISHRCOTk5Mm52Ly85NzAxYUg1cWZuNjhKRXliSTkrdnJoc1BoMFBEaHczWFdXV2RwK1BEaHRRcHJPM1Rvb01tVEoydnk1TW42OGNjZk5YUG1UTDM1NXB2S3k4dlRHMis4b1VXTEZtbmV2SGw2NVpWWEZJdkZkUDc1NTZ0WHIrclhmdWpjdWJNdXV1Z2lmZjMxMTVvMmJacmF0Ni84bW43SEhYZW9wS1JFLy8zdmYzWFhYWHMrQUIweFlrU2wzdmE5NWVYbDZkUlRUMVZCUVlFc0ZvdHV2UEZHL2ZHUGY2eDBUTisrZlZPZWE3VmFOV1RJRU4xeHh4M3l0S0QxR0V3bVU2SWFobnFZeG1YRVd1aEtGUWRmdFZEOU9ybjErZzBEbTNzbys3V0RyNnE1WHdwQXkzVHhxSTY2Y216MUMyT2hlUTIrY3FHNnQzTm94blVENVhYeTVnUUFnS1l5K0twdmxPR3k2clcvREZMSExGdHpEd2RBUFlURDRXYXZsZG14WTRjdXVlUVNYWHJwcFRyNTVKUDMyWDFMUzBzMWNHQTgzMXEwYUZHOStycDM3TmlScUdKWnNXS0YzRzUzbzQ2eEx1NjU1eDZ0WHIxYVo1eHhoazQ1NVpSR0NaRWprWWptelp1bjU1OS9YdVBHamRPNGNlTlVYRnlzNjY2N1RnOCsrS0M4RFZ5ZlFvclB4bi9sbFZmMDczLy9XNXMzYjlhUUlVUDA2S09QcWtPSER0V2U5K0dISCtxcHA1N1NuWGZlcWY3OSs2Yzh4dS8zcTZTa1JENmZMekZUdkczYnRyTFpXczdmV1laaHlPMTJ5K1B4eUdLeDdQY0IrOW4zTGRmMi9LQ2V2NnF2K25Sc3Z2OC9WTVNNZGdBQUFBQUFBRFNwdld0bENnc0xGUXdHOTJtdFRIWjJ0dDUrKysyYUQyeGticmU3d1RQWnM3T3ptMlEyZkgzY2ROTk5qWDVOczltc2swOCt1ZElISUY2dlYwOC8vWFNqM2NNd0RFMmFORW1USmsycTAzbWpSbzNTcUZHanFqMm0vQnNjTFUxNTZPOXl1WlNSa1pGVWZZVEdSZEFPQUFBQUFBQ0FmY2JoY01odXR5c1FDTWp2OTh2bjg3WG94Vk9CL1UxNVBVeDVSY3plaTh5aWFmQXNBd0FBQUFBQVlKOHlEQ01SQkhxOTNzVGlxUVR1UU1ONFBKNERwaDVtZjBQUURnQUFBQUFBZ0daak5wdmxkcnZsY3JuazgvbFVXRmlvY0RoY2FiRlJBS2xWcklkSlQwOG5YRzlHQk8wQUFBQUFBQUJvZG9aaHlPVnl5ZVZ5SlNwbGZENmZRcUZRY3c4TmFIRU13NURUNlV4OE04UnF0VGIza0ZvOWduWUFBQUFBQUFDMEtPVTk3bWxwYVluRlV3bmNnWGovdXRQcGxOZnJwUjZtaFNGb0J3QUFBQUFBUUl0akdFYVZ0VExSYUxTNWh3ZnNVMmF6V1U2blUybHBhY3hlYjZFSTJnRUFBQUFBQU5DaWxkZktPSjFPQlFJQitmMStsWldWTWNzZEI3U0tpd2E3WEM1WkxFUzVMUm0vT3dBQUFBQUFBTmd2VkF3ZVBSNlAvSDYvaW9xS0NOeHhRQ252WHkrZnZXNFloZ3pEYU81aG9RWUU3UUFBQUFBQUFOanZXQ3dXZVR3ZWVUd2VsWlNVcUtTa1JLRlFpRm9aN0pjTXcwajByNmVucHpON2ZUL0U3eGdBQUFBQUFBRDJheDZQUjI2M1c0RkFRR1ZsWmZMNy9jeHl4MzVoNzNvWXM5bk03UFg5RkVFN0FBQUFBQUFBOW52bGdhWGRibGNrRXBIUDUxTnhjVEdCTzFvc3Q5c3RqOGNqbTgwbWs4blUzTU5CQXhHMEF3QUFBQUFBNElCaEdJWXNGb3U4WHErOFhxOUtTa29TZ1hzc0ZtdnU0YUdWTTVsTWNqZ2N5c3pNcEI3bUFNUHZKZ0FBQUFBQUFBNVk1YlV5ZnI5ZlBwOVBQcDlQNFhDNHVZZUZWc1F3RE5udGRqbWRUam1kVGxtdDF1WWVFcG9BUVRzQUFBQUFBQUFPYUlaaHlPbDB5dUZ3S0MwdFRUNmZUMFZGUlFUdWFISk9wMU5wYVduVXc3UUNCTzBBQUFBQUFBQm9GU3JXeXJqZGJwV1ZsYW1vcUVpUlNFVFJhTFM1aDRjRGhNbGtrdFBwVkhwNk9yUFhXeEdDZGdBQUFBQUFBTFE2SnBPSldoazBLb2ZEUVQxTUswYlFEZ0FBQUFBQWdGWXJWYTFNWVdHaElwRkljdzhOK3dIRE1CSi9kcXhXcTB3bWt3ekRhTzVob1JrUXRBTUFBQUFBQUtEVnExZ3I0L0Y0VkZwYXF1TGlZb1hEWVdwbGtNUmtNaVVDZHJ2ZDN0ekRRUXRBMEE0QUFBQUFBQUJVWUJoR29sYkc1L1BKNy9mTDcvY3JGQW8xOTlEUWpBekRrTjF1bDhQaGtNdmxvaDRHbFJDMEF3QUFBQUFBQUNrWWhpR1h5eVduMDZsd09DeWZ6NWRZUEJXdFMvbnNkWnZOSnJQWjNOekRRUXRFMEE0QUFBQUFBQUJVd3pBTVdhMVdXYTFXcGFXbHFhaW9TQ1VsSllwRUl0VEtITURNWnJQc2RydlMwOU5sczltYWV6aG80UWphQVFBQUFBQUFnRHBJUzB1VHgrTlJJQkJRV1ZtWmZENGZzOXdQRUlaaHlHYXp5ZVZ5eWVGd3lHcTFzcmdwYW9XZ0hRQUFBQUFBQUtnams4a2twOU1waDhPaGNEaXNzckl5bFpTVUtCd09OL2ZRVUUvVXc2QWhDTm9CQUFBQUFBQ0FlaXF2bFVsUFQ1Zlg2MVZ4Y1hHaVZpWVdpelgzOEZBTnd6QmtNcGxrdFZxVmtaRWh1OTNlM0VQQ2ZveWdIUUFBQUFBQUFHZ0VKcE5KNmVucFNrdExVMWxabWZ4K1A3VXlMWlRkYnBmRDRaRFQ2U1JnUjZNZ2FBY0FBQUFBQUFBYWtXRVljcnZkY3JsY0NvZkRLaTB0VGN4eVIvTXA3MTlQVDArWDFXcVYyV3ltZngyTmhxQWRBQUFBQUFBQWFBTGx0VElaR1JsS1MwdWpWcWFabE5mRHBLZW55K0Z3RUs2alNSQzBBd0FBQUFBQUFFMnN2RmJHNi9YSzUvUEo1L1BKNy9jenk3MEoyV3cydVZ3dU9Sd082bUhRNUFqYUFRQUFBQUFBZ0gzRVpETEo3WGJMNlhRcUhBNnJyS3hNUlVWRnpIQnZSSGE3WFdscGFiTGI3VEtaVE14Z3h6NUIwQTRBQUFBQUFBRHNZeWFUU1RhYlRUYWJMVkVyVTFwYXFuQTRUT2hlRCtYUFoxcGFtcHhPWjNNUEI2MFFRVHNBQUFBQUFBRFFqTXByWlR3ZVQ2SlNobHFaMnJIWmJISTZuWEk2bmJMWmJNeGVSN01oYUFjQUFBQUFBQUJhQUxQWkxJL0hJN2ZiclZBb3BOTFNVaFVYRnpQRFBZWHkyZXNPaDBObXM3bTVod01RdEFNQUFBQUFBQUF0aVdFWWlWcVpqSXdNRlJZV3FyUzBWSkZJcEZXSDd0VERvQ1VqYUFjQUFBQUFBQUJhS01Nd2xKR1JJYS9YSzcvZnI3S3lNdm45ZmtXajBlWWUyajVUWGcvamNEaGt0OXVwaDBHTFJOQU9BQUFBQUFBQXRIQm1zMWx1dDF0T3AxUGhjRmlscGFXSldlNEhLdXBoc0Q4aGFBY0FBQUFBQUFEMkUrWDFLZVVoZEhGeHNVcEtTaFNOUnZmN1dobkRNR1FZaGl3V2k5TFQwK1YwT3BtOWp2MEdRVHNBQUFBQUFBQ3dIektiemNySXlGQmFXbHFpVXNibjgrMlh0VEpXcTFWT3AxTk9wNU42R095WENOb0JBQUFBQUFDQS9aakpaSkxiN1piTDVWSTRIRlpKU1lsS1MwdjNpOERkYXJVcUl5TkRkcnRkSnBPSmdCMzdMWUwyQTl6ZnorbmUzRU1BVUU4RHVyaWFld2dBQUFBQWdQMUVlZTJLeldaVFZsYVcwdFBUVlZoWUtKL1BwMGdrMHFKcVpVd21FL1V3T09BUXRCL2d6anUrWFhNUEFRQUFBQUFBQVB1WTJXeFdWbGFXSXBHSWZENWZpNmlWc1ZxdGNybGNjamdjMU1QZ2dFUFFEZ0FBQUFBQUFCeWd6R2F6UEI2UFhDNlhRcUdRU2t0TFZWeGN2RS9IWUxWYWxaYVdKb2ZESVl1Rk9CSUhKdjVrQXdBQUFBQUFBQWM0azhra3U5MHV1OTFlcVZZbUhBNDMyZjJzVnFzOEhvODhIaytUM0FOb1NRamFBUUFBQUFBQWdGYWt2RlltSEE1WHFwVnBqQjUzcTlVcXA5TXBwOU5KUFF4YUZZSjJBQUFBQUFBQW9CV3lXQ3p5ZXIxeXU5MEtoVUlxS1NsUmFXbHB2UUozcTlVcXI5Y3JwOU5KUFF4YUpmN1VBd0FBQUFBQUFLMVl4VnFaakl3TUZSWVdxcXlzVE5Gb3ROclEzVENNUlArNjIrM2VoeU1HV2g2Q2RnQUFBQUFBQUFDUzl0VEtwS1dsVlZrclk3VmE1WEE0NUhRNjVYQTRxSWNCUk5BT0FBQUFBQUFBWUM4VmEyWEM0YkNLaW9vVUNvWGs4WGprZERwbE5wc0oySUVLQ05vQkFBQUFBQUFBcEdReW1XU3oyZFMyYmR2bUhnclFvcG1hZXdBQUFBQUFBQUFBV3I1cDA2WnAwS0JCMnJ4NWMzTVBCV2h4Q05vQkFBQUFBQUFBQUdnQWduWUFBQUFBQUFBQUFCcUFvQjBBQUFBQUFBQUFnQVlnYUFjQUFBQUFBQUFBb0FFSTJnRUFBQUFBQUFBQWFBQ0NkZ0FBQUFBQUFBQUFHb0NnSFFBQUFBQUFBQUNBQmlCb0J3QUFBQUFBQUFDZ0FRamFBUUFBQUFBQUFBQm9BSUoyQUFBQUFBQUFBQUFhZ0tBZEFBQUFBQUFBQUlBR0lHZ0hBQUFBQUFBQUFLQUJDTm9CQUFBQUFBQUFBR2dBZ25ZQUFBQUFBQUFBQUJxQW9CMEFBQUFBQUFBQWdBWWdhQWNBQUFBQUFBQUFvQUVJMmdFQUFBQUFBQUFBYUFDQ2RnQUFBQUFBQUFBQUdvQ2dIUUFBQUFBQUFBQ0FCaUJvQndBQUFBQUFBQUNnQVFqYUFRQUFBQUFBQUFCb0FJSjJBQUFBQUFBQUFBQWFnS0FkQUFBQUFBQUFBSUFHSUdnSEFBQUFBQUFBQUtBQkNOb0JBQUFBQUFBQUFHZ0FnbllBQUFBQUFBQUFBQnFBb0IwQUFBQUFBQUFBZ0FZZ2FBY0FBQUFBQUFBQW9BRUkyZ0VBQUFBQUFBQUFhQUNDZGdBQUFBQUFBQUFBR29DZ0hRQUFBQUFBQUFDQUJpQm9Cd0FBQUFBQUFBQ2dBUWphQVFBQUFBQUFBQUJvQUlKMkFBQUFBQUFBQUFBYWdLQWRBQUFBQUFBQUFJQUdJR2dIQUFBQUFBQUFBS0FCQ05vQkFBQUFBQUFBQUdnQWduWUFBQUFBQUFBQUFCcUFvQjBBQUFBQUFBQUFnQVlnYUFjQUFBQUFBQUFBb0FFSTJnRUFBQUFBQUFBQWFBQ0NkZ0FBQUFBQUFBQUFHb0NnSFFBQUFBQUFBQUNBQnJBMDl3QUFBRURyY1BCVkM1dDdDQURRYUQ2OC9WQzF6N0ExOXpBQUFBRFFRakNqSFFBQUFBQUFBQUNBQmlCb0J3QUFBQUFBQUFDZ0FRamFBUUFBQUFBQUFBQm9BSUoyQUFBQUFBQUFBQUFhZ0tBZEFBQUFBQUFBQUlBR0lHZ0hBQUFBQUFBQUFLQUJDTm9CQUFBQUFBQUFBR2dBZ25ZQUFBQUFBQUFBQUJxQW9CMEFBQUFBQUFBQWdBWWdhQWNBQUFBQUFBQUFvQUVJMmdFQUFBQUFBQUFBYUFDQ2RnQUFBQUFBQUFBQUdvQ2dIUUFBQUFBQUFBQ0FCaUJvQndBQUFBQUFBQUNnQVFqYUFRQUFBQUFBQUFCb0FJSjJBQUFBQUFBQUFBQWF3TkxjQXdBQUFFQnFKa015bXd5WlRZWXM1ajMvV2MyR3JCWkRWck5KZHFzaG04VWt1OVVrbThVa3A4MGtoeTMrdnk2N1dTNjdXUjZIV1I2bldTNjdTZGM5dDc2NUgxYTF6anUrblM0ZTFWRUwxeFhwN3k5dnFMUnYyTUFNL1c1WWU5MzJuNDNhdmp2WVRDT3MzcGYzRHBIWGFkWmgxeXhVSkZyOXNXbE9zeTQ1cFpPNlpqdDA1VE5yOTgwQUFRQUFBRFFKZ25ZQUFJQVc2SzVKUFhYNmtXMGIvYnFkc3V6Nk9UK1ErUG1rd1psNjlPTGVqWDZmY2plOHNGNXpGdWRYMmpaNVpJNkdINXlwZHhmdTFHdGY1RlhhMTZ1RFMrMHpiSExielVuWHVtaEVqb2IwOHVydG13YnJnYmQvMHB0Zjc2anl2azlmMWs5SDkwbHJuQWVSd3FZOHY4NjRhMW1EcmhFSVJ6WGlrRXgxeXJMcjFNT3prcDZuNml4NzlLZ0czWHR2eGI2SWp2dnJkNDE2VFFBQUFLQTFJV2dIQUFCb2diNWNWYWh1MlE2RklqR0Z3akdGSXpFRncxRUZ3M3YrTnhTT3FrOG5sNGIwOHVyTFZZVmF1SzVJL21CVXZtQlUvbEJFdmtEODE3NWdSTDVnVkdXQmlQSUtRczM5MERUKzJIYnEzTWF1K2N0MkorM3IyY0VoU1ZxM3paZTA3MC9UVit0djQ3dnJyS096ZGV2NVBUVHEwQ3pkK3VwRzVSWWt6MjVmc0taUXU0cXFmcXpIOUUxWGx0ZWlUNVlYcU5RZlNXeTNXUTJOT2lSTGhXVmhmYkd5c01yejh3b2JQcU0rRUlycDNwbWI5WTlMK21qeXlJNTFDdHJMUldOU0xGYi9NUmhHL0pzVEFBQUFBQnFHb0IwQUFLQUZldis3WFhyL3UxMDFIbmZCOEE0YTBzdXJCV3NMOWNMODdYVyt6K2NyQ3pUc2I0dVR0bDkzWmxmOTlxaTJldXZySFhyazNTMVZudCszazB2UFhOWlB2bUJVcDl6MmZkTCtrZ29odGlRZDJ5OWRuZHZZRlFqRjlGYUtHZW05Tzdva1NXdC9Ma3ZhRndqRmRPdXJHL1hkajhYNit6bmRkV3kvZEQxNmNXK2QvOENLcEdPZisyaGJsV09XcE9ldTZLOHNyMWNQdmZPVE51WDVFOXZiZUswYWRVaVdmdDRWMEUwdi9WanROV3JyZ3VFZGROMXZ1MVo3VEw5T3JpcG5xYS81dVV6blRGdWVjdDlsVDYzUmw2dXEva0NnSnFNT3lkS0RrdytxOS9rQUFBQUE0Z2phQVFBQVdwRDZWcmxjOTl1dU5ZYTVGZDB6YzdOZS9UeFg0VWhNQmFYaHBQM0JVTHhnUEJDT3B0eGZydGkzSjBpdjdyaHk0NDl0SjBtYXZYaG4wdkdkc3V6S2RNZmZuaTdiWEZMbE5mNjNjS2RXYmluVkxlZjEwTTJ2TkU0WTNwUnlDNEphc3FIcXgxT1RuM2I0YXo0SUFBQUFRTE1pYUFjQUFHaEJjZ3NDbXZWdHpUUFp5L1ZvNzlTQUxpNnQzRkttamJuSmRTdFYyWmhYKzJNYlM1YlhvdDhNeXBBa3ZmcFpidEwrZ2QzY2txU2RSYUdVZFRBVnJkL20wKzhmV1ZudE1hY2VucVZwRjFRL1cvdC9mejg0NWZZQlhkeFZ6akF2LzVCQ2tvN3VrNmFuTCt1WGRNeVNoL2VjTy9RdjN5WnFZY1lNYWFPemoybW55NTllSTE4dzlXcXBVODd0cnBpazZiTi8xcTdpNXEvNkFRQUFBRkF6Z25ZQUFJQVdaT1dXc2pwVmxsd3d2SU1HZE9tcTJZdDMxcXM2WmwvcWsrT1N4Und2QkgvdEw0T3FQSzV0bXJYZWkzMU9lV1dEM2xtNHM5SzJGVCtWSnMyUUgzRndsdHFsV3pYcjIxMHE4dTJaV2UrMG1YVG0wR3psbDRUMXdaTEtIM2owNlJqdnc2OG9HSTVWQ3NPelBGWVpoaXB0cTlpaFB2Ykl0anF5dDFmMy9yNlhydnJYdXFUeGp6b2tTK2NjMTA3Um1MUndiWkhtZmwvMzNuWUFBQUFBK3g1Qk93QUFRQXQxem5IdE5PWGM3clU2dGpiVk1kUG4vS3pwczM5dWpLSFZTemdhcTNJV3R4UVB1YVY0RjN1MG5pdDhoaVBKNTMyNXVsQ1B6OXBhYVZ2dkhKZmFwVnYxMUFjL0ozVzBuemswVzl0M0IzVFB6TTJWenBsd1F2dWtvSDN4aG1LZGRQT1NQZmU2ZDRpOFRyTkczckpFa1JRUDlhYVhmdFFiTnc3U1NZTXpkZGxwbmZYRSszdkcxYm1OWGJkTjZLRllUTHJ0MVkyRTdBQUFBTUIraEtBZEFBQ2doVnV3dGtncmZ5cE51VzlRTjdlTzZwMm1oZXVLdEh4ejZtTjY1VGgxNHNDTXBoeGlyWHk3dmxoRC8vSnR5bjA1bVRaOWNOdWhpc1drc1ZPWDFsZ2RzNzhxS0Ezcmh1Zlg2L0xUdXVoL0MvY3NCbXMxRzNwd2NtOTVuV2JkKytabS9mZWI1SVZpQVFBQUFMUmNCTzBBQUFBdDNHZkxDL1R5cDZscllTNFkza0ZIOVU3VDV5c0xxcXlPR1hORW14WVJ0RmRuMUtGWmtxUWxHNHNiUFdTLzVPU091dVRramluMzFhZWp2YTczdm54TTU1VDdaazA1Sk9YMnY0N3JwcitPNjFacDI0UHYvTlRpcTRFQUFBQ0Exb3lnSFFBQW9KV2FQREpIVjUvZXBkcGpKcHpRWGhOT2FGL2p0WncyVTVYQjlDUHZidEZ6SDIycjl2elJoN2VSSk0xWlhQdUZZR3NyVlVkN2ZhVHFhSy9KdHQxQkxkblE4SHNmcURQOEFRQUFnQU1GUVRzQUFFQUxkOFBaWFhYRDJkWDNyOWVtbzcybDZ0dkpwWUZkM1pLa3Y0M3ZycitOcjEwdmZibnJubHV2RDVjbTk1blBXWnl2T1lzWE5zb1k2K3JnN2g2ZE9UUmI2N2Y3ZE1Haks1UDJHNGIwM0JYOXRYeHpxZjQ5N3hmbGw0UlRYQVVBQUFEQS9vS2dIUUFBb0pWNjVkUHRldXZyMUYzZ2Z6K251MDQ1TEVzelBzdlZrM09xWGtDMWJ5ZVhucm1zbjN6QnFFNjU3ZnVVeC9pQ2tXckhjZTV4N1NURkYwdTFtQXpsRjRlMW82ajZHZHlHRVo5aExrbVJlaTZjMnBnTVF6cXNoMWRXaXlGSmV1R3FBWkpVWmVYUGFZZTMwWkJlWHZYczROVFRjNXR2Z1ZvQUFBQUFqWU9nSFFBQW9JV2JzemhmQzlZV3B0eDNiTjkwblh4WWx1WXV5ZGRYYTFJZmMzQTNqODQrSmp0cGV5QVVVeUNVZWlhMTdkZkFlR2RSU0FXbFZjKzJMdmJ0Q2RHck82NHFXVjZMempncVByWTcvck5KdDAvb29hMzVmazE2S0hrV2VFVW5INWFsQnk0OFNFVmxFWDJ6cGlqbE1TY056dFNqRi9ldTg1aHFVckVLWjBBWGw4NDVycjFPR3B5cExNK2V0OWJydHZrMDY5dWRtclVvdVFySFpFaC9HdDFKa3ZURXJLMlZua01BQUFBQSt5ZUNkZ0FBZ0JadTJhYVNLbWVlZTUxbW5YeFlsbjc0cWVwakFxRm95cUM5T20yOFZrblM3cEpRM1FaYlJ4Y043eWk3MWRCM1B4YnJ2OS9zME1tSFp1bjRBZWthMHN1cjczNHNUbm1PeldMbzh0UGlDNHkrOU1sMmxRWlNCOVc1QlFITityYnhPOS9YYi9NbGZuM0NnRXlOKy9XNTNiSXpvSnhNbXl4bVErZE8rMEdSYUx6Mlo5S0pIYXE4MXMzbmR0Zk41OVpjbFhQSkU2dTFZRzNxRHhRQUFBQUFORCtDZGdBQWdCYXVPVHJhdTdkelNvcUh4MDJsWTVaTkU0YkZGMXA5K29OZkpFbi9tTFZGeC9aUDE2M245OUQ0KzM1UU1KeGNDM1BWMkM3cTNzNmh6VHY4ZW43K0wxVmVmK1dXTXQzMDBvOU5NL2hmYmRucDE0ZEw4L1hHbDNsYXNLWklYOTQ3UkY2bk9iRi82ODVBcGNWUTA5MW05V3p2VkRnUzB3K2JTNU91bCtXMXFGdTJROFcrU0tWQXY0aFo3d0FBQUVDTFJ0QU9BQURRd2kxWVc2U1ZQeVdIc3BJMHFKdGJSL1ZPMDhKMVJWcWVJcmlWcEY0NVRwMDRNS1BXOSt1ZDQxU2F5NnhvVEZyemMxbTl4bHdiMTUvWlRUYUxvYS9YRk9yclgydHZWbTB0MCt0ZjVPbjhFOXJwdHZONzZtOHZWdzdLVHoreXJTYjlwb01pVWVtV0dSc1VDRFZ2UC92NzMrM1MrOTlWUFd0K3htZTVtdkZacnFSNFpjeXpWL1NYMmt1UHo5cXE1K1p0U3pyK3dja0hxVnUyUTQvUDJxcFhQODl0c25FREFBQUFhRndFN1FBQUFDM2NaOHNMcWx4VTg0TGhIWFJVN3pSOXZySkFMOHhQZmN5WUk5clVLV2cvL2FpMmtxU1ZXMHBWV0ZiMzN2WGFHSGxJcGtZZWtxbEFLS2FwcjIrcXRPL0JkemJyNE80ZWpUMnlqWXI5WWQzNzVtYkZZdkZ6YnY5ZER4bUdkTy9NVFpWbWlsYzBvSXRiLzdsK1lKT011NklwcjJ6UU93dDMxdnI0eThkMFRsVGkvSHQrY3NoK1ZPODBqVG9rUzdrRlFjMzhLcTh4aHdvQUFBQ2dpUkcwQXdBQXRGQnZmSm1uTjc1c2VPQTY2OXRkdGU0cVB5akhxZk5QaU5lNU5GWFkyejdEcGlubjlaQWtQVFAzNTZSNm1rQW9wcXYrdFZiL3ZySy9KcHpRWHAzYjJMVm9YYkd1UHFPTFRJYjB6TnhmOU5vWFZZK3RzRFJjcDI3Mk5KZFpKd3pJVUZGWlJKK3ZMS2oxZVhXcDFjbnlXaElmWVBUdDVOS1VjN3ZyN1FVN0V2VXhuZHZZTmUyQ2d5UkowOTc2U2FGSTg4N1VCd0FBQUZBM0JPMEFBQUF0ME9TUk9icjY5QzYxUHI2MkhlM1Q1L3lzNmJOL1RybXZZNVpOajE3Y1J3NnJTYXUybHVsLzM5Uit0blp0MlN5R0hwcmNXNWx1aXhadktOWnpIeVhQN0phazNJS2dMbmhrcGY1MWVYK2RNQ0JESnd5SXo4aC81SDliVWxhdVZQUnpmaUJsTjN0NXdQM1FPMXUwZUVOeHBlMG5ETWpRdHQxN3puUGFUUHJYNWYwMVo4a3V2ZjVGYm9NcmF2S0x3eHA5MjFJTlB5UlQ1eC9mWHVPUGJhZnh4N2JUK20wK2ZiQWtYK2NkMzA1WlhvdWVlUDluZmJnMHYwSDNBZ0FBQUxEdkViUURBQUMwUUN0K0txMnlMcWFpL3AzZGlUcVNWVnRUZDdSWHRHeFQ2cnFWSXc3eTZyNExEbEoybWxWNWhTSDk1ZmwxQ2tjYmQxYTF5WkNtWFhDUUJuZHpLNjh3cE91ZVcxL2xQVHBsMlhYQjhCeDFhbU92dFAzUW5sNzFXVldvdGIvVXZqdmVaVGZwMGxNN2ErSnYyc3RpTWpSMVVrK2RlZmV5bEF1dGxqdjMrSFlhM00ydHdkM2N1bWg0anA3N2FKdmUrS3BoZ1hzNEd0UGNKZm1hdXlSZnZYT2Mrc09vampwdFNCc2RsTk5Ka2xSWUZ0YVhxMm8vbzE2U3B2K3BiNzNIQXdBQUFLRHhFTFFEQUFDMFFOK3NMZEkzYTR0cVBPNkM0UjAwcEpkWG55emZYV1ZIZTNYU1hSYjkrYlJPT3YvNDlqSU1hVk9lWDVjOXRhWk90U2kxWVRaSmQwM3FwZUVIWjhvZml1cmFaOWRwVjNHbzBqRnV1MWtuRHNyUW1VT3pOYlJQbWd4RENvWmpldVhUWEszYVdxcExSM2ZTYndabDZNU0JHZnBtWFpGbWZwbW5UNWJ2cmpJd041dWtzNDV1cHorUDdxUzJhVlpGWTlMTXIzYm9zZmUyVkRySFlqWWtTUld2OHNMODdkcVdIOVNWWTd1b2E3WmRONXpkVlJlT3lOR1RjMzdXMnd2eUZJbW1mcHdtVTgzUFJZLzJEbzA1b3EyTy8zV1d2ajhVVmFrL29qWmVxMlpjTjFCTE41Ym9wVSszYTk3Uy9DcnZVeTRhazJJTitEekVNT0lmZ0FBQUFBQm9HSUoyQUFDQUZ1VHEwN3RvOHNpY09wOVgyK3FZY3ZmTTNLei9MZHlwbVg4ZHBQYnBOa25TTzkvczFOMHpOOGtYckNIZHJZZmZEZXVnMDRhMGtUOFUxUlZQcjlXeXpmR1o5VjJ6N1RxbWI3cE9ISmlwb1gzVFpQMDE5QzRvRGV1dHIzZm8xYzl5bFZzWWxDVE4vbTZYemp1K3ZTNGFtYU9qKzZUcDZENXA4Z1dqK25wMW9iNWFYYWhsbTBxMGJsdDhwdnVZSTlycWp5ZDNWTGRzaDZUNFRQNjdaMjdTeWkyVlo4STdiU2FkT1RSYmtyUzdwSEx3UC9mN2ZNMWZ0bHZqajh2V3BhTTdxMTI2VmJlYzExMFhEcy9SUDJkdjFmdmY3WkxUWnBMRGFsS1JMNnpCM1R4eTI4MEtoR0tWQXZJc2owV0R1bmwwNUVGcE9yWmZ1bnAzZEVxS2Y0anc1dGM3TkgzMlZ1V1hoRFhtaURiNi9VazVPcVNIUjRmME9FamJkd2YxNnVlNWV2T3JQQlg1SWltZjE4dWVXcU12VnhYVysvZGwxQ0ZaZW5EeVFmVStId0FBQUVBY1FUc0FBRUFMc21wcmFaMFc4cXl2alhrK2xRWWltdkx5QmwxOVJoZmQvL1pQK3U3SDRwcFByS2RYUDh2VllUMjkrcy9udVZxNHJrZ1drNkZuTHUrbkliMjhpV1BDa1pnK1cxR2dXZC91MHJ4bCtVa3oxVU9SbUY3K2RMdGUreUpYdngyYXJRbkQycXQzamxQREQ4N1U4SU16dGJzMHJNbVByZEtncm03ZE9iR25wUC9mM24ySFYxbmYveDkvblptYzdJVHNNTU1JZTh0V0ZBRng4cTBESjYxaUdTcU9pbTJkUDJyVlVySFZLbEtydFdnVmxZb1RSUkVIQ2lwTDlpWmhocFc5MThrWnZ6OE9PVWxJQWdrM0VORG40N3E4Q3VkZTczUHVPK1hrZFgvdTkwYzZrRk9oRno1TjE2SzF2cjduSnBPMFltWi9PZXgxaDU0djIxSTNzSFo1dkpxM0xGTUxmOHJSblplMjFQWG54NnAxVElDbVh0NVNYMi9NVmZjMndmclAxQzYxdHRseDBOZkNwMjFzb0Y2N3A0dGFoTnI4eTd4ZWFXdDZpVDViazZNRnE3S1ZYK0x5TC90NFpiWStYcG10WVYzQ2RmdW9SUFZySDZyZlhkVkt2N2tvUVpjOXNWNmxGYWYrQmdnQUFBQ0FVNE9nSFFBQTRDenl4YnBjZmJIdXpFMkd1V0pub1c3NDI1YVQzbjVyZW9sNjNydnFoT3U1UEY3ZFB5ZTExdCtudjdOYi81emNXVHNPbGVqYlRmbGF1aVZmQmFXdTQrekZwOUx0MVhzL1p1cTlIelBWSnpsRWwvZVAxcERPNFpvMkoxVzdqcFJwMTVFeWplbmJRc3QzRk9qdHBSbHl1YXNEZTY5WFdydXJTRjFhQmN0azh2MDlxOENwTDlibDZ1MmxEYmZlS1NwejYra1A5bW4rRDVuNjR6V3Q5ZDl2anFpaTBxdjltYlZiN096T0tOTlQ4L2RLOHJYaFdiZTdXSzJpQTdScFg0azI3Q25TOTlzSzZyVE1PZGIzMndyMC9iWUM5VzRYb3NtWEpPbmJ6WG1FN0FBQUFNQlpqcUFkQUFBQXpXSi9Wb1d1ZUhLRG9YMnMyMTJzZGJ2clR2QjZ4NzkyTkxqTjhaYWR5TzZNTWszK1ovWDJHUVZPRGZuakdwbk5rclBTcS9MSzJvRjR6WnNMVGJWK1QzR0R0VGJtNWtaamZMa2g5NVR0Q3dBQUFQZ2xJMmdIQUFBQURDZ3VyNzkvT2dBQUFJQmZqaG4ybkZrQUFDQUFTVVJCVkxyTktRRUFBQUFBQUFBQVFLTVJ0QU1BQUFBQUFBQUFZQUJCT3dBQUFBQUFBQUFBQmhDMEF3QUFBQUFBQUFCZ0FFRTdBQUFBQUFBQUFBQUdFTFFEQUFBQUFBQUFBR0FBUVRzQUFBQUFBQUFBQUFZUXRBTUFBQUFBQUFBQVlBQkJPd0FBQUFBMEE2L1hxeU5IamlnMU5WVmVyN2U1eXdFQUFJQUJCTzBBQU9DY3RPNjVBZHI0L0FCZFBUam1qQjUzNVRQOXRmSDVBYnJ4L0xnemVseWNYY0tDTEJwL1lYeHpsMUZIY3B4RGwvVnJVZWYxRnlkMTBzYm5CK2p2RXpvMFExV25SdGRXd2RyNHZPL252a09DbzduTE1heTB0RlR6NTgvWHFGR2pOSDM2ZEJVVkZUVjNTUUFBQURDQW9CMEFBQUJvZ21GZHc3WHdzVjc2MWFBemU1UG5SQ2FPVHRSN0QzWlhyM1loelYwS1RxQ3lzbEtQUC82NDdyampEZ1VIQjJ2cTFLbHlPTTc5bXdjQUFBQy9aTmJtTGdBQUFPQmM4dldHUEFYWVRkcWZYZDdjcGFDWjlHOGZwdkFncTdJS0twdTdsRnFHZDQrUTFXeXFkOW5hM1VXcWNIbTBZVS94R2E3cTFDa3NkZW5MRGJtU3BLSXlkek5YYzNMY2JyZTJidDJxY2VQRzZjQ0JBL3IxcjMrdDJiTm5OM2RaQUFBQU9BVUkyZ0VBQUpyZzRibTdtcnNFb01ubWZIVzR1VXN3N0VCT2hhYk5TV3Z1TWs1YWFXbXA1czZkcXhrelpzamhjR2pXckZtNjdycnJtcnNzQUFBQW5DSUU3UUFBQUFCd0doMDhlRkFQUHZpZ0ZpMWFwRXN2dlZRUFBmU1FVbEpTWkRiVHlSTUFBT0RuZ3FBZEFBQ2M4em9tT0RUbDBpU2QxeUZNRHJ0RmgzSXI5TzNtUEwzKzlXSGxsYmpxM2NacU1lbUsvdEc2cUVla3VyWUtVa1N3VFY1NWxWZnMwc2E5eFhyL3gweXQyRmxZWjd1VnovU1h3MjdXalBmMjZaMWxHYnI3OHBhYU9EcFJ1VVV1WGZqbzJqcnJYOUluU3MvYzZwdUE4cUUzZDJuaFR6bDExbG55WkIrMUNMWHAwYmQyYThHcWJQL3JiV01ETlc1WXJQcDNDRk5pWklDQ0FzMHFMZmRvWDFhNWxtN0oxenZManFpd3RIWUxqUWtqRTNUZmxhMzA1WVpjVFp1VHBpdlBpOVkxUTJMVUlTRklkcXRKNmRrVldyd3VWM08vUGFLU2l2cmJieVJFMnZYcml4STB0RXU0NGlQdEtpMzNhRlZxb2Y2OStLQkNIQmI5OTk2dUtuTjZOUEQzUHpWOFV1b3h2RnVFcmg0Y3F4NXRnaFVSWWxWcGhVY0hzaXYwdzdaOHZiMDBRemxGSjllS1pVREhNRjAzTkZhOTI0V29SYWhOcFU2UGRoOHAwNWNiY2pYLysweVZWM3Bxclc4eCt5YlRsYVEvL0RkTmk5Ym0xdG1udzI3V3ltZjZTNUttelVuVGx4dHlOYlJMdUY2YWt1SmZwME9DUXh1ZjkrM25sbWUzYXVPK1l2L252MlJUbnFiTlNkTnZMbzdYbGVkRkt5a3FVSVZsTHUwOFdLcDV5ekwwM1piOE9zY2MxQ2xNcjl6VldaSjAwYVByNnYwOEx1Z1dvUmNuZGZMOStlRzF5aTl4NmI0clcybkN5QVQvT2plZUg2Y2J6NCtUMCtWVi8ybXJKZmttUTcyZ1c0VC91cWp5MHBRVURlMFNyaG52N2RPSEs3TDBteEh4R3QybmhWcTJDSkRiNDlXT2c2WDZhRVdXRnF6T2x0ZnIyOFp1TmVtYkovc3F6R0hSdnhjZjBxeUZCK285THhhejlQVVRmUlVWWXRVL1B6K29meTA2V0d2WkZmMmpkWG4vYUhWdUdhU1FRSXNLUzkzYXZMOVlDMVpsYS9INnV1ZWthNnRnelh1Z215VHA2cjl1VXRyaHNsckxUU1pwVk84b2pSMFFyVTZKUVdvUmFsTmhxVnViOWhkcjNySU0vYkN0b040NlR5ZXYxNnUxYTlkcTNMaHh5c2pJMEoxMzNxbnAwNmNyT0RqNGpOY0M0TlRLL00xNGVRcnEvbjk1VTVqREl4VDczemRQVVVVQWdPWkcwQTRBQU01cFF6cUg2NUhyMnNwbU1hbTgwaU9QMTZ0MmNZRnFGNWVnWHcySzBaU1hkbWhyZWttdGJlTEM3ZnJuSFNucW1GQTkrV0JwaFVjT3Uxa0prWFlsUkVicGtqNVJldjdUZFAzbnkrTzMzUGgyYzU0bWprNVVWS2hWblpPQ3RQMWdhWjM2cWd6c0ZGWW5hTy9SSmxndFFtMXllNlR2TmxmL3dqNytvbmhORzl0YVZTMjNYVzZ2M0c0cExNaWlIbTJDMWFOTnNINDFLRVkzUDd1bDNrRFdKSlArK3V2MnVxeGZpMXF2ZDB4d3FHTkNraTdwRTZYeHoyMnRFN1lQNmhTbTUzN2JVY0VCRmtsU2VhVkhZY0VXamVrYnBaRzlJdlhPc296amZoNE4rZDFWclhUYnhkVmhjRkdaVzBGMnM3cTJDbExYVmtHNmZsaWNKczdlcG0wSFNvK3psOXJNSnVueEc1TTFkbUMwLzdYU0NvK0NBeXpxM1M1RXZkdUY2SVpoY2JyN2xaM2FuVkYybkQwMVRuRzVXenNPbGlvbXpLNm9VS3NxS3IzYW0rbmJiNW16OXVkb3Q1cjF5bDJkMWI5RHFNb3JQVHFVVzZHNENMdUdkZ25YMEM3aGV1L0hURDM1N2w1NXZJYkxVbWFCVXpzT2xxcDFUS0FjZHJQeVNsekt6SGZLNldyOHpzT0RyWHJuZ1c1cUgxOTdRczUrN1VQVnIzMm9CbllLOTdkTmNycTgrbnhOanE0ZkZxdkwrMGMzR0xRUDdSS2hxQkNydkY1cHdhb3MvK3N0UW0xNmNWSW5kV3Z0QzV1OVhxblU2VlpVcUZVWGRJdlFCZDBpOVAyMkF2Myt0YlFHYndZZEt5eklvbWR1N2FEQktiNmZONC9YZDc2aVFxMGEzaTFDdzd0RjZNMXZqK2laRC9jMytqTXhLamMzVi9QbXpkUGYvLzUzUlVaRzZ1bW5uOWExMTE1N3hvNFA0UFFLdmZVMmVTc3FHbHhlOXVWaVZlNUtVOUFsWTJSdGwxenZPcWFBZ05OVkhnQ2dHUkMwQXdDQWM5cm8zbEhLeUhmcThmL3QwUS9iQ3VUMVNvTlR3dlhubTlvcExzS3VGeVoyMHE5bWJLdzFlZUlUTnllclk0SkRSV1Z1L2ZsL2U3UmtVNTZjTHEvc1ZwUDZ0US9USDY5cHJlUTRoKzY2cktVKytER3J3Vkh4a3JScFg0bXlDeXNWSFdiVGtDN2hkWUwycXVCUGtnWjBERDkyYzEzUUxWS1N0SFpYa1FwS2ZjZnBreHlpMy85ZmEwblM0blc1ZW1GaHV2Wm4rWDZaancyMzZhYmg4WnB3Y1lJU28reTZmVlNDWm41UU56d2MzajFDTm90Smk5Ym02cld2RDJsUFJybGl3bTJhZEVtU3hnNklWb2NFaDI2NU1GNHZmMUU5eWpnKzBxN25KM2FTdzI1VzZxRXkvZm5kUGRxd3AxaFdpMG1qZWtYcGtldmFhdnlGOFNjOEo4ZnEyVGJFSDdMUFduaEFiMzEzUktVVkhwbE12cy9uTDdlMFYxU29WWStPYTZlYm45M1M2UDArZkYxYmY4ais3ZytaK3ZmaVE4cklkOHB1Tldsa3J5ajk4Wm8yYWhVZG9IL2RrYUxybjlsODNQUFlHQnYyRk91Nm1adjlJOGpUczh0MTNjek45YTQ3dEl2dlhMK3pORVAvK0NSZFpVNlBiQmFUSm81TzFKUXhTYnAyU0t6MlpwYnJqU1ZIRE5Va1NXOHZ6ZERiU3pNMDkvNnU2dGttUkl2VzVtakdlL3VhdEkrSm94UGw5VW92ZjNGSW42N08xcEg4Q25WS0ROS0QxN1JWanpiQnV1SzhGbnAvZWFiVzdDcVNKSDIwTWt2WEQ0dFZZcFJkL2RxSCtsK3Y2Y3J6Zk9kbVZXcWhEdVU2SmZtZUpIbjV6aFIxU2d4U2VhVkh6MytTcm85WFpxdTQzSzN3SUt0dU9EOU9VOFlrYVZpWGNEMXpXd2ZkK2E4ZGphci9pWnVTTlRnbFhKVnVyLzZ4SUYwZkxNOVNTWVZia2NGVzNYdGxLMTA5T0Viakw0elhwbjNGOVQ3QmNLcWxwYVhwb1ljZTBxZWZmcXBycnJsR2p6NzZxRHAzN256YWp3dmd6SEZjTktMZTE3M2xaU3A0Y1pZcWQ2VXBlT3ovS2ZTMjI4OXdaUUNBNWtKVFFBQUFjRTRyYzNyMDJ4ZTM2L3V0QmY3V0ZzdDNGR2ppN08ycXFQUXFOdHltRzgrUDg2L2ZOalpRZzFMQ0pFbC9tYjlYWDZ6TDlZLzhkYnE4V3I2alFQL3Y3VDJTSkt2WnBKNXRRMDVZdzdkSFI2SVA3UnhSNi9XMnNZR0tqN1RyVUs1VExyZFhpVkYydFd4UmUvVGE4TzYrYmI3WlZCMyszWGkrTDh6ZWsxR3VQNzZSNWcvWkpTbXpvRkwvV0pDdUg3ZjcybUQwVFE2cnR5YWJ4YVQvZlorcFAvdzNUZHNPbEtxODBxUDA3QW85OXRadS84MkFDN3JWcnZmZUsxckpZVGNybzhDcDIyWnQxWVk5eFpKOG8ray9YNXVqS1M5dGwrc2tobUFQNnVTck1lMXdtZjY5K0pCS0szeXRYTHhlNmNmdEJmcnJCM3ZsOG5nVkdXSlZxTVBTcUgxMlRIRG91aUd4a3FUL2ZIbFlUNzY3VnhuNXZqRFg2Zkxxc3pVNSt1MnNiU3F2OUNnKzBxN0pZNUthWExkUkg2L00xb3ozOTZuTTZYdS9sVzZ2L3ZuNVFjMzl6aGV1MzNscFN3VUZuQjFmeDIwV2t4NmV1MHV6UHp1Z2ZWbmxxcWowYXRPK0V0Mzk3eDJxZFB2TytmazFycGN0KzB1VWVyUjF5K1g5byt2c0x5VFFvZ3U3KzI0aWZiU3llalQ3ZFVOaTFTa3hTRjZ2ZFA5L1V2WFdkeGtxTHZmZEJDc29kZW5sTHc3cXovL3ovZndONnhLdWkzdEduckQyQVIzRGRGRVAzM3FQdmJWYmI5Wm9pNVJYNHRLZjV1M1JxbFJmRzZoYlJ5UTI3WU01Q1Z1M2J0WEZGMStzOTk1N1Q5T25UOWZjdVhNSjJZRmZpSW8xUHluN25xa3EvL0VIbVVKQ1ZQYnR0NnBZdVVMWjk5Mmo4cVhmU1I3UGlYY0NBRGhublIzZjdBRUFBRTdTUnl1enRDK3J2TTdyZXpQTHRYaTlyMDNMcFRYYXAyUVZWT3EzTDI3WG4rYnQwUmZyNmgvWm1ucW9lbFI2U09DSmc5OXZOK2RKOG8xRWQ5aXJ2MTVWdFkxWnRqWGYzeEpsUUtmcVlEdzIzS2JPU1VHU3BDV2I4dnl2di96RlFkMC9KMVhUMzlrdGR3Ty9rKzg4V3VQeDZwdjdiZjJqcFZjZDdUM2ZJdFRtZjgxbU1mbkR5amUrcWR2N1haSTI3eS9SVit2ejZyeCtJbFdoWit1WVFQVnJIMXBuK1JmcmN0WC8vdFc2N004YmFqMTVjRHlYOW1zaGs4blhIcVRtcVB5YVVnK1g2ZU9WdnA3M1YvU1Bsc25VNU5KUG1zY3J6VnFZWHUreS8zeDVXRjZ2RkJSZzFyQ3VFZld1YzZabEZsUnFjVDAvRDdsRkxxVWU4Z1hxTmE4WHFUcEFIOTBuU2paTDdROTNkSjhvQmRoTUtpNTM2K3NOMWRkTVZTdWpsYW1GK3I2Qm51a2Zyc2pTcmlPK1kxNDFJT2FFdFkvdUV5VkpTcyt1MEdkcjZzNkJJRWt2TGp5Z0Z4Y2UwR3RmSHpyaC9rNVdlbnE2SG52c01RMGNPRkN0VzdmVzk5OS9yd2NmZlBDMEhRL0EyY045K0pEeVovNVZlVTg4TG5ONHVLTC8vcHpzWFgxelN0aTc5MURnZWVlcDRKOHZLbXZxSFNyNytpdkozYmgvNndBQTV4YUNkZ0FBY0U1YnNhUHVoS1ZWcXRwWkpNYzUvQUY0U1lWYnExSUw5Y0h5TFAvb2JKTkppb3V3YTBESE1OMHlQRjVQM2xMZFM5VmlPWEU2dTJKSGdjcWNIbGt0Smczb1dCMmtWd1h0SzNjV2FOMXVYeTAxbDFlMWpkbCtzTlRmV2tPU2RoMHAwMWNiOHJUKzZJaHl5VGM1WjZmRUlJM3BHNlg3eDdiU3FONVJSK3VydjZhS1NtKzlOeUFrK1Z2VTJLelY3NjFMeTJELzZPcVY5VXdDNjMrdk81cytvZVRpZGJrcXFYRExialhwdFh1NmFQNGZ1bXZhMk5ZYTFpVmNnVGF6dkY0MXVWZDVqemErSnczVzd5bXVNOWxwVFQ5dTl6MXRFQlprVVp1WXdDYlhmckoySFM1VFprSDlrN3ZtRkZYNnowM1BOaWQrWXVKTXFIbHo2VmlGVmRmTE1UOExuNjdLbHN2dFZaakRVdWZwaUtxMk1Zdlc1dFk2UDkzYStQcXlyOWgrL091bzZvbU5IbTFPUEdsb3QxYStkZGJzYXZpNlhiK25XSzhzUHRUZ3pUV2p0bS9mcmdrVEp1akZGMS9VNU1tVDlkcHJyMm5Ja0NHbjVWZ0F6aDd1akF4ZmdIN1hIYXBZdjA1aGs2YW94ZE4vcTlXVDNSUWNySkNieHl2bTVYOHJvRzgvRmJ3MFcxbDMzNm55NVQ4MlkrVUFnTk9CSHUwQUFPQ2NsbFhnUE00eVg5QnBNa2xSSVRZZHpLMXV3ZElwTVVnM1hSQ25Qc21oYWhrZFVDZEVyTktZUWRCT2wxY3JkaFRvb2g2Ukd0STVYTjl0eVpmVmJGTC9EbUh5ZUgwOXFwMHVyMzU5VVh5dG9OM2ZObVpqM1ZIaUFUYVRyaG9RbzB2N3RsQnluRU5Sb2ZWL2JUTTFVR0ZKZWNPajVkeEhVMjF6alUxandxdEhLeC92TXoyUzEvQ3lobVFWVm1yS1N6djAxTTN0MVRvbVFDbEpRVXBKQ3RKdlJzVEw2ZkpxVldxaFBsMmRyYy9YNXZqYi81eElWSWl2M3FwMk1RMnB1VHdxeEthOW1mWGZmRGpWRHVjMVBFR2U1QXZiMjhZR0tqck1kdHoxenBUaVJsMHZ0YSsxdkJLWGxtN0oxNGlla2JyeXZHaDlmZlE2VG95eXEyK3k3OG1GbW0xandvSXNzaDY5NkJwNzNpSkRUdno1VkgyRzJZWDEzOWc0M2Q1Ly8zMWRlKzIxaW9tSjBVc3Z2YVFiYnJpaFdlb0FjT1pVcHFXcWVQNjdxbGkxVXFhZ0lJVmNjNTJDcnJ4SzVyRDYyN2xKa2prOFFtRy9uYVRneTY5UTRhdi9WdjdUTTJUcjNGbGhFeWJLMXFuVEdhd2VBSEM2RUxRREFJQnoydkZ5MlpwQmNtV05IaXgvdkxxTmJoNWUzYmM5dDlpbDNVZkt0RHVqVEZ2VFM3UjJWNUVXUE5LelNYVjhzeW5QRjdRZm5RU3pWN3NRQlFXWXRUVzlSSVdsYnExT0xaVEw3VlYwbUUzSmNRNGR5Q24zaCs3SEJ1MGRFaHg2Nlk0VXhZWGJKZmw2cEtjZEx0UGV6SEx0UEZTcTlidUxkSDdYQ0kyL3FPR0pTYjNIL1dUcXFqbTYzWFNjWng1UHR2M0toajNGdXVxcERSclFNVXpEdTBkcWNPY3dKY2M1WkxlYU5LeEx1SVoxQ2RkMVEyTTE1U1ZmYi8wVGFtUWRwaG9GTitVenNaaU45Wms1MFFqOXFzQzVxdjk1WTFsTzAvT29qYjNCY2F5UFZtWnBSTTlJbmQ4dFFtRU9pd3JMM1A0MlBYc3p5N1Z4Yi9WVEdRM2RGS3JQc2FIKzhWZ2I4ZFRKNlpDWmNVU1AvZUZKelprelIyYXpXUTZIUTA4OTlaU2VldXFwWnFubjV5NzFjSmtzWnBNdS9qaWcyYzQ1SUVtYk5tMlMyZUdRKy9BaGhkNDZRVUdYWENKVG9LUFIyMXNTRWhYNTJIUlZyRjZsb3JmbnF1cWJUSThlUFU1VHhjQ3BsWjJkcmZqNCtGcmZzUUQ0RUxRREFJQnoyckY5bzJ1S2pUZ2FWSHU4eWl2MnRiKzRwRStVUDJSZnZENVh6MzY4djFiYkZrbUtERzc2VjZTbG0vUGw4VXB0WWdLVkZCV2dRU20rd0gzRjBUWXNaVTZQTnU0clZ0L2tVQTNzRktiRUhMc2Nkck1PNWxiNCs2MVhlZWJXRG9vTHQ2dXcxSzAvdjd0SFN6Ym0xUWxrUi9TTWFuS054MU56TkhCc21GMjVSYTU2MXpNeUF0dmo5WDBlVlo5SlZLaFZnenVGNjlxaHNlclhQbFQ5Mm9kcTNOQTR2ZGxBYi9tYWNvc3FwUVNING82ZTQ0YkUxMWhlOVo1cWhzcVdCbjVKYk95a3JBMDUzblVweVY5M1pvMlIzVFhQY0VPQmVxamo3UHI2dm14cnZuS0tLdFVpMUtaUnZhUDAvdklzWFhHMGJVek4wZXlTVkZqbWtzdnRsZFZpT3ZGNWkvUXR6eTArOFNqMXZHS1hXb1Rham50dFdpMG10V3dSb01ONUZZMjdrZE1JdVRrNVdyaHdvZHh1dHdZUEhxemh3NGVma3YyaWZxOStlVWlCTnJOR0RvcHAxTndad09sa1NXcXA2QmRtSDNlZHlJY2ZQZTd5Z1BNR0tPQzhBZjYvWDNIRkZhZWtOdUJNNk5xMXE2S2o2MDZHRHZ6U25WM2YxQUVBQUpxb1o5c1FMZDJTWCsreVFTbStFZVBiMGt2OVFYWFZaSXdIY2lyMHdHdHA5VzZYSEY5alpGb2pCK3ZrbGJpMGNXK3hlcmNMMGVETzRUcXZvNjkxeHNvYVBlUlg3Q2hVMytSUURVb0pVM0tCN3hqSGptWlBTUXBTKzZQSGYrYkRmZlZPVU9tcjBkZHYvRlFOSnRxeXY4UWZndmJ2RUtidEIrdnYyZDIvUThPUHhUZmtrajVSNnB3VXJPMEhTMnIxeU00dGNtbmhtaHd0V3BlalR4N3RwWll0QXZ5OTEwOWswNzVpRGV3VXB0N3RRaFJvTXpmWXA3MnFUMzV4dVZzSGNueHRZenhleWUzeGhkbGhRZlYvSGU3Y01xZ3BiN0dPbEtRZ2hRUmE2bTNKMGpvbXdCOGsvNVJXNUgvZDZhcCtEMkZCMW5wN3ZLY2tHYXZyVkhON3BFOVdaK3ZXRVFtNnVHZVV0aDBvVWR2WVFMazkwcWVyczJ1dDYvWDZyck5lN1VJMHFITzQ1bng5dU1IOURqNTZvMnJIZ1laN3gxZlprbDZpRGdrTzlXNVhkNkxkS29OU3d2VFB5U21TcEVzZjMxQ3JqZFRKU3VuU1ZXKysrYVp1dSswMnJWKy9YbVBHak5HMGFkTVVFQkJnZU4rbzY1UGlsWW9Jc3VuMzA3b3JNZXI0TjJxQU04VmJVcUtNbTArdVhWVHNHMi9WYWpYenhCTlBuS3F5Z05QS1pETEpiRFl6b2gyb0IwRTdBQUE0cDEwN0pGYnpsbVhVNmMvY3ZYV3dSdlR3amZwZXNLcDZaRzFJb08vcmo2dUJsaDBta3pUNWtpVC8zeHZxM1Y2ZkpadnkxTHRkaUViMGpGU1BOaUdxZEh2OWs2Qkt2a2xUNzd3MFNmMDdoUGw3cUI4YnROY2NxVm5ocWo4ODd0OGgxQjk0bjZvV0NtVk9qNzdja0t0TCs3YlF6UmZHNmNNVldTcXBxQjBTdDRzTDFKZytMWnE4N3l2UGk5WUYzU0tVZHJoTVgyL01xL1BaZTd6VnJVTHlTK29mU1grc3o5Yms2UGFSaVFvSnRHamk2RVROV25pZ3pqckpjUTVkT2NBMzJ1cnJEWG1xMFQxSW1RVk9KVVRhTmFSTHVONVpsbEZyTzdOSkduOWhRb1BIcnBwRXQyYTduV1BaclNiOVprU0NabjlXdDY2cGw3V1M1T3RkdnlxMWVsTFF6UHpxYTNoSTUzQ2xIUzZydFYxVXFOVS95V2g5M0VkUGwrMTA5WmRwd0ljcnNuVHJpQVFOVEFuVGdaeFlTZEx5N1FYMTNpajRiRTJPZXJVTDBjQ09ZUnFjRXE3bE8rcE9panAyWUxUYXhmbHVKQzFhbDNQQzR5OWFtNk94QTZMVk5qWlFGL2VNOVBlS3IrbjZZYjZuV0hZZEtUc2xJYnZrQ3hwR2pCaWhIMy84VVZPblR0VS8vdkVQcGFXbDZiSEhIbFA3OXUxbE5wL1o4L0J6WnpKYlpUSmJaYlg2L2dQT0pnRjkreWxnd01CR3JWdXhhcVVxMXE2cDh6clhOUUNjKy9qMkJ3QUF6bWxSSVZhOU9yV3plcmIxallRMm02UlJ2YUwwenlrcHNwaWw3UWRMOWNIeTZxQjl3MTVmOE4wMk5sQ1RSaWZXQ3FxN3RBelN5M2QyOW8rRWw2UkFXK05iRkN6WjVBdjRoblVKbDgxaTB2cmR4YlZHV20vYVY2eVNDcmRDSFJiRlI5cVZYK0txRmNSTDBvNkRwZjV0N3J5MHBUOXdsS1NnQUxOdXZDQk9zeWVuK1B2UEI5cE8zZGU1V1o4ZVVIbWxSMGxSQVhwMWFtZDFieDBzeWZlWlh0UWpRcTlPN2FJQW0rL0E5ZlgwdnV1eUpNMFkzMTRQWGR1bTF1dHZML1VGMlIwU0hIcDJRc2RhN3lrKzBxNi9qRy92SDZINnllcmE3VVlhMm1mYTRUSzl2enhUa2pSeGRLSWV2S2FOWW82MkRyRmFUQnJkTzBwejd1NmlRSnRaV1lXVmVtN0IvbHJiZjcvVjl4VEU4RzRSK3QxVnJSUWJibE9nemF3K3lTRjY1YTdPNnRjK1ZHWE8rbTkwRkpYNWJnYTBiQkdvcXdaRXEwdkxvSHBiV1V3YW5haXBsN2YwTDRzSnMrbkptNU0xcHEvdkJ0Q005L2JXQ3Y4UDVsYjRKMnU5NjdLV0dqc2dXcUVPaTBJZEZvM3FGYVc1ditzbXU3WGg4MTFWMTdBdTRSclVLY3gvL2s2M1BSbmwycml2V0RhTFNkY045UVh0eDdhTnFmTCs4a3p0T0ZncWswbjZ4Mjg3NnZwaHNYTFlmZThwMUdIUmhKRUptbjVETzBuUzhoMEYrdVNZVWZIMStXRmJnVlljZlhMa0wrUGI2NXJCTWY3ck5DYk1wdWszdE5Qd2JyNkpoMStzNTRhTVVVbEpTWHI3N2JmMTFGTlBhZG15WlJvN2RxeGVmZlZWVlZTY21rQWZ3Tm5QMXI2OWdzWmMycWovYk8zYk4zZTVBSURUaEZ1bUFBRGduUGJta2lPNitjSjR6ZjFkVjVVNVBUS2JUUDZRTGUxd21lNStaV2V0L3VhdmYzTllvM3BIcVUxTW9LWmUzbEszajBwVVZrR2x3b010Q2ovYVJtVHQ3aUpGaGRqVU5qWlFpUzBhMzZKZ2IyYTU5bWFXcTIyc0wwaGV1YlAyYUYyM3g5Y3FwQ3IwKys1b1gvZWFpc3ZkZXU3amREMTBiUnUxalEzVVJ3LzFWRlpocFNyZEhzV0YyMlcxbUZSZTZkSG5hM04wYWQ4V0NuVlkvSk5RR25VZ3AwSy9meTFOZjUvUVVkMWFCK3Z0YWQxVTV2VElhakhKWmpHcHpPblJzcTM1T3I5clJLM0paYXVjM3pWQ1hWc0ZLNmVvVWpQZTIrZC8vY2Z0QmZyUGw0ZDErNmdFWGRnOVFoZDJqMUJGcFZjZXI5Y2ZzbnE4MHQ4LzJxOU4rMG9hdFU5SitzdDcrK1N3VzNSNS94YTY2WUk0M1hSQm5BcEwzWElFbVAxUEl1ek5MTmUwMTFLVlcxeDdwUHkvRmgzVTBDNFJTb3l5NjdhTEUzVGJ4ZFVqMkwxZTZia0Y2UnJUTjBwZFc5VU5xOWZ0OGszd2FURkxUOTZjTEVsNjRQVzBXbTErQ3N2Y09wQmRvVW1qRTNYN3lFU1ZsUHR1c0poTXZ1dmcyWS8zNjZzTmRVZGVQelYvcjJaUFRwSERidFlUTnllclppT0IwZ3FQL3ZqZk5NMmExS25PZHBLMGRsZVJMdWdXb2ZoSXUxNjVxN01rNmNKSDF0WjU3NmZEUnl1eTFMTk5pQ3htcWFEVTViL3BkQ3lueTZ1cEwrL1VyTW1kMURrcFNJOWMxMVlQWHROV3hlVXVoVHFzL2h0SXk3Ym02NkUzZHpWNmt0YmZ2NTZtNXlkMlZOL2tVRTIvb1owZUdkZFc1VTZQL3lhSHh5dTk4RWw2dmFQZFR3V0h3NkhKa3lkcjZOQ2h1dkhHRzNYUFBmY29MUzFOTTJmT1BDM0hBd0FBd05tSEVlMEFBT0NjOXNXNlhOMzYvRlo5djYxQUxyZFhYbm0xL1dDcG5sdVFyaHYrdGxrWitiVW5PaTBzZGV1bXYyL1JuSzhQYTA5R3VTeG1reEtpN0txbzlHcloxbnc5K01ZdTNmYkNObjIzMlRmaWVVU1BxQVlucHF6UHQ1dXJnN3lxU1Q5cldyNjlPbnovWmxQOS9kZmZXWmFoS1MvdDBQZmJDbFJRNnB2b01TTFlxbDFIeXZUR2tpTzZlc1ltL1dYK1B2OE5oSkc5VDkzRXFOOXR5ZGMxZjkya0QxZGs2VWllVTFhTFNVV2xiaTFjazZOeE16ZHI3ZEVSK1BYMUhqK2U1ejlOMThUWjI3VjRYYTRPNXpsbE52dmE5S1JuVitqOTVWa2FOM056b3laQnJjbmw5dXFoTjNkcHlrczc5T1dHWEdVV1ZNb1JZRlpScVZ0cmRoWHBxZmw3ZGYwem01VjZxS3pPdGxtRmxSbzNjNVArdmZpUTltU1V5K255S3IvRXBhVmI4dlhiMmR2MCtqY045dy9mdUs5WWo3MjlXN3N6eXVSMGVaVlg0bExZTVpPblZybzh1dlg1cmZyWG9vTTZtRk9oUUx0WmgvT2NXckFxV3pmK3JlSDN1bkpub2E1OWVwTStXcG1sakFLbkt0MWVaUlE0OWVHS0xGMzc5Q2F0U3ExN1RWVjVZOGtSdmZiMTRlcnQ4cDJLQ1Q4enZhdy9YNVByZnhManN6VTVkU2J2clNtandLbWIvclpGajgvYm81VTdDMVZVNWxKUWdFV1orVTR0MlpTbmUxOU4xVjB2NzFSaGFlT3ZzWUpTbHlhOHNFMlB2YlZiSzNjV3FxVGNyVUM3NzJtR0w5Ymxhdnh6VzQ3YkUvNVVNSnZONnRtenA5YXRXNmRKa3licDVaZGYxcEFoUTdSMjdWcTVYS2YvWmdjQUFBQ2FsOG5yYmV3NGtUT3I1NzJyMURrcFdPLytvVnR6bHdJQVFMMTYzTE5LYldNRDlmYTBiZ3AxTkw2OXlDOVZ6M3RYTlhjSk9BR1RxZjZXTURYOTRlcld1bVY0dkg1S0s5S0VXZHZPVEdIbmtBa2pFM1RmbGEyVVUxU3BpeDVkMTl6bDREVDY4dkhlaW91by8wWkdVVkdSUHZ6d1F6MysrT015bTgxNjRJRUhOSG55NUROYzRjOUxqM3Q5azZIKzcvZE1ob3F6UjlWa3FBSG5EVkRnb01HTjJxWjh4WEpWckY1Vlp6SlVBRURUWFAzMFpoM0pkZXIxZTFQVUtmSE10RXc4RVZySEFBQUFRSkwwOGNNOVpiT2E5TVkzUitwTUVDcEpEcnRabHh5ZERIWHRNYjNsQVZRTERRM1YrUEhqTlh6NGNFMmFORW5UcGszVFYxOTlwVmRlZVVXUmtaSE5YUjZBVTZ4aTlTcFZyR1pBQVFEODBoRzBBd0FBUUpLMFlVK3h4ZzZNMWoxWHRsUnBoVnVMMStlcXpPbVJ4U3oxYkJ1aWFXTmJLeWJNcHZ3U2wvNVhUeEFQb0pySlpGS2JObTAwZi81OFBmend3NW83ZDY0dXYveHlQZi84OCtyWHI1L01acnA0QWo4WElkZU5VOGpONHh1MWJ2RmJiNnA0L3J1bnVTSUFRSE1nYUFjQUFJQWs2WVZQMDlVbk9WU3RZd0o4RTNIZW5LeVNDcmNjZG90L2tzcWNva285OEZxYXNnb3JtN2RZNEJ3UkZoYW1aNTk5VmdNSER0U3NXYk4weXkyM2FNcVVLWm93WVlMQ3c4T2J1endBQnBpQ2d4WC8wU2ROMmliazV2R05EdVVCQU9jV2hsRUFBQUJBa20rQzBHdWUzcWpwNyt6UnF0UkNIYzV6eW00MUs3L0VwYzM3Uy9UQ3B3ZDA5WXhOV3JPTHRqRkFVOWp0ZG8wZlAxN3o1czFUU2txS0huendRZDF5eXkzYXYzOS9jNWNHQUFDQVU0UVI3UUFBQVBDcnFQVHF3eFZaK25CRlZuT1hjazZhODlWaHpmbnFjSE9YZ2JOVWNuS3lGaXhZb0tlZWVrb3Z2UENDUm80Y3FibHo1NnBYcjE0S0NBaG83dklBQUFCZ2VVWnlCZ0FBRVdwSlJFRlVBQ1BhQVFBQUFPQU1ldWloaC9UNjY2OHJJU0ZCbzBhTjB1elpzMVZjWE56Y1pRRUFBTUFBUnJRREFBQUF3QmxrTnBzMVpzd1k5ZTdkV3pObnp0VGV2WHRsdGZLckdRQUF3TG1NYjNNQUFBQUFjSWFaVENZbEpDVG91ZWVlYSs1U0FBQUFjQXJRT2dZQUFBQUFBQUFBQUFNSTJnRUFBQUFBQUFBQU1JQ2dIUUFBQUFBQUFBQUFBd2phQVFBQUFBQUFBQUF3Z0tBZEFBQUFBQUFBQUFBRENOb0JBQUFBQUFBQUFEQ0FvQjBBQUFDL1dNbHhEbDNXcjBWemx3RUFBQURnSEVmUURnQUFnRitraWFNVDlkNkQzZFdyWFVoemx3SUFBQURnSEVmUURnQUFnRitrNGQwalpEV2JtcnNNQUFBQUFEOERCTzBBQUFBQUFBQUFBQmhBMEE0QUFBQUFBQUFBZ0FIVzVpNEFBQUFBNTc3b01KdkdYeGl2ODd0R0tLbEZnRXdtNlVpZVU4dTNGMmp1ZDBlVW5sM1JwUDMxN3hDcU9YZDNVVWFCVTZPbnI5ZnZybXFscXdmSHlpUnA1NkZTUFQ1dmovWm1sdnZYdjdobnBQNXZVSXk2dHc1V2VKQlZSZVZ1YlQ5UW9vVS81V2poVDlseWU2cjNmZCtWclRSaFpJTC83emVlSDZjYno0K1QwK1ZWLzJtckpVbHo3dTZpL2gxQzlhZDVlN1Q5UUtuKzMvVnQxU0VoU0ZtRlRuMjhNbHRYbmhldFZ0RUIrbVpqbnU3N1QycUQ3MlBlQTkzVnRWV1Ezdm91UTA5L3NLOUpud0VBQUFDQWN3ZEJPd0FBQUF5NW9GdUVadjZtZzRJQ2ZBOUxWcnE5cXFqMHFHMXNvTnJHQnVxYUliSDY4Ly8yYU1HcTdKUGEvNzFYdHRLdEk2cUQ4ZTZ0UTVSWjRKUWtPZXhtemJ5MWc0WjNpL0F2THlweks5UmgwZUNVY0ExT0NkZlZnMk4wMzZ1cHlpOXhTWkl5QzV6YWNiQlVyV01DNWJDYmxWZmlVbWErVTA2WHQ4NnhZOExzdXYvTzFnb0xza2lTa3FJQ1pMV1k5TUdLVE4xN1JTdGQwQzFDRWNGVy83NXI2cGpvVU5kV1FaS2tEMVprbnRSN0J3QUFBSEJ1SUdnSEFBREFTZXZXT2xqUDNkNVJOb3RKMzI3TzErelBEaWoxVUtrOFhxbFZkSUNtakVuU2xlZEY2ODgzSlN1cm9GTExkeFEwYWY4UlFUYjk1cUlFN1RoWXFnV3JzeFhtc0NqSWJsRnBoVytJK2wvR3Q5ZndiaEhLTDNGcDltY0h0UENuSEJXWHUyVzNtblJoajBnOWVIVWI5VTBPMVhPM2Q5UnRMMnlUSkwyOU5FTnZMODNRM1B1N3FtZWJFQzFhbTZNWjc5VS8ybnpDeUFSWkxTYTlzeXhEKzdQSzFidGRxQmF0elZGK2lVdDNYZFpTVm90SmwvWnJvWGVXWnRUWjl1cEJzWktrTGZ0TGxIcW9yRW52R3dBQUFNQzVoYUFkQUFBQUorM0JxOXZJWmpGcHlhWTgzZnRxN1JZcTZka1ZlbVR1YnRtdFpsM1NKMG9QL0Y5clhmUDBwaWJ0UDhCbVV1cmhNdDN5M0JaVlZOWWVjVDZrYzdndTdoa3BsOXVycVMvdjFNWjl4ZjVsVHBkWGk5ZmxhbTlHdWVZOTBFMzkyb2ZxNHA2UitucGpYcE9PNzdDYjlkQ2J1N1R3cHh4SjBsdmZWUWZxeTdiazY2SWVrUm83SUxwTzBHNjFtSFI1L3hhU3BBOVdaRFhwbUFBQUFBRE9QVXlHQ2dBQWdKUFNOalpRdmRxRlNKTCsrODJSQnRkNzl3ZGZDTjB4MGFIV01RRk5Qczc3UDJiV0Nka2xhZXpBYUVuU21sMUZ0VUwybW5ZZUt0V0d2YjVsSTN0SE5mbllCYVV1ZjhoK3JQZCs5QVhvWFZzRnEwT0NvOWF5aTdwSEtpTFlxdkpLano1ZlUvLzJBQUFBQUg0K0dORU9BQUNBazlLcmJZai96OC9lM2xGZWI5MHdYSkpNSnBQL3p4MFNnclEvcTJrVG8yNUpMMm5nK0tHKy8yMFhvaVZQOW1sdysrQkFYMy8xanNlRTRZMnh0WUZqUzlJUDIvS1ZrZTlVWElSZFZ3Mkkxck1mcC91WC9XcFFqQ1JwOGJwY0ZaZTdtM3hjQUFBQUFPY1dnbllBQUFDY2xPaHdtLy9QVVNHTisxb1plalQwYm9xODRzcjZqeC9tTzM2Z3pheEEyNGtmMUF3SmJQcFgzOXppdXBPY1Z2RjRwWTlXWm1ueUpVbTZvbiswL3JFZ1hSNnZGQk5tMCtETzRaS2tEMmtiQXdBQUFQd2lFTFFEQUFEZ3BGaU9qbFIzZWJ6cWQvOXFOVENnM1RDWHUvNGRtNDltNjdNL082aVh2emg0Um85ZDVZUGxXWm80T2tuUllUWU42Unl1NzdjVjZLcUIwYktZcGYxWkZWcXpxK2kwMUFVQUFBRGc3RUtQZGdBQUFKeVV2QkxmYUcrcjJhUTJNWUZuL1BnRlI0L2ZQcjdwTFdGT2xjTjVUcTNZVVNCSnVxU3ZiL0xUTVgycUprSE5iTGE2QUFBQUFKeFpCTzBBQUFBNEtadHJURUE2c2xmREU0MWUwaWRLbjAvdnBUbDNkMUY4cFAyVUhYL1RQbC8vOUNGZHd1V3dOL3kxOXEzN3UybitIN3ByNHVqRVUzYnNtdDQvT2lucVJkMGoxU1ltVUNsSlFYSjV2RnF3S3Z1MEhBOEFBQURBMlllZ0hRQUFBQ2RsMjRGU3BSMHVreVRkT2lKQkNmV0U2QTY3V1ZQR0pDa3BLa0RoUVZZZHlYT2VzdU4vK3BNdnlBNXpXRFQxc3BiMXJqTjJZTFI2dEFsV1NsS1FkaDhwcTdYTWZYU09VcHZGMkZmaUpadnlsRnZzVWxpUVJYKzhwbzBrYWRtV0FtVVgxdDliSGdBQUFNRFBEMEU3QUFBQVR0ck1EL2ZKNDVYQ2dpeDYvZDZ1dXFCYmhNeSsxdTNxbU9EUTdNa3BhaC92a01jclBmOXBlcTF0YlJhVFpveHZyeG5qMit1RzgyT2JmT3d2MStkcWRhcXZCL3I0aStMMTZMaTJpcWt4UWVxTjU4ZnBzWEh0SkVucjl4UnJ5YWE4V3RzWGxmbGF6d3pyRXE1Qm5jTFV2WFZ3azJ1UWRIVDBlcFovWDVMMElXMWpBQUFBZ0Y4VUprTUZBQURBU1Z1eG8xQ1B2TGxMZjdveFdRbVJkcjA0cVpPY0xxL2NIcSsvbll2SEt6MzU3bDR0M1pKZmExdXJ4YVRMKy92Nm1Wdk1KczFiMXJSdzJ1dVY3cCtUcW1jbmROUjVIVU0xYm1pc3hnMk5WV0daVzZHQkZoMmRxMVdwaDhvMDlaVWQ4aHd6cituYVhVVzZvRnVFNGlQdGV1V3V6cEtrQ3g5WnE5eGlWNU0vaHcrV1orbldFUW1TcE96Q1NpM2JtbitDTFFBQUFBRDhuQkMwQXdBQXdKQ0ZhM0swWm5lUmJoa2VyOEdkdzVVVUZTQzcxYVREZVU2dFRpM1UyMHVQYUd0NjZXazVka0dwUzcrZHZVMlg5SW5TRmYyajFhMTFzTUtEckNxcGNHdlg0VEl0WHArci8zMmZJYWZMVzJmYk41WWNVWGl3VlpmMWI2R29FSnR5aXlvVkUyNC9xYUI5YjJhNTltYVdxMjFzb0Jhc3lwYmJjeXJlSFFBQUFJQnpCVUU3QUFBQUREdVM1OVRmUHRyZnBHM0tuQjcxdkhkVnZjdCtTaXRxY05teHZGNXAwZHBjTFZxYjI2VGp1enhlUGJjZ1hjOHRTSyt6Yk1Lc2JVM2FWNnZvQUxXSkNaVFhLNzIvbkxZeEFBQUF3QzhOUGRvQkFBQUFnMjRlSGkrVFNWcStvMERwMlJYTlhRNEFBQUNBTTR3UjdRQUFBRUFUMlN3bVhkYS9oWEtMWEJyY09VdzNYUkFuU1hydDY4UE5YQmtBQUFDQTVrRFFEZ0FBQURSUnBkdXJ4OGExazkxcThyLzIwY29zcmR4WjJJeFZBUUFBQUdndUJPMEFBQURBU1ZpVldxZ0JIY09VVjFLcGoxWms2NlhQRHpSM1NRQUFBQUNhQ1VFN0FBQUFjQkx1L05lTzVpNEJBQUFBd0ZtQ3lWQUJBQUFBQUFBQUFEQ0FvQjBBQUFBQUFBQUFBQU1JMmdFQUFBQUFBQUFBTUlDZ0hRQUFBQUFBQUFBQUF3amFBUUFBQUFBQUFBQXdnS0FkQUFBQUFBQUFBQUFEQ05vQkFBQUFBQUFBQURDQW9CMEFBQUFBQUFBQUFBTUkyZ0VBQUFBQUFBQUFNSUNnSFFBQUFBQUFBQUFBQTg3dW9OM3JiZTRLQUFBNExpLy9WZ0VBQUFBQThJdDNkZ2Z0QUFBQUFBQUFBQUNjNVFqYUFRQUFBQUFBQUFBd2dLQWRBQUFBQUFBQUFBQURDTm9CQUFBQUFBQUFBRENBb0IwQUFBQUFBQUFBQUFNSTJnRUFBQUFBQUFBQU1NRGEzQVVBQUlCZmhqZnY2OXJjSlFEQUtSTVpZbXZ1RWdBQUFIQVdJV2dIQUFCblJLOTJJYzFkQWdBQUFBQUFwd1d0WXdBQUFBQUFBQUFBTUlDZ0hRQUFBQUFBQUFBQUF3amFBUUFBQUFBQUFBQXdnS0FkQUFBQUFBQUFBQUFEQ05vQkFBQUFBQUFBQURDQW9CMEFBQUFBQUFBQUFBTUkyZ0VBQUFBQUFBQUFNSUNnSFFBQUFBQUFBQUFBQXdqYUFRQUFBQUFBQUFBd2dLQWRBQUFBQUFBQUFBQURDTm9CQUFBQUFBQUFBRENBb0IwQUFBQUFBQUFBQUFNSTJnRUFBQUFBQUFBQU1JQ2dIUUFBQUFBQUFBQUFBd2phQVFBQUFBQUFBQUF3Z0tBZEFBQUFBQUFBQUFBRENOb0JBQUFBQUFBQUFEQ0FvQjBBQUFBQUFBQUFBQU1JMmdFQUFBQUFBQUFBTUlDZ0hRQUFBQUFBQUFBQUF3amFBUUFBQUFBQUFBQXdnS0FkQUFBQUFBQUFBQUFEQ05vQkFBQUFBQUFBQURDQW9CMEFBQUFBQUFBQUFBTUkyZ0VBQUFBQUFBQUFNSUNnSFFBQUFBQUFBQUFBQXdqYUFRQUFBQUFBQUFBd2dLQWRBQUFBQUFBQUFBQURDTm9CQUFBQUFBQUFBRENBb0IwQUFBQUFBQUFBQUFNSTJnRUFBQUFBQUFBQU1JQ2dIUUFBQUFBQUFBQUFBd2phQVFBQUFBQUFBQUF3Z0tBZEFBQUFBQUFBQUFBRENOb0JBQUFBQUFBQUFEQ0FvQjBBQUFBQUFBQUFBQU1JMmdFQUFBQUFBQUFBTUlDZ0hRQUFBQUFBQUFBQUF3amFBUUFBQUFBQUFBQXdnS0FkQUFBQUFBQUFBQUFEQ05vQkFBQUFBQUFBQURDQW9CMEFBQUFBQUFBQUFBTUkyZ0VBQUFBQUFBQUFNSUNnSFFBQUFBQUFBQUFBQXdqYUFRQUFBQUFBQUFBd2dLQWRBQUFBQUFBQUFBQURDTm9CQUFBQUFBQUFBRENBb0IwQUFBQUFBQUFBQUFNSTJnRUFBQUFBQUFBQU1JQ2dIUUFBQUFBQUFBQUFBd2phQVFBQUFBQUFBQUF3Z0tBZEFBQUFBQUFBQUFBRENOb0JBQUFBQUFBQUFEQ0FvQjBBQUFBQUFBQUFBQU1JMmdFQUFBQUFBQUFBTUlDZ0hRQUFBQUFBQUFBQUF3amFBUUFBQUFBQUFBQXdnS0FkQUFBQUFBQUFBQUFEQ05vQkFBQUFBQUFBQURDQW9CMEFBQUFBQUFBQUFBTUkyZ0VBQUFBQUFBQUFNSUNnSFFBQUFBQUFBQUFBQXdqYUFRQUFBQUFBQUFBd2dLQWRBQUFBQUFBQUFBQURDTm9CQUFBQUFBQUFBRENBb0IwQUFBQUFBQUFBQUFNSTJnRUFBQUFBQUFBQU1JQ2dIUUFBQUFBQUFBQUFBd2phQVFBQUFBQUFBQUF3Z0tBZEFBQUFBQUFBQUFBRENOb0JBQUFBQUFBQUFEQ0FvQjBBQUFBQUFBQUFBQU1JMmdFQUFBQUFBQUFBTUlDZ0hRQUFBQUFBQUFBQUF3amFBUUFBQUFBQUFBQXdnS0FkQUFBQUFBQUFBQUFEQ05vQkFBQUFBQUFBQURDQW9CMEFBQUFBQUFBQUFBTUkyZ0VBQUFBQUFBQUFNSUNnSFFBQUFBQUFBQUFBQXdqYUFRQUFBQUFBQUFBd2dLQWRBQUFBQUFBQUFBQURDTm9CQUFBQUFBQUFBRENBb0IwQUFBQUFBQUFBQUFNSTJnRUFBQUFBQUFBQU1JQ2dIUUFBQUFBQUFBQUFBd2phQVFBQUFBQUFBQUF3Z0tBZEFBQUFBQUFBQUFBRENOb0JBQUFBQUFBQUFEQ0FvQjBBQUFBQUFBQUFBQU1JMmdFQUFBQUFBQUFBTUlDZ0hRQUFBQUFBQUFBQUF3amFBUUFBQUFBQUFBQXdnS0FkQUFBQUFBQUFBQUFEQ05vQkFBQUFBQUFBQURDQW9CMEFBQUFBQUFBQUFBTUkyZ0VBQUFBQUFBQUFNSUNnSFFBQUFBQUFBQUFBQXdqYUFRQUFBQUFBQUFBd2dLQWRBQUFBQUFBQUFBQURDTm9CQUFBQUFBQUFBRENBb0IwQUFBQUFBQUFBQUFNSTJnRUFBQUFBQUFBQU1JQ2dIUUFBQUFBQUFBQUFBd2phQVFBQUFBQUFBQUF3Z0tBZEFBQUFBQUFBQUFBRENOb0JBQUFBQUFBQUFEQ0FvQjBBQUFBQUFBQUFBQU1JMmdFQUFBQUFBQUFBTU1EazlYcTl6VjFFZlhyY3MwcG1zeFJnNVY0QUFPRHNWT2IweUdTU0Fxd21tVXltNWk0SEFJQ2ZyZEtqLytZRzhtOHVBQUNRVk83eUtEVFFvdi9lMTFVZDRoM05YWTRreWRyY0JUU2tUL3RRNVJSVU5uY1pBQUEwS0wvTUphdlpwT0FBaS9pVkh3Q0EweWUvMUNXelNRb050SXFjSFFBQXlDejFhQjJzNkRCYmMxZmlkOWFPYUM5emVsUlM3bXJ1TWdBQWFGQ2xXekxKSzZ1RjMvZ0JBRGlkWEI3SjYvWEt4cis1QUFCQWtrbG1CUVdhNWJDZlBkMVF6dHFnSFFBQUFBQUFBQUNBYzhIWkUva0RBQUFBQUFBQUFIQU9JbWdIQUFBQUFBQUFBTUFBZ25ZQUFBQUFBQUFBQUF3Z2FBY0FBQUFBQUFBQXdBQ0NkZ0FBQUFBQUFBQUFEQ0JvQndBQUFBQUFBQURBQUlKMkFBQUFBQUFBQUFBTUlHZ0hBQUFBQUFBQUFNQUFnbllBQUFBQUFBQUFBQXdnYUFjQUFBQUFBQUFBd0FDQ2RnQUFBQUFBQUFBQURDQm9Cd0FBQUFBQUFBREFBSUoyQUFBQUFBQUFBQUFNSUdnSEFBQUFBQUFBQU1BQWduWUFBQUFBQUFBQUFBd2dhQWNBQUFBQUFBQUF3QUNDZGdBQUFBQUFBQUFBRENCb0J3QUFBQUFBQUFEQUFJSjJBQUFBQUFBQUFBQU1JR2dIQUFBQUFBQUFBTUFBZ25ZQUFBQUFBQUFBQUF3Z2FBY0FBQUFBQUFBQXdBQ0NkZ0FBQUFBQUFBQUFEQ0JvQndBQUFBQUFBQURBQUlKMkFBQUFBQUFBQUFBTUlHZ0hBQUFBQUFBQUFNQUFnbllBQUFBQUFBQUFBQXdnYUFjQUFBQUFBQUFBd0FDQ2RnQUFBQUFBQUFBQURDQm9Cd0FBQUFBQUFBREFBSUoyQUFBQUFBQUFBQUFNSUdnSEFBQUFBQUFBQU1DQS93L2xjL2NaWThoZStnQUFBQUJKUlU1RXJrSmdnZz09IiwKCSJUaGVtZSIgOiAiIiwKCSJUeXBlIiA6ICJmbG93IiwKCSJWZXJzaW9uIiA6ICIiCn0K"/>
    </extobj>
    <extobj name="ECB019B1-382A-4266-B25C-5B523AA43C14-3">
      <extobjdata type="ECB019B1-382A-4266-B25C-5B523AA43C14" data="ewoJIkZpbGVJZCIgOiAiMzA0NjM2NjQ0ODM1IiwKCSJHcm91cElkIiA6ICIzMjM0MDQ1MCIsCgkiSW1hZ2UiIDogImlWQk9SdzBLR2dvQUFBQU5TVWhFVWdBQUJGMEFBQVNoQ0FZQUFBRGh0K1F3QUFBQUFYTlNSMElBcnM0YzZRQUFJQUJKUkVGVWVKenMzV2Q0bEdYYXh2RnpNdW05TnhKQ2FDRlU2VlZSUVVVUksyTFhGYnRyZDYyNzdxNjdydTVhY1JWZHk4dGFWMFhzWWhjVmtTb2l2WVVBQ2VtOVo1SXA3NGNoQThOTVFvQThKTUQvZHl3SHpGUHY1MG4ydzV4ZTkzMlpIQTZIUXdBQUFBQUFBT2hRUHAwOUFBQUFBQUFBZ0tNUm9Rc0FBQUFBQUlBQkNGMEFBQUFBQUFBTVFPZ0NBQUFBQUFCZ0FFSVhBQUFBQUFBQUF4QzZBQUFBQUFBQUdJRFFCUUFBQUFBQXdBQ0VMZ0FBQUFBQUFBWWdkQUVBQUFBQUFEQUFvUXNBQUFBQUFJQUJDRjBBQUFBQUFBQU1RT2dDQUFBQUFBQmdBRUlYQUFBQUFBQUFBeEM2QUFBQUFBQUFHSURRQlFBQUFBQUF3QUNFTGdBQUFBQUFBQVlnZEFFQUFBQUFBREFBb1FzQUFBQUFBSUFCQ0YwQUFBQUFBQUFNUU9nQ0FBQUFBQUJnQUVJWEFBQUFBQUFBQXhDNkFBQUFBQUFBR0lEUUJRQUFBQUFBd0FDRUxnQUFBQUFBQUFZZ2RBRUFBQUFBQURBQW9Rc0FBQUFBQUlBQkNGMEFBQUFBQUFBTVFPZ0NBQUFBQUFCZ0FFSVhBQUFBQUFBQUF4QzZBQUFBQUFBQUdJRFFCUUFBQUFBQXdBQ0VMZ0FBQUFBQUFBWWdkQUVBQUFBQUFEQUFvUXNBQUFBQUFJQUJDRjBBQUFBQUFBQU1RT2dDQUFBQUFBQmdBRUlYQUFBQUFBQUFBeEM2QUFBQUFBQUFHSURRQlFBQUFBQUF3QUNFTGdBQUFBQUFBQVlnZEFFQUFBQUFBRENBYjJjUG9EV0RiMXQrV080VEhlYXJOKzhZb05od1A5MzBuODBLRGpEcnVldjY2dUc1TzFSUmEyM3ozS3NtSjZtMjBhYnJabTl5YmJ0Z2ZMd2VuTkZEYzc0clVFVnRzOXZ4L2JxRmFPcUlHUDF2WVpFS0tpeHUrL3pNUHJyMXpCUzk5SFcrbnB1L3kyM2Z6TWxKdW4xYXF2NzZ6blo5c0tSRWtuVDlhZDMwK3pPNjZjV3Y4alQ3OHp5bHhnWm8vb05EZFA4YjJ6VC9sektGQlpuMTh6K0g2NFV2OC9UQ0YzbXVhK3pydGxlMmFreEd1QzQrUG1HLzcycldwN21hODIyQjYvT004ZkZLalExMGZSN2FNMVNEZTRUcTNVWEZhbXl5ZTV3L2JWU3NiSGFIUHYrbHpMVXRyN3hSNy94VUxCK1ROTEI3cU1jNUNaSCtlbkptYnozNi9rNnQzMWtuU2VxVkZLU0hMazdYQTI5dVUwNnh4ZU9jamJ2cTFHeHpTSklXUGpKTWtTRUg5MnZlWkhWb3hGMHIzTFlONnhtbWwyL3VwOG82cXk1L2VyMU9IQmlsKzg1UE82RHJUcmgvcGFycmJhN1BxNTRlcFZtZjV1aTFCWVVITmVZcEQvMm0vUEttQXhyRHdWajIrQWdGK1pQVEFnQUFBRUI3ZGRuUTVYQXByN0hxcHY5czFvTXowcFZiWWxGR1NyQWthZEhHU3JjdnNxdWVIcVhIUHRpcHQzOHFjbTA3YzJTTWdnTE1YcS83MGRJUzdTaHVkTnMyWlZpMHBvNkkwZWUvbEduTnpscTNmVUgrenRCbFh5Y05pdFF0VTFPMVlFMkZLM0NScEJlL3lwUE43dEN0WjZiSTM5ZEg4eFlYdC9tY0M5WlVLTGZFR1ZENCtFaTNUVXRWZUxDdnNnc2J0SFpucmQ3N2VjLzVsNXlRb05PSHgranlwemU0dHIxeFIzK1BhODc5MmYyZU4wOU4wZUFlb2ZyUGwza3FxMm4yT0g1TVJyZ3NWcnVlL0RqSFk1L2RJWTkzSWttcGRRR1NwTzJGRFI3N3QrWTNhSE5lZlZ1UExVbGFzcm5LTGVocGNjMnB5WktrVjc3Tzk5ZzNhVWkweHZXTDhOaithM2FOSG5wbnUwYjJEbGR4VmJNK1dsYWlqYnZxM0k3cGxSaWtQMStZcmhlL3l0UGlUVlZ1KytvdGRsWFgyM1RseVltNjYrenVydTEzbmQxZGQ1M2RYUXZYVitxQk43Ykp6N2Y5NFVaNVRkdmhJQUFBQUFDZ2N4enpvWXNrN1NodTFOWFBiWlFrVitqU0ZZenFFNjUvWGRsYmVXVVcvZW10YkkvOXIzeVRMNU5KaWdyMWxjblU5clYyRkRkcVIzR2pmRXpTSTVmM1VuaXdyNjZidlVsWG5KU29DOGJIZXozbmcvc0d1WDIrZlZxcWJwK1c2clVhcHlQNCs1cjB5NU1qdmU1NzZmZjlQTGE5ZDg5QWoyMG4vV21WUitDenJiQkJIeTh2OVRqMnZMSE81L2EyTHpVdTBHdm9Ja21mTEMvVko3dlBzZG9jV3BYdEhnYlpkaGV4N0NodTlOalhZc21tYXYzZHNrT1M5TWNMZXVpN05lVmF1cmxhQmVVV0xkcFlKVCt6U1U5YzFWc0wxbFI0akc5RTd6RGRlbWFxL2o1M3U3Ym1OM2k5UGdBQUFBQ2c4eEc2dE9HRkd6STBQblBQRisvN3A2ZnAvdW5PcVNTbi9QazNRKzg5YVhDVUh2dGRiOVUyMnZUN0Z6ZXJ0dEhtOWJpWGQxZHBwTVlHN1BlYVpoL3AwY3Q3YTF4bWhLNmJ2VWtiY3V0VVZXZlZ4OHZjdjlSZk1ENWVweHdYN1RadDZxWGY5OU1ueTB2MTJZcFNGVlVhTzVYbHlZOXo5UE5HWjRWSVlxUy9ucjhoUTM5OVo3dlc3SEFHR0gyVGcvWFBLM3JwempsYlhkVkV4NldINmM4WDlqQjBYQjFwUzM2OXR1UTdxM1FlbU41RGEzYTRWeHMxMnh5cXJyZnB3UXZUbFYzVW9MVzdwMWFGQjV2MXlHVzkxTmhzVjJtVlp6VVJBQUFBQUtEck9HWkRsMmV1NmFPVEJrVkprdkxMbXpUbEljOFE1YWxQY3ZSLzN6cGYwU3MzWitydGhVWDZiazI1SkttOHR1MHZ2Si84Y1hDcis5NjgwM09xenI0Y2txcnFyTnBaMHFoUC85VDZ0VDVhVnFJLy8yLzdmcTluTWtuL3VxSzN4dlRiRTdoSVVsNjVSWG5sN3V1aW5EQXdVamE3dzIwNmo4M3VVR0dseGVzVW9JNVdWTm1rckFKbkJZZWwyYmsyVEg2WnhiVXQyTjg1cFN1M2RNKzJoRWgvUThmMDkwdDc2dXhSc2E3UFZ6NnpRUk1IUkdubTVLUld6M24wOGw1NjlQSmVIdHNYcnEvVXpTOXQyZTg5SDVtM1E5MWlBaFFaNHVmYTl2Q2x2V1IzU05jK3Qwa1ZkVXdyQWdBQUFJQ3U3SmdOWGQ3NnNVZ0wxbFRvakJFeFNvc0w4bnJNM2xNM0hBNHBwNlJSdjJUVnRPdjZzei9QOHdobUJxU0c2THl4Y1pyelhZSHl5dHlERG45ZmsrNDliOCtDckF2V1ZHalZ0aHJkUERWRm1Ta2hlblRlRG85NzNIdCttaHE4TEZqclRVU3dyMDRkR2kxSmV1Y1BBMXpiYjM1cGk4Wm5SbmhkU0hmTk02UGFkZTJPOXRpVnZmWFlsZTdiMmp1OXlKdkxKaWJxc29tSnJlNXY3VG1ickE3WHZ6OWJVYW9OT1hYcUhoZW9TeWM2MzlXN2k0cjA0L29LdlhiYi9rTzBGamYrWjdNSzJsajBkdTh3c01XSTNtRWV4MzN6dCtOYy8zN3Y1Mkw5ZmE3bjd3Y0FBQUFBb0hNZHM2SEw4cTNWa3B4cnVIZ0xYY1prUk9pdkY2VzdiZHQ3ZXRIQzlaV3kyUjBlNS9uNk9CZFgrV3hGcVVjRlNjMndhSjAzTms0TFZsZDRYVWgzNzlCRmtxdVNvY2xxOTdydXlJR0VMcldOTnQwMUo4djFPVDBoVURkUFRWRk5nMVV2ZjUxL3dBdnAvdldpZEowM05zN3J2YjUvZUdpYlk5azM1UGhnU1luKytzNmVhcDI5cHhlMVYxdlRpeGF1ci9TWVFpVTVGLzZWNUhWOW1pbkRvelZ4d0o3d1k5bVdhaTNiVXEwUnZjTmNvVXRCUlpNS0twcTBPYTllelRhSG52S3lRSENMTTRiSGF2cTRPUDI2cmNidFo5WXlMV3o2dUhoZE9DRkI4MzhwMVVkZXh0cVdmUU04QUFBQUFFRFhjTXlHTHZ1eklhZE9NNS9kMk9yK3FqcXI2MHY3M254OW5hR0wxZVlaeUhTMDRBQ3pHaXplMTNyWlY1K2tJTjE0ZWpkZE1XdURhaHR0T245M1lMS2pxRkVWZFZhVlZ1K3B5aW12dGNwdWwydnFqaVNOdldlbDIvVVdiNnBTVFlQN3ZZZjFDdE9ndEJDOXZiRElyVXFraGJlVzBaSzBkbmNBMVdSMUhIU3I4S3lDaGxZN09PV1VOdXFiMWVVZTJ5ODcwVm45NG0xZlJrcXdKZzd3Mk55cXFqcHJtMVZRZzN1NHQ4TysvclJ1dXZ6RVJJVUhPNmRLSlVUNmE5M09PdjI0cmxMcmN1cmN6bnY0MHA2YTlXbXVGcXlwYVArQUFBQUFBQUNkanRCbEh5MU5nTXBybTdXcEhlMkk5eFd5dTRWMHM2MTlGU2dIS3piY1R6NG1xYXlkN1lLTHE1clZNekZJSnc2SzFHY3J5dFF2SlVTN3lpeXFxTFBxa3o4T1ZvLzRRSTl6OXExSXlTMjFhT3JmVjB1U3Z2NnRYRi8vNWg1VzNIZCttZ2FsaGVqeEQzTms5VklGMUZiTDZOYnVlYUNtUFBTYlc2dnZyc3JmMTZUYzBrYXQyVm1yQ3lja2FQYm51L1RhZ2tMTnVTWFQ2M1NpV1ZmM2FmVmFUMzZjbzljV0ZCbzVYQUFBQUFEQVFTQjAyVWZZN3NxRHFucXJ4bWRHNk9ySnlSN0hMRnhmcVZjWEZIZzlQemJjdWVqcEQvOFkxdW85MnJPUXJqZDlrb05VVnRPc3VrYWJMdDlkcFpGVjBMNWdxS3ltV1VzM1YybjZ1SGg5dWJKY2t3Wkg2ZnUxenNxSm0xL2FMSDlmSDlleDNxWVhTYzVwVG0xSmpQUlhWYjNWYStEU1hwYzl0V0gvQjdXaHBKTTYrb3pQakRpZ3dPalorYnYwN081cFRUUEdKK3kxUGRlMWNPNmRaNmNxME45SC81eTNVeTJ2MUdTUy9qd2pYWVdWVFhyeHF6eEo3ZjhkQUFBQUFBQWNYb1F1dXdYNitlZ1A1M2FYcGNrdVM3TkRsbWFIWXNQOE5LSjNtRjc0TXM5MTNMbWo0N3hXaGJUb0ZoMmdlb3YzYW80RFdValhtK2V2ejNEcjByTm9RNVYrMjk3K2JrSnYvbENvNTIvSTBJTVg5bEJzdUovbTc1N21rMVBpUGhadjA0dmFvMzlxeUFHZjArS0M4ZkY2Y0ViSHRIeWU4MjJCWm4yYTYvcmNFUXZwN3MrYUhiVjY3SVBXSzNqT0hCbXJpNDZQMys5MVZtVTdmNTZYVFV4VVdseWdybmx1azJ2OUllZDFZaFFkNXF2NzNzalMwczNWclYwR0FBQUFBTkFGSFBPaFMxaWdyMEtEekpwN3owQ2x4QVJvUTI2ZHNvdmNnNE1YdnRnVHVvenBHOUhxdGN3KzBzQzBFR1VWMXJzdFROdmlRQmZTM2RjZjM4eFdRcVMvekQ0bUZWUll0R0xyZ1gzcFhyU3hTa3MzVit2Y01YRmF1N05PdjJZN3V5TmRkNnBuTlkva1BZejRKYXZHNjFvM1l6TWlsQmpscjNkK0tqcWdNYlg0Ym5XNU51OXF1MkxqdkxGeE9udDBuSzZjMVhZMVRGR1YrL1NpSlp1clBOYVJrYVJyZGovM0sxL25lK3liTkNSYTQvcTEvck9XcEpGOXdwUWM3VndJZDNDUDBJT3VZUEttZTF5Z0dwcnMrc3RGNmZwa2VZaytYbDZxdExoQVBUZ2pYWit0S0NOd0FRQUFBSUFqd0RFZHVnUUgrR2hDL3dpRkI1bVZYZGlnTytkczFmUFhaM2dzckxwditMQzl5SHMxeCtpK0VZb0k5bTEzVytrRHRkeEx5UEtYaTlKVlZXL1ZyRTl5MjdVSTdhL1pOUnFURWE3NFNEOU55SXpRLzM0czFKZS91Z2NTclUwdmtxUUdpK2NVbzRRSWZ6MTBjYnJLYTYyYXQ4VDdZcmI3VTE1clZYbnRuaUJxUXY4STNYcG1xbVo5a3F2Rm01eWRqTWIzZDRZZ0xZSFZ2Ni90cS9LYVpyMzJmWUcyRnpWNnZlNEpEL3phNmozUEcrdXNQUEhXR2NyYnRyMmRPeVpPWjQ2TTFYOTJCM0lkVmVuUzRwRjVPL1RNcDdrNmEzU3NMcHFRb0p0T1Q1SE43bEJoWlpQKzl1NzIvVjhBQUFBQUFORHBqdW5RcGQ1aTF5OVpOVnFYVTZ2WHZ5L1VoTXhJSlViNTY4ZDFsVzdIN1Z2WnNYZW5uNzIxdEJMK1lxVm5WY1hCMnQ4RWwyRTl3MVJZNmRreTJPVGwyT0c5d25UZGFjbWF2N0pNYVhHQmV2NkdER1VWTk9pYjFlWGFrRk9uWFdVVzFUYllOT3ZUWEQzMWNhNGNEdWNhSWo0K2txL1pKRCt6andMOFRFcUs4bGRCUlpQcm12KzhzcGZDZzN4MTY4dGJWRjNmdm01S2JUM1BEVk82YVV4R3VKWnRxVmJ0WGgyU1RKSWN1OStJcjlta0ZWblZ1dXJrSkowN0prNExOMVRxLzc3SlA2RHBWZ2NqTk5DNTVzODVvK00wZjJXWjVueFhvRk9PaTFaTmc4MmplbWx2WTNkWHpkZ2Q3Wit5RkJUZ0k3UEpKTE9QU1E1Sld3c2FsSmtTckk4ZUdLeDNGeFhwL1NYRmgveStBUUFBQUFER09hWkRGMG02KzlVc1NjNnBRYjgvSTBWcmQ5YTVLa29XYmF6U3pHYzNlcTFjQ2ZMM1VXcHNvUExLbllISENRTWlkWHovU0gyN3VrS2JENkxyMFlqZTRaS2t4aWIzU3BLSzJtYUZCL3VxVDNLUXR1YnZxYkR4OVRGcFhHYUVlc1FINm90ZlBVT2U0d2RFU3BJcnRCamVLMHl6cjgvUThpM1YrdE9iMnlSSlUwZkU2cnl4Y2JyMmxHVDVtcjNGTk43TitpUlhuNjRvMVczVFVqVnRaS3gybFZrMDg1V05XcjlYcStNRE5hcFB1RzQ5TTBXRGU0UnFWWGF0eDNzUDh2ZlI4RjdocXFwemRtdXkyaHg2NC90Q3ZmdFRrYWFQaTllMXB5YnI5ZHY3YStXMkd2MzVmOW5LTGZVTW9qckNwTUhSa3FUWHZ5L1VFeCsxWHRuU1BTNUFKL1NQVWtPVFRTYVRTZWVNaVZWSmRiTXN6UTdYODFodERxWEVCc2pzSTFtYTdZb0s4ZFhFZ1ZIcWx4S3NZYjNDMURjNVdJMU5kbjM1YTVsdWU2VlEyd29iMURNaFNKZE9UTkFOVTdycHh0Tzc2Yk1WWlhyeHF6d1ZWWGI5amswQUFBQUFjS3c1NWtPWEZ2ZFA3NkdNYnNHNjVyazlWUzFsTmMwcXE5bFQxWExuMmFuNjNjbEpidWQ5c0tSRWtyUStwMDZMTjFYcDRmZmFQL1hqaDM4TVUzU28rNC9nbHl6M0tVUmZyQ3pYRlNjbDZmMTdCM205Um5GVnN6NVlVcXdlOFlINjVJK0QzZmJaSGRMU0xjNnBPV0ZCWmkxWVU2RS92NTJ0bG03V255d3YxU2ZMUytYdmExS3Z4Q0JGaFBncUpNQXNzNDlKY3Y1UEpwTmtrbW4zMzA0TE4xVEticGVTb2dMMGY5L202K1d2ODlYUWRHZ3RzcTAyaDB3bWsyNzZ6Mll0MnVnY2M1Qy9qNVk4TmtJK2UrVkJiM3p2M2hxNXllclEveFlXNmNPbEpicDBZcUxHWjBhNHFuQ01zRG12WGk5K2xhZlpuK2UxZVp5dmo0L3VPYSs3NjNOUlpaTWVlVytINi9NNVkrSjAvL2w3MXZCWnM2Tk9qYzEyelp5Y3BPcDZxMzdKcXRhem4rM1NpcTNWYW16ZTgyNnppeHIwOTdrNzlPejhYYnI0aEFSTkhCQ3B1a2FxWFFBQUFBQ2dLekk1SEFjdzMrRXdhcy82SkIzcCt0TzZxYnJCcXJjWHRyNFFiR1pLc01abFJxaXAyYUZtbTEwN2loc1BhRUhUZnQyQ2RkYm9XTDN4ZmFFS0twcDA5U2xKU29vS2tOWG1VSVBGcnFWYnFyUnNpK2YxRWlMOU5hSlhtSUozVDIyUkpJZkRvZkphcTVac3FsSkRrMTBtay9UZ2pIVDVtaVdUeWFUYUJwdStYVjJ1bGR1TVdWL21jSms2SWtZaEFjN256aWs5c1BmZDJjdytrc01oZWV1Z25aNFFxR2tqWTJXelN5dXpxclhVeTgrOXExbjIrQWdGK2Z2cy8wQUFBQUFBZ0NSQ0Z3RHRST2dDQUFBQUFBZUdiMUFBQUFBQUFBQUdJSFFCQUFBQUFBQXdBS0VMQUFBQUFBQ0FBUWhkQUFBQUFBQUFERURvQWdBQUFBQUFZQUJDRndBQUFBQUFBQVA0ZHZZQWNHUjc3YmIrR3RvejlLRE9YYnFsV3RmTjN0VEJJd0lBQUFBQW9Hc2dkTUVocTdmWTlkTFhlUWQwem8xVFVnd2FEUUFBQUFBQVhRT2hDdzVaUTVOTmM3NHRPS0J6cnA2Y2JOQm9BQUFBQUFEb0dsalRCUUFBQUFBQXdBQ0VMZ0FBQUFBQUFBWWdkQUVBQUFBQUFEQUFvUXNBQUFBQUFJQUJDRjBBQUFBQUFBQU1RT2dDQUFBQUFBQmdBRUlYQUFBQUFBQUFBeEM2QUFBQUFBQUFHSURRQlFBQUFBQUF3QUNFTGdBQUFBQUFBQWJ3N2V3QjRNZ1hFK2FuTmMrTTZ1eGhBQUFBQUFEUXBSQzY0SkRWVyt4NjZldThBenJueGlrcEJvMEdBQUFBQUlDdWdkQUZoNnloeWFZNTN4WWMwRGxYVDA0MmFEUUFBQUFBQUhRTkpvZkQ0ZWpzUVhneitMYmxuVDBFQUh0Wjl2Z0lCZm16REJRQUFBQUF0QmZmb0FBQUFBQUFBQXhBNkFJQUFBQUFBR0FBUWhjQUFBQUFBQUFERUxvQUFBQUFBQUFZZ05BRkFBQUFBQURBQUlRdUFBQUFBQUFBQmlCMEFRQUFBQUFBTUFDaEN3QUFBQUFBZ0FHT3l0QmxjRnFvMWp3elN0ZWRtdHloMTczeTVFU3RlV2FVeHZRTjc5RHJZdi9HOUEzWG1tZEc2YktKaVIxNjNhNzJNMzN1dXI1YTg4d29tWS9LLzJjQ0FBQUF3TEdGcjNZSG9NRmlWMWxOczVxc2pzNGVDanBJVi91WlZ0ZmJWRmJUTEVmWEdBNEFBQUFBNEJENGR2WUFqaVJ6Znk3VzNKK0xPM3NZNkVCZDdXZjZ3SnZiT25zSUFBQUFBSUFPUXFVTEFBQUFBQUNBQVk3cVNoZXoyYVNicDZib25ORnhpZ3p4VlZaQnZkNzRvVkR6Znlsek95NHN5S3lySmlYcHhJRlI2aFlUSUxPUFNRVVZGbjIzdWtMUGY3SExOZlhreXBNVGRkZlozWFhkN0UzeU5adjAvQTBabXZWSnJ1WjhWK0M2MXN6SlNicDlXcXJlL0xGUWozMlE0OXArN3BnNFBYUnh1cTUvZnJPV2JLNlN5U1JkTUM1ZVo0Nk1WZStrSUFYNithaWl6cXBsbTZ2MTdQeGNGVlEwU1hLdVQvUG1uZjMxd0p2YjFETWhTS2NQajFGOGhMK0txNXIwMllveXZmaGxucXoyUFhOUllzTDhkUFBVRkowd0lGTGhRYjdhdEt0T3ozeVdxeitjMDEyU2RORVQ2OXQ4WjZQN2h1dWFVNUxWSnpsWW9ZRm01WlZaOVBWdjVYcmxtenhabXZjLzUyVmN2d2o5YmxLU0JuWVBrWi9aUnp0TEd2VGgwaEs5dmJCSUxjTWMyak5VcjkzV1h3KytsYTFUaDBacmROOElsVlEzNmZLbk42aTB1bGxEMGtOMTQ1UnVHcFFXS29kRFdyQzJYRDl2clBKNnY4UW9mOTA0cFpzbTlJOVVWSWl2aXF1YTlkM3FjdjNucXp6Vk5OaGN4NjE2ZXBUZS9xbFFWcHRERjA1SVVHT3pYUSsrbGEzMGhFRFh6M1RwbHVwMnYrK29FRjk5OS9laFdybXRSdGZPM3VRMkpoK1Q5TzNmaHFxaTFxcnovN1ZXa3ZOMzdOcFRrelY1U0xRU0kvMVYzV0RUOGkzVmV1SExYZHBlMU9nNjk3bnIrdXFFQVpFYWVzZHkyZXg3cmpsOVhKek9IeHV2bm9sQmFtaXlhMzFPclo3L0lrL3JjK3BjeHdUNitXam01Q1NkUGp4R3lkRUJxbTEwM21QMjU3dTBvM2pQUFFBQUFBQUFoOGRSSGJwY2VWS1NMRmE3M2w1WXBIcUxUZWVOamRPamwvZFNYTGkvWGwzZ0RFcDh6U2JOdVNWVHZaS0M5T0dTRXIzelU1R0NBOHc2ZFdpMFprNU9rcCt2U1k5L21PTng3YVZicWxWbnNXbGNab1JiNkRLdVg0UWthWFRmQ0xmakp3NklWRTJEVFN1MlZrdVNIcGplUXhkT2lOZWlEVlY2YnY0dU9TUU43eFdtTTBmR3FIZHlrR1k4dHM3dC9Idk9UVk5PYWFObWZaS3JxanFycG8rTDEvV25KY3Rra3A2YnYwdVNGQm5pcTdmdUhLQ0VTSCs5djZSWTJZVU5HcE1Sb1pkdTZxZUdKcnR5Uzl2KzRqMDRMVlN6cjg5UVZrR0RYdjQ2VDQxTmRvM05pTkQxcHlXclIzeWc3bjQxcTgzekw1dVlxSHZPNjY2OGNvdmUrS0ZRdFkwMm5Ud29TdmVlbDZhUnZjTjF4NXl0Ym11VjNIRldkeFZVV1BUV2o0V0tDZk5UYVhXelJ2WUowMzl1N0tlYWVwdmUvTEZRRFJhN3pod1pvOGxEb2ozdWx4WVhxTmZ2NkM5L1g1UGUrN2xZT1NVV1pYUUwxc1VuSkdoQy8waGQ5dlI2dCtEbGpHR3hzdG9kZW5kUmtkTGlBclYyUjYzU0V3SzlQc3YrM25kRm5WVS9yS3ZVeVlPamxCRGhyNktxSnRlNTR6SWpGQnZ1cHpuZk9uOHZva0o4OWRydC9kVWpQbENmcnl6VEd6dHExUzA2UUJlTWo5ZkVnWkc2NFlWTldwVmQyK3A3L2RzbDZUcG5kSnhXWmRmcXVmbTdaUFl4NlpJVEV2VGZXek0xODk4YnRTNm5UdjYrSnIxeVN6OE43QjZxejM4cDArdmZGeW8rd2s4WGpFL1FPMzhZcUpuUGJ0U0czTHBXN3dFQUFBQUE2SGhIZGVoaU1rbVhQcmxldThvc2txVDNmaTdXLys0YW9KdW5wdWpqWlNXcXFMTnEwdUFvWlhRTDFyUHpkK25sci9OZDU3NzVZNkcrL010eG1qb2kxbXZvWXJVNTlQT0dLcDAwT0VwQi9qNXFhTElyME05SFEzdUdxYkNpU1gyU2doUWQ1cXZ5R3F2OHpDYU43UmVoQldzcVpMVTdGQnZ1cHhuajQ3VmtjNVZ1ZW5HejY1cHZMeXpTa3pONzY1UWgwZXFaRUtUc29nYlh2dHBHbTY1NlpxT2FiYzdVWXZuV2FoM1hjNmpPR1IzbkNsMXVQTDJia3FQOWRlOXIyL1RGcjg1cW52OHRMTkxkNTNiWDVTZnV2K3ZQNmNOajVPOXIwbDF6dGlxdjNQbk8zbDlTb3NmVld3bVIvdkwxTWJsVjFld3RLY3BmZDV5ZHFwd1NpeTU4ZkozcUxNNnc0NDN2Qy9YUEszcnBqT0V4bWpZeVZwOHNMM1dkWTdIYWRjV3NEYTVua3FUN3p1K2hoaWE3TG54aW5Zb3FtM1kvUTZIKzcrWk1EVWtQZGJ2bmd4ZjJVSkMvank1OWNyMjJGdXg1Vnorc3E5QUxOMlRvaHRPNjZmR1A5dnpzb3NOOGRjNGphOTNlYTJ2YTg3NC9XRnFzeVVPaU5IVkVqRnZ3ZHZhb09EWGJIUHJzRitlejNuSm1pbnJFQityaHVUdmMxby81ZUhtSjN2M0RRUDM5a2w0NjZ4K3I1ZTNWRHVzWnBuTkd4K21yVmVXNjU3VXNWMmoxN2VweWZmS253YnArU2pmZDh0SVdYVFVwV1lQVFF2V1h0N2ZydzZVbHJ2UG5MaXJXQi9jUDBsOHVTdGVGajYvenZBRUFBQUFBd0RCSDlab3VIeThyZFFVdWt0VFE1S3g2OGZjMTZZUUJrWktrcjFhVmE5S0RxL1Q2OXdWdTU0WUhtVlZWWjFWd1FPdXY2UHUxRmZJem16U3FqN1BkOElnK1lmSXptL1R5Tjg3d1puU2ZscXFYY0FYNSsraTdOZVdTcE5McVpoMS8vMHJkODZyN29xbEIvajZxM1YyWnNlOTlGMjJvY2dzbjdBNXBSM0dEWXNMOFhOdE9HeHFqblNXTnJzQ2x4UXRmNUhuOVFyK3ZnZ3JudTdybnZEUU42eG5tYWx0ODk2dFp1bUxXaGxZREYwazZlWENVL013bXpma3UzeFc0dFBqM1o3bVNwQ2xEWTl5Mkw5N2sva3pkNHdMVUp5bElYNjhxZHdVdWt0UmtkZWlOSHd2ZHpvME84OVdvUHVGYW1WV2prdXBtUlliNHV2NnN6NmxUWVVXVEp1MVRIWk5UWW1sWDRDSzE3MzB2M2xpbG9xb21uVGt5MXJVdE5OQ3NFd2RHNllkMUZhcXNzMHFTVGprdVdvVVZUWHB2c2Z1Q3ZWdnpHelIvWlptNnh3V29mMnFJMTNGTUdod2xTZnJ2ZHdWdVZVSzd5aXk2K0luMWV1aWQ3WktrTTRiSHFMYlJwaC9YVmJpOWkyYWJRNHMzVlNrekpWakowZjd0ZW5ZQUFBQUFRTWM0cWl0ZHNncnF2V3h6ZnVsT2pkc3pyYVNtd2FacEkyTTF0R2VZVW1NRGxSSVRvTmh3NTVmcnRsb0pMOXhRS2F2ZG9mR1prZnB4ZmFYRzk0dFVjVld6UGw1V29ydlA3YTdSZmNQMXhhOWxtamd3U28zTmRyZDFTYW9iYkpvNElGTEhENGhVV2x5Z3VzVUVLRGs2UUQ0bTUzNGZrOG50WHBWMXpSNzNiN1k2WE1GSWVMQlowYUcrV3JQRGM1cEtiYVBOTGNSb3pidUxpalN5VDdoT0doU3Brd1pGcXM1aTA0cXROZnBoWFlVKy82Vk1qYzMyVnM5TmpYVyt6NndDejFBanY3eEo5UmE3dXNVRXVHMHZybklmVThzMWRoUjdYaU1yMzMxYmVueVFKR2w4Wm9RV1BqTE02NWdjRG1lMVUwdFlzZS85MnJLLzl5MDVnNWhQbDVmcW1sT1MxYTlic0RibDFXdktzR2dGK0psYzFTYmh3V1pGQlB0cWZVNlYxemJRTGIrajNXSUN0QzdIYy9wUHl6dmI3aVVzMnB5MzUvZTdlMXlnekQ3U0QvL3cvaTRrS1RrNlFQbmw3WDhIQUFBQUFJQkRjMVNITGhhclowaGdOanYvdHUydTJraU04dGVydC9aWFlwUy8xdTZvMWNaZDlaci9TNm5XN0tqVkE5TjdLTE9WQ2dUSkdkYXN6S3JSK0V4blJjdllmdUZhdHFWS1RWYUhmdDFXbzlFWnpncVlpUU1pdFdSVGxScWFuT1B4TTV2MHpMVjlOU0V6UXR1TEdyVm1aNjErM2xpbERibDFPcjUvcEs0ODJYTXEwUDRLVmZ4MnB3Rk5YcDVaa3Rjdi9QdXlORHQweTB0YjFETWhTQk1IUm1wMDMzQ043aHV1RXdkR2F1YWtaRjN5MURwVjE5dThudXVLaUZxNWo4bmtPVGFiemZ2QkFYNmUxVVUrKzJ4cXlhUytXVjJ1OXhhMXIrVnpXNVU2KzJydmtSOHVMZEhWazVNMWJXU3NOdVhsYU5ySU9CVlhOV3Z4N29ETnRQdk50UGIrVzhLMTFzSTlYM1BiNTB2T2QrRmpjbGJ5UER4M2U2dkhiYzF2WDVVUEFBQUFBS0JqSE5XaFMyS2s1M1FLVnpYRjdvNHhkNXlWcXVSb2Y5MzlhcGErV2xYdWRteFVxSi9IK2Z0YXNMWkM5NS92bkk3VE15RkkvL2VOYzVyUzBzM1ZHdGN2UXBNR1J5a3h5bC9QZmI3TGRjN1pvK00wSVROQ2MzOHUxc056ZDdoZDcvVGg3bE53MnF1OHRsazFEVGIxVEFqeTJCZms3NlA0U0QrdjFSdDdTNDBOVUh5RXYxWnVxMUYyVVlQKysxMkIvSDFOdXVlOE5NMFlINitwdzJQMTlrOUZYcy9OTFhWT1RlcVZGS1ExTzkycmJaS2ovUlhrNytQcXlOU2FuYnM3N0hoN2hyUTQ5d1Z2ODNaUEc0c0k5dFhTTGRVZXg1ODBLRXJsdGMzdENwc09SVzZwUmI5bTEralVZZEY2KzZjaURlMXVaWnpYQUFBZ0FFbEVRVlFacWxlK3lYZE41NnFxdDZxNndhYWVpWjdQSk1tMXZiREM0blYveTNQMmlBL1VwanozeXEyYlR1K21pQkJmUFRwdnAvSXJMSXFQOU5PdjJUVWVBYzdRbnFFSzhQTlJZN1Azd0F3QUFBQUFZSXlqZWsyWDA0Ykd1RTBIa2FRWjR4TlVaN0ZwMGNaS1NYdUNsZFg3VE1zWm54bWg3bkhPOXRGdCtYNXRoU1RwOXJOU0pVbExOenNySEpicy92dU9zN3JMYW5mb2gzVVZybk9pUTUxWjErcnQ3dmRNaVBEWHlidlg4R2lweUdrdmgwUDZhbFdaZWljRnVTcHZXbHcxS1VtKysza09TYnI3M0RTOWNuT21VdmFhQnRSa2RXamo3cTQzYlZXS0xGaGJMcXZkb2FzbUpTbkkzLzJsMzNSNmlpVHBtOS9LdlozcXNxdk1vZzI1ZFRwMWFMUjZ4TzhKV2N3KzBwVW5KN2tkVzFEUnBQVTVkUnJWSjl6amVZL3ZINmxucnVtakswOXlQOGNvSHl3cFVVS0V2KzdhM1piN28yVWxidnUvL2ExY1NWSCttajR1em0xN2VrS2d6aGdlbzExbEZtM2M1VGtWVG5LR2VwSjA2VDRMSVNkSCsrdktrNU5jWWRRM3Y1VXIwTTlITjA1SmNUc3VJY0pmejE2WG9YOWMxc3V0QlRVQUFBQUF3SGhIZGFWTFdueWdabDNUVnk5L25TOC9zMGxYVFVwU1prcXcvdlJXdHF1VjhQZHJLelNtYjdpZW10bEg3L3hVSkV1elhTTjZoK3Y4c1hGcWJIWjJKR3JwVHVSTllVV1ROdVhWNjdqMFVHVVhOYWlrMmxsTnNqbXZYdVUxVm5XUEM5Q3lMZFZ1MDNKKzJsQ3BHMDd2cHR2UFNsVllrRm5GVlUzcWxlaHNkZHdTV0lRRkhmaVA1cm5QZCtuNEFaRjY5dHErbXJlNFJOdUxHalNzVjVoT0doUWx1OE56aXNxWGZ6bE9OcnREVS8rK1dwTDB5dGY1R3RjdlF2KzlOVlB6RmhlcnVLcFphZkdCdW1oQ2dnb3JtdlRWWGd2MDdudHVmbm1UL3YzcEx0MTVkcXJtM1R0SUh5MHJVVjJqVFNjTml0TG92dUg2Y1gybHE1dFBXLzcyN2c3TnVTVlRiOTQ1UUc4dkxGSkZiYlBPR0JHamxHalAxczUvZTNlNzV0eWFxV2V2N2FzUGxwWm8wNjQ2OVlnUDBvd0o4U3FyYWRhc1R6MjdUaG5obTkvS2RmLzBORTBhSEtXVjIycVVVK0pldGZMdnozSTFxbSs0SHB5UnJxRTl3L1RiZG1mTDZCa1Q0bVd6Ty9UZ1c5bXRYbnZabG1wOXVxSlVaNCtLVlVLa3Y3NWZXNkhnQUI5ZE5DRkJkb2REVCt6dXp2VFNWL2s2dm4ra3JqNGxTYjJUZy9UenhrcUZCdnJxd2dueENna3c2OC8veTVhMWxlbGNBQUFBQUFCakhOV2h5OU1mNXlvakpWalBYNStoQUQ4ZmJkeFZweHRlMk95cVFwR2NiWnA5ZlV5NllIeThIcHlScnJwR20zSkxHL1hRTzlzVjRPZWpQODNvb1FtWmtmcG1kZXRWR3QrdnJWQy9ic0ZhdXRsOW1zdlNMVlU2WTNpTUZxeXBjTnUrY1ZlOWJuMXBpMjZZMGsyM25Ka2l1OTBaM3N4ZFZLUWYxbFhvblQ4TWRDNFF1Nzd5Z0o2M3ZNYXF5NS9lb051bXBXcktzR2dGQjVpMVBxZE9WeiszVVMvL3ZwL0h0Sk9FU0gvWDJqYVN0R1pucldZK3UxSFhucHFzR1JNU0ZCWGlxN0thWnMzL3BWUXZmcFduNmdaYnErZEswcXNMQ3JTOXFFRlhucHlrcXljbnkyU1N0aGMxNnRGNU8vWE9vcUoyVGZYWmtGdW5TNTlhcjV1bnB1amk0eE5rTmp1N0hQMzcwMTE2NWVaK0h1L3h3c2ZYNmZyVHV1bmtRVkU2ZDB5Y1NxcWE5Y1hLTXIzMFZiNnI3YlhSR3B2dCt2TFhNazBmRjYrUGxwWjQ3Qyt2dGVyaUo5YnIraW5KT25sUXRFNGZGcU9LT3F0K1dGdXBsNzdPMDQ3ZDA2cGE4NmUzc3JVdXAwN1R4OGJycnJPN3E3cmVxbFhiYS9UYy9GM2F2bnVhWEcyalRaYy92VUhYbkpLc3lVT2lOYTVmaEtycnJkcVlXNjk3WDl1bVg3TnJESGwyQUFBQUFFRHJUQTZIMGF0ZUhKekJ0eTN2N0NFY2NXTEQvVlJaYS9XWUJ1VHZhOUtLSjBicTJ6WGx1bXRPVmllTkRrZTZaWStQOEpnNkJnQUFBQUJvSGQrZ2ppSVBYWnl1SlkrTlVFU3dld0hUV2FOaVpUSjVyaUVEQUFBQUFBQ01jMVJQTHpyV2ZMUzBWTWYzajlUcnQvZlh4OHRLVk5Ob1UyWktzTTRaSGFldEJRMmEyODdXeWdBQUFBQUE0TkFSdWh4RnZsbGRyaHRlMkt6Zm5aeWtLMDVPVWtpQVdZV1ZGcjMrZmFGZStqcFBqYzIwcndFQUFBQUE0SEFoZERuS0xONVVwY1dicXZaL0lBQUFBQUFBTUJScnVnQUFBQUFBQUJpQTBBVUFBQUFBQU1BQWhDNEFBQUFBQUFBR0lIUUJBQUFBQUFBd0FLRUxBQUFBQUFDQUFRaGRBQUFBQUFBQURFRExhQnkwSUg4ZkJRZVlWVmJUZkVqWDZaVVlwRXNuSm1wMDMzREZSL2lyb2NtbVhXVVdmYjJxWEI4c0xWWjF2ZTJReDNyejFCUmRkMnF5TG5oc25UYm4xUi95OVFBQUFBQUEyQjhxWFhCUUJxZUY2dE0vRGRHQTdpR0hkSjJaazVMMC9uMkRkTzZZT09XVld6UnZjYkcrWDF1aDRBQWYzWGwycWo2OGY3Q09Tdy90b0ZFREFBQUFBSEQ0VU9tQ2c1S1JFcXo0Q0w5RHVzYUZFK0oxKzFtcDJweFhyN3RmemRLTzRrYTMvV2NNajlGZkxrclhpemYxMC9SL3JWVnVxZVdRN2djQUFBQUF3T0ZFcFFzNlJYaXdXWGVlM1YxbE5jMjZidlltajhCRmtqNWZXYWEvdkoydElIOGZQVGdqdlJOR0NRQUFBQURBd2FQUzVRaVFFaE9nNjZkMDA5aU1DRVVFKzZxZ3dxSlBWNVRxdFFVRmFySTZKRW1ybmg2bHQzOHFsTlhtMElVVEV0VFliTmVEYjJWcjRmcEtCZnI1YU9ia0pKMCtQRWJKMFFHcWJiUnArWlpxemY1OGwwZllNU1lqWEpkTlROVEF0RkNGQjV0VjMyalh1cHhhdmZSVnZuN05ycEVrUFhabGIwMFpGaTFKZXU2NnZwS2tFWGV0VUpQVjBlNTdUUjBlcXlCL0g3MjZvRUFWZGRaV24vM0xYOHQxelNuMUd0MDNYTW5SL3NvdmI5SjFweWJyNXFrcHV1cmZHL1hIQzNxb2UxeWdWbVhYNk5yWm15UkowMGJHNnJJVEU1V2VFS2pLV3F2bUxTNlcyV1R5ZXYwaDZhRzYvdFJ1R3B3ZXFrQS9IKzBzYnRUN1M0cjE5azlGY2poZnJZYjJETlZydC9YWGcyOWw2OVNoMFJyZE4wSWwxVTI2L09rTktxMCt0UFZzQUFBQUFBQkhMMEtYTHE1M1VwQmV2NzIvekQ0bXZmZHpzWFlVTjJoNHIzRGRNalZGbVNraHVuUE9WdGV4Wnd5TGxkWHUwTHVMaXBRV0Y2aTFPMnJsNzJ2U0s3ZjAwOER1b2ZyOGx6SzkvbjJoNGlQOGRNSDRCTDN6aDRHYStleEdiY2l0a3lSTkdSYXRmMTNSVzlzS0cvVDZnZ0xWTk5yVU96Rkk1NHlKMDRzMzlkT1VoMzVUV1UyejVueWJyOG82cXk0NlBsNy8rVEpQNjNMcTFHeHpITkM5aHZVS2t5UXQzMUs5MzNld2NIMmwraVlIYTJTZmNIMjhyTlMxL2NtcittalY5aG90MlZ5bDhscG4rSEh0cWNtNlpXcUtOdTZxMSt6UGR5azAwS3hMVDB5VW45a3pkRG4xdUdqOTg4cGVLcXhvMHF2ZkZhaXUwYVl4R1JHNjcvdzBEVWtQMWIydmJYTTcvbzZ6dXF1Z3dxSzNmaXhVVEpnZmdRc0FBQUFBb0UyRUxsM2N2ZWVsS2REUFI1Yzh1VjZiZG5mZG1iZTRSTTAydTg0WkhhZitxY0hha092Y0hoM21xM01lV2F2c29nYlgrZGVmMWsyRDAwTDFsN2UzNjhPbEphN3RjeGNWNjRQN0Ira3ZGNlhyd3NmWFNaSnVuSktpcW5xcnJwaTFRYldOZXpvRzdTaHUxUDNUMHpSNVNKVGVYVlNzVFhuMTJscmd2T2U2bkRvdFhGOHBTYnBxVW5LNzd4VWY0UzlKS3FwczJ1ODdLS3h3SHBNWTZlKzJmVVZXdGU1K05jdjFPUzdjVHpkTTZhYmZ0dGRxNXJNYlpiVTVTMVUrV0ZLaTkrNGQ1SFp1U0lCWmY3NG9YYmtsRmwzMHhEbzFOTmtsU1cvL1ZLVGJwNlZxNXVRa2ZiR3lURCtzcTNTZFk3SGFkY1dzRFdyZWZWMEFBQUFBQU5yQ21pNWRXSGlRV1NQN2hHdnhwaXBYNE5KaTFpZTVPditmYTdVMWYwL0FrbE5pY1F0Y0pPZGl0TFdOTnYyNHJrS1JJYjZ1UDgwMmh4WnZxbEptU3JDU281MWh4b3pIMStyOGY2NTFDMXpNUHM2d1FaS0NBOHh0anZkQTd0VXkyNmM5QVliVjNuS01lN1hLRDJzcjNENmZNQ0JTZm1hVDN2bXB5Qlc0U0ZKQlJaTytXRm5tZHV5RS9oRUtEekxyODVXbEN2RHpjUnZ2bDc4Nmo1MDBKTnJ0bk1XYnFnaGNBQUFBQUFEdFJxVkxGNVlZRlNBZmt6eUNGRWtxcjdXcXZOWjlMWlRpS3MrcWtlNXhnVEw3U0QvOFkxaXI5MG1PRGxCK2VaTXN6UTdGeFB2cGlwT1NsSjRRcU9Ub0FIV1BDNVMvcnpQc2FHVlpsSU82VjJGRms1UXVKVVQ0NzdmYUpTbktlMVZNMFQ3UG14b2JLRW5hVWV6NXZySUszRU9ySHZGQmtxVGZuNUdpMzUrUjR2VyszYUlEM0Q1N2U3OEFBQUFBQUxTRzBLVUw4OTI5RG9tam5jVVZleXBDbkV3bXljZmtySUI1ZU83MlZzOXJxWmE1WVVvMzNYUjZONVhWTkd2bHRocDlzN3BjbS9QcTVXczI2WW5mOVc3ejNnZDZyK1ZicXpWbFdMVEc5NC9RbXAyMWJWNTdmR2FrSk9tWExQZjFYMngyN3kvRzM5ZXpnTXRubjhUSVovY2hzei9mcGRYYnZkKy9acStLSDBteVVlVUNBQUFBQURnQWhDNWRXSDY1UmRLZXFveTk5WWdQMUUybnAraURwY1ZhdXRuN1lyUU9oNVJmWVZGOHBKOSt6YTV4ZFRwcU1iUm5xQUw4Zk5UWWJOdDl2Vzdha0Z1bnEvNjkwYlhHaVNSTkhSNnozN0VleUwwazZldFZaYnJqckZSZGZIeUM1djFjckpKV0ZxVTllWENVQm5ZUDBmS3QxZHBWWm1sekREdExuTjJSZWlZRzZiZDlncFMwK0VDM3ozbXVhNW0wZEovRmZFTUN6QnJiTDF5RjdWaHZCZ0FBQUFDQTFyQ21TeGRXV1dmVnI5azFHcDhab2ZRRTk5RGdraE1TTldWWXRPb3Q5bGJPZHZybXQzSUYrdm5veGludVUyZ1NJdnoxN0hVWitzZGx2V1N6UzFHaHp2eHRTMzY5VytEaTYyUFM5UEh4cm4rM3NPK3VNdG03SzFCNzd5VkoxUTAyUFRKdmh5SkRmUFh5emYwOG5rK1NKZytKMGlPWDlWSkRrMTBQejkzUjVuTkswby9yS3RUWWJOZVZKeVVwMEcvUHIzWk1tSittall4MU8zYmgra28xTnR0MTZjUUV4WVg3dWUyN2ZrcXlucHJaUjJQN1JlejNuZ0FBQUFBQXRJWktseTdrWDFmMjByQmVZYnJseFMydWhYTWZuYmRUcjk2V3FiZnVIS0IzZmlwU2ZubVRSdllKMCtuRFl2VFJzaEt0MmRIMjFKeVh2c3JYOGYwamRmVXBTZXFkSEtTZk4xWXFOTkJYRjA2SWQzYncrVisyckRhSE51YldxNml5U1dlT2lGVlJaYk0yNTlVcExzSmYwOGZHS3pYT3ViWkpXTkNlWDVleUdtZGx5dS9QU05Hb1B1R2E5V2x1dSsvVll2NHZaUXJ5Tit2KzZXbjY0TDdCV3I2MVN0c0tHK1JuOXRIUW5xSHFteHlza3VwbTNmTnFsbllVTis3My9aWFhXdlg0aHpsNmNFWVB2WFAzQUgyNHRFUitaaDlkZUh5OG12ZXB2S21zcytwZjcrL1VueTlNMTd6N0JtbnVvbUlWVlZvMHFrK0VwZ3lMMXFyc1duMndwTGg5UHpnQUFBQUFBTHdnZE9sQ29rTDlsQkRoNzdZbXllYThlbDM4eEhyZGRIcUt6aDhYcnlCL0grV1dXUFRvK3pzMWQxSFJmcTlaMjJqVDVVOXYwRFduSkd2eWtHaU42eGVoNm5xck51Ylc2OTdYdHVuWDdCcEpVbU96WGRmTzNxUTd6dXF1QzhZNzcxTlMxYXlWMjZwMTgwdWI5ZGFkQXpRdU0wSlBmdXk4N3FLTlZmcDhaWmxPR2hTbHBPaFl6VnRTckszNURlMjYxOTdtTFM3VzhxMVZ1dWo0QkkzTmlOQng2V0Zxc3RxVlcyclIwNS9rNm9NbEphcXF0M3FjMTVyM2ZpNVdjV1dUcmprbFdUZWRucUo2aTAyZnJpaFZZVVdUN2pzL3plM1k5NWVVS0svTW90OU5TdElsSnlUSTM5ZEgrZVVXUGY5Rm5sNWJVQ0JMTTJ1NEFBQUFBQUFPbnNuaGFPOHlyWWZYdXAxMW5UMEVISUtzemV2MTczLzlVYzFOVGJycHJyOXEwTkJSblQwa0hLS0JhU0dkUFFRQUFBQUFPS0owMlVvWHZ1QWQyUnpWUWZJMW0yVHprWG9rQlBMekJBQUFBQUFjYzFoSUZ3QUFBQUFBd0FDRUxnQUFBQUFBQUFZZ2RBRUFBQUFBQURBQW9Rc0FBQUFBQUlBQkNGMEFBQUFBQUFBTVFPZ0NBQUFBQUFCZ0FFSVhBQUFBQUFBQUF4QzZBQUFBQUFBQUdJRFFCUUFBQUFBQXdBQ0VMZ0FBQUFBQUFBWWdkQUVBQUFBQUFEQUFvUXNBQUFBQUFJQUJDRjBBQUFBQUFBQU1RT2dDQUFBQUFBQmdBRUlYQUFBQUFBQUFBeEM2QUFBQUFBQUFHSURRQlFBQUFBQUF3QUNFTGdBQUFBQUFBQVlnZEFFQUFBQUFBREFBb1FzQUFBQUFBSUFCQ0YwQUFBQUFBQUFNUU9nQ0FBQUFBQUJnQUVJWEFBQUFBQUFBQXhDNkFBQUFBQUFBR0lEUUJRQUFBQUFBd0FDRUxnQUFBQUFBQUFZZ2RBRUFBQUFBQURBQW9Rc0FBQUFBQUlBQkNGMEFBQUFBQUFBTVFPZ0NBQUFBQUFCZ0FFSVhBQUFBQUFBQUF4QzZBQUFBQUFBQUdJRFFCUUFBQUFBQXdBQ0VMZ0FBQUFBQUFBWWdkQUVBQUFBQUFEQUFvUXNBQUFBQUFJQUJDRjBBQUFBQUFBQU1RT2dDQUFBQUFBQmdBRUlYQUFBQUFBQUFBeEM2QUFBQUFBQUFHSURRQlFBQUFBQUF3QUNFTGdBQUFBQUFBQVlnZEFFQUFBQUFBREFBb1FzQUFBQUFBSUFCQ0YwQUFBQUFBQUFNUU9nQ0FBQUFBQUJnQUVJWEFBQUFBQUFBQXhDNkFBQUFBQUFBR0lEUUJRQUFBQUFBd0FDRUxnQUFBQUFBQUFZZ2RBRUFBQUFBQURBQW9Rc0FBQUFBQUlBQkNGMEFBQUFBQUFBTVFPZ0NBQUFBQUFCZ0FFSVhBQUFBQUFBQUF4QzZBQUFBQUFBQUdJRFFCUUFBQUFBQXdBQ0VMZ0FBQUFBQUFBWWdkQUVBQUFBQUFEQUFvUXNBQUFBQUFJQUJDRjBBQUFBQUFBQU1RT2dDQUFBQUFBQmdBRUlYQUFBQUFBQUFBeEM2QUFBQUFBQUFHSURRQlFBQUFBQUF3QUNFTGdBQUFBQUFBQVlnZEFFQUFBQUFBREFBb1FzQUFBQUFBSUFCQ0YwQUFBQUFBQUFNUU9nQ0FBQUFBQUJnQUVJWEFBQUFBQUFBQXhDNkFBQUFBQUFBR0lEUUJRQUFBQUFBd0FDRUxnQUFBQUFBQUFZZ2RBRUFBQUFBQURBQW9Rc0FBQUFBQUlBQkNGMEFBQUFBQUFBTVlISTRISTdPSGdTT2JDdFdyTkRMTDcvc3RxMjJ0bFpaV1ZseU9CenEyYk9uSWlJaTNQWmZkZFZWR2p0MjdPRWNKZ0FBQUFBQWg1VnZadzhBUjc0ZVBYcG8zYnAxc2xnc1h2ZG5aV1c1ZlE0S0NsSm1adWJoR0JvQUFBQUFBSjJHNlVVNFpIRnhjUm82ZEtna3llRnd0UGxIa29ZTUdhTEl5TWpPSERJQUFBQUFBSVlqZEVHSHVPQ0NDOXA5N05TcFV3MGNDUUFBQUFBQVhRT2hDenJFd0lFRGxaU1VKSlBKSkVreW1VeHVmMXEyeGNURWFPREFnWjA1VkFBQUFBQUFEZ3RDRjNTSTBOQlFqUmd4WXIvSFpXWm1Lam82K2pDTUNBQUFBQUNBemtYb2dnNFJHQmlvSVVPR3lOZlh1VGJ6M2syeFd2NXROcHVWbVptcDBORFFUaGtqQUFBQUFBQ0hFNkVMT2t4R1JrYWJDK1FHQndkcjJMQmhoM0ZFQUFBQUFBQjBIa0lYZEpqZXZYc3JQajdlOVhudmprVW1rMG1KaVlrYU5HaFFadzBQQUFBQUFJRERpdEFGSGNiZjMxK2pSNDkyTFp5N3I0a1RKeW9vS09nd2p3b0FBQUFBZ001QjZJSU9kY29wcDhoc05udHNONXZOT3VHRUV6cGhSQUFBQUFBQWRBNUNGM1Nvakl3TVpXUmt1Rlc3bUV3bTllN2RXd01HRE9qRWtRRUFBQUFBY0hnUnVxRERUWnMyeldQYmxDbFRPbUVrQUFBQUFBQjBIa0lYZExnVFR6eFJrWkdSTXBsTU1wbE1DZzBOMWZISEg5L1p3d0lBQUFBQTRMQWlkRUdIQ3c0TzFwQWhRMXlmKy9UcDAyWXJhUUFBQUFBQWprYUVMdWh3SVNFaEdqWnNtR3RkbDM3OStoRzZBQUFBQUFDT09iNmRQUUFjZlV3bWsvcjA2YVB3OEhCWnJWYTNBQVlBQUFBQWdHTUZsUzR3Uk11VW9xQ2dJTG9XQVFBQUFBQ09TVlM2d0JEUjBkRWFNV0tFR2hvYUZCOGYzOW5EQVFBQUFBRGdzQ04wUVlkek9LU1M2aWJ0Q3Btc3BrQ0hDaXVibFJqcEwyWVlBUUFBQUFDT0pTYUh3K0hvN0VIZzZHRnB0dXZMVmVWNjU2Y2liY2l0a3lUMVNnelNKU2NrYU5ySU9BWDRrYndBQUFBQUFJNE5oQzdvTUFVVlRYcml3NTFhdktsYWRSYWIyNzdnQUIrTjdCMnVQNXpiWFdseGdaMDBRZ0FBQUFBQURoOUNGeHd5UzdOZGEzYlc2Ujl6ZHlpN3FLSE5ZN3RGQitpUE05STBvbGU0QXYxWnh4a0FBQUFBY1BRaWRNRkJjemlrYllVTmVtdGhvZWF2S0ZOanM3MWQ1d1g0K21qSzhHaGROQ0ZCL1ZORFdPc0ZBQUFBQUhCVUluVEJRZnZtdDNMTi9qeFBPNG9iWkQvQTN5S1RTVXFKQ2RDTnAzZlRtU05palJrZ0FBQUFBQUNkaU5BRkI2U2xNOUhzK1huNmNGbEpoMXp6ak9FeHVtMWFLaDJPQUFBQUFBQkhGVUlYdE51K25ZazY2amZIWktMREVRQUFBQURnNkVQb2duWnBxek5SUjZIREVRQUFBQURnYUVMb2dqWWRTR2VpamtLSEl3QUFBQURBMFlEUUJWNGRiR2VpamtLSEl3QUFBQURBa1k3UUJWNGRTbWVpamtLSEl3QUFBQURBa1l6UUJTNUdkQ2JxS0hRNEFnQUFBQUFjYVFoZElNbTR6a1FkaFE1SEFBQUFBSUFqRGFFTERrdG5vbzdTMHVIbzN2UFRsQklUME5uREFRQUFBQUNnVllRdXg3RE82RXpVVWJySEJ1cSs2ZDNwY0FRQUFJQXViL0J0eXp0N0NNQXg0ZElURW5UditXbWRQUXczdnAwOUFCeCtuZDJacUNQa2xEYnFqbGV5TkdWNHRDNmJtS2kreWNHczlRSUFBQUFBNkZJSVhZNUIzNjd1L001RUhjRml0ZXVUNWFWYXZiMVcxNTJXVEljakFBQUFBRUNYUXVoeWpPaktuWWtPaGNNaDdTaHUxQU52Wkd2UmhpcmRmbGFxRWlMb2NBUUFBQUFBNkh5RUxzZUFmVHNUSGEyKytMVk0yVVVObWpFK25nNUhBQUFBQUlCT1IraHlsRHVTT2hNZEtvZEQyclNyWGs5OGxLTWYxMVhTNFFnQUFBQUEwS2tJWFk1U1IzSm5va05WYjdIcngvV1YybDdVU0ljakFBQUFBRUNuSVhRNXlod05uWWs2Q2gyT0FBQUFBQUNkaWREbEtITzBkQ2JxS0hRNEFnQUFBQUIwRmtLWG84RFIycG1vbzlEaENBQUFBQURRR1FoZGpuREhTbWVpamtLSEl3QUFBQURBNFVMb2NnUTdsam9UZFJRNkhBRUFBQUFBRGhkQ2x5UFFzZHlacUtQUTRRZ0FBQUFBWURSQ2x5TUluWWs2SGgyT0FBQUFBQUJHSVhRNWd0Q1p5QmgwT0FJQUFBQUFHSUhRcFl1ak05SGhRWWNqQUFBQUFFQkhJM1Rwd3VoTTFEbm9jQVFBQUFBQTZBaUVMbDBVbllrNkR4Mk9BQUFBQUFBZGdkQ2xpNkV6VWRkQmh5TUFBQUFBd0tFZ2RPa2k2RXpVZGRIaENBQUFBQUJ3TUFoZHVnZzZFM1Z0ZERnQ0FBQUFBQndvUXBkT1JHZWlJd3NkamdBQUFBQUFCNExRcFpQUW1laklSb2NqQUFBQUFLMlpjMHVtckhhSHJwdTl5Ylh0bHFrcE9pNDlUTGU5c2tXMWpUUkxPVmF3S21nbktLaG8wZ052Yk5NLzUrM1UrcHc2T1poT2RNVFp1OFBSSC82N1ZidktMSjA5SkFBQUFPQ1FSWVg0NnRYYk1uWFdLR09tMC9kUERkWlBqdzdUdVdQaVhOdFNZZ0kwNzk2Qm1qRStYdWJEL0ExMTFkT2pkT1hKaWEzdVQ0NzIxenQvR0tBeEdlR0hmSy9UaDhjb01zVDNnQU9YdExoQXZYWmJmL1ZNQ0dyMW1MQWdzMTYvdmIvRzlHMy9PQzg2UGw1ejd4bW9IdkdCQnpTZXZjMmNsS1M1OXd4czgrZjI2T1c5OU5wdC9RLzZIa2M2S2wwT0l6b1RIWDNvY0FRQUFJREQ3YnBUazNYejFKUU91ZFpMWCtmcnVmbTdYSjhyNnF4YW4xT24yNmFsYXRIR1NwWFhXQ1ZKQ1JIKyt1WnZ4N1Y1clpQK3RFcGxOYzF1NHp4cFVKVHVuTE5WQlJWTmtxUStTY0dLQ1BaVlFmbWUvMmlaWDI3Ung4dEtkY2ZacWJyc3hFUTk4Mm11dmx0VDRkb2ZGbVRXei84YzNpSFBPL1h2cTVWYjJ2Ny9ZSnBmM3FUYVJwc2VtTjVENXp5eTVxRFgzeHplSzB3cE1RRjY4dU9jQXo2M29jbW10UGhBUFg5RGhpNTVjcDNLYTYwZXg5eDhSb3FPU3c5Vi8rNGhXcnFsdWwzWFBXZDBuR0xDL0pSYjJuakFZMm94UGpOUzFmVldKVVlHNkttcisrakpqM0swZk92KzczL0pDUWthMFR0Yzk3eWFKZXRSdnFncG9jdGhRR2Vpb3g4ZGpnQUFBSEM0TE4xY0xZdTE3Uy92dDUyWnFzMTU5ZnB5VlZtYng2M2VYcXVoUFVPOVZpTDg4UEF3U1ZKRGsxMW5QYnhHa3ZUa3h6bGF0YTNXN2JneEdlRWVJVkJ3Z0k4dVB5bFIyd29iWElHTEpQVlBEWkhESWEzTDJiUEVndDBodmZGRG9iNWFWYWI3enUraFliM0MzRUtYdWthYkxudHFnOGY0RWlMOTllVE0zbnIwL1oxYXY5TjV2VjVKUVhybzRuUTk4T1kyNVJSN2hpdUZlNDNGbTRXUERGTmtpUGV2eWIvTkd1V3hiY3BEdnltL3ZFbFB6dXl0N3JHQnV1Q3hkVjdQdlhCQ2dteDJhZjR2YmY4OHZDbXVhdGI5cjIvVGYyN00wTCt1N0szcm45L2tGdjcwVHczUmpBa0oraVdyUnYvOXJzRGovSm1UazNUN3ROUldyNy9xYWMvbmFzMEhTMHIwMTNlMlM1TENnOHc2cm1lby92MVpydkxLTFNxcmJ0WlRWL2ZSSlUrdTAvaCtrYnAvZXByYnVXdWVjZDduL1NVbG1qSXNXbCtzTEQvcUF4ZUowT1d3b0RQUnNZRU9Sd0FBQURnYzF1eXMxWnFkdGEzdWp3engxVjFuZDlmM2F5djAyb0xDL1Y0dk5OQ3NtYzl1MU1VbkpHaFl6ekRkL1dxVzIzNjdYVEtibmYrKzYrenUvOC9lZlFjMlZiWnRBTDlPWnBQdTNWSkthY3ZlZXc5bEx3VVJFRVhsMVJmM1FQRnppd3NIb3ZDNlFMYUNpcWdnQXFJb0tyTDNsTDFMb1lQdU5HMUdNNzQvMHFaTmM1S21JeTNRNi9jWE9mTkpVcEtjK3p6M2ZYczB4b2w5SWhHb2xtSE8ybVNINVIwUy9ISHBtbDQweGVaYVhoR21MVDNydE54aWhlanpqUzFRQWdBdXB1bWMxcDlOMGVIMDFVTFJzVTBlRU9Yd1BKNGIzUWpQalc2RXJjZHo4Y3JYNXlHWGVUNXp2V1Fta0RzeElVb002aEFNcVFUNGUwWkh0OXUrdnlvSjMyMUxkMXErNjNRZVZteE5oMVFpUUNJUllESGJMaXhsRWdFejdrbEFYcUVKTHk0N0oxcTZZdThaamRNTW05SGR3aEVmcWNMY1g2K2d5T3o1cElBelYwc3pOb1owRElWY0ttRGI4VHdBd0t2Zm5NZmNSNXVqWWFnUC9qcWFqYk9wdHRmLzRTRXhDQTJRNC8xVmx3QUF6OThSQjBPUkZSK3ZyL3lzbnhzUmd5NWV3czVFOVJNN0hCRVJFUkZSWFN1cDBWRnkwVnNScmQ2TS9lZnlNYUJkTUF4RlZ1dy9sKyswVFVrOWtaZVhuOGU1Tk1kU0NiMWJCT0taMngxblVuUks5QWNBZlBPc2VDMlBrbGtQRlZuNlp5bytYcDhNaFV6QS90bGRSYmRaK0VRTHAyVS92dERHYVZsSit0T3VVeHJNTU5nQ0FLK09iNHkvam1aajkya05Vck1OMkg0eUQzS3BnSThlYUlLL2orWmc3ZDVNaDJOMGFlS1BwMGZGWXNZUEYzRTJ4Yk9TRWY4ZDNBQXlpWUEvaitUZ3lDWEgxN1pMa3dEMGJ4MkVMelplUmFIQmpJTVhiT3VYVFcyRmpnbCtvc2ViMkRkQ2RQbGY1UUk2aHk1b01mbVRFemgydWNCaFpsRlVzQUpQall6Rmh2MlpXTHdweGFQbklHWnN6M0RrRlpyc3BUTnlDa3k0Wi9aeCsvcHJlYlpVc3p0N0ZrRXBsMkQvdVh3OE1EQWF6V1BVZU95TDA5QVUxbzlpd2d5NmVBRTdFeEhBRGtkRVJFUkVWRGZpU29JdUhnWUYzSkZKQlBqNlNCRVJKQWNBSExxWWo1UnN4eFNkK0VqblFxdy83YzdBdm5PT3RUM2FOL2JIb1BiQldMbnRHcTVtZTFaSDVOOUxqdGRUczlkZXhvNlR0cGtWVVVFS3pIdTBPZDVjZVJGSEw5bG11alJyb01iTSt4TXhiZWxaWExwbU8wZUhlSCs4Zmxkait6SE9wQlRpVElvdElQWEt1TVk0ZWttTEgzZGNzNjh2TWx1aEtUUmorbDN4dUpDdXc3L0ZxVXNCYWluZXV6Y1IraUlMTXZOS2E5ZTQwempDQjJONjJHYkFuMC9UT2MwOEN2R1RvMC9MSUN6WWVOVWhLK0tYL1prNGRLRTBRTk9xa1M5Nk5BdkFUN3N5a0Z2Z1BMdG04b0JvWEVqWFlkdnhYUHV5cTluaXRXdWVHTjRRRWdGWThQdFY3UG13QzFRZTFxUjhZZGs1YkR5WURRRG8zaXdBYlJyNU90VHdxVWlmbG9HWWVsc3M1djE2QmJ0TzUzbTgzNDJPUVpjYWxwcGp4RWRya3JEemxBWUZodm9SdVNOeFpUc2NiVG1XaXhmdmpFUERVR1ZkRDR1SWlJaUliaExsMDJUSysvWDE5aTdYZmJIeEtyNzQ3YXJETWwrbExZZklYeVZGNzdyMkxVc0FBQ0FBU1VSQlZKYUI2TjhtR1AxYUJlR1Q5Y2tJOXJNRlhUYSs0YjZZYm9tL3k5UmtLYkhnOFVCY1NOZmgvZFdYcXR6Qk5UM1hpSE9wdG1DU29iaFdaa3FXd2I1TXJiQTloK1RNMG1XUlFZcEtuK2U5VlpjUUU2cEVrSy9jdnV5ZFNZbXdXSUdIUGorRkhKSEFoNWovRzlNSXhpSXJrbk1OaUJmcEV0UWdSSWxyZVVhbk1oUmxnMEFBY0cvL0tQUm9Gb0N2LzBuRCtUVG5ZTnE5dDBUaFJISUJQbDZmN0xTdXJDNU4vSEY3dHpCODlYY3Frak1OK0hCTkV1UnVXZy9GUjZwd1Y1OEltSzFXWkpRSk5EMDZMQWFtNGhTbjUwWTNzbmVBMm5vOEYyOThkeEdiMzNGT281cjNhSE1Bd0pNakc5cHJBRzA2a28zbmxwNXoydlptd3FCTERXRm5JbktGSFk2SWlJaUl5SnMrWHArTWZKMW5OM3g5NUJJOGY0ZHpvTVpmSlVXZlZrRUk4Wk5qeTN1ZFlMWGFpdXd1MzV5R281ZTBtUHRvYy94Mk1BdEwvM1FzMUNvQUdOODdBdU43UjdpdERkSXdWSWtlelFJaENNQVJrWUswNVQwMi83UjlSa3Rac3lZM3dhekpqc3M4VFMrcXlDZFRtdUxXdHNFT3k3bzA4WGZhcm13WHB4OTNYTU9NSHk2NVBPYnUweHI4Y3l3SERVS1VHTjg3QWhJQkRnR1dEZ2wrT0paVU85a1JhcVVFYjA1TVFJSEJqUGtiYlFHM1ZUdGRsOElZMlRrVW83dUhJUzNYaU9lL09tZWZUVFNrWXdqYXgvdmg1OTBadUxWdE1IN1puNG5qeVZwTXZqVWFBSkJYYU1LRG41MjBINmRQeXlBOE9DZ2E2L2RsWXMxdXgvUGxpSFJpdXRrdzZGSk43RXhFbm1LSEl5SWlJaUx5aGczN3NwQ2U1NzRyVHdsL2xWUTA2S0kzV25BK1ZZY3RXVG40KzJnTzlwL0xoNzdJQXBWQ2dzOGViZ2FyRmZoZ2RaSzlYZkViRStOeFo4OXcrLzVITDJuZDF1aTQ3NVlvYVBWbTVCV2FjQzNQaUpVaXhXSUJZRnl2Q0hSckdvQnJ1ZUxQcDJ4NmthZktweGVWaUExVDJzOTVWNTlJYk5pZmlaLzNaRHB0NTg3VkxQZnRwNy9aWWtzbjZwVGdqeW1ERzZCcjB3RHNLVzdwM0NSYWhjaEFCWmFjOGJ5dVNsVm5DQUhBakVrSmFCU3VSSHFlRVRxajYrdldFRDhaWHBzUWowSHRnL0hid1N5OCs4TWxhTW9FOWNiM2lzRHFuUm00a21WTDN6cDl0UkNucnhaaWVLZFFTQ1VDVE9iU3VrQ2p1NGZoL2dGUldQUkhDajRyMDVxOFBtSFFwWnJZbVlncWd4Mk9pSWlJaU9oNlZHUzI0dUY1cDV5V1J3Y3I0YU9RNEpGNXArd0JGd0JZc2lrRjIwN2tRaUxZWmphVWJ5TmRWbnlrRDhiM2ljRDgzNjdDWUxMZzBXRXgySFZLZzd4Q3gxa09ZUUZ5dkRreEFWdVA1K0pzcW1QMmdORmtSYnVwZTZ2MDNNNmw2ckJxWjJtNnppTkRZM0RmTFZFSVVOdFNrU0tERkRpV1ZJQXR4M0lkQ3M2MmEreUhkeVlsNE9QMXlhTHBVdTRvNVJLWXlwU2JPSGdoSDFleURIaGdZTFE5NkRLaGR5Uk1GaXMyLzV2cjZqQk9MRldNdWp3eG9pRUd0dzl4Q0o2NGNrLy9LQXhzRjR3WGw1M0hid2VkVzF5djM1ZUpIU2Z6TUtwcnFNdGp5S1VDbmg0VmEwODdlbWhJQXp3MHBJSEROaE0vT2w0dmFxQXk2RklGN0V4RTFjRU9SMFJFUkVSMHZXa2VvM2Fia3JQbTViWVZIbVA4ckdPaWJacGZ1Q01PT1ZvVHZ2NG5EVktKZ0FjSE5jREw0K0x3MHZMejltMEVBWGhuVWdJRUFaaTVPa24wK0o1MlBISmwyRnVIa1pKdGhFSW1JRGxUajZOSld0elZKeEp6ZjcyQ1pYK25ZZWxUTFVYVGlUNytiMU9YeDV5OTlySkRjVngvbFJRejdrbEEyemhmN0Q3aldFaDR5YVlVdkRFeEhuMWFCZUo4cWc2anU0ZmhyeU01U0M4M3ErZk5pZkVZVzJZV1VWbnJYbTNuY2l5anU0VmhkRGZIbTdvLzdjckEyZFJDUERLMEFiN2VuSVlBWHhsNk5BOUFseWIrV1BwVVM1ZkhBb0FQSmlmaWc4bUpEc3Yybjh0M1NCMFMweUpHamZmdVMwUmlsSzNqMVlkckxtUHYyZExYSWp4UWpubVBOSGQ3akpzSmd5NlZ4TTVFVkpQWTRZaUlpSWlJcXF0c2paR3F1cHloZDNzeFBXMTBJeWpsRXJ5L3luWDlrc3NaemgySjd1MGZoZDR0QS9Ia3dqUDJsSlpQMWlmanpZbnhTTXJRMjR2NXZqYStNWHExQ01UMEZSZHd4VVhLenIxelRsVG1LVGtwS1FUNzJZWXI5bFNYQ2Iwajdlcy8yNUJzTDV3N2JYUXNmQlFTekZ5VlpNOW9FQVRnOVFueFNNczFZc0h2dG5HZksyN0xyWlJKRU9vdnh3OHZ0SUhWQ3RIbnNHWjNCc2IzanNTTWV4Snc2Wm9lTXFuZ1ZNd1lBTGFkeUhYcVVOU3JaU0JheEtpeGZIT2F2WUJ0V1dMZGl3RGczeVF0dEhvelZ1M013SWMvWDhhTVNRa0FiTy9WKzZ2RWcxdjlXZ2VoWjR0QWZDQVMvUElramExVG9qL1Njb3g0N2R2eldQbC9iVVRUMmVvVEJsMHFnWjJKcUtheHd4RVJFUkVSVlZkTkZOTFZHUzMyT2h4aThncE1VQ3VsYnJjcHIxdlRBRXdiRTR2VnV6S3d0VXd3NEtkZEdlalJMQkNQRFl0QmVJQUNQbklKUm5VTnhiemZybUt0U0UyVjhiMGpNSDJDYzAyV3FsajZaNnJMRGorSEx0aFNwTzd0SDRXNGNCOU0rZnlVd3d5TlVWMURFZUl2dzB0Zm44UHUwNlhML1ZWU3RHdnNoeUJmR2Y0OGtvTTN2cnVBVDZZMGN6cSt4UXE4dU93YzFyelNGcDBUL1RIMzF5dWlUVmorT3BxRHY4cWxNN1Z1NUl0OG5Sa2YvWHhaZE93VmRTL2FVMjdXemJXOEluem5vcTVPYUlBY1Bab0h1bHhma1JWYjA3RmlhenBLbWlLOXQrcVN3K3NWR2FUQUlwSGl4emNyQmwwOHdNNUVwVDZaMGd3RmVqTmUrZVo4eFJ1VHg5amhpSWlJYWtQT3V6TWdxTlVJZW1ZYW1OZEtkUE9vaVVLNkpldDJ6T3pzZG45WEtUNzlYam5vTUR1amM2SS81dnkzS1k1YzFPTGRINTFueDd6NnpYbjQra2d3cnBjdGpXYmx0bXYyampybC9YVWtHNmV2T0tjdGxUVzJaemhHZHcvSDVJL2R6NGJ4NUhWcUZPNERuZEdDTnliR1k5M2VES3pkbTRtNGNCOU1ueENQWC9abE9RUVFBS0RJWk1YbFREMSszcE9QT1d0ZHQyd084cFhoaGJHTklKTUlzRnFCMjdxR1k4OFpEUTVmZEYwUEJ3QWFoQ2pRSWQ0Zlc0NVhycTVNWFFuMmxXSEs0QWFZczg0V0lFclBMY0tsYTZXem9JeW0rdFY4aGtFWE45aVp5RkdBU29xK3JRT2RwcXpWcEcrbnRZWlNMbURjQjhlOGRvN3JHVHNjRVJGVm5tYlJBcGl1WEVId3k2OUM4UEd4THpjbEp5UHpxY2ZoZDlkRStOMDlxUTVIZUgyd2FyVXdITmdQWlpldVhndTRaRDAvRFZaakVjSSsrY3dyeHljaTd5bzBtRjJtR0ZXVVhxUXRNOU5tUUx0Z3pKcmNCQmZTZFppNitJeFRPb3hFQUc1dEY0eTRjQldzVnNBS1lGenZjT1FWRm1ISnBsU242NjVzclFuWjJ0TEFSSjlXZ1hoNlZDdytYcGVNbmFkc25ZeDZ0d29FQUJ4TnNtMzM2VVBOa0oxZmhHV2JVM0V4M1RudHlaMzNWbDNDSit1VGNYdjNNRXpzRTRuSGh6ZUUyV0pGV3E0UmIzOS8wV2w3ZlpFRkQ4ODloVUtENit2RjI3dUZZZHJvUnZCWFNURm5iVEwybnRWZzF1UW1XUDVNSy94NUpBZEwva3pCOGN2TzVTdWtFdURWOFkyaGtBbFl2amxONU1qWEQ1bFVRRXlvRXQ4LzN3WlorVVYxUFp6ckJvTXVibmk3TTlIMENZMHh2bmRFcGZiWi9HOE9waTQrNjdqc25ZNEk5WmRYYXl4WitVVzQ5YlZEYnJlNXBXMHdaQkxCYlM5M01RdWZhSUVlelFKY3JoLzgrbUY3eEZrUUFGTUZNeU5kRmJpcWpFTVh0Smo4eVFtUG92bWVHam5qQ0pJejNiZU04d1E3SEJFUlZVSlJFWFQvYklZc0t0b2g0QUlBK3QwN0FRQSt2WHJYeGNnOFl0aTNGem52enFpUll3Vy85Q3FVUFhxNFhLL2Z1d2V3V0tBZU1yUlN4ODErL1RVWWp4NXh1VDVpOFplUWhCVi9WMWtCU0tYdWovZnF5ekFlcjk3TkZYbUxsZ2lkT1F2V2dnS2tUNXBZcldPVkNQOWlBYVRSRFNyZWtPcU4vZnYzbzNYcjFsQ3BWSFU5bEZwanRzQmwrbEJsMG92eUNrelllMWFENTc4ODUxQ1dJVHBZZ1JGZFFqR3VWd1JpUXBRNGNENGZMeTQvQjdQWmloZkd4dUdSb1RHNHMyY0VsbTlPdzg5N01wenFtblJLOE1lancyTFFvN210N1hMWlFJOEF3QXJiUlp0TUttRGZPUTBlR0JDTk8zcUVZK3VKWEN6WmxGTGhqSkt5VkVvSnBJSUFxVVNBRmNEWlZCMWFObFRqNTFmYTRmdnQ2Vmk5NjVwRGkyeFhBWmNCN1lMeDZMQVl0SWhSWTlmcFBNeGNuV1FQQW8yZGVSUVBER3lBL3d5TXdxRDJ3VGgrdVFETE42ZlpPd2I1eUNWNC8vNUU5RzBWaEMvL1NzWFJTNTZQdjZwa0VnSHhrVDZWbm8zaTV5TkY2MForQ1BHVFlkM2VUSmYxWXVvakJsM0txZTNPUkhtRkpyeTkwblV4cXJLZUhSMHJ1bnpPMm1TM3FTaGplNFNqZFNOZi9MampHazZKVkJNSEFIMjVQdTB2ajR2RDNYMGpSYmVkKzRoemZtSlozMjFMZC9oUHRtckhOZXc0NlhwMmpFWlgrbUVxQURCWEVPSGFlRERMSVFyY01jRVA3UnI3NGZ2dDE1eWVCd0RjMWkwTVpvc1Z2KzR2YlhkMk5kdjJRVmVnTjRzVzVJb01VbUQyZzAzdy91b2tIRSt5blNzeFdvVzM3bzdISzkrY3grVnJ6c0dWdEJ6UHBuUjZnaDJPaUtyUG5KcFM1UXVvZ25WcmtiOTBNUUllZWdUcWthTnFlR1NWVjNUdUxMTCtieHI4eGsrQTM2VDd2SElPcTE2SDlJa1RBQUNTa0JCRUxQbks1V3dJM2FiZmtUZjNjd0JBeUZzem9HaGYvUUtPSlhKbXZBWERnZjJJV3YxemhSZnZBS0Ric1IzV2dnS29CZzZ5djA3bFpVNTlTblJmU1dBUUlwWjliWDlzVGsxQi9qZGZ3M2pzR0t4NkhlU0pUZUIzOXoxUXRIWGRLYUs2cE5FTjREdjJUcmZiV0hVNkZQNzJLd1NWQ3VxaHcyMjNpTVdPRlZQNjk2NVpNQitGdjIwUTNTN25uYmZkbms4OWZDUUNIbm0wOVBIUVlWQjI2dVJ5ZThIUHQ4eGdyUkNrN3ROamZmcjBoYnhKRS90ajQ4bVRLRHB6R3VwaHd5RW9uZXVhNlRiL0RVaWxVUFhyYjE4bWpiUzFJQlZVS29SKzhLSFRQdWFzTE9UT21vbUFLUTlEM3RUV2RjUjArVEx5NW42R3dHZWVoVXprczBFYUp0NHBoT3F2MmJObkl5a3BDYmZkZGh0R2pCaUIyTmhZK1ByNlFpbnlkMXJYcWx0SXQxL3JJSHorc1B2ZitDVXE2aUQwNU1JejJIbzhGd2ZPbndZQWhQakxNTFpIQkc1cEU0UzJjWDR3V2F6NCsyZ09YbHArSGtmS0JFRWUvT3drQnJZTHhoTWpHbUxhNkZnOE5hb2g5cDdSWVBHbUZFZ2xBcDRlMVJEdEd2dmgwQVV0SHZ6c3BFUHdSNldRb0hOaUFQS0tnelFtc3hWZmIwN0Q5OXZTTWE1WEJCNGEwZ0RMbjJtRkErZno4ZnFLQzhqVUZNRmt0cUpobUJKU2lhMmNSTEN2RFAzYkJLTkZRelU2SmZxaldRTTE5RVlMTmg3TXd0VEZhVGlmcGtOQ3BBcVQra2ZpMFdFeGVHeDRESDdabDRVRnYxOTE2ajVVVnZNWU5iUTZNeDZlZThxcG01SFJaTVdDMzYvaXUyMXBtTmduRXFPNmh1SFNOVnM1aXg3TkEvREd4SGpFaENqeHpaWTBsN1ZhYWtLbkJIOThOZFd4azFGbDJsZ0R0bGJXRjlKMGVIZHJPallkeVFZQWUwMlhUNmE0N3Y1VUh6RG9Va1pkZENiU0YxbnNmNVFWK2UvZ2FOSGw2L2M1RjVzQ2JCOCtiOTRkajlhTmZMSHM3elRNWGl0ZWRNa1ZpeFdpK1pmdXZEcmV1Y0RWSDRmZFA3L1BIMjZHZnEyREhKYUpmWmgzZVc0ZmpDWXJmdGh4eldINWt5TnRIOER6TjE0Vm5jYldvM2tBRENhTDZQTzNXRXVuSUpZVlcyRDdNcjJZcG5OYWZ6WkZKOW9LejF2WTRZaW84dkkrK3dTbVM1Y1FPdnQvZFQyVUdpRklaWkFFQmtHb3BidXRsdXhzRkowNkNYbkxWcUxyZGR1MjFjbzRQRkd3NWljSVNpVlV0OXdLbUUwSWZHb3FBTUJxTUVDemNENFViZHZaMW9rb2U0RnZ2cGFPckpkZWhOVnNndStJa1JEOC9GQzRjU095MzVpT2tPbHZRdEd4bzFmR0wydllFUDczLzhmdE5ubHpQNFBnNDRPUTZXOUMza3I4UFJFbENBaDQ1TEZLalVlejRBdW5aVDY5KzdqZHB5UlFWbGJhbU51Y3RvdjZZVFdnVUVBOWZJVERjdTIzWDZQb3pHbjQzWFUzSk1IQlR2c1pqaHlCb0pERC80SC9PcDljSW9HOHVYTXhSa2xxQ2dCQUZodnJ0RjRlMXhpeStBUzN6NG1vaE1GZ3dLcFZxN0JxMVNyRXhzYWlUWnMyYU5XcUZUcDI3SWlFaElUckpnQlQzVUs2Unk1cUsyd0Q3S216S1k0MU1EV0ZaclNQOTRQUlpNVjdxeTdoOTBQWlRqTllTcFFVa08zYTFCOTM5WW1FV2luRnYwbGF0R25rQjBFUThQajgwOWgrMHBaT3BGSklzR3RXRjRjNDlOZmwwbStNSml0V2JFM0htdDBabUZUY1JTazF4NGp4dlNQdzhwMXg5dTJPWGlxQXZzaUNCd2RGUTFOb3d2NXpHbnoyeXhYc082dHhTSFc2a0s3RGpCOHU0Yk1OVjNCM3YwajBieDJFQXIzNDYxNzI5ZndDNHJWcXlyNUdDLzlJd2NJL1VoeVdhWFZtVEYxOHB0SUJFSGVtZjN2QmFkbkpLd1Y0NTRkTGtNc0VTQ1FDTXZLTStPdEk1ZXJIRkJvc0x2K0dXRWlYQU5SZFo2TElRRVdsK3MyN2k2S1cxYWRsSUY2ZDBCaFJRVXJrRlpvd3Ftc29EbDdRNFBIaERiSDB6MVJzUEpRRmF3VXBVMVlyOEdPNUFFZEZYaGxYK2FyaTYvZGwycWZLM2QwdkVqcWpCVC92THAxbDFLdGxJRG9sK0l1MlJxc0pDcG1BL2JPN2lxNWJLUEpoOE9NTGJaeVczZnJhSWEvbExiTERFVkhsR2Zidmh5UXN0SzZIVVdOazhmRU9Neks4U1JvVkJYTmFHblE3ZG9nR1hTeTV1VEFlK3hlU3dFQlk4dkpxWlV5dUdQYnVnU25wRW56NjlJV2dWZ01BVkFNSDJkYnQzMWY4ZUNCVXR3eW84Rmo1eTVmQmtxOUIyUDgrZ1N6TzlsMm1IakFJR2M4OGhid0Y4eEErYndFZ3FmMEM1OFpEaDZEZnVRTWhiODBRRFM2NEpRaFFEeHRlcVYwMEMrZFg3aHdBVkxjT3NJK3RjTU12RUh5VVVBMGNiRjl2T0hRUVJTZFBBREl2L2V3MEdwRTJRWHkyVVBZYjA1MldaVDQ3MVdsWnhKZkxSUU0rUkFCZ0xmN1JuSnljak9Ua1pQejExMThJRGc1R2JHd3NCZzBhaElFREJ5SWtKS1JPeDFqZFFycDVoYVpLZFNXcURKUFppcWNXbnFuVVB2dk81bVBmMmRMeEhMeVFqMGx6amp0c296TmFiTVY0bGJaWmtaY3o5VTRGYnN0dXUzaFRDaFp2c2dVMWRwL093K0pOS1RCYmdBUG5OUFliN3JlL2U5U2o4ZVVXbVBERmIxZEYyejNYbEJQSkJSZy95L05VekM3UDdhdnl1WFJHaTlPTjdackVRcnIxWEYxM0pzb3RNT0Uxa1dpam1CZnVpS3R3bTlnd0phYU9pc1dRamlINE42a0F6eXcraThlSHg2QmRZei9zTzV1UExZMXk4Y2JFZUR3MlBBWkxOcVhnbC8yWk1OZngzL3p2aDBwbndnenZISXEwSEtORGxEZlFWNFlPOGY1ZXFhdFQxdXkxbDdHak9ISWVGYVRBdkVlYjQ4MlZGKzBCb1dZTjFKaDVmeUttTFQxci85RG9FTytQMSsrcW1mWjFGV0dISXlLcURkS0lTRWo4L2FIZnVSMEIvNTNpbEdLazM3RWRBT0RUb3ljS2Y5OVlGME8wTVptZytXb3BBRGpWY2dFQXcyRmJuVEpsKzRwbnFGZ05CdWgzN29DeWZRZDd3QVVBQkQ4L3FJY09oL2JicjJFOGNRS0tOczVCZDIreTVtdVF0K0FMMjZ5ZEw1Y2lkT2FzV2oyL3AzejY5TFgvVzc5dEN5UmhZZkNiY0pkOW1TVmZnNkpUSjcwZXRQTC96d05RZHJUVmFUTm5aaUJueGxzSWZPSkp5SnZaQWtLbXBFdkluZk1SZ2w1NENiS1loZ0FBNDZrVDBId3h6K0U0Rmt2VmZ4aFpLN3FqVlFOcTR4eTE3WHA5M1VyMkVRUUJWcXZWL3RoZ01DQXRMUTNwNmVuWXYzOC9QdnJvSS9UczJSTWpSb3hBaHc0ZG9GS3BvRkFvSUpQSklQVWdUYkk2bHYyZGhtVi9WNjY0YXI3T2pIWlQ5M3BwUkxWclE1bnlBWlZ4TVYyUFQzKzVVc09qcVg4cSt2c3pXeUQ2dDVhU2JieHAvZ1k5VVcrREx0ZExaeUtEeWVMUXM5NmR4NGZIdUZ3WEU2TEVmd2RIWTB5UGNPZ01GcnkzNmhLKzMzN05ZVGFMVm0vRzV4dXVZTVdXTkR3MEpBYlQ3NHJIZndjM3dDZnJrNTM2d05lVTUwWTN3dVFCVVc2M1NjOHpZdkRyaHdFQXZrcXAwM3NobDBwUVpQTCtsM0Y2cmhIblVtMkJOMFB4R0ZLeURQWmxhb1h0U3pNNXMzUlpaSkRDNitNcVQ2ekQwWUVEK3gxK1RKVC9ZU0dVdVdoeTk2UEQxYnJLTGkrL3Jycm5yKzdZaEhJWGpkVjlQdFVkUTAwK3orcXNxNDN6dUZvK1lrUnhlb0hGZ3NMZk4wSzNaVE5NU1Vtd0dvMlFCQVJBMGE0OS9DZmRCMm1FcmRpNDhkaS95SDd0RmZqZmR6OTg3eHp2Y0t5c2wxNkE2ZUlGUkg2L0NxWXJWNUQ1cEMyZHdwS1hpN1F4dDhGMzdKMzI5QTNEb1lNb1dQTVRpczZlZ2RWa2dxeEJETlNEQnR2cXRsUndRWmo5MXV1d1pHWWg4UEVua0wvaVd4U2RQUXRZTFpDM2FBbi9TZmRCM3N5V0M2OVpzZ2lGNjljaDVMMlpVTFJxN1hDTXdnMi9RTE5vQVlKZWZCaytQWHQ1UENaWE5WM01hYW5RZnI4U2hzT0hZZEhtUXhvZUFkV3R0OEp2OUIyQW92VHpxZWpVU1doLytCN0cwNmRnTlJnZ2k0bUJldkFRcUVlSVAyK2YzbjJSLzlWU0ZKMCtCWGtMeHh4djNiYXRVTGJ2QUVtQVNJRjBEOS9Qb2hNbmtQWEtpd2g4YWlyME8zZkFjT1F3cENFaG9yVTVnTklhTzRvT0hSSHl5cXVBUW9tQ3RXdGdUaWtOMEpkOTc4dTY5c0Q5b3Njc29leldIYjZqeHdBV0MrVE5tanV0VnpTM0xTczZjN3AyZ3k0bUU3TGZmeGUrdDkyTy9KVXJhdSs4NWVSL3VRUUZhMzkydTQwa0pBUVJTNWNCQUN3NkhhVGwweTFNSnUvTmNpbERHaG9HV1p6dEJwV2dzRFVZa0VaRTJwZFo5YmJ2YmxsMHRIMlpPY3M1UmZ1enp6N3o2dmVHcDh2cjRudWpycis3SzFwWGs4ZnlaR3pYcnBYZStTOTVQY1IrYjVsTUptemJ0ZzNidG0yRG41OGZFaE1URVJNVGc4NmRPMlBJa0NGUUY4L0VJNkw2cWQ0R1hiemRtY2hUMVUwdmFoWHJpNGVITk1BdGJZT2gxWm14WkZNcXZ0MlM1akpQRXJDMVhQdmdweVNzMkpxR0Y4Zkc0WC8vYllyREY3V1k5Vk1TanBVcFVDdVZWRndvcXlML0hNdEJacjV0ek0wYitHSlUxMUNzM3BWaEx4QUZBQVg2MGlCTFdJRGNLUzlTTGhOcVpRcmFyTWxOTUd1eTR6SlAwNHRxVy9rT1I1Kys4b3JMYmF0Nzk2Z203ajVWOXhpZS92RHoxUFh3bXRUa3NhcHlqSnArVFN0N3JKS2dpMmJoZkJSdS9BM0tUcDNoUCtsZUFBS01KNDVEditVZm1DNG5JZXgvbjFicS9OS3dNQVMvT2gyNUg4K0J4RDhBQWYrZFlpK21XM0xoTG8ySWdPL3RZeUNvMWREdjJRWE5ra1V3SFBzWHdTKytYR0hneFp5Umdld1piOEYzNUczd0d6Y0I1bXZwMEN6L0N0bXZ2NHFJeFYvYVprWU1Hb0xDOWV1ZzI3elpLZWlpMi93M0pBRUI4T25hcmRwak1pVWxJZXVsNTJFMVcrQTdiRGlrTVRFd0hqOEc3YmZmd0hUK1BJSmVzbjB1Nkhkc1IrN3NEeUVOQzRmdm1MR1FxTlV3SEQ0RXplSkZNSjQ2aGFEL2U4SHAyS28rZlpELzFWTG90bTkzQ0xwWU1qTlFkT29rQXA5K0J1YlVGS2Y5S3Z0KzVpLy95amF1VWJmRGtwc0xTYkR6OVB6QzlldVF2M1F4bE4yNkkvajVGd0c1SEthTEY1RC8zUXJJNGhQczQ1QUdCOXZydVpnek1xQmR1UUkrdlhwRDJibUxxN2ZUdGw5NE9DeFp0anVsMGpEbmJuSFNVRnVhbWprOTNlMXhhbHJlNTU5QzRoOEE5Y2hScFVFWGl3VTVzOTZIUEQ0UmZuZU9xemlRWWJHSTFsYXBER1hYN3ZhMG02S0xGNkhmOGc5VWc0ZEFGbE42SThoZWE4aHFoU1VuQnhJZnh3dE1xOGtFUVY2OUxvdWV5SjM5SVREYk1YRG5hWHBSV2N1WEw2L1JjZEhOeFYzd0JRQzBXaTJPSERtQ3c0Y1BZK3ZXcmZqNTU1L1JzMmRQQU42cEMwVkUxNzk2RzNRcE1sdWhOMXBRMXhNMHE5dTlxTkJnUm15NEQyYXZ2WXhWTzY1Qko5Szl4NVhrVEFPZVhIZ0cvVm9INGNtUkRaMmFWRmlzRU8xRDc4N3JkOFU3UEQ1d1BoOEh6dWNYcjJ1TUFvTVpINnhPRXAxWkZPd3JnMHdxSUZQaldCdEZMaTBOdXJ3NU1SNWplNHAzRjlqOGp2c3ZzL0lCcEo5MlplRE5sYVhQcjJ4NmthZHFNNzFJakw3SWdpS3pGUWFEZUt2cThuZnF2S1crbmFjbXgrSEpzV295YU9WTmxUMlBKU2NiaFJ0L2c2SjlCd1MvL3FaOXVYclViY2o5NEgzb2QrMkVLZmt5WkxHTjNCeWwzQmg4ZktEczJnMkNUQTdCVncxbGNYRERmTzJhN1FJL0tocGhjejYyMS8vd3ZYMDBjdWQ4QlAyMnJkRDlzeG1xQVFQZEh0K3ExeUh3aVNlaEdsemFjdGRxTWtHejRBdm9kKzZBYXNoUXlPTGlJRy9TRlBxZDJ4SDQ4Q05BOGNXbTZjb1ZGSjA3QzkvYlJ3TXlXYlhIcEZtOEVGYWpFV0Vmem9Zc0lkSDIyZzBkaGp5NUhMcS8va1RSK1hPUVJUZEEzcnpQSVkxdWdMRFpjeUQ0MkM2TzFTTkhJWC81VnlqNGFUVU0vZnBEMmEyN3c3RWxZZUdRdDJqaGxHS2syNzROa01uZzA2TW5DdGFzZHRpblN1K25YR0ZMbVhGeFFWNzR5enBvbGl5Q1Q1KytDSHIyT1hzM284S05Hd0dKQkVIUFBvZXNsNTRIQUFpK3Z2WjZMb1hyMTluT1BXS1VSN05UQ24vNzFYWU1rVFFsUVdsYlpqWG9uZFo1Uy81WFMxRjA0VHhDM3krWFRtUXlRUm9XQWUzS0ZkRHYzSUhBcDU2R3ZJbWJqaENDZ01ESG42alV1ZlBtelhWNHJHalR4djRhNXMzN0hJS1BDZ0ZUSGhidE1tVFJhQUN6R1pLUWNyVlJpa3dRNUxhWlYzbWZmd3JkbjV0RXoxM1JyS1R5QVNUVm9NRUlmUEpwKytPeTZVV2VFa3N2YXRxMHFjUG5tYXQvVzYxV2wrdks4bVFiZDl1VjMwY3NhTzV1bTZxYzM5MjI1WS9uYW5aTWRjZFVsV05WNWhpZUxOKzdkeSswMnFxMTZKVVZCMFVMQ2dwUVdGaDdEUmlJNlBwVGI0TXV3enVGb2xrRGRaMm1GODM0NFJKbS9PQjVkeUN4TGtlWHJ1bHg1OHgvM2U0M2RmRlp0K3UzSHM4VlRYR3lXbTJCaWNxWVBpRmVkTGxNS21Cd2h4QnNQSmp0OHJXT0RySDlnTHVjNmZqRDFqYlR4ZmFGdnZOVW5sTmw5azZKL21nYjU0dnZ0cWJidHl0THJHVTBBUHhiM0pYSWFMSldPYWZ3WEtvT3EzWjZyK2lVSzBxWnhDRzlLSGIyYlB1Nnl2Nm9xR2hkVmZhcHlnK2IyamovOVRDR21ud2Zhdk0xY0RVenBqckhrZ1NISVBLYjd3Q3I0MmVDVmErM0J5Q3N1cHE1MERYczJRMllUUEM3ODA3N3NZc0hBLy83N29kKzIxYm90MityTU9nQ0FNcHVQUndleXhyWmdnam1uTkkwVGRXZ3dkRE1ud2Y5dnIzdzZkVWJBS0Q3K3kvYnV1SUNvOVVaazFXcmhmSFl2MUIyNm13UHVKVHd2Mzh5Zkc4ZkRWbURHT2ozN0xhMVU3NTlES3pHSWxpTnBVRnRWWisrS1BocE5mUzdkam9GWFFCQTFic3ZORXNXT2FRWTZiWnRoYkpMRjhmeEZxdksrNm5zMk5GbHdLVmd3M3JrTDEwQ1pkZHVDSnIyZnc0emZuejY5WU9pZFd2N2ExK2UvdUIrQ0Q0cUtGcDRXbmkyK0c5YTlPL1czYm9hWnJFZzc0dTVNT3piaTlBUDUwRHc5WFZjcjFBZ1lNcEQ4T25aRTNtZi9BOVpML3dmZk1mY0FmOTc3aFdmOVNJSURnRkNUK1NWQzBEWW1VelE3OXdCbjc1OVJRTXVBR0RPc0gwZnlxSWR1eTFhVFVYMjkxblpzUk1rNVo2WDhjUnhGSjA5Qy9XSWthSXpZc1JhUmdNb1RRZFRLQkQxOC9vS241c1lXVnljclExM0dTdFhycXpTc2VqbWMvZmRkK1BNR2NjQ3NHSTNRc3ArNXdVRkJhRkRodzVvMjdZdFdyVnFoVFp0MmtDdFZ1UExlbFMvZ29nYzFkdWdpeUFBVGFKVmVINU1JOXpTSmhpemY3N3NVRkhaV3dhM0Q4SHNCNXZVeUxGbXI3MXNMMXprcjVKaXg4ekszZDBwMGUrVmcyN1RrV3BDdjlaQkNGVEw3TjJRM3BnWWovUmNJK1p2TEszNDNhT1pyVDdBOGN1TzdicDlsVko3alpVL0RtYzd0YUIrNmM0NHRJM3p4WWRyTHNNa2tpdm1ybVYwaWVxbVVRMTc2ekJTc2oyckdGOWREVU45OE96b1dQUnFIZ0JmSDl0ZDN5NWQzRStmSjdwZUNiNitNT3pmQjhQKy9UQ2xYSVg1V2pyTTE2N0JYcERLV2pNQmNWTmFLZ0JBRnV0Y2tGd2FFUW5CeHdjbUQ5Tkh5dGN5RVVvdWRzc1UzMVQxN1FmTjBzWFFiZjdiRm5TeFdLRGJzaG55SmszdHRTU3FNeVp6UmdaZ3RVSVc2endEVWhJWUJFbGdrTzBjVjIxRkFyWGZmUXZ0ZDkrS0grdWFJdGppNmdBQUlBQkpSRUZVZU9EWXAzY2YyM1BZWVVzeE1xZW13SFQrUFB6dUVPOFNBMVQrL1pTR3VPNHdsYjkwQ1NBSUtEcC9EbGFkemlFQW9XanRmdmFLT1RVVlZyME9hZVB1Y0x1ZC8zOGVnTytZc2ZiMEdLdklyTUdTWlU0QmtCcG1OUmlRKzcrUFlEeCtIS0Z2dndOcHVQaXNUc0QyL01NKytSeDVYOHkxelZZNnNCOUJ6endIV2J6NGpZK2FvTisvRDFhdEZ1cWh3d0RZMmxoTFE4UGdOL0Z1K3piR28wY0F3R24yalZXbmcxQmNZOGluZHgrbkZ0U2FSUXRRZFBZc0FoNmNJaG84Y3RzeXVsaDEwNmpDRnk2R05DS3lXc2VnbTV1N1lJdFVLa1hYcmwweGVQQmd0Ry9mSGlFaElRZ0lDS2kxbWFia0hjdW0yanI0VGY3a1JJMGV0MTJjSDc2WjFnb3ZmMzIreW9XQTZjWlNiNE11SmRSS0tmcTNEa0xUYUJWbWZIOEpCODduZTNYV3k3SExXdEhlNkdWMWJ4YUlVVjFEOGI5MXljaDIwNGI0V0xuZ0JBQnNQNUdIemNjOEs0cDdhNXRnOUdrVjZISjlUZFIwS1RHdVp3Uk9KQmZhMjdIbEZab3dzVzhrbG14S1FWRnhLK2plTFlPUVcyREMyUlRIS1pocXBkUnQybFJVa0FKNWhTYlJnSXVuN3AxVHZRL1RqRHp2dElzdVN5bVhvRjJjTDk2WUdJOUc0YzVUNElsdU9FVkZ5SG52SFJnT0hZUTBwaUVVelpwQjJha3o1SW1KTUJ6WVgySHhUanVMdWVKdFNuNHN1L2o5YTdWWVBhODU0Y0dQYU1IWEZ6NDllMEcvZlJzc0dnMU1GeS9Ba3BVRnYvR2xIVjJxTXlhcnVTUlFYc0ZZaWo4WC9lNmU1SExXaDZBV0R5WklRa0lnYjlrUytwMDdFUERnRk9pMmI3T25iNG1xeXZ2cHBxdUhldVFveUJ2SEkyL3VaOUFzV29EQVo2YTVmNjVsK0U5K0FGWVgwL210cGlKb1Y2eUFKVjhEV1NOYndFc1dZU3Y0YnM1MExxcHFkbFB2cGFhWUxsMUU3a2V6WU5Gb0VQck9ldzRkbEZ3UlZDb0VUZnMvNk5wM1FONkMrY2g4ZmhvQ0gza01xc0ZEU2plcWdab3VKWFIvL0E1WlFxSTlvQ0x4ODBQaHI3L1lhc3NVLzUwYURoNkU0Ty92Tkg2clh1OXlkZ3hnZTkwRlA3OXFGZHQxVllUWlUxS1Jla0pFSmNxbmNVbWxVdmo3K3lNcUtnb2pSb3pBMEtGREVlYkZ6d2k2TWNTRisrRHRleEx3OXZjWGNUNnRacnZpdG03a2k1ZnZqTU1yMzV6SDVRenhzZ0w5V3dmaGdVSFIrR0IxRWs1ZVlVcmI5YVRlQjExS05BaFI0dU1wVGJIeFVEWldia3ZIaWVRQzFHQnRTYnZVSENQVzdpMzlVZmZOczYydzYzUWU1djVhT3VORHJaUmlWTmRRL0hra0c4bVo0ditwWERseHBjQSttNlFpa1VFS3QwR1htcWpwQWdDTkkzelF1MlVnWGw5UkdteGErUHRWak80V2h1R2RRN0Z1YnlaQy9HWG9rT0NIZFhzem5Rb2JxNVZTNk4wRVhWckYrdHE3Q1ZYVytONFJtRDZoWm1xeUxQMHpGUit2VDY2Ulk1VWxDRUR6R0RVbTlJN0FiVjNEb1pUenJnbmRIQXIvL2hPR1F3ZWhIam9jQVk4OTdyQk90MjJydzJOQllyczRMNXNlVTZMa290Z2RhWlF0M2NGMCtUTGt6UjJERCtacjZZRFI0SFptUVZXb0J3Mkdmc3MvTU96ZUJlUEpFNEJDQVZYZmZqVXlwcEk3OGlVeldjb3lYYmtDN2NvVlVBOGFER2xreVoxN0t4VHRPemhzWnkwc2hPSHdJY2hDWFY4b3FQcjBnMmJoZkJTZFBnMzk5dTFRZHV2dTh1SzVNdStuSndJZW5BSklwZEJ0M3diZFA1dHRSWEZGMHFES002ZWtRUHZqRC9BYlA4SGVJYXFFSlM4WE9lKzlDNnRlaCtCWHAwUFp5VFpEVkJZZkQ4aGtLRHA3eHVsNHh0T25BVUMwczFGTktQeDlJelNMRmtBYUZvN1E5eitBdExpVnNhZFVBd2RCM3JRWjh1WjlEa1dyVm80cmE2Q21Dd0NZcjE2QjRlQUJlNkZpQVBDYk1CRzZ2LytHYnR0V3FBWU1oQ1UzRjhaVEo2RzZkWUJUOFdlTFR1YzI2RkowL2h6a2paeG5mSG1pY09OdjBNeDNrUkpWU1dVN25SR1ZWUkpzaVkyTlJkdTJiZEd5WlV0MDdOZ1JDUWtKVUxyNTI2N3ZsajdWRWwyYStGZnJHSWN1YURINWt4UFZtdFZmM3NnWlJ5cDlqZVVKbFVLQ0p0RXFMSG1xSlI3ODlDUXVwT3V3K1oyT0NQVVh2NEh5L24ySmVQKytSS2ZsVXhlZnhlWi9IVytpRitqTmlBbFZZdm5VMXBneTk2VFR0VTk0Z0J4dlQwcUF5V3oxZWdZRFZSNkRMbVVvNVJMYzNqVU1IUlA4OE1XdlY3SGhnSGVuZS9WckhZUjJqZjN3M1ZieDZlTWJwcmQzdWUrdHJ4MUNscHRaTURXaEptcTZDQUx3d3RnNFpPWVg0ZGNEV1lnTVZLQi9teUFNYWgrQ1FGOFo3dTRiaVhWN00vSEkwQmpJcFFKKzNPSDhXcWlWRXVSb3haOXJ6K2FCaUFwV1lPVzJxbldWK090SU5rNVhFQWtlMnpNY283dUhZL0xIN21mRHBPZDVKNzFvVVBzUVBEMnFJV0xEZkNCaHZJVnVJcFk4RFFCQVhtNEdoaVV6RS9yZHUyMFB6TGFBcXlURWRoZmFlUHFVdzdhRy9mdGd5Y3B5dnFDVFNHeHRhb3Y1OU9pQi9LK1dRcnRtdGEwbWhVOXB0eFh0Q2x0bm1KTGFLelZGMGFZdHBGRlIwRzNiaXFMejUrRFRvNmREaWtwMXhpUUpDSUM4WlNzWURoMkVLVG5aSWMyb2NNTjY2TGR2ZysrbzI2SHMwaFZRS0ZEd3kzcW9CdysxdjQ0QW9QMWhKUXArWG9PQUtROUQxbEQ4UXQrblYyOW9GaTJBOXFkVk1DVmRndis5OTRsdUIxVHUvYXlNd0NlZVF1YlRUeUJ2N3VjSWI5a1NncjlJcStveXBPSGg4T25lSGJselBvS2lUUnNFUHZRSXBBMWlZRXBLUXM0N2I4RnFOQ0xrbmZjaGIxcWFBaU9vVlBEcDFoMzYzYnRnU3Jwa242bGhMU2hBNGU4YklZMXVBRVc1MXRrMVJSb1JBVVhidGdpZTlqd0UvNnBkbk1nYU5iSVZKQzZ2Sm1xNldDelFMRjRFU1hBd1ZQMzYyOTdQZlh1aDM3MFRsbndOQ2pmOEF0V0FnZEIrdnhJd21hQWVOdHpwbUZhOURwSkE4ZmZOZU9nUUxKbVpVSTRZV2FseGx2RHAyUlB5Q3RLcUNqZjlBZDNmZnlIMC9RL2NibGZTcVlxb0xLVlNpU0ZEaG1EdzRNR0lpNHREY0hBdzFHbzFVNGM4c1BGZ2xrUFpnSTRKZm1qWDJBL2ZiNzhtZWtOVnJBN2oxV3hiK1ljQ3ZWbDBabnBra0FLekgyeUM5MWNuNFhpUzdWeUowU3E4ZFhlOGJWYklOZWZnU2xwTzZXLzJyZTkxUXBDdiswdGlWelAvalNZcnVqeTN6Lzc0MU5WQ1BMWHdEQlk5MlFLTG5teUIrLzUzSEl2K1NNRkxkMVl1cUh6Z3ZNWnAyYVZyZWp3MDl4U1dQTlVTTDl3Umg0Zm5sZjRlRWdUZ3Zmc1NvWkFKZUhqdUthVG0xRTdKQS9JY2d5N2xDQUxRS013SDc5K2ZpTDZ0Zy9EcCtpdEl6VFhVK0t3WGY1VVVyNDIzL2FnYjJUVU1PMC9sSWFkY1ZQTDlWVWxPblh4S2FBcHZqQWptZmJkRW9VL0xRRnpKTW1EMVMyM1JPTUlIVjdJTU9IZytIM04vdllLcG8ySXh2Rk1veHZXS3dQWVRlVGlSN0J3QUNmU1Y0VXlLOC9MSVFBWGV1anNlMlZvVFZ1MnFXakhiYkswSjJXV3EwdmRwRllpblI4WGk0M1hKMkhuSzFzbW9kL0Zzb0tQRmhYYy9mYWdac3ZPTHNHeHpLaTZtZTZjT2tDRFl2a1FlR3g2RE83clg3TjEzb3V1RlQrY3UwSzVjZ2Z6bFg4RmFvSVVrSkJTbTVNc28zUENMdlZPTXBjRDIvMDRhRlFWNXkxWXdIajZFbkhkblFORzZOVXhYcmtDM2RTdGtqUm81dGZPVkJBWEJkT2tpOGo3N0JNcU9uZURUcHkvODc1dU0vR1ZmSXZPWnA2RWFPQWdTbFFyNlBYdGcvUGNvbEYyNlF0WC9scHA5Z29JQTFZQkIwSzc0Qm9CdDVrdFowb2pJYW8wcDhPRkhrUFh5UzhoNjRUbW9SNHlDTkNJY3huLy90UlhmSFRqSUh2d0luUEl3OHVaOWpveXBUOEYzMkhCSXdzSmcvUGNvOU51M1FkNmlKZFJEaHJnOGh5UW9DSXJXYldEWXV3ZUNyeStVSFR1NTNMWXk3MmRsU0NNaTRIL2ZaR2dXTFVEZWd2bWlMYTRkeU9Yd3UrdHVxUHIxUjk2QytjaDQra21vYmgwSS9iYXRrQVFGSXZTREQrMnpqTXJ5djM4eURFY09JK3UxVitCNyt4aEkxR29VYnZ3VmxweHNoTHoyaHN2VzNkY2VtQXhCTGtQNHdpV1ZmbTZBcmJDc3U5ZTFyaFdzVzJ0TEdZdU1STWJVcDJCT3VRcHBSQ1FVclZyRC81NTdrZi9OY3VpM2JrSGhwdCtMMDhtYzY5Wlo4cldRTjNZT2pGZ3lNNUU3OTFOSUFnS2dybVJ3cUVUWkdrWUFZRGl3SC9uZkxJZi8vZit4djY3U2d3Y0J3RGFqekdwRnpudnZRQklZQ04vUmQ0aldSU0lxTVhYcVZMUnIxdzVxa2VMaFZMRWZ5czIrZjNKa1E3UnI3SWY1RzYrSzNqeDJWNGZSWWkzOUxWNVdiSUh0cHN2Rk5KM1Qrck1wT3B5K1duR2F6YTdUZVU0Tk53Qmd5cEFHQUlERmY2UTRyUnZZUGdTOVdqaG5EQnk4a0krM1ZsNUUxeVlCdUpaWGhKLzNaT0RrRmNlU0VJbFJLcngrVnp3Vy9IN1ZmcjFSb3RCZ2dhYXdORzE2MXVRbUdOYkpNZjJ4Ui9NQWw0R2dIMThvclhtMjZVZzJubHQ2VG5RN3FsME11cmpoclE1SC9pb3B2bmkwT1VJRDVGaXlLUldUYm9uRWh0ZmI0NWQ5V2RoK01oY2h4VlBRdHAvTUZaMzZKaEVBaFV3Q3VVeEFvY0Z4VE0wYXFERzZtMmM1cGMwYWVQOExaTnVKWEV6cUg0VUQ1L094KzNRZTlwN1JJS000a0NRSXdHMWR3L0RCNUVRWWlxejQ0S2NraDMwRkFSalVMZ1RCdmpLbklzZWRFLzB4YzNJaUFsUXlQTDNvak1PSFUxVjBTdkRIbzhOaTBLTjVBUGFjMFVCYnBrT1NBTUJhM0wxQ0poV3c3NXdHRHd5SXhoMDl3ckgxUkM2V2JFckI0WXRWYXljb3BueG5JcUtibFN3eEVjR3ZUb2YyKzVYSS8rWWJRQ0pBR2g0TzlmQVJVSGJyanF6bm5vWGg0RUY3RFpIZ0YxNUUvckpsMEIvWUI4UGhRNUFuSmlMa3RlblE3OWdPWGJtZ1M4RDkvMEhlZ25uUWJma0gxcUlpK1BUcEM5ODd4a0xXc0NFS2ZsNkRndFdyWUxWWUlXdllFQUVQUFFMMThCRXVMNnFyUXoxZ0lMVGZmUXRwZURnVWJkczVyYS9PbUdUeENRajlhQTYwSzFlZzhJL2ZZVFhvSVl1T1JzQ1VoMjM3RmxNTkdRcHBaQ1MwYTM1Q3dZYjFzQllWUVJvUkNiK0o5OEIzekJoQTRYNXF2RS9mdmpBZSs5ZVdxdU9tNWtabDM4L0tVSThZQ2QyT2JkQnYzd1o5ejE1T2hWakZTS01iSU9UTnQ2SGZ1Z1Y1Qzc2QVZhK0QzNFJIUkFNdWdDM2RLM1RtTE9Rdlg0YUNuMVlCQU9RSmlRaDU1SEdYYmFmTjZlbXc1R1RiMm9EZnBKU2R1NkRnbC9WUXRHb05SZnNPVUxaclh6cGp5bUtCN3ArL2tUdm5JMEF1UjhDVWh4eDN0bGlnMzcwTDFud05aREV4RHF1TXg0NGhkODZIc0dnTEVQTHE5Q3JQOHJFZjc4UnhhTC8vRHNZalI2Qm8ydzRTaDR2a01uZk96R1lvMnJSRndaclYwUDI1Q2NvdVhlRjM1empJVzdaeU9pWlJqeDQ5S3Q2SWFvMUNKbUQvN0s2aTZ4WSs0Vnkzckd3QW9vUll0c0Q1TkoxRCtZY1NZM3RHQUlEb3V0aHdIOUdnQ3dDczI1dUpkY1g3bU14V0hMcmdlSjFnTHI3TXVIUk43N1JPVEhxZUVaLy80cHhPN0M0bzlNU0l5cVdxa25jeDZPS0dOem9jZFduaWp6Y25KaUFpU0k1cFM4NWl5L0ZjYkRpUWlTZEdOTVM0WHVHWTJEZkN2dTB2cjdXSDJXSzEvMVFRQkVCV0pyOWs3WjVNVEYvaFdKVDNsalpCdUtWTkVHcENUUlRTdlppdXg5QTNENHV1RXdDa1pCdVJFS25Dek5XWGtKUmhlMjIvZkxvbE9pZVcvdmd5RkZteHZ2aURLenhBanFtM3hlSzJybUc0a21YQWc0dFBPblU3cW94dVRRUHc5Q2hiMVAzUUJTMGUvT3drOXAvTHQ2OVhLU1RvbkJpQXZPSlpTQ2F6RlY5dlRzUDMyOUl4cmxjRUhoclNBTXVmYVlVRDUvUHgrb29MMWM0UEZldE1SSFF6VTNidUFtVm44ZTViNVZ2QVNvSkRFUGpNc3lqL0UwZlJyajBDSG5Pc1c2SG8yQkhoOHhjNW42OXJONDh1K24xdkgrMTBJUjN5eHR1aTI4cWJ0M0RacmxZU0ZvYW9OZXZjbnN1VE1jbWJOQlU5aDZ4aHc0cG5mZ0JRdE8rQWtISTFYY29UZkZTaTUxQVBIZTdVVWhjQS9DYmRCNzlKanVsR25yNmY4bGF0WEw1bXdkUGZFQm1jZ05EMzNLZUd1T0xUcno4VXJkc2c5L05Qa1BmcHh6QWNPWXpBS1ErTFh1VExZaHNoK05YcEhoL2JlTkkyMVYzWm8yZVZ4dVoxTlZCSVZ4WWJpNGpGUzEydWw0Wkh3SFRsaWoyTkN3Q3lYbmtSUlNmS3BBSEk1YlphTHdBczJkbklYNzRNdW4vK2hqUXFDcUh2dnVhUTZsVlp4cU5Ia1AvTjF5ZzZjeHJ5RmkwUjhzNTdVTFJwYTE5djFldGdQSDRja3BLME5Ka012cVBId0hmNENCVCtzUkhhSDM5RTFzc3ZRdDZxRllLZW1ncHBkSU1xajRXSWFzZnN0WmV4NDZSdGhraFVrQUx6SG0yT04xZGV4TkZMdGdCR3N3WnF6THcvRWRPV25yVmZ1M1dJOThmcmQ5Vk1IY2ZhbGw5b3JuUlE2TjVib3J3K0x2SWNneTRlcU1rT1J6R2hTcVRrR1BEWS9GUDJDL1J6cVRvOHUrUXNWQW9KV2pmeVJVU2dBZ0ZxS2VSU0NRUUJrRW9FVzM4S3diRnB4ai8vNWpvZGYrRWZLZmg4ZzNNa1ZNeVRJeHZpNFNHdWYxeFlyTUM3UDE2cXpOUERxK005L3pDeldJSERGL0p4NW1vaFZwZXBIYk44Y3hyK1RkSkNMcFVnWDJmQzc0ZXk3UUdaUW9NRjBjRktMUGt6Qll2K1NISGIxY2dUSnJNVmdpRGc4Zm1uc2IzNHcxdWxrR0RYckM0TzlWTyszcHptc0ovUlpNV0tyZWxZc3pzRGsvcEhvWGZMd0dybFQ3SXpFUkdSOTBoQ1F4SHl4dHNvL08xWDZIZnRCT1ExOC9PbjZPUkpTQUlDdkZidnBkb0VBUUdQUEZhcFhUUUx2dkI4WTRrRThwYXRJSXVQaDJwSWFYcVEzKzEzd05pc09hd21FeVMrdnZEcDNkY2VrQkY4ZkdET3pJRHZuZVBoTjM1OGFTMmpxcExKQUtzRndkUGZzQWY4ckhvOTB1K2VnTEs1NFU2emtSUUtxRWZkRHRXZ0lTaFl2dzdHUXdjaERZOEFFVjMvMG5PTjlrS3lodUpyc3BRc2czMlpXbUc3Y1ptY1dib3NNa2poMVRITm1KVGdrRzB3K1pNVDZOODZHQThPRXA5ZENiZ3VwTHYxZUM2ZVhGaGEyTDFKdE1ydGpYQlg2eTVuZXFjTUFsV2VZQlZyT2s4dUdZb3NYdTl3ZEQxNGVWd2NKdlNPUk1kbjkxWnF2MFAvNjRZZmRxVGovVlZKRlc5OEhSdlpKUlMrU3RzSDl1Vk1QWGFmZGk1b1ZSUFltWWlJNk1hVk9mVkp5SnMyUStDVFQ5ZjFVSnhvRnN4SDRlKy9JZXFudFpYYUwyM3NhRnNIcWtjZTlkTElhb2Z1bjgydzZtd1hXN0xvYUNnNmRLempFVkY5MTI1cTVYNVQzNHhLYnZpNmFnank0d3R0WURCWlJBdm1BdTdUaXp4Vi90eWVGTkoxcFd3aDNlN05BcEFRcVVLamNCOU02aCtKeVorY1FGcU9FVkhCQ2l5YjZubjY0bVB6VHlNMTI0Z0w2YmJQcjFtVG02QkR2QjgrWE9OYzUrYkprYllVSXJFYjd0UEd4T0pFY2tHOXJPa3lxVjhrWHF4azhXSnY0MHlYU3FydERrZDE1ZjFWU1ZVS25GUTJTSE85MmlCU1RNc2IySm1JaU9qR0ZUVDFXVWpjdE55dVN3R1BQRnFsd0VsbGd6VFhLOVV0dDliMUVJanF0VGNueG1Oc1QvRm1FSnZmY1I4RUxUOXo0NmRkR1hoejVVWDc0N0xwUlo1eWwxNjA5WGd1MXU1eFR0RnhGOVFZMWprRS9Wc0gyeC92T2FQQm5qTWFkR25pajBuOUl3RUFxVGxHcE9ZWWNmcHFJWXJNVnN3UktSQmNZa1RuTUl6ckZZNkQ1L09kWnZKcjlXWnNPcEx0dEU5SkNwSFl1b2VITWxYeWVzS2dTeFhVVm9janVqbXhNeEVSMGMxQmx1QThMWnlJaUlDZHAvS1FyM05zZE5FcDBSOXQ0M3p4M2RaMEdFM09GMDVpTGFNQjROL2lya1JHazdYS000Yk9wZXF3YXFkNHQ5UExtZnBLQnpXYU4xU2pmMnZQejU5WFlIS29HMWxldThaK25oK01iamdNdWxTVHR6b2MwYzJKblltSWlJaUk2R2IzeCtGcy9ISFlNVmp4MHAxeGFCdm5pdy9YWEliSjRoeDBjZGN5dWtSMW0zd01lK3N3VXJLclhvZXhMckNteTQyUFFaZHE4a2FISTdvNXNUTVJFUkVSRWRWWFVVRUs1QldhUkFNdW5uSlY3OFZUR1huT3RXUnFRKytXZ1ZVT0dMRmw5STJQUVpjYVVwTWRqdWptd3M1RVJFUkVSRlRmdFlyMXRYY1RxcXp4dlNNd2ZVTE50SHhlK21jcVBsNmZiSDk4Yi84bzNOdmZkWXRsVjhFU3NSUXBsOGU0cE1Xc24xelA0Qm5WTlF3VCt6cDNVSHRobWV0Q3VPNWFSb3N0bzdyRG9Fc05heENpeE1kVG10YUxEa2ZrSGpzVEVSRVJFUkVCUFpzSElpcFlnWlhiMHF1MC8xOUhzbkg2U3FIYmJjYjJETWZvN3VHWS9MSDcyVERwZVk3cFJidE81em5Wa1FIY3p5UVoyRDRFdlZvRXVqMVAxNmIrYUJDaUJHQ3IyZkxOTk0rN0dMa3JSRnhlUlROb3loY2lwdHJIb0lzWDFKY09SK1FlT3hNUkVSRVJVWDBYR2FqQVczZkhJMXRyd3FwZDRzVnNLNUt0TlNGYnE3VS83dE1xRUUrUGlzWEg2NUt4ODVTdGsxSHZWcllneU5IaXdydWZQdFFNMmZsRldMWTVGUmZUeGNzLzlIdmxvTXR6Vm1jbXlSMDl3akdxYXhqbS8zYlZOcVpLem5SWnZ5OFR4NU1MM0o3alB3T2lBUUJmL1ozcWRyc0xhVldiWFVRMWgwRVhMMkdIby9xSm5ZbUlpSWlJaUd3NkovcGo1dVJFQktoa2VIclJHV2dLelJYdjVFYW5CSDg4T2l3R1Bab0hZTThaRGJSbE9pUUpBS3l3WFd6SnBBTDJuZFBnZ1FIUnVLTkhPTGFleU1XU1RTazRmRkhyNHNnMXc2KzRidU9ZN3VIWWNDQUxTLzlLeGVBT0ljalhtZTNCSURFOWkyZk5XSW92RmcrY3o4ZUI4NjY3SFFIQXFDNWhBSUFmZDFRdGtFVzFoMEdYV3NBT1IvVURPeE1SRVJFUkVRSGhBWEpNdlMwV3QzVU53NVVzQXg1Y2ZCTEhMN3VmdWVGT3Q2WUJlSHBVUTdScjdJZERGN1I0OExPVERpMllWUW9KT2ljR0lLL0FCQUF3bWEzNGVuTWF2dCtXam5HOUl2RFFrQVpZL2t3ckhEaWZqOWRYWEVCeXBxSGF6MUhNd0hZaEFJRGxtOVB3MGMrdVo3WTBDbGVpWDZ0ZzZJeG1DSUtBTVQzQ2tLRXBncUdJZCtodlJneTYxQUoyT0xyNXNUTVJFUkVSRVpGTm9jR0M2R0FsbHZ5WmdrVi9wRUJuck41Tlo1UFpDa0VROFBqODA5aCswcFpPcEZKSXNHdFdGNGMwL3E4M3B6bnNaelJac1dKck90YnN6c0NrL2xIbzNUSVFxVG5lYXhsOSttb2hGdngrRlhOL3ZlcDJPNWxFZ2hmR05ySS9UczgxNHIwZkwzbHRYRlMzQkt1VkNTKzFMU1hid0E1SE53bDJKaUlpSWlLaWlyU2J1cmV1aDNCVEd0a2xGTDVLMnczUHk1bDY3RDZ0cWVNUmVVNHFBYXhXb0JvZHRFbkVwSDZSZVBIT3VMb2VoZ1BPZEtrRDdIQjA0Mk5uSWlJaUlpS2l1clZCcE92UWpjTE1lKy8xQm9NdWRZUWRqbTVzN0V4RVJFUkVSRVJFRldIUXBRNnh3OUdOaFoySmlJaUlpSWlJcURJWWRMbE9zTVBSOVkyZGlZaUlpSWlJaUtpeUdIUzVUckREMGZXTG5ZbUlpSWlJaUlpb0toaDB1YzZvbFZMMGJ4MkVwdEVxZGppcVkreE1SRVJFUkVSRVJOWEJvTXQxaWgyTzZnNDdFeEVSRVJFUkVWRk5ZTkRsT3NZT1IzV0RuWW1JaUlpSWlJaW9KakRvY3Axamg2UGF3YzVFUkVSRVJFUkVWTk1ZZExtQnNNT1JkN0F6RVJFUkVSRVJFWGtEZ3k0M0VIWTRxbm5zVEVSRVJFUkVSRVRld3FETERZZ2RqcXFQblltSWlJaUlpSWpJMnhoMHVZR3h3MUhsc1RNUkVSRVJFUkVSMVJZR1hXNXc3SEJVT2V4TVJFUkVSRVJFUkxXRlFaZWJBRHNjdWNmT1JFUkVSRVJFUkZRWEdIUzV5YkREa1NOMkppSWlJaUlpSXFLNndxRExUWVlkamtxeE14RVJFUkVSRVJIVkpRWmRibEwxdWNNUk94TVJFUkVSRVJIUjlZQkJsNXRjZmVwd3hNNUVSRVJFUkVSRWREMWgwS1VlcUM4ZGp0aVppSWlJaUlpSWlLNG5ETHJVRXpkcmh5TjJKaUlpSWlJaUlxTHJGWU11OWRETjB1R0luWW1JaUlpSWlJam9lc2FnU3oxME0zUTRZbWNpSWlJaUlpSWl1dDRKVnV1Tm5tQkMxWldTYmJoaE9oeXhNeEVSRVJFUkVYblRnUU1IOFBMTEw4TmdNR0RPbkRubzNMbHpYUStKYm1DYzZVSTNSSWNqUVFBU28xUzRwMThrT3hNUkVSRVJFUkhSRFlGQkZ3SncvWGM0R3RRK0JFK01hSWpHRWV4TVJFUkVSRVJFUkRjR0JsM0k3bnJyY0NRSVFIaUFIRStNYk1qT1JFUkVSRVJFUkhURFlkQ0ZSTlYxaDZPU3prUVQrMFNpVmF4dnJaNmJpSWlJaUlpSXFDWXc2RUtpNnJMRFVWU1FBcytQaldObklpSWlJaUlpSXJxaE1laENicW1WVXZSdkhZU20wU3F2ZHpncTZVejA2b1RHU0loVWVlVWNSRVJFUkVSRVJMV0ZRUmZ5aURjN0hMRXpFUkVSRVJFUkVkMk1HSFFoajNtcnd4RTdFeEVSRVJFUkVkSE5pRUVYcXBTYTZuREV6a1JFUkVSRVJFUjBzMlBRaGFxc3FoMk8ySm1JaUlpSWlJaUk2Z01HWGFqS3F0TGhpSjJKaUlpSWlJaUlxTDVnMElXcXpaTU9SK3hNUkVSRVJFUkVSUFVOZ3k1VVk4UTZIQUhzVEVSRVJFUkVSRVQxRTRNdVZLUEtkemd5bXEzc1RFUkVSRVJFUkVUMUVvTXVWT01FQWNoTFBZc0QzendIZzhHQTlCWXprUkRaczY2SFJVUkVSRVJFUkZTckpIVTlBQ0lpSWlJaUlpS2lteEdETGtSRVJFUkVSRVJFWHNDZ0N4RVJFUkVSRVJHUkZ6RG9Ra1JFUkVSRVJFVGtCUXk2RUJFUkVSRVJFUkY1QVlNdVJFUkVSRVJFUkVSZXdLQUxFUkVSRVJFUkVaRVhNT2hDUkVSRVJFUkVST1FGRExvUUVSRVJFUkVSRVhrQmd5NUVSRVJFUkVSRVJGN0FvQXNSRVJFUkVSRVJrUmN3NkVKRVJFUkVSRVJFNUFVTXVoQVJFUkVSRVJFUmVRR0RMa1JFUkVSRVJFUkVYc0NnQ3hFUkVSRVJFUkdSRnpEb1FrUkVSRVJFUkVUa0JiSzZIZ0Rkbk5xMmJZcy8vdmlqcm9kQlJFUkVSRVJFVkdjNDA0V0lpSWlJaUlpSXlBc1lkQ0VpSWlJaUlpSWk4Z0lHWGFoRzVMdzdBN24vbXcxWXJYVTlGQ0lpSWlJaUlxTHJBb011dFV5emFBR3kzNWdPcTE3dnNOeVVuSXkwTWJkQis5MjNkVFN5cXJOcXRUQWMyQStyVGdjSWdsZk9rZlg4TkdST2Zjb3J4eVlpSWlJaUlpTHlCaGJTclUxRlJkRDlzeG15cUdnSVBqNE9xL1M3ZHdJQWZIcjFyb3VSVll0Kzd4N0FZb0Y2eU5CSzdaZjkrbXN3SGozaWNuM0U0aThoQ1F1elBiQUNrRXJkSCsvVmwyRThmcXhTWXloUDNxSWxRbWZPZ3JXZ0FPbVRKbGJyV0NYQ3YxZ0FhWFNER2prV0VSRVJFUkVSM1RnWWRLbEZ1aDNiWVMwb2dHcmdJQlNkTzR1cy81dm10STJyMlJ5U3dDQkVMUHRhZEYzdXJKa3daMmNqZE9hc0doMnZHTTJDK1NqOGJZUG91cHgzM25hN3IzcjRTQVE4OG1qcDQ2SERvT3pVeWVYMmdwOXY2UU9yRllMVS9jUXNuejU5SVcvU3hQN1llUElraXM2Y2huclljQWhLcGRQMnVzMS9BMUlwVlAzNjI1ZEpJNk5zNTFhcEVQckJoMDc3bUxPeWtEdHJKZ0ttUEF4NTA2WUFBTlBseThpYit4a0NuM2tXTXBIZ2lqUXMzTzI0aVlpSWlJaUk2T2JFb0VzdEtsanpFd1NsRXFwYmJnWE1KZ1ErTlJVQVlEVVlvRms0SDRxMjdXenJSSWdGRFFCQSs5MEs2SGZ1Z0x4RlM2K04yM2t3QWdJZWVheFN1MmdXZk9HMHpLZDNIN2Y3NU14NEM0WUQreDJXcFkyNXpXbTdxQjlXQXdvRjFNTkhPQ3pYZnZzMWlzNmNodDlkZDBNU0hPeTBuK0hJRVFnS09md2YrSy96eVNVU3lKdTNjRjZjbWdJQWtNWEdPcTJYeHpXR0xEN0I3WE1pSWlJaUlpS2krb05CbDFwaTJMc0hwcVJMOE9uVEY0SmFEUUJRRFJ4a1c3ZC9YL0hqZ1ZEZE1zQ2o0MWtMQ3BDMzRBdm90Mjd4em9EZEVRU29odzJ2MUM2YWhmTXJmUnJWclFQc2dZM0NEYjlBOEZGQ05YQ3dmYjNoMEVFVW5Ud0J5THowWjJ3MEltM0NuYUtyc3QrWTdyUXM4OW1wVHNzaXZsd3VHdkFoSWlJaUlpS2lteCtETHJYQlpJTG1xNlVBNEZUTEJRQU1odzhCQUpUdE8zcDB1S0pUcDVEOTdneFk4elh3SFRNV0JiK0twL3ZjNkh6NjlMWC9XNzl0Q3lSaFlmQ2JjSmQ5bVNWZmc2SlRKd0dKZCt0QisvL25BU2c3ZGdZQW1ETXprRFBqTFFRKzhTVGt6V3dCSVZQU0plVE8rUWhCTDd3RVdVeERBSUR4MUFsb3Zwam4xWEVSRVJFUkVSSFI5WTFCbDFwUXNIWU56Q2twOXNlbUsxZVErYVJ6ZXM2MUIrNTNleHhsdCs0SWZ1VTFtRkt1UXRhd0lRSW0vd2Z5RmkxZDFsaTVudVYvdVFRRmEzOTJ1NDBrSkFTbExEek5BQUFnQUVsRVFWUVJTNWNCQUN3NkhhVGxVNnhNSnUvTmNpbERHaG9HV1Z3Y0FFQlF5RzNMSWlMdHk2eDZIUUJBRmgxdFgyYk95dlQ2dUlpSWlJaUlpT2o2eHFDTGw1a3VYa0QrZHlzZ2kwK0F1YmdlaURRNDJGN1B4WnlSQWUzS0ZmRHAxUnZLemwzY0hrc2FiaXZJcXVyYkQ2b0JBNzA3Y0hjc0Z0SGFLcFdoN05yZG5uWlRkUEVpOUZ2K2dXcndFTWhpWXV6YkNDcVY3UjlXS3l3NU9aRDRxQjJPWVRXWklNamwxUnFISjNKbmZ3ak1kaXlxNjJsNkVSRVJFUkVSRWRWZkRMcDRXZUhHallCRWdxQm5uMFBXUzg4REFBUmZYM3M5bDhMMTZ3QUE2aEdqb0dqVHhyT0Qxa0tnd1MxQlFPRGpUMVJxbDd4NWN4MGVLOXEwc1QvZnZIbWZRL0JSSVdES3c2SUZneTBhRFdBMlF4SlNyalpLa1FtQ1hHRTd4dWVmUXZmbkp0RnpWelNEcUh3QVNUVm9NQUtmZk5yK3VHeDZrYWVZWGtSRVJFUkVSRVFNdW5pWlQ3OStVTFJ1RFZtalJxTHI5UWYzUS9CUlFkSEN1VlBPZFVzUW9Cbzh0Rks3NUxrS1FKaE0wTy9jQVorK2ZWMTJhREpuWEFOZ1M5OHB5Mm9xc2dlZ2xCMDdRZUxyNjdEZWVPSTRpczZlaFhyRVNORVpNV0l0b3dGQTNxeTU3UjhLQmFKK1hsL2hjeE1qaTR1RGVtamxpZzBURVJFUkVSSFJ6WVZCRnk5VHRIWS9lOFdjbWdxclhvZTBjWGU0M2M3L1B3L0FkOHpZbWh6YWRVRy9meCtzV2kzVVE0Y0JBUExtZmdacGFCajhKdDV0MzhaNDlBZ0FRTjZrcWNPK1ZwME9nc0kyMDhXbmR4K25GdFNhUlF0UWRQWXNBaDZjSWxyN3hXM0w2R0xWVGFNS1g3Z1kwb2pJYWgyRGlJaUlpSWlJYmt3TXV0UXgvOGtQd0ZwWUtMck9haXFDZHNVS1dQSTFrRFdLcStXUnVWRUROVjFLNlA3NEhiS0VSSHRBUmVMbmg4SmZmNEhmbmVQc3MxZ01CdzlDOFBlSExLNnh3NzVXdmQ3bDdCZ0FNR2RtUXZEenExYXgzZEFQUHF4NEl6ZWt3U0hWMnArSWlJaUlpSWh1WEF5NjFDRnpTZ3EwUC80QXYvRVQ0Tk96bDhNNlMxNHVjdDc3Zi9idU83ekpjbjhEK0ozUmRHKzZLS1cwN0FKRmlpQkRVVGlJZ29NRGlNSnhjQTd1aWVMUGRZNERsU09JQndTM2lDaTRFRUZGUkRZRkZKRlZvRkJLNlc3cDNtM1M3THkvUDBKRDA0eW1OR2xhdUQvWDVYV2E5MzN5NXB1MFBUUjNudWY3L0JlQ1NvbmcvN3dDejZTMjlSUnhLU2YwZEFFQWZkRjVxRk9PbVpvS0E0RGZuYk9nM0xNSHl0LzN3M3ZDMzJDb3JZWG1iRHE4eDArdzJCcmFvRlRhRFYyMDJWbnd1TVN3cW5IYlZ0Ui80cHllTEw3VFo4RC92bjg2NVZwRVJFUkVSRVRVZFRCMGNTTkpXQmk4cnJrR3RjditCOW5nd1FoODhHRkl1a2REbDUrUG1vV3ZROUJvRUxKd0VUejY5bTM5WWgzSkdUMWREQWJVci9vTTR1QmdlSSs3SG9iS1NxaU9ISWJxcno5aGFLaEg0NVpmNFQzaGI1Qi92dzdRNmVCenMyVi9GRUdsaERnd3dPcmphWTRmaDZHeUVwNVRibWxUblUyOFJvK0dSMXljM1RHTk8zZEF1V2MzUWhlOWJYZWNKRFQwa21vZ0lpSWlJaUtpcm8yaGl6dDVlTUR2cnRud0huYzk2ajc5QkJWUFBRSHY4WCtENnZmOUVBY0ZJdlR0ZHlDSmpHcjlPZzRvLzljY2lEeWtDRnY1dVZPdTExNktYelpCZlR3RmtvZ0lWTXg3RXZyaUlrakNJeUJMR0FUL2Y5eURocS9YUXJWL0h4cDNib2RuMG5CNDlPNWpjUTFEZ3h3ZXZTeURFVU5sSldvL2ZBL2lnQUQ0dERFY2FpSU9ESUk0TU1oMFczM3NLQnErWGd2LysvNEp6MkZKQUFCSlNnb0F3S1AvQUVBUVVQUFdRb2dEQStFN2RScWtNVEdYOUxoRVJFUkVSRVIwK1dEbzBnbElvcm9qWk1FYlVPM2ZoN3BQUDRhZ1VzTHZ6b2VkRnJqb3k4cGdxS21HNysxVG5YSTlaL0FjZmpVVXYyNkdMR0VRWkVPdmdtZmlVSWhETHZRL01SaWczTHNIdGN2K0IzaDRJT0NCQjgzdmJEQkE5ZGRCQ0EzMWtFWkhtNTNTbkQ2TjJtWHZ3Q0JYSU9RL3IwRGs3OSt1T2pWbjBpRC8vanRvVHA2RWJFZ2l4RDQremM0S0Y3L1U2eUViUEFTS256WkN1V3NuUEs4ZUFiOFpkOEJqWUVLN0hwK0lpSWlJaUlpNkxvWXVuWWpYdU9zaEd6UVl0UitzUU4xN3k2RStlUUtCRHp6VWFuQVE4ZjBHdStjMTZXY0FBSjZqUmp1blVDYzAwcFhHeENCODFXcWI1eVZoNGRDZFAyOWFjZ1VBVmY5K0Fkb3paeTRPOHZBdzlub0JZS2l1UnNQYU5WRHUzUU5KWkNSQy8vdHl1NVpsYVZKUG91SHJyNkE5bHdHUEFRTVJzdkF0eUFZUE1aMFhWRXBvMHRJZzlyK3d2RWtxaGUvVXY4TjM4aFEwN3RnRytROC9vT3FsRitDUmtJQ2dKK2RCRXRYOWttc2hJaUlpSWlLaXJvbWhTeWNqRGcxRnlHdHZvSEhyYjFBZC9CUHdhUCszU0p1ZURuRkFBR1FEQmpxaFFnQWlFUUllZnJSTmQ2bi85R1BIQjR2RjhCaVlBR2xjSEx3blhWd2U1SGY3TkdqNjlZZWcwMEhzNnd1dnNkZVpBaG1SbHhmMGxSWHduVEVUZmpOblF1VGwzYWI2TEVpbGdHQkE4Q3V2d1hQNDFRQ011eVdWemI0VEVDN09jTEdZUFNTVHdlZlcyK0U5Y1JJVW0zK0I1bmdLSkdIaDdhdUZpSWlJaUlpSXVpU1JJRFI3QjBtWHBjcDVUOENqYno4RVB2RlV1NjlWLytrbmFOeStGWkUvYm1yVC9VcW5UNFhQVFpNUjhQQWo3YTdCblpSN2t5RW9sUUFBYVZRVVpGY05jM05GUkVSRVJFVGtUTWVPSGNOTEw3MEV0VnFOWmN1V1lmandUclNUTEhVNW5PbHlCUWlhOXd6RW9kMmNjcTJBaHgrNXBPQ2tyU0ZOWitWOXczaDNsMEJFUkVSRVJFUmRCRU9YSzRBMHZyZTdTeUFpSWlJaUlpSzY0b2pkWFFBUkVSRVJFUkVSMGVXSW9RdTV4S2xUcHpCcDBpUmNmLzMxT0hqd29MdkxJU0lpSWlJaUl1cHdERjJJaUlpSWlJaUlpRnlBb1FzUkVSRVJFUkVSa1Fzd2RDRWlJaUlpSWlJaWNnR0dMa1JFUkVSRVJFUkVMc0RRaFlpSWlJaUlpSWpJQlJpNkVCRVJFUkVSRVJHNUFFTVhJaUlpSWlJaUlpSVhZT2hDUkVSRVJFUkVST1FDREYySWlJaUlpSWlJaUZ5QW9Rc1JFUkVSRVJFUmtRc3dkQ0VpSWlJaUlpSWljZ0dHTGtSRVJFUkVSRVJFTHNEUWhZaUlpSWlJaUlqSUJSaTZFQkVSRVJFUkVSRzVBRU1YSWlJaUlpSWlJaUlYWU9oQ1JFUkVSRVJFUk9RQ0RGMklpSWlJaUlpSWlGeUFvUXNSRVJFUkVSRVJrUXRJM1YwQWRYMXBhV25ZdG0yYjJiSEt5a29vRkFvWURBWnMzTGdSZi83NXA5bjVHMis4RVltSmlSMVpKaEVSRVJFUkVWR0hZdWhDN2Vidjc0LzE2OWREcDlOWlBaK2NuR3gyV3lxVll2YnMyUjFSR2hFUkVSRVJFWkhiY0hrUnRWdlBuajF4MVZWWEFRQUVRYkE1cnVuYzRNR0QwYjE3OXc2cGpZaUlpSWlJaU1oZEdMcVFVMHlaTXNYMHRiWGdwZm14RzIrOHNVTnFJaUlpSWlJaUluSW5oaTdrRkdQR2pFRzNidDBnRW9sc2poR0pSQWdLQ3NLb1VhTTZzRElpSWlJaUlpSWk5MkRvUWs3aDYrdUxwS1NrVnNmMTY5Y1B3Y0hCSFZBUkVSRVJFUkVSa1hzeGRDR244UEh4d1lnUkl5Q1JTQUNZTHlkcStsb3NGbVB3NE1FSURBeDBTNDFFUkVSRVJFUkVIWW1oQ3psTmZIeTgzVURGeDhmSDFIQ1hpSWlJaUlpSTZITEgwSVdjcG1Yb0lnaUMyWXdYWDE5ZkRCMDYxQjJsRVJFUkVSRVJFWFU0aGk3a05BRUJBUmcxYWhSRUlwSFYvMGFQSGcwL1B6OTNsMGxFUkVSRVJFVFVJUmk2a0ZOTm5qd1p3TVZaTHMxbnU5eCsrKzN1TEkySWlJaUlpSWlvUXpGMElhZnEzNzgvK3ZYclo3WjF0RWdrUXA4K2ZUQm8wQ0EzVmtaRVJFUkVSRVRVc1JpNmtGTkpwVkpNbVRMRjR2akVpUk1obFVyZFVCRVJFUkVSRVJHUmV6QjBJYWNiTjI0Y2ZIMTlUYjFjdkx5OE1IYnNXSGVYUlVSRVJFUkVSTlNoR0xxUTA0V0docHJ0VXRTM2IxOUVSRVM0c1NJaUlpSWlJaUtpanNmUWhaek95OHZMckg5TC8vNzlFUlFVNU1hS2lJaUlpSWlJaURvZW0yeVEwMG1sVWd3WU1BQyt2cjdRNi9YbzE2OGZKQktKdThzaUlpSWlJaUlpNmxBTVhjZ2xFaElTRUJJU0FxVlNpV3V1dWNiZDVSQVJFUkVSRVJGMU9JWXU1QkxoNGVIbzE2OGZGQW9Gb3FPajNWME9FUkVSRVJFUlVZZnIwcUZMNHJ6RDdpNkI3S251RHhqMEdQcjBFWGRYUXExSVhUSFMzU1VRRVJFUkVSRmRkcnAwNkVLZFhHQS9DSUlBa2J2cklDSWlJaUlpSW5JRGhpN2tPaEpQQmk1RVJFUkVSRVIweGVLVzBVUkVSRVJFUkVSRUxzRFFoWWlJaUlpSWlJaklCUmk2RUJFUkVSRVJFUkc1QUVNWElpSWlJaUlpSWlJWFlPaENSRVJFUkVSRVJPUUNERjJJaUlpSWlJaUlpRnlBb1FzUkVSRVJFUkVSa1Fzd2RDRWlJaUlpSWlJaWNnR0dMa1JFUkVSRVJFUkVMc0RRaFlpSWlJaUlpSWpJQlJpNkVCRVJFUkVSRVJHNUFFTVhJaUlpSWlJaUlpSVhZT2hDUkVSRVJFUkVST1FDREYySWlJaUlpSWlJaUZ5QW9Rc1JFUkVSRVJFUmtRc3dkQ0VpSWlJaUlpSWljZ0dHTGtSRVJFUkVSRVJFTHNEUWhZaUlpSWlJaUlqSUJSaTZFQkVSRVJFUkVSRzVBRU1YSWlJaUlpSWlJaUlYWU9oQ1JFUkVSRVJFUk9RQ0RGMklpSWlJaUlpSWlGeUFvUXNSRVJFUkVSRVJrUXN3ZENFaUlpSWlJaUlpY2dHR0xrUkVSRVJFUkVSRUxzRFFoWWlJaUlpSWlJaklCUmk2RUJFUkVSRVJFUkc1QUVNWElpSWlJaUlpSWlJWFlPaENSRVJFUkVSRVJPUUNERjJJaUlpSWlJaUlpRnlBb1FzUkVSRVJFUkVSa1Fzd2RDRWlJaUlpSWlJaWNnR0dMdFNsZWN2RStITGVRSXdmRXVUdVVvaUlpSWlJaUlqTU1IUnhvMkJmS2I2Y054QzNqK3pta3VzbnhQamc5MFZKbURZcXpIU3NSNmduTnJ3d0dIZU9EWWVrZzcvN1I1ZU93TnlKVVJiSFEveWxTRjB4RXZmZUVObm1hODY3TFFaSjhmN3c4cEE0bzBRaUlpSWlJaUlpcDVHNnU0RE83cUZKM2ZIRUxUMmNjcTJWTzRyeHdaYnpwdHMxQ2gzU0NoU1lkMXNNL2tpdlJYV0REZ0FRRVNqRHpqZXVzbnV0OFM4ZlIxV0QxcXpPOFVPQ01YOTFKa3BxTkFDQXZsRStDUFNSb3FSYWJScFhYSzNHcGtPVmVHWnFETzY1SVJJck5oZGlkMnFONmJ5L3R3UUhGZzkzeXZPOTVjMlRLS3hVdHpwT0toWUJBUFFHb1UzWG56UXNCUDhZRjRHZi9xckExcFFxQUk1L3Y3YWxWT1A1TlZrQWdOVlBEc1RWZmZ6YjlOZ3RIYytSWTg2S00yNTUvWWlJaUlpSWlLaHpZdWpTaXI4eTZxSFdGZGdkTSsvV0dHUVVOV0xiOFNxNzQwN215akVzM2c5cjVpVlluTnU3TUFrQW9OUVljUHZDVkFEQTBrMEZPSjR0TnhzM3FuK0FSYWpnNHluR3ZlTWprVjJxTkFVdUFKQVE0d3RCQUU0WEtFekhEQUx3MWQ1U2JEOWVoUmRuOUVKU2IzK3owRVdoMHVPZVpXY3M2b3NJa21IcDNENVl0REVmYWZuRzYvV084c2JycytQdzc2K3pVVkJ1R1E2VU5xdkZIc2tsaEM3RDR2M3c1ai9pY1N5N0FXK3V6ek1kUDVSWkQ5M213bGJ2bjFPcU5IMjlMYVVLYWMxZW8ySHhma2pzNVlmdi95aUhTbU93dU85dEk3dEJieER3MjlHTDMrK2lhaFVBOTd4K1JFUkVSRVJFMURreGRHbEZhcjRjcWZseW0rZURmS1Y0ZG1wUEpKK3F3Wm85cGExZXo4OUxncm52cDJQMnVBZ2t4ZnZqdVMrenpNNGJESURrd2txWlo2ZjJkS2pHV2RkR0lOQkhpbVdiek1PR3ErTDlrVmV1Z2x5bHQ3aFBlWjBXODFkbldodzNDTEQ2ZkdNVW5nQ0EzRktseGZuTVlpVXlpaG9kcXRXYXRvWXV3K0w5OE9IRC9aRmZvY0s4VmVlZzAxKzgzOGxjT1U3bTJ2NStXYlArUUxuWjdTZHU2WUhFWG43NFpGdVIyV3lpSnFQNkIwQ3RNMkRwSnNzd3poMnZIeEVSRVJFUkVYVk9ERjNhcVZlNEZ3QWdzOFN4TjgxeWxSNUhzeG93SVRFWWFxMkFvMWtORm1QaUk3d0JBQyt0elVaV3N4a1pBREIyUUNDZXZqM0c3RmhTYitQU21LK2ZzWnhCQXdDcEswWTZWTnZxWFNWWXZya1FNcWtJUjVlT3NEcG01ZU1ETEk3OThQeGdpMk5OeTUrZW5kb1RjeVpjN05YeTlHMHhlUHEyR0J6UGtlTkFlcTNackoxWDc0ckRxM2ZGbVYzbldIWUQvdlZldXVuMjJJR0JXUEZBUDJTVktQSHdSMmRSMzZqSHZlTWowU1BVRTB0L0xvQkcxN1lsU3E3Z3pOZVBpSWlJaUlpSXVpNkdMdTBVMnhTNkZDdGJHZGs2cVZnRVh5OEp3b004QUFESGN4dFFYRzIreENRdXdzdmlmai8rVllFaldmVm14NGIyOHNmRW9jRlk5M3U1YWVsTGEwN2xLY3h1TDkxVWdBUHBkUUNBeUNBWlBucWtQeGFzeTBWcW5uR21Sci91UGxoOFgyL01YNTJKdkhMalkxd1Y1NDlYNytwbHVzYk9FOVVvcURTZWUrbU9XT3cvWFlzRFordFFXYTlCclVLSEQ3YWNSMmlBQjJaZkY0SHR4NnVSV1h3eHZKbzVOdHhpOWt0UmxScC9uS25GUzE5bFE2a3hJTWhYaWtkdWlrWk9xYkpUQkM3Tk9lUDFJeUlpSWlJaW9xNkxvWXVENWt5SXRMdmM1N2RYaDlvODkvRzJJbnk4dGNqc21LK25jUTJSdjdjRVl3Y0c0dnJCd1JpWEVJUVZtd3NSN0djTVhiYTlacitaYnBNOXpYcXlOUG4wc1VEa2xDbXhhR01laEV2TUlzcHFOY2dxTVlaSmFxMnh0MGx4bGRwMHpFZG1mQTZGbFJlUFJRVEp6SzdSZkhuV0M5TmprWm92eHcvTmx2TWN6NUZqYUp3ZlpsOFhnVitQVkdKZldxM3AzTGpCUVRDMGFLbVNWNjdDMDU5ZlhCWTFmMm9NdkQzRmVHTjk3cVU5U1JkeXh1dEhSRVJFUkVSRVhSZERselphdnJrUURVckxIaW5XZUhtSThkdzB5NkRHMzF1Q2F4T0NFT0xuZ1gxdkpVRVFqTDFJMWlhWElqVlBqZzhmNlkrdEtWVll2YXZFN0g0aUdHZC96QndiRHEzZXNzRnJreDZobmhqVkx4QWlFWEJ5ZWV0TGl4NzlKTU0wSTZPNUpYUDZZTWtjODJPT0xvOXBDMzh2WS9pZ1VGdStydmI2dkZ5YkVJaS9YeE9HTC9lVUlMTllpUVd6NGpCOWRKak44UzBkeldyQTNQZlRXeDk0aVRycTlTTWlJaUlpSXFMT2lhRkxHMjA1VW9XeU9zZDJsZkgzbGxnTlhWUWFBN0pMbE5oWFZZTTlxVFU0bXRVQWxkWUFiNWtZN3ovVUQ0SUF2TDB4SDlWeTR4YlNyODJLdzR4bVlVSnFuaHoxamJhRG4zdHZpSVJjcFVkZG93N2xkUnFzKzczTTZyZzd4b1JqWk44QWxOZGFmejdObDhjNHFpM0xZeGJNaW9PSFZJVDhDMHRyS3V2TmU1Z0lCc0JnWTVwT1dJQUgzcGdkRHdENGNyY3huTnAxOHVKU3BwYW1qZ3hEajI2ZStQQzNpMXQybDlabzdBWTF5UXVIMmEyL1phK2NIdzlXWU1HNml6TnVYUDM2RVJFUkVSRVJVZWZHME1VTnRIb0JEMzEwMXVKNFZMQW52R1JpUFB6UldWUGdBZ0NmN3l6RzcyZHFJUllCZFkwNmkyMmttNHVMOE1MTWE4UHh5ZFlpcUhVR1BISnpOQTZlclVkZG84NXNYTGNBRHl5WUZZLzlhYlhJTERIdlI2UFJDVWljZC9pU25sdFdpUkliL2l5M2VUN0FXNG9ISjNWSGtLOFVPMDVVNDlXNzRuRGJpRzRBTExkSUZtRGNEYWdsbVZTRUZRLzJRN2NBNHpJczdZWGRpLzVJcjhNZk5rS09wSGgvUkFiTExHWVA2ZlNDeGN5bHBONytHQkxyaSsvMmwxbnRFMk50eTJnQU9IVmhHWlVyWHo4aUlpSWlJaUxxT2hpNnVFSC9hQis3UzBwK2VtbElxOWVZdWVTMDFXMkduNThXaXhxNURsL3RMWVZFTE1MY2lkM3gwaDJ4ZUhGdHRtbU1TQVFzdkRzZUloR3dlR08rMWVzN3V1T1JMVGUvZnNMVUJEallWNHFia2tJdTFCT0ZlcVVlSzdjWDRjK3pkWmkyS0JYcm54K00yREF2TEgrZ0wxNWZsNHVTQytHTHRVa3VNcWtJeXgvb2gwRXh2c2d0VTFsdExOd1dPMDVVWThlSmFyTmpMODZJeFpCWVg3enpVd0YwVmxJZmUxdEdOM0htNjBkRVJFUkVSRVJkRTBPWE50cjVobVBOYmUwcHFGRFo3U1V5ZjJwUGVIcUlzV2hEbnQxcnRIVFA5WkVZT3pBUVQ2dzhCNlhHMlBObHhlWkNMSmdWaC93S2xhbVo3OHN6ZTJITWdFQzg4bTBPemxlcHJWNy9ubVZuMnZLVUxGVFVHWmNLemJzMUJuUCtGZ21kWG9CWVpGeUNzMmhqSHRUYWkyRkc5eEJQcE9iTDBiZTdEMzU2S1JIdi9sS0E3LzhvaDBFUUlHcHgzVWR1anNhMUF3T3hjSDBlZWtWNElTNGlFczRXR1NSRFhhUE9hdURpS0dlOWZrUkVSRVJFUk5SMU1YUnBJMmMwMGxWcUREaWExV0R6Zm5VS0hYdzhKWGJIdERTeWJ3RG0vejBHR3c5V1lIK3pIWUIrUEZpQlVmMEM4ZWpOMFFnTGtNSExRNHhiUjRUaW82MUYySFNvMHVJNk04ZUc0NVU3bmROVFpQV3VFaGdFQWF0M2xlQ2J2YVhZK2NZd0ZGU3F6QUtYU2NOQzRDRVI0Zk9keFRpVzNZRC96T3dGbndzN08ra05BcnhrWXJOcjdqMVZDN2xLai9VSHl2SDhkTnU3U2JWSFFveXZhVGVodG5MMjY3ZDhjNkZUcmtWRVJFUkVSRVFkajZGTEd6bWprVzdUdVFPTGg5dTl2NjBsS3VQK25ZSmF4Y1VlTGNONysyUFovWDF4TWxlTy8vNWdPVHZtUDE5bnc5ZExqRHZHR0J2R3J2dTlISjlzSzdJWUJ3QzdUMVlqNDd6bHNxWG1wbzhPdzlScndqQm51ZjNaSEdWMUdwVFphTklMQUdJUjhPQ04wYWlvMStLUE0zWFE2Z1c4c09iaU1paWx4b0N3QU9NV3lzOU83UW1SQ1BqZnp3V21MYWhkWVhUL1FFUUd5MncySDI2TnMxOC9JaUlpSWlJaTZyb1l1cmhKbzFwdmM0bFJhOHVMNU0xbTJreElETWFTT1gyUVU2YkV2Rlhub05PYkw0a1JpNER4aWNHSURmT0dJQmliMDk0eE5neDFqVnA4dnJNRUtxMzUxdFBWY2gycTVSZERqV3NUQXZIVXJURlkva3NoL2p4cmJGSTdOaUVRQUV6aHgzc1A5a04xZ3hacmtrdVFXMlo5OXlCckhyNDVHajNEUFBIV2hqeFRNOXptYWhVNkRPN3BDd0FZR3VkbjhkeWNMU0pRaHRkbng2RmFyc09HZzVmV3pMWWpYejhpSWlJaUlpTHEzQmk2dUluZUFKdkxoOXF5dktoT29jUGh6SG84OTBVV0ZPcUxZVXhVc0F4VHJnN0ZIV1BDRVIzaWlXUFpEWGhoYlJiMGVnSFBUNC9Gd3pkRlk4Ym9jS3hOTHNYUGh5ck1aczRBeHQxK0hyazVHcVA2QitEUXVYcXpvRWNFUUlBeEFKRktSRGlTVlk5L1RZakN0RkZoMkgrbUZwL3ZMTWFKWFB1elVVYjNEOFJEazZKeElsZU9IdzVZRHppS3F0UUk5ZmRBenpCUERPemhlOG16VHdBZzJNL0Q1dmJUZ0hHMjBPSTV2UkhnTGNWVG41Mnp1eVczSTF6OStoRVJFUkVSRVZIbng5Q2xqZHJiU0hmY29DQjg4RkEvaDhhMnRnUE9FeXZQWVg5YUxZNWxad0FBUXZ5bG1ENHFIRGNNRHNLUVdEL29EQUwycE5iZ3hiWFpPTm5zVGZ6Yzk5UHh0OFJnUEQ2bEIrWlBqY0dUdC9iQTRYUDFXTFd6R0JLeENFL2QyZ09KdmZ4d1BFZU91ZStubTRVLzNqSXhodmNPUU4yRmtFYW5GL0JWY2ltKy83ME1kNHdKeDRPVHVtUHQwd2s0bHQyQVY3L05RWTFjQjUxZVFIaVFCNlFTRVF3RzRPbysvbGp4WUY5VXk3VjQ3c3NzNk0wbjI1Z2N6S2pEWTVPajhmMXpnK0hwSVRMTkZHbU5wNGNJN3ovWUh3cTFIZ3FWSG1HQkhoZ1M2NHR6eFpiTGZzSUNQRER2dGhqY05xSWJ6bGVwTVhkVk90SUtGQTQ5ampVait3WTQ5ZlVyckxUZTZKaUlpSWlJaUlnNlA0WXViZFRlUnJvbmMrVjJkeTVxaTh4aTgyYXY5WTE2REkzemcwWW40SzBOZWRoK3ZOcGlCa3VUM2FrMTJKMWFneEY5L1hIWHRSSHc4WlRnVkw0Y2czdjZRU1FTNGJGUE12Qkh1akhrOEphSmNYREoxUkEzMjByb3ErUlNzK3RwZEFLKzNWK0duLzZxd04wWGRsRXFxZEhnM2hzaThjenRNYVp4R1VXTktLdlY0RXloQXE5OW0ydTM1OHZKWERtKzNsZUtHYVBEOGR1eEtoek1jQ3gwVVdzRjlJN3lSbGlBQndEQUlBQjU1U29zMm1DNVBYYWoyb0NvWUU5OHZxc1luKzBvTnUzNmRLbDBlc0dwcng4UkVSRVJFUkYxWFNKQnNMUG1vcE5MbkhlNHd4NXJ6b1JJUER1MUoyNTg5VVNiR3VrZVdEd2NIMjhyTW0zWDNGWGRjblVvZkMvc0tsUlFxY0pmR2ZVTzNTODJ6QXZqQmdkQkloSWhxNlRSRkVSMEJKR29hU2tQNE82ZjhrdDkvVHBLYTdPcWlJaUlpSWd1UjZtcHFmanV1Ky9NamxWWFZ5TTFOUlVHZ3dGWFhYVVZRa0pDek03UG5Ea1RTVWxKSFZrbWRXRU1YWWlJb1FzUkVSRVJYWkdxcTZ0eHl5MjNRS054N0lOMW1VeUdMVnUyV0FReFJMYUkzVjBBRVJFUkVSRVJrVHVFaElUZ3V1dXVBd0FJZ21EM1B3QVlOV29VQXhkcUU0WXVSRVJFUkVSRWRNV2FNV09HdzJOdnUrMDJGMVpDbHlPR0xrUkVSRVJFUkhURmlvK1BSMGhJQ0VRaTQ4NFhJcEhJN0wrbVl4RVJFZWpidDY4N1M2VXVpS0VMRVJFUkVSRVJYYkY4ZlgyUm1Kalk2cmlCQXdjaUlDQ2dBeXFpeXdsREZ5SWlJaUlpSXJwaStmajRZT2pRb1pCS3BRQ0E1bnZOTkgwdGtVZ3dkT2hRaGk3VVpneGRpSWlJaUlpSTZJbzJhTkFnQkFVRjJUenY0K09EUVlNR21aWWJFVG1Lb1FzUkVSRVJFUkZkMFFZT0hJakl5RWpUN2VZN0ZvbEVJb1NGaFdIZ3dJSHVLbys2TUlZdVJFUkVSRVJFZEVYejhmSEI2TkdqYmM1a0dUTm1ESHg4ZkRxNEtyb2NNSFFoSWlJaUlpS2lLOTd0dDk5dTZ1dlNSQ1FTUVNLUllPYk1tVzZxaXJvNmhpNUVSRVJFUkVSMHhldmV2VHNHREJoZ01kdGwwS0JCNk5Hamg1dXFvcTZPb1FzUkVSRVJFUkVSZ0lrVEoxb2N1L2JhYTkxUUNWMHVHTG9RRVJFUkVSRVJBWmcwYVJMOC9Qd2dFb2tnRW9uZzUrZUg4ZVBIdTdzczZzSVl1aEFSRVJFUkVSSEIyRkEzSVNIQmREc2hJY0h1VnRKRXJXSG9Ra1JFUkVSRVJBVEF6ODhQUTRZTU1mVjFHVEprQ0VNWGFoZHA2ME9JaUlpSWlJaUlMbjhpa1FpREJnMUNRRUFBdEZvdEJnMGFCTEdZY3hYbzBqRjBJU0lpSWlJaUlyb2dNVEVSNGVIaGFHeHNSR0ppb3J2TG9TNk9vUXNSRVJFUkVSSFJCY0hCd1JneFlnU1VTaVdDZzRQZFhRNTFjUXhkaUlpSWlJaUlpQzdRNkFTVVN2cEQ1eU9CUmlkQUpoVzV1eVRxd3JnNGpZaUlpSWlJaUs1NGVvT0E0emtOZU9xekRPek1EY1dlM0VBODlWa0dqbVRXUTI4UTNGMGVkVkdjNlVKRVJFUkVSRVJYdFBwR1BiNy9vd3cvSHF4QVViVWFnQVFRQTMrZXJVZHVtUnEzand6RnZUZEVJY0JINHU1U3FZdGg2RUpFUkVSRVJFUlhyR3E1RnZOWFp5SWxXMjcxZkVtTkdwOXVMOGFSckhvc3ZyYzNJb005TzdoQzZzcTR2SWlJaUlpSWlJaXVPTFVLSFg0NlZJRlo3NlRaREZ5YVM4bVc0NTUzMC9IRGdYTFVLblFkVUNGZERqalRoWWlJaUlpSWlLNG81NnZVK09DM0lpU25Wa09wTVRoOHYvSTZEZDcrTVIvSGN1UjRhRklVNGlPOFhWZ2xYUTRZdWhBUkVSRVJFZEVWWSsvcFdpejRMZ2MxQ2gyRVMraVBxOUVKMkhxc0VnZlAxdUxsTytOdzQxQnVLMDIyTVhRaElpSWlJaUtpeTE1cHJRYmY3aXZEOTMrVXRXbDJpeldDQU5USWRYaHBiVFpPall2QVhkZUdJenFVdlY3SUVrTVhJaUlpSWlJaXVtenA5QUoycFZiajYrUXluQzZRdzVtN1AydDBCcXhOTHNHUnJIcmNQUzRDTnllRlFpb1JPZThCcU10ajZFSkVSRVJFUkVTWEpiVld3SXBmQy9IandRbzBxdlV1ZVF5REFLUVZLUERHOTNrNGM3NFJqMCtPaHE4WHQ1WW1JNFl1UkVSRVJFUkVkRm5SNkF6SUtGSmkrUzhGT0pMVjBDR1BxZElhOFBYZVVwd3BVT0RwMjJLUTBOTUhNaWszREw3UzhTZUFpSWlJaUlpSUxodEtqUUZyOTVSaS91ck1EZ3RjbWt2SmFjRDhMekt4ZGs4cDZwWGNXdnBLeDVrdVJFUkVSRVJFZEZrb3JGVGo5WFc1T0pIYkFJM09pYzFiMnFpeVhvdFB0aGZoejR4NkxKZ2RoNTdkMkdUM1NzV1pMa1JFUkVSRVJOU2xLVlI2ckQ5UWdYdmZUY1BoekhxM0JpNU5ORG9CUjdQcU1mdWQwMWgvb0FMMWpaejFjaVhpVEJjaUlpSWlJaUxxc2pLS0dyRTJ1UlM3VTZ2UnFHN2ZWdEN1MEtEU1k5bW1mQnpMcnNjL0owUmhZQThmZDVkRUhZaWhDeEVSRVJFUkVYVTVCZ0hZbGxLRkQzNDdqNklxTlFUM1QyNnhxVkZ0d0xhVUtoelBhY0RUdDhWZzBsVWgzRnI2Q3NIUWhZaUlpT09VYnNjQUFDQUFTVVJCVklpSWlMb01RUUFxRzdUNGJuOFoxaVNYUU5zSmxoSTVRaENBMGhvTlh2azJCMmtGQ3R3M1BoTGhnVEtJbUwxYzFrU0MwSm56UU9xcXpwdzVnNWRmZmhscXRSb0xGaXpBaUJFajNGMFNFUkZkcGhMbkhYWjNDVVNYdmVtandyQmdkcHk3eXlDQ3ppQmdmMW90MXU0cFFVcU8zTjNsdEV0aUx6L01uUmlGYXdjR2NtdnB5eGhudXBCTDZQVjZ5T1Z5cU5WcTZIUnNHRVZFUkVSRVJPMmoxZ3I0Mzg4RjJIeWtvbFAyYm1tcjFEdzUvdjFWTm01T0NzV0wwMlBoSldQd2NqbGk2RUpFUkVSRVJFU2RsdDRBcE9ZMVlNbVBCVWdyVkxpN0hLZHFWQnZ3NDhFS25NcVQ0K1U3ZTJGd3JCODgyT3Zsc3NJb2pZaUlpSWlJaURxbFdvVU9YeVdYNE1XMTJaZGQ0TkpjWm9rU0w2N054cGU3UzFBdDE3cTdISElpem5RaElpSWlJaUtpVGlldFFJR2xQeGZnVklFQ2FtM1hYMDdVbXBJYURUN2RYb3g5cDJ2eDBoMnhHTlRUMTkwbGtSTndwZ3NSRVJFUkVSRjFHa3FOQWNtbmEvRFVxbk00bXQxd1JRUXVUVFE2QTFMejVYaHExVGxzTzE2TlJyWGUzU1ZSTzNHbUN4RVJFUkVSRWJtZElBQm5DaFg0ZG44WnRxWlVRYWUvY2pmYXJhalQ0cVcxV1poMFZTanVHeCtKZ1RFK0VITnY2UzZKb1FzUkVSRVJFUkc1M1k0VDFYanYxL01vcWxMQmNPWG1MU1o2QTdEdGVCVk9GeWp3OEUzZGNmdklidTR1aVM0QlF4Y2lJaUlpSWlKeUMwRVFVRm12dzhmYnptUERueFh1THFmVEVRU2dzRktGbDcvSndhSE1lang5YXd5NkJYaUFrMTY2RG9ZdVJFUkVSRVJFMU9GMGVnSDcwMnJ4eGU0U25NcVh1N3VjVHUvWEk1VW9LRmZoM3ZHUm1EQWtHRkp1TGQwbE1IUWhJaUlpSWlLaURsVXQxMkxsOW1Kc1M2bEN0VnpuN25LNkJFRUFUdWJKVWZCRFBnNmVyY09UdC9aQWlKK0h1OHVpVm5EM0lpSWlJaUtpQzliTVM4Q2FlUWxPdjI1aXJCOVNWNHpFTFZlSE92M2FSRjJKUVJCd3ZrcU5wMWRsNHR2OVpReGNMa0dOWEl1TkJ5dnc5S3BNNUpheC8wMW54OUNGaUlpSXFBTUUrMHJ4NWJ5QkxtdUVtQkRqZzk4WEpXSGFxRERUc1I2aG50and3bURjT1RZY0V2N1Y1eEt4WVY1WU15OEJ2U085blg3dFFUMTk4ZlV6Q2VnWjVtbHp6UFdEZ3ZEbHZJRVkyTVBINlk5UDVHeGx0UnA4c2FzVTl5MC9neE81WEU3VVhpZHk1ZmpYZStuNGRIc1J5bW8xN2k2SGJPRHlJaUlpSXFJTEhwclVIVS9jMHNNcDExcTVveGdmYkRsdnVsMmowQ0d0UUlGNXQ4WGdqL1JhVkRjWVA5Mk5DSlJoNXh0WDJiM1crSmVQbzZwQmExYm4rQ0hCbUw4NkV5VTF4aiswKzBiNUlOQkhpcEpxdFdsY2NiVWFtdzVWNHBtcE1iam5oa2lzMkZ5STNhazFwdlArM2hJY1dEemNLYy8zbGpkUG9yQlNqZFZQRHNUVmZmemJkYTNqT1hMTVdYSEdKZlU1bTdkTWpENVIzdmo4eVlHWSsxNDZjc3FVU0Y0NERLSCsxcWY4TDdxM054YmQyOXZpK0x4Vm1VZytWV04yVEtIU0l6clVFMnZuRGNJREg2WWpxMFJwZGo0c3dBTnYzQjBQblY1QXJZS3pCYWh6eXlsVDR1Mk5CVGlXM1FDTnp1RHVjaTRiMVhJdFZ1MG94b2tjT1o2WkdvTUIwUXhnT3h1R0xrUkVSRVFYL0pWUkQ3V3V3TzZZZWJmR0lLT29FZHVPVjlrZGR6SlhqbUh4ZmxhWHF1eGRtQVFBVUdvTXVIMWhLZ0JnNmFZQ0hNODIvK1IzVlA4QWl4REl4MU9NZThkSElydFVhUXBjQUNBaHhoZUNBSnd1VUppT0dRVGdxNzJsMkg2OENpL082SVdrM3Y1bW9ZdENwY2M5eTg1WTFCY1JKTVBTdVgyd2FHTSswdktOMStzZDVZM1haOGZoMzE5bm82RGNNcndvdlZETHRwUXFwRFdyWVZpOEh4SjcrZUg3UDhxaDBsaSswYnB0WkRmb0RRSitPM3J4OVN5cVZybXNQZ0RZLzFZU2duenQveG1jdW1LazFlTWFuWUNybnoxaXVuMjJxQkZQcmp5SHo1NFlnTStlR0lCNzMwM0RaenVLOGVLTVdMdlhiK2xZZHIzRnNieHlGUjc4OEN3K2YzSWducDhXaTRjK09tczZKeElCYjkzYkd6S3BDQTk5ZU5ic1o0R29NOUhxQkd3L1VZM1gxK1ZBcmVVNkdGZlE2Z1VjektoRHlyc05lR2xHTEc0YjBRMGVVamJaN1N3WXVoQVJFUkZka0pvdlI2cWRIVFNDZktWNGRtcFBKSitxd1pvOXBhMWV6ODlMZ3JudnAyUDJ1QWdreGZ2anVTK3p6TTRiRElCRVl2ejYyYWs5SGFweDFyVVJDUFNSWXRtbVFyUGpWOFg3STY5Y0JibEtiM0dmOGpvdDVxL090RGh1RUdEMStjWW9qTXRaY2t1VkZ1Y3ppNVhJS0dxMFdkLzZBK1ZtdDUrNHBRY1NlL25oazIxRlpyTjFtb3pxSHdDMXpvQ2xteXpETGxmVTErUmdScDFaME5Qa2dVbmRBUUNyZGhSYm5QdmIwQkNNR1JCb2NUd2xwd0d2cjh2RmlENEJLSy9UNHVkREZVZy9yekFiMHp2U0c2L2VGWWRQdHhmaHo3TjFadWNhMVFiVU4xNzh2aTJaMHdjM0o0V1lqUm5WUDhCbUVQVEQ4NE5OWCs4OFdZMW5WMmRaSFVmVTBYSktWVmlUWElLdEtWVU1YRHFBV212QWZ6Zms0MlNlSFA4WUY0SCtuUFhTS1RCMElTSWlJbkpRcjNBdkFFQm1TZXR2NmdGQXJ0TGphRllESmlRR1E2MFZjRFNyd1dKTWZJU3hGOGhMYTdPUlZXcStmR1RzZ0VBOGZYdU0yYkdrM3NhbE8xOC9ZNzNacTYwMzVpMnQzbFdDNVpzTElaT0tjSFRwQ0t0alZqNCt3T0pZOHpmNFRWb3VmM0ltVjlXWFhhckVwc09WRm1Pbmp3NEhBS3ZuWXNLOHJJWXVBUERMNFVyOGN1RStPcjJBNHpubVlaRCtRcWFTVjY2eU9HZE5XWjBHSC94NjN1SzR2VkRvOFNuT1dScEgxRjVhdllEZmpsYmlxNzFseUNwcFpLUFhEcVRWR2JEcFVBVk81UnVEbDZuWGhNR0RXMHU3RlVNWElpSWlJZ2ZGTm9VdXhjcFdSclpPS2hiQjEwdUM4Q0JqNzQvanVRMG9yalpmSWhJWDRXVnh2eC8vcXNDUkxQT2xLRU43K1dQaTBHQ3MrNzNjdERTbk5hZnl6R2RpTE4xVWdBUHB4aGtZa1VFeWZQUklmeXhZbDR2VVBHTkEwSys3RHhiZjF4dnpWMmNpcjl6NEdGZkYrZVBWdTNvNTlIanQxZG5yYzdhR1JuMmJRNkY3Ym9oMGVWMUVyYWxWNkxCMFV3RzJIS21Dam1tTFd4Z0VJS3RFaWYvK1lKejFNdS9XR0hRTDROYlM3c0xRaFlpSWlLaUZPUk1pN1M3MytlM1ZvVGJQZmJ5dENCOXZMVEk3NXV0cFhFUGs3eTNCMklHQnVINXdNTVlsQkdIRjVrSUUreG4vRU43Mm12MW11azMycE5aWUhQdjBzVURrbENteGFHTWVoRXQ4ajFOV3F6RTFhbFZyamIxWGlxdlVwbU0rTXVOektLeThlQ3dpU0hacEQzYVoxUGZtM2ZHWTJtdzNxamtyenVENlFjR1lPekhLNW4xc05kTGRuMWFMSjFhZU05M3VFK1Z0ZDlhU3JYTUZsWTZGYmtUT3B0UVljT2hjUFQ3YlVZeFRkcFpwVXNmUkd3UnNPbFNKYzhWS1BEU3BPOFlNQ0lTM2pGdlpkVFNHTGtSRVJFUTJMTjljaUFhbFpZOFVhN3c4eEhodW1tVlE0Kzh0d2JVSlFRang4OEMrdDVJZ0NNWW11MnVUUzVHYUo4ZUhqL1RIMXBRcXJONVZZblkvRVlDWlk4TXhjMnc0dEhyYk8zMzBDUFhFcUg2QkVJbUFrOHRiWDFyMDZDY1pwaGtqelMyWjB3ZEw1cGdmYzNUNVRrZHdkbjMzWEIrSmU2NjNQVFBFWGlQZEpyOGVxY1NaQWdWNmhubmg3dXNqQUFEZi8xR0dmV2sxVmhzbzIvTG9KeGtvYVRITHFiUkdnM2Qrc3V4ejA5Ull1Zm5PV0UzbS96M0c0aGhSUjVDcjlQaDRheEYrUFZLSkd1NmsxZW1rRnlydzJuZTVtRHF5R3g2NE1jb1U5bFBIWU9oQ1JFUkVaTU9XSTFVb3EzTnNWeGgvYjRuVjBFV2xNU0M3UklsOVZUWFlrMXFEbzFrTlVHa044SmFKOGY1RC9TQUl3TnNiODFFdE43NVJlVzFXSEdhTURqUGRQelZQYnRaa3RhVjdiNGlFWEtWSFhhTU81WFVhclB1OXpPcTRPOGFFWTJUZkFKVFhXbjgrelpmdk9Lcmw4cDBGcytJd3ZWbnR6U1V2SEdiM1dpMURqaDhQVm1EQnVseW4xdGZjL3JSYWJEcGt1VVRIWHFoeDgvQVFYRDhvMkhUNzBMbDZIRHBYajZ2NytKdENsNUlhRFVwcU5NZ29hb1JXTDJDWmxRYkJUYVlNNzRZN3hvUWhKYnNCeWhZN084bFZldXc4V1cxeG42WWxSTmJPUFhSVGQ1dVBSZVFxdWVWS3pGK1ZpZXd5enJMcXpPb2JkZmhxYnlsK1AxT0xkKy92aTk2UjN1NHU2WXJCMElXSWlJakloYlI2d1d5cjN5WlJ3Wjd3a29ueDhFZG5UWUVMQUh5K3N4aS9uNm1GV0FUVU5lb3N0cEZ1TGk3Q0N6T3ZEY2NuVzR1ZzFobnd5TTNST0hpMkhuV041cDgwZHd2d3dJSlo4ZGlmVm92TUV2TitOQnFkZ01SNWh5L3B1V1dWS0xIaHo0dTdGZjE1dHM1aVpsQlNiMzhNaWZYRmQvdkx6R2FKTkxHMlpUUUEwL0lFWjliWFhFR2xxczJoUnY4ZVByaCtrT09QWDZmUVdXMmUzQ1N4bDUvakZ5UHFaT3FWZXZ4OHFCS3J0aGVodHBHelc3cUt2SElWN24zM0RCNlozQU8zWFIyS1lEOUdBcTdHVjVpSWlJakloZnBIKzloZDh2TFRTME5hdmNiTUphZXRib1A4L0xSWTFNaU5uMTVLeENMTW5kZ2RMOTBSaXhmWFpwdkdpRVRBd3J2aklSSUJpemZtVzcyK296c2UyWEx6NnlkUVhLM0JqaFBWMkhIQ1BLeDRjVVlzaHNUNjRwMmZDcXcyMWJTM1piU3o2K3RLMk5PRk9yT1RlWEo4dExVSXgzTWFvTkxZWHY1SW5aTmNwY2NIV3dxeC8zUU5IcHZjQTBtOUdRQzdFa01YSWlJaUlodDJ2dUZZYzF0N0NpcFVtUHQrdXMzejg2ZjJoS2VIR0lzMjVObTlSa3YzWEIrSnNRTUQ4Y1RLYzZhbEtTczJGMkxCckRqa1Y2aE16WHhmbnRrTFl3WUU0cFZ2YzNDK1NtMzErdmNzTzlPV3AyU2hvczcyZHRHUlFUTFVOZXJhdFl1SksrdHpwYkVEQXk4NU1PS1cwZFFaNlEwQ2ZqeFlnWGQvS1lSYzVWaS9LK3FjVkJvRERtZldJelh2TEo2YjFoUFRSb2RCS3ViVzBxN0EwSVdJaUlqSUJtYzAwbFZxREhhWG1OUXBkUER4bE5nZDA5TEl2Z0dZLy9jWWJEeFlnZjFwdGFialB4NnN3S2grZ1hqMDVtaUVCY2pnNVNIR3JTTkM4ZEhXSXF2OVMyYU9EY2NyZHpwblMrWFZ1MHF3ZkhPaHhmR0VHRi9UYmtKdDVjcjZuTkZJdHpXcGVYSXMrZEgyREo1YlIzVERyT3ZDTFk0L3Z5Ykw1bjNzYlJsdDdSaVJNeGdNQW5MS2xQaDJmemwrUGxRQm5aNWJRVjh1VkZvREZtMDBiaTE5M3cyUjZCUGxEVEhERjZkaTZFSkVSRVJrZ3pNYTZUYWRPN0I0dU4zNzIzcVRQKzdmS2FodHRodkk4TjcrV0haL1g1ek1sZU8vUDFqT2p2blAxOW53OVJMampqSEdocmJyZmkvSEo5dUtMTVlCd082VDFjZzRiN2xzcWJucG84TXc5Wm93ekZsdWY3YUp0ZGRwZFA5QVJBYkxiRGIzYlkwcjZ6dVlVV2ZSUndhd1A1UGtiME5ETUdaQW9OM0hHZEhYSDkxRFBBRVllN1o4UGQveFhZenNOU0p1cWJVWk5DMGJFUk5kS3AxZXdPYWpsZmhtYnluT0ZWOWFnRXFkbTA0djRKZkRsVWdyVU9DK0NaR1lrdFFObmg0TVhweUZvUXNSRVJHUml6V3E5VGFYR0xXMnZFamViS2JOaE1SZ0xKblRCemxsU3N4YmRjN2kwMmF4Q0JpZkdJellNRzhJQWlBQXVHTnNHT29hdGZoOFp3bFVXdlBlQzlWeUhhcmxGeHYxWHBzUWlLZHVqY0h5WHdyeDUxbmpUa0ZqRTR3aFErcUZ4cmJ2UGRnUDFRMWFyRWt1UWE2ZDNVb2lBbVY0ZlhZY3F1VTZiRGhvdlpsdGExeFYzN2gvcDloOHpQYk1KSmsyS2d5M2p1aUdUeTRzN1dyclRKZk5SeXFSVnFpdyt4ai9uQkFGQVBoeVQ0bmRjVG1sZkhOTTdhZlNHUERmRFhuNDdWZ1Z0RzJZNVVWZFUzYXBFZ3ZYNStGUVJqMFd6STZIRjRNWHAyRG9Ra1JFUk9SaWVnTnNMaDlxeS9LaU9vVU9oelByOGR3WFdWQ29MNFl4VWNFeVRMazZGSGVNQ1VkMGlDZU9aVGZnaGJWWjBPc0ZQRDg5RmcvZkZJMFpvOE94TnJrVVB4K3FNSnM1QXdCSjhmNTQ1T1pvak9vZmdFUG42czJDSGhFQUFjWTNXMUtKQ0VleTZ2R3ZDVkdZTmlvTSs4L1U0dk9keFRpUmE3N0QwdkRlL2xnOHB6Y0N2S1Y0NnJOemRyZThkb1N6NjNNMlB5OEpBT0R2MTRSaHk3RXFyTjVkZ2h1dkNrR0RVbThLZzZ3WmZXSFdqRUV3MW44c3V3SEhzdTMvSE54NmRUY0F3QThITGkzSUluS0VWaWZnOS9SYWZMamx2TVdPWjNSNTArb0UvSGFzQ21rRkNqd3pOUVpqK2dmQ1N5WjJkMWxkR2tNWElpSWlJaHZhMjBoMzNLQWdmUEJRUDRmR3RyWmM1SW1WNTdBL3JSYkhzak1BQUNIK1Vrd2ZGWTRiQmdkaFNLd2ZkQVlCZTFKcjhPTGFiSnhzRmpMTWZUOGRmMHNNeHVOVGVtRCsxQmc4ZVdzUEhENVhqMVU3aXlFUmkvRFVyVDJRMk1zUHgzUGttUHQrdWxuNDR5MFRZM2p2QU5SZENHbDBlZ0ZmSlpmaSs5L0xjTWVZY0R3NHFUdldQcDJBWTlrTmVQWGJIS2cwQnN5N0xRYTNqZWlHODFWcXpGMlZqclFDK3pNMzdCblpOOENwOVJWV1dtOGszRjUvU3d3QkFLeE5Mc1gvZnJZOXM2Vm5tQ2ZHSlFSRHFkRkRKQkxoNzZPNm9hSmVDN1dXTXdpbzg2aXMxK0xMUFNYWWNyUUtWUTN1YVVKTjdwZGZvY0tiMytmaHBtRWhtRHN4Q3VHQk1uZVgxR1V4ZENFaUlpS3lvYjJOZEUvbXl1M3VYTlFXbVMxNktkUTM2akUwemc4YW5ZQzNOdVJoKy9GcWl4a3NUWGFuMW1CM2FnMUc5UFhIWGRkR3dNZFRnbFA1Y2d6dTZRZVJTSVRIUHNuQUgrbkc1VHJlTWpFT0xya2F6ZnNvZnBWY2FuWTlqVTdBdC92TDhOTmZGYmo3d2k1S0pUVWFlRXJGaUFyMnhPZTdpdkhaam1MVHJrcVhTcWNYbkZxZnEyUVVOZUxUN1VYNDhEZnJ2WE9hU01WaVBELzk0czlJV2EwR2IxbnB5MFBrTGlrNURYajl1enprVnlqUmpnM0g2REpSMWFERnV0L0xzZmQwTGQ2Nk54NUo4Zjd1THFsTEVnbUN3RjhuY3JwVHAwN2gyV2VmaFZxdHh1TEZpekY2OUdoM2wwUkVSSmVweEhtSG5YN05PUk1pOGV6VW5yangxUk50YXFSN1lQRndmTHl0eUxSZGMxZDF5OVdoOFBVMExwa3BxRlRocjR4Nk4xZGtyclBYWjQ5RURBZ0N1dHdiMnVtandyQmdkcHk3eXlBWHFaSHJzRHUxR3U5dk9ZOGF1Zlh3bHE1c3dYNVNQRFNwTzI1T0NrV292NGU3eStsU09OT0ZpSWlJcUlVMWUwcXhaazlwNndPYmFWRHFYUklBdWNNV0s3djZkQ2FkdlQ1NzlPMmIvRVBrVklJQW5NeVRZMjF5S1pKUDFVRGYxZEpBNmpBMWNoMys5M01oRHAxcndOeUpVVWpzNVFmdUxPMFloaTVFUkVSRVJFUlhvSi8rcXNDeVh3cFIzOGpaTGRRNnZVSEEzdE0xU01scHdHT1RvL0dQY1JIdUxxbExZT2hDUkVSRVJFUjBoVEFJQW5KS1ZWaTVvd2piVXFyZFhRNTFRZldOT2l6ZW1JOGptZlY0ZkVvUHhFVjRRY0pwTHpZeGRDRWlJaUlpSXJvQ2FQVUNmajFTaWEvM2xTRzdsRnRCVS92c09WV0Rna28xN2hvYmptbWp3K0FoWWZCaURUZmNKaUlpSW5Lak5mTVM4UFg4QkhlWFlkV1FXRitzKzc5QlNJanhkWGNwQkNBODBBTjdGeVloZGNWSWpCc1U1TzV5cUl1cHJOZmlQMS9sWVBIR2ZHUVdOOExBL2kzVVRvSUFaQlkzWXVtbVF2emY2aXhVMW5PTGNXc1l1aEFSRVJFNWliKzNCS2tyUnVMUnlkRXVmWnpFV0Qra3JoaUpVZjBDWFBvNEZmVmF4RVY0NCtVN2UwRjBCWDJBS1pXSWtMcGlKRjZjRVFzQWVPWE9Ydmp2UGZFSUQyemJqaDFIbDQ3QUszZjJjbHBOeStiMlJaQ2ZGRXFOQVkvZUhBMlo5QXI2cHRBbDArZ01TTTJUNC9HVkdkaDJ2S3JkVzdrVHRhVFU2SkY4dWdhUHI4ekFrY3g2YUhRTTlKcmo4aUlpSWlLaUMzcUZlK0dYL3lRNk5QWk1vUUt6L3BmVzZyamtoY01jMmw0emRjVkltK2MwT2dGWFAzdWsxV3NjWFRxaTFUZmlxZmx5M0xQc1RLdlhBb0RTR2cyKzJsdUtLY05EMFNQVUU0V1Y2bGJ2cy9ySmdiaTZqNzlEMTdmbGVJNGNjMWFjTVczRDdReTN2SG5Tb2ZvQlFLY1hvTk1Ma0Y2WUtyOXllekZldWFzWE5yODhGSi92TE1iS0hjVk9xZW5OdStOUlZLWEd5dTFGZHJlUWxvaUIvOTRUajhSZWZsaSt1UkRaSlVxc2VMQWZYcmtyRHE5OGsrT1VXdWp5VkZDcHhuZjdTdkhyMFNyVXNWa3V1Vmg2WVNPZVdaMkZtNGVGNEw0SlVlalp6ZFBkSlhVS0RGMklpSWlJTHFocTBPTE45WG1tMjRtOS9EQjFaRGQ4c2JzRTU2dk0zN0JYTjJneGRXUTN2SGwzUEc1Ky9RU0txelZXci9uRzk3bnc5TEE5dWZpeHlUMGdGb253d1crRk5zY1kydkRCOUhlL2wySG5DZXZOTWUrZjJCMytQaExUN2Vtanc3QmdWcHhEMTkzeXlsQzc1MS82S2h0YmpsWmhXMG9WMGdvVXB1UEQ0djJRMk1zUDMvOVJEcFdWVDlodkc5a05lb09BMzVwdEExMVVyUUlBS0ZSNnF3RlJSSkFNUytmMndhS04rVWpMTno1Vzd5aHZ2RDQ3RHYvK09oc0Y1WmJoU21tTjllK1BMWTFxZzZrL1FWbWRCaytzUElmSlNhSHdzQkpxelprUWlXZW45clI2blpsand6RnpiTGpac1ZlK3lVR1BibDZZT3JJYmZ2cXJ3bTdnSWhXTHNPU2ZmVEJ4YURCK09WeUoxYnRLQUFEdi9KU1BGNmJIUXFNMVlPRVBlUkM2eUFmTGFXbHBrTWxrNk51M3I3dEx1ZXhsRkRmaWxXOXlrVm5jMkNXMmduN2x6bDRXdnl1dFNUNVZnM21yTXMyUE9SaDAyMVBWb01YNGw0OER1RHlDNUk1VTM2akRoai9Ma1pxdndNc3pZNUhZeTgvZEpia2RReGNpSWlLaUN4cVVldnh3b054ME95bmVIeFgxV3F6WVhHajFqZkhVa2QxYXZXYnlxVnE3NTJkZkZ3bUpCRTdiUmFTd1FvMmpXUTFXejAyOVJtc1d1cHpLazJQcHBnS0hyNTBRNDR2SlNhSDRmR2NKYWh2TjErNmZLVFNHSCt1YnZYNEE4TVF0UFpEWXl3K2ZiQ3RDVllQbGV2OVIvUU9nMWhtczFtRVFqRE56V29wUkdEODl6UzFWV3B6UExGWWlvNmpSYXYxTklabWpwbzBLdzdSUllSYkhGOTRkajlXN1NyQjhzekVvMjN1cUZzVlZscUhPMjNONjQwaFdQVFljcURBN1BuWmdJS2FQRHNQdTFCcTh2aTdYNXVNSCswcng5ai83WUZTL0FPdzhXWTNYdnJzNHErV2JmV1dJQ0pMaG54T2k0T01sd2F2ZjVFQ3I3MXh2ckFWQmdFS2hnRUtod0o0OWU3QjE2MWFrcDZmajZhZWZ2dVRRcGZvL0wwR1RkcnBkZFhrTUdJalF4VXNnS0JRb3UzdFd1NjdWSk96alR5R0o2dTZVYTdWWHJVS0hYNDlVWWZubWdpNjN6S091VVljMzF1VzFQaERBTTFOanJCNWZ0cWtRWGpMYlFmZjBVV0VZMU5NWFB4d294MWtiLzEvUlBDQytYSUxram1RUWdMUG5GWmo3ZmpvZW54S0RhYU82SWNqM3lvMGVydHhuVGtSRVJHU0hUQ3JDRFVPQzhOMytNcnN6RVZyVFBVU0diYTlkMWVvNGU4dUxtbWJTdFB3a2VPWGpBd0JjL0JRVkFKNmYzaFBQVDdjKzZ3SXdEekV5UzVUSUxESGZ3YVJ2ZDIrOGNtY2NYdjAyQjNubEtyTnpTZkgrdUdGd01NWU1ETVNESDZTalhxbHY5WG0xbDB3cXd0R2xJNnllYTNyK3pmM3cvR0NMWStOZlBvNnFCaTFPRnlnY0Rwbm1qSTlDWllNV1c0NVdXajEvS3UvaW03RDhDaFh5SzFRV1l4WUp2WEcrVW8yZEo0MkJtbGdFdkRpakY2YVBEc09XbzFWNDVkc2NtejliU2ZIK1dQTFBQZ2dQOU1EUGh5cXc0THRjaTdITE5oV2lzbDZMK1ZON29sK1VEMTVZbTRXc0V2ZnVTQ01JQWlvcUtuRDY5R21rcGFYaHpKa3pPSFBtRE9SeXkvRHNVbmhkZXgwOCt2UXgzZGFrcDBON0xnTStOMCtHeU5OeUtZTXllUThna2NCNzNQV21ZNUtJU0FDQXlOc2JvVysvWTNFZmZWVVZhcGNzUnNBREQ4SGpRamlrS3loQTNZZnZJL0RwWnlDMUVxNUl1bG1HYys1d0tsK0J6M2NWNDQ4emRWMHVjQUVBbGRaZytuMXB6ZjAzUmxrOXZ2bUk5ZDlaYjVrWUMyYkhZVkJQWDZ6WlUrcncveGQwNWlDNXM5UG9CTHovYXlGTzVqWGd2aHNpa2RTN2ZUT0d1aXFHTGtSRVJFUldURTRLaGErbkJBL2MyQjBQM0dqK0p1dG9WZ1BtdnAvdTBIVnE1RG84dnliTDVubEhsaGZWeUkyOUdINDRVSTYvTXVyUk05d1Q4MjZOd1NmYmlwQlpyRVNONHVJZi90L3NLOE9PRTFWV3IvUGdqZEVJOEpWWVBRY1lBNWRWVHd5RUNJQ1BwK1c0bEp3R1BQNXBCajU2cEQ4K2VyUS9IdnpnYkljMTVWeTZxUUFIMHVzQUFKRkJNbnowU0g4c1dKZUwxRHpqRzVSKzNYMncrTDdlbUw4NjB4UVdYUlhuajFmdnV0aklOcnRVNmZBMnVSTVRRMUF0MTJITm5sS24xQi9xNzRGMy90a0hWL2Z4eDZxZHhYanYxL05XeC9sNlN2RFlsR2o4WTF3a1JDSmcrUytGV0wyN3hPWjExeWFYb3FoS2pVWDM5Y1ozenc3R3FwMUZXSnRjMnVITlVqVWFEVkpTVXJCcjF5NGNPM1lNTlRVMWFHaTRPT05LdUxEK1NkVE9qc3crazZlWTNaWi84eFcwNXpMZ2Q5ZHNpSU9ETGNhclQ1NkVTT1lCLzMvZGIza3hzUmdlL1MyRE8zR0pzV2VQTkNiRzRyeEhiQzlJNHh5ZkxkVlJORG9EdnYrakhHdjNsS0s4WHRObGxwdTFGQkVvc3h0QXQxUlc2OWhzajJzSEJ1SS9kL1pDWkpBbjZocDF1SFZFS0ZKeTZ2SFk1QjVZdmFzRTI0NVhkZGhyNXN3Z3VTdlFHUVFrbjZyQjZYd0ZabDBYanZ2R1IwSW12YkwyODJIb1FrUkVSR1RGM1RkRUlpV25BVnVPbWdjWXowM3JDYVhHOFJrZVNvM0I3dEtodGl3dk9sdlVpTE5GalVpTU5hNlJUOGx1d0YvbjZzM0dGRldwY1R6SCtxeUNLcm5XWnVqU1A5b0hLeDhmQUoxZXdFTWZuclVaVGh6TmFzRDh6elB4M29QOThQNUQvZkRveHhrZHNxeWxyRlpqbXNXaDFob0RoZUlxdGVtWWo4ejR2QW9yTHg2TENKSlp2ZGJ4ZDBkQ1l1TnYvbXVlT3dxbHhvQjZwUTcrM3VhdjFmMDNSbUZRakIvZStENFh0UXFkUXoxeHJQVjBzUmJrcmRsVGlwU2Nlcng2Vnh4Qy9UMlFYNkdDV0NUQzA3Zkg0T25iclMramFPNXNVU05xRlRvOFBxVUhabytMeEtJTmVkaCszRGxMMWxyU2FEVFE2WFJRcVZTb3JxN0c5dTNiOGR0dnY2RzAxQmhRQ1ZiZXZUWVBXd1JCZ0Y2dnQzbmVrZHRPbzlHZzlNNFpWazlWdi9hS3hiSEtaK1paSEF2L1lxM1Z3S2NqQ0FLUVY2N0UrMXZPWSsvcFd1ZzYyUkt6dHFwVjZQQ3lnODJobjU4VzIrcVltRzdHZ0hyU3NCQ2N5bGZnNlZXWmVHeHlOQko3K2VGSVpnUDI5YXpGYTdQaThPamthSHkrc3hpL0hxMkV2b1B5U21jRXlWMkZJQURsZFJwOHNPVTh6aFFxOE9qa2FQU0o5TGxpZHNWajZFSXVvZFBwb05WcW9kRm9rSnljak54YzQzcmw1djlnV3Z2SDA5cDVlLy9vMmhwamIyeGJIOS9hNDFqN3RNWmFMVzE5UHEzVjJ2enhXeHZUOUhYTFdoMTVUVnA3RHMwZnYrbC9wVktwNi80Z2NwQklKTEpaZzZPZnNEbnlIRnc5cGkyZkJuYkU4M0hXOTdXOXRYU1ZPbDF4RFd0dllKejFPRzJ0cGJVeHJxelY1dStNUVFlUjJMbC8wb3pxRjRBQjBUNzR4OUkwbkc2MmxqOHV3Z3RlSG1LY3pIWE9Vb24yRW9sRXVHTk1PQUo4SktZR3EyMVpYdFRreHFFaFdIaFBQS29hdFBqd3QvTjQ5YTQ0UFBSUk90UmE4KzluVkxBTTd6M1lEMHQvTHNDL3Y4N0cyL2Yxd2VJNXZmRi9YMlM1L0ZQaUpYUDZZTWtjODJPT2ZpcHN6YTlIcW5Eb1hKM3A5dEE0UDl3eDVtSTRVbEdueGZBK1hxYmJFakV3NjdvSUtGUjYweTR3ZjJYVTRkblZ0bWN4RFkzenc0d3hZZkR5a0dEYjhTb2twOWJZZkozeXlwWHdrSXBScTlCaDVmWmkvUEJuT1ViMkRVQmtzUFhncUtXU2FnME9adFJoL0pBZ1BIeFRENXdyZHY1eUJLMVdpOXpjWEt4ZnZ4NVZWVlhJeTh0RFlXR2g2ZmUrdGJDbHliNTkrMUJXVm1iNmQ3djV2OTh0anpVZGYreXh4NXorZkpyei8rZS80RG5NMk9CVVgxbUJtamRmUitEalQ4Q2puL0ZuVEplZmg5cGwvMFBROHk5Q0d0MERBS0E1ZXdiMUgzOWtkcDF0MjdZNTlId2NlZDZDSUVBc0ZwdkdpTVVYazhMQmd3ZERMNUpoZTBvVnZ0bGY1dlpsWmM2aTFobXdQODErSDZ3bWowMk90bmt1T3NRVDk5OFloYitQQ29OU2JjQmJHL0x3L1IvbFpyOS9jcFVlSDJ3NWoyLzNsZUxCU2RGNDVhNDQzSDlqZDZ6WVhJamRxVFh0ZlNxdGZveVhad0FBSUFCSlJFRlVjbWFRM0ZVWUJHRFh5UnBrbDZyd2ozRVJ1T1hxVVBoNTJaNTllYmxnNkVJdVVWNWVEb1ZDQWIxZWo0MGJON3E3SExwQ05QL0RwSW05b0t6bG1FczU1dWlZdGp4R3l6OWEyeExNT1ZLcm84R2ZJMzg4WDBwdGJmbGVPRHJtVWw2ejloNno5dGlYK3B4YXU2OGpRWnk5UUxXMSs3WTIxbDJ2aVNOalJTSVJSTElaZ0hlRXpXdGNpcWR2ajhHQjlEcXp3QVVBeGd3SUJBRDhsVkZ2N1c0V25yaWxCeDZhNUZoenpkYW0xSy9jVVl3UHRwZ3ZTWG5yM25pRStIbGd4YThYbHlhMVpmY2lrUWg0ZklxeHhyOHk2dkYvWDJZaXBwc1hoc1g3WWZxb2NIejNlNW5aL2UrK1BoTDlvMzBnVitueDE3bDZSQVFWNE5tcFBmSGN0SjVZOG1NQkZzeUt3L1RSMW50YkpDOGMxcWJuLytQQkNpeG8xbVMyK2FmQ2pyTDNxZkNwZkRrMkhiN1krMEZuRU14Q2w2SnFOVzRKNmdhUnlQZ3A3Zmdod1lnSWxPR2xUZG1tTjI3RjFSb1VWNXUvMWg0U0VTWU9EY0ZkMTRVak1kWVB2eHl1eE9lN2loM2VaV1Rhb2xPbXIvODgyN2JuQ3hnYk43Zld2UGxTRkJZV1l2NzhaY2pKeVVGWldablo3N21qWVV1VGxKUVVwS1NrdE9ueFhSMjZTRUs3UVJwcm5Ea2hraGwzdnBHRVI1aU9DU3JqbTE1cFZKVHBtTDdLc25mSW9rV0xMSTYxOW1GVzg2OGQvY0JzMllxUDhPMVJFZmFjcWtHanVtT1hrcmxTZTVjWEpjVDQ0cUZKM1hIRGtHRElsWHA4dnJNRTMrd3JSYTNDOW5iWjFYSWQzdjR4SDkvdUw4VUwwMlB4N3YxOWNTSlhqaVUvNWx2OEcrQk16ZzZTdTVMY01pV1diU3JBeWR3R1BQdjNudTNlYmFxelkraENMdEhZMkFoRFcvYTNKSElDL3N3UlhabUVxMjZETStmWjNUSThGQWt4dnJoMytSbU1IUmlJdytmcVRjdG5KaWVGb3JoYVkzVzJpRFhiVTZxUVZXSjl4a0dvdndlZW5kb1RjcFVlUHA0U0xGaVhZM2RwUVBhRlR6b25EZzNHd3pjWlArSE5MVlBoc1U4eWtIN2UrQmdQZjNRVzV5dlZLS3V6M3VlZ3NqNGYzaTEyOVFqd2x1S3J2YVZZK25NQkRBS1FWcURBZ2ZRNlBIeFRORFlkcmpDOW9Rc0w4TUNkMTRianI0eDYweHVSTlh0S0VkUE5Dem1seHFudmY1NnRRME9MNXJwSnZmMHhKTllYMyswdnM5clkwOXBPSDRBeEZBR01qUmdUNXgyMiticllrMVdpeElZL3kxc2ZhRVYraFFxZUhpTEVkUFBFK1VvMUhwd1VqWUlLTmJhbVdPK1hjMVdjSDZZTTc0YWJrMExNZHVtWVBqck1aaEMxYUVPK1JiRFZXUmtNQnNqbGNxalZha2lsVW1pMWw5NVBJaW9xQ21GaFlUQVlEQkFFQVlJZ21MNXVlUXdBVkNyTEpzWE9WcnYwSFdDcGVWTmRSNWNYTlNlVHlTeENxSlloaXJYenpXY0wyYnAvYzEvdUxzSGVYSzh1MlN6WG52YnVYdFNvMWlNbXpBdExOeFZndzRIeU52VTJLcXhVNDRtVjV6QnVVQkNldUtVSFJDSjBxU0M1cTFGcUROaHhvaHBpc1FnTDI3Q3JYRmZFMElWYzdySEhIc1A5OTF0cFhrYlVEaHFOOFExRjh6OWtySDNxMXRvbmNmYis4R2x0bkNQbnJOWFNXcDNXbnRlbFBKNmpYN2YzK2RpN2hpTmpIYjFQYTQvUjlIWExQMnJ0dlFhMnhscTdiMXQveHRyeS9YYmsvcmIrYUxkM243YlUzSmJYd3RIbmZLbS9sNjFkdCtYeDEzYzdyNWRDc0s4VXowMlB4ZVlqbFNpdDFtRERpNE5SV3FQQi8zMlJoVkIvRHlUMjhzUEgyNG9jdnA2MTNZRUFJTUJIZ2krZVRFQ3RRb2QvdlplTzljOFBoa1Frd3E4dDN0RC9ZMXdFcnVrWGdQLzdJZ3RhdllDMzd1bU5XMGVFb3VUQ1ZxRXJ0eGNoL1h3amxzN3RneHVIaHJUcHVYNjhyUWdmYnkzQ1d4c3MzK0FzM1ZTQTljOFB4ck5UZStMTjljYnp6MDJMaFV6Ni8remRkM3hUOWZvSDhFOTJremJwM3BzdUtIdFBFVlNRS1lLQW9BZ0NnZ29LcnAvM2l2dTZFSVdMQTBRRXZRb2lvakpGRVVTMmJKQlZLS09sTGQxdHVwdW1UWnZmSDZHaGFVWUg2ZVR6ZnIxOHZleForU2FITnVjODUvaytqOUNzSThlN0cyN3R2L01mTlhaV3k3TDU5MFBCNkJqc2lJODJKVUpub1ZXUHJVNGZsZXJ5NU51U3l1NVBkUkZ6TTdEVUljZ0pBOXE1b0YyQUFpOTljOVdrZzFEUENDWHU3K3FPdXp1NHdOdlprUGF2THRSaDNsZVhiWGE4VXNwRitPQ3hNSnV2di82bDlvZ09kS3pUbUdPVGl6RmgwZTIxVTdZbU9EZ1lyNzY0RWpkdTNNRHAwNmR4OGVKRlhMaHdBWmN2WHpadVkrdHZTMVdUSjAvR280OCtXdWN4NUgzK0tUUi83cks0TG1QNlZKdjdwajA0MnVSbitYMUQ0UHpNUE9QUFZhY1gxWmFsNlVXclZxMHllUWhVR1VRQ1RQK1dWVzVUUGVCU2ZWOUwyK2oxZW9TR3QwWGJvM240OFZCR3JZdkpObmZ2YkxodS9IdFRHNWE2SEYzUEtNRkRDODlaMlBxVythdXUyRnkvLzBLdWNZcVRyMnZyQ1NRM054NHFDUjY1eXhzVDcvS3FlZU1XamtFWEltcVJwTktXUGFlVmlPem5Qd2ZxZC9GcXlielJnYWlvME9QRGpRbklMeTdIbENVeFdQNVVGSDU0cVQyU3M3VW9LYXZBRC90dkx6TWh4TXNCbnp3UmlVQlBHWjVjZmdrSm1TVll0eThkcysvM3g0N1QyZENXNmFHU2kvRG01RkFNNmV5RzdTZXlJWk1JVVZaZWp0UWNMZDVZRjQrNGRBM1dQaDl0UE9icVhTblljdFI4cXNPMHdiNEk4SkRodlovTWIyUVNNcXhuRDF4TjFXRGxIeW1ZTTl3ZlJ5L25ReVlSWWxnM04zeTlPN1hPclV0OVhLVElLOVpaRExqVTFwUWxNZlhlRnpEVVo2bnVsZkhCZUdXODlVS2NON0sxVUJmb01LcW5CenFIT0ZrTUtQbTV5dEFyUW9YdHg3UHgxOWtjUERiWUI5R0JqdGg3M3ZiMG50cW0wdC9JMW1MTm50cDFUM3IwYnA5YWJYYzdKQklKUWtOREVSb2FpcEtTRXVUbTVpSXRMUTI3ZCsvRzd0MjdrWjV1K04yb2JmQ2xybVJkdTBIb2FCcUlLbzI1Z0xJclY2QVlNUklDaWZubmFxbGxOQUJJSXFNTS95T1Z3bWZ6dG5xTlJ4d2NETVg5dzAyV0JRZlhYTnpWWHFiZUkwZnZLR2NzM1pxSTQxY0xhdDZoR1JyUzJRMkxaNFRYdkdFdExONlNhT3cycHBTTGNHaGgzWUpvbFFZdU9HV2NqdFNhQXNuTlNiYzJTanczT2hEUlFZbzdvcE1SZ3k1RVJFUkVOKzArcThiK0M3bklMelk4MlV6SUxNRmpTeTlnMWR4MmlQSlg0TXMvVW16V0JxakppTzd1ZUcxaUNKd2NSRmk2TlFuSHJ4aHVsRmJ1VE1hb251NTQvb0Vnbkx4YWdBVVRnbEZlQVR5NzhqTDJWU2txK2RuTm1pNlYzWXNxeFNRVlF5clc0TmpIUGJGNGN5TFc3RFhjZUF6djVnNVhKM0d0QzFOV3RmS1BaSFFLZHNLN1U5cEFLQkRnVEh3aGxtMjMzT2JZbHVoQXgzb1grWnpRM3d1dlQ3UlBLdjNYZjZaaTZiWmJ0VzlxS3FRTEFQc3U1R0JzSDArb0MzVjR6OElUK0MzSHNrenF3dWoxaG00cHQzdERWU2t6cjZ6VzA0K0dkSEV6NjdiVWtCd2NIT0RqNHdNZkh4OTA2ZElGeno3N0xJNGVQWXJmZnZzTnAwNmRRbEZSRVRTYVcrZmRIc0VYaC80RDROQi9nTW15L0srK1JObVZLMUROZUFJUW05L2EyR3daZlZQMUxKaTY4bHk1Q2lJdis5YVZxZzJwV0lpT3dZNVkvbFFVdnZ3akJUOGRTa2RlY2UwN3F6VUg1eE1MOFhvTjNZcDZSenBqVkU5My9IZHJFdFEyMmlSYnFyOXlNQ1lQZTg3WHJpanU0QTZ1R0JEdFhPTjJ6VFdRM0JLbzVDSk1IT0NOSjRiNFFpRnIvUVYwS3pIb1FrUkVSSFRUd1JqeitmVXlzUkNlemhMY3lOWmk5YTZVZWgwM3hNc0JyNHdQUnQ4b1oyT05nZmdxbVNhYTBncjg2OXRyV1Axc096d3kwQnRiam1WaDBjWUVzN1IyVzlwNHl5RVV3Q3pBNGVzbXhlZXpJMDJXWFVvdU5pdktXNTJ2cXd3eWlSQU9Fc05UeUpOeEJTaXY0MDFHM3lobitMaEtzYjZlZFV0Mm4xRWo5b2J0ekpweGZUMHhwcmNucGkyMWZSTlR2YzVOOVVLNlc0NWw0VDgvWGtlUXB3ekoyVnFUdHJHYmoyWWlwMHF3N1lQSHdwQ1VWWUxsdjV0UE5VdlBMYlhaMFFnQVZJNGlMSDh5eXVZMkxZMVVLc1ZkZDkyRkFRTUdJQ01qQStmUG4wZE1USXp4djhMQ2h1bjRWWjZWQllHVGs4V0FTMjI1Zi9oUnpSdlpJSEt0MjlRK2U1TkpoTVkyeUd2M3B1SGt0YnIvcmphVjFKeFNrOS9EdGM5SDQzQnNIcGI5ZHV0M1N5RVRZVlJQZC94NVJsM3JndFNWWW00VTRhZER0WnVPNCswaXJWWFFwYmtHa3BzemtWQ0FMcUZLUERMUUM0TTd1a0lzYXRxT3A0Mk5RUmNpSWlJaUt4eGxJaXg5SWhLT01oR2UvaUlXSldXbVJSbXJaenBVRittbndPeWhmcml2aXh1MFpSVll1VE1GdTgrbzhlUC9tWGVqaUVrcXducy94ZVAxaWFIUWxsV2dwQTRGSUFGZ1VFZERiUnRYSjlQTHV6S2RIdkhwcGxPSjBuS3MzN2k0T0lyeCtEMittRHpRR3lLaEFFdTNKa0VtRldMV1VELzBqbERocyswM2F0VlZ4OXRaaXJjbmgwSmRxTVBQaCt0WGcwQmRxSU82eXMzNmdHaG56QnNWaUtWYms0eGo2SC96SnFteXVQR25zeUtoTGlqRHQzdFN6ZDUzcGE3UEg0TktMa0xYTms2SThGVWd3aytCS0g4Rkl2MFVVTWlFR1BUYUtUeCtqeS9HOXZGRVhyRU9ZL3Q0NHJ1L1VxRXVOQVJlZWthbzRHaWx6V21wVGw5am9lWFczS2xESUJEQTI5c2IzdDdlR0R4NE1ISnpjNUdibTR0OSsvWmgxNjVkdUhMRmRqMk51aXE3ZGhXU29QcE42U25lOFR2eVZ5eXZlY05hY0J6M0VKUlRIN2ZMc2VwRExCSmdVQWNYdEExUVlOMitkUHg0TUwxT1JXU2JnNEh0WGRBcHhNbnFGTTd0cjNlMnV1L2cxMDRqMjBZV2pMMDA1MEJ5Y3lVVkMvSElRRzg4UE1BTC91NnlwaDVPazJEUWhZaUlpTWdDaFV5SXo1K01STHNBQmQ1WUYxK3IxcUhWbjkwNVNJV0k5RmZnMDIxSitQbHdCdktMeXhIb1lYclI2U0FSWXVJQUw4eTQxdy9qRjUxRGdlWXEzbm0wRGZxMWRjYm4yMjlnNTJsMWpXbnNFcEVBRC9iMmhLNUNqL2NmQzRPL3V3emY3ek5NTWNyS0w3TlpXNkJTcHhBblBOVFhFOE82dWNOQklzVE9mOVJZOXRzTlhMK1prYlB2ZkM3K2Iyd1FWandkaFV2SnhkaDJQQXM3VDZzdEZ2SHNIcWJFd21saFVNbkZtUGZWWmVOMHJmcnExa2FKcDRiNW8wK1VDa2N2NTZPd1NnYVFBSUFlaHM5SExCTGcrTlY4VEw4Wk1Oa2ZrNHZWdTFMd1Q3d2hDUEpBTHcrTTd1bUJVRzg1dkp4dkJUNVNjMHB4SmFVWTYvYW5JVDY5QlBOR0JtSmNYMDk4c1NNWmU4L2xZTjJMSGJCa1pnU2VYWGtaQ3BrSVhzNFNyRC9RTUprYlZia3JKVlk3cDFUbm9aSkFXOWE4YnJLRlFpSGMzTnpnNXVhR05tM2FZUHIwNlRoNzlxemQ2cktWbmo2Tmlxd3N5RWFNck5mK0RuMzdRaElhYW5PYjRsMDdvZmxyTjl3LytORG1kaUozOTNxTndkNThYS1I0WVV3Z3VvVXA4ZFlQY2NncDBzRkt2ZkptUlNrWDRiVUpoZ3lRa1QwOThQZWxQSlBzTXNEUTdTc3IzM0pnSmIrNC90TSthNnM1QjVLYkk0SEFFTVIvYldJb2huUzJYOEg3bG9oQkZ5SWlJcUpxdkp3bFdQWmtGQ0w5RlBod1l3STJIODJzMVg3OTI3a0FBQXBMREVHQnM5Y0w4Y0I3WjAyMkVRa0Z4dGVZTnlvQUUvcDdRU2tYNDJCTUxvcEt5dkhIYVRVdXB4VGp0UW1oV0RnMURDK1BDOGJlY3puWWVpd0xWMUtMb1NtdGdMZUw0YWExc3BYMTNCRUI4SE9UWXM2WHNlamYxZ1Z6UndSZzVuMStLTmFXUXc5Z1RDOFBZNWNOb1JDUWlJUkl5OVVpVlYyS1NYZDVZM0JIVi9pNVNWR2dLY2ZtSTVuNDhXQUc0dEpOMCtkamtvb3cvZE9MNkJ2bGpDbUR2UEhpbUNDOE5DWUk4Umthbkk0cnhPcGRLZENXVldEKzZFQ003dW1CRzlsYXpGaDFFUmRxRWF5eXBsZUVDdk5HQmFCVGlCTk94eFZpeG1jWGNhSkt3VkM1VklqdVlTcmszYnc1MDVYcnNXWlBHbjQ4a0k3eC9id3dhNmdmdm5zdUdpZXZGZUNOZFhHUWlnWHdkcEhpeE5WOFhMeFJoSmlrSWx4TUtqYWVMMCtWQkl0blJLQmpzQk0rMnB4b0xHTDc0Y2JyV0RBK0JKc1hkREsrMXQrWExOZkpzV2RObHlCUEdkNmFaRHNvVUZWZGl4dzNoVTZkT3RubE9CVlpXY2hkOWltRUtoVVVRKzZ2MXpHRXppNFFPcnNZZjlhZVBJR0N0ZDlCT2ZWeHlMcDJBd0NJVHAwQ0FFaWkyZ0o2UFhMZWZ4ZENaMmM0amhrTGNhQjV5K0xtWWxBSEY2eDlvVDArL3kwWmU4NnFtM1hXaTFJdXdoZFBSY0ZkSmNIcVhhbDRkSkEzdHIvUkdiOGV6OGJCaTdsd3U1a1pkdkJpcnNYcFJVS0JJWnRDSWhZWVc5eFhpdlJUWUV3dmoxcU5JOUpQWVhWZGN3MGtOMWRTc1FEM2RYSEg3S0crYU9NdGIrcmhORGtHWFlpSWlJaXFHTkRPR2U5T0NZT1Rnd2l2ckxtRzMwNW1XOTIyamJjY214ZDBORm1tMXdQSEwrZGIzYWR2VzhOVHpGY25oQ0F6dnd3L0hzekF6MzluSUMzblZzWklmSG9KWm41K0VkM0RsQmpmM3d2ZHdwUlk4VWN5WGg0WGJMeUIwSmJwRVplbXdhUzd2REQ5WGw5c1A1R05nekY1T0JpVGh3MkgwakdtbHllNmhTbmg0eUxGdjhjSFF5d1VRaWdFaEFJQmhBSmcwYVlFeENRVm9WZUVDdWNTQ3JGa2k2R0ljUFVwVk5VZGpzM0Q0ZGc4K0xwS01iU3JHd1oxY0lXelFveGt0UllLcVFpK3JqS3Mvak1GWCsxTXVlMGJQVjI1b2JYN25CV3hPSGpSOEJSWUxoWGk4S0llRUZaSks2cmU0YWRVcDhlNi9lbllkQ1FUajk3dGcvN3RuSkdhVTRxZi84N0V6MzliRDZENXVFb2hrd2d4YTVscGNHZjlnUXhrNXBYaHFXSCtDUEowd0laREdZaEpzaHpneU13dnc5dnI0MjIrcjlxMGpBYUEwM0dGbVBaSjdRcHVmdjFzdTBZdHBOdVVTcytmUis2U2oxQlJXQVMzVjErSFFLbTh2ZVBGWEVEaGp6K2c5TXdaU0R0MmdsQlI5ZWE3U3BwSWVUbWtIVHFpYU5NdjBQeTVDN0llUGVIMDBIaEkya1diSGJNNUNIQ1g0ZFh4d1JqYzBRVkx0eVFoV1YyM2VpaU5vVWU0RW05TmFnTXZGd2xlV0gwRit5N2tZdnZKTE13ZEVZRHgvVHd4cVVvNzRWOWY2NHp5Q3IzeGpBZ0VnTGpLSDRJdFI3UHcranJUb3J5RE9yaGdVQWNYMUplblN0S3NBOGwxclhIVEdIeGNwSmcvT2hBRDI3dmNNWCtUYXNLZ0N4RVJFVkVWY3FrSXFXb3QzdndoSHBkVGJHY09YTS9RNEhCc0hvcEtLcUFwTFVkZXNRNTd6K1hpa28yTWc5UFhDaENUVkl5di8wekI3ck5xazRLdDFaMjhWb0NUMTI1ZGtHODlsb2xVdFJaRjJuSWNpYzFIVHBFT0VyRVFlOC9ubXR4c3hLZVgxTHJBNGtNZm5xdlZkdFdsNXBUaTI3L1NqQzFhQWFCSVc0NlpuMStzMDNFbUxEcHZkZDJwdUFJOHV1U0N5VEpOYVFWZVhYc05qamM3WHlSbWxlQklyT1VnbDZhMEFxdDJwV0JWTFFzZ24wc293c01mV1I3UDdyTTUySDNXZGhlVWw3KzFYVUMzcXUwbnJBZnpBR0RTeHhkc3JxOXV4bWQxKzl4Ym9ncTFHZ1hmZlF2TjNyOGc4dkdCKzN1dlFSSVJVZS9qbFo0OWc0SzFhMUIyT1JhU3R1M2c5dTc3a0hhNEZVVFZsMmhRZXVFQ2hFcVZZWUZZRE1jeEQ4SngrQWdVNzl5QndwOStRdllyLzRJa09ob3V6ODZIeU5mdmR0K2kzU25sSXR6ZnhRMjlJMVI0WmMwMUhJM052NjJ1Ty9ibTd5NURTbzRXVDYrNFpBd2dYRTNWNFBuVlZ5Q1hDdEUreUJGZXpsS29GQ0pJUkVJSUJJWnNRUUVBQ0F5QmwwcDd6NWxubjYzY21WSmowZkJLejR3TXdPeWhwdWV3V0Z2UnJBUEp6WWxJQ1BTSmNzWmJrMEtOMlpoa0lORHJXOElzUDJwcE5tM2FoUGZlZXc5NnZSNXo1c3pCekpuVzIvUVJFUkhkams3emp6WDFFSWhhdlhGOVBQSFc1TnBQZFdvSSt1Smk1THovTGlSUmJlRTBZUUlFRGpWUFc4aDZiaDRFVWduY0Z5MDJXMWNhY3dFRjM2eUcwNlJISU92ZXcvQWFKU1ZJbnp3UlZRdWhPRDR3QnNvWlQ1aVBwNlFFUmR1Mm92VDBLYmo5NTkzYjZxRFVHUEtMeS9IandYUnNQSnpaTExOZTdtUWplN2pYS3BEY1hQbTZ5dkJBTDNjOE5zZ1hLZ1d6VzZwcjNuOFppSWlJaUlpSUFBZ1VDcmk5KzM2ZDl2RlkrcW5WZGRMbzluRC9hSW5wYXpnNHdIbis4OUJyRERXTnhMNitrSGJwYW5rOERnNXdtakFSbURDeFRtTnFLaXFGQ0RQdTgwV1BjQ1crL0NNWlJ5KzNuTmJTclYxTm1XL05sVkFnUUo4b0pXYmU1NGR1WVVwanpUSXl4YUFMRVJFUkVSSFJUZkpCZzV0NkNBMUdKQlNnYXhzbFBwMFZoYysySjVsTUR5U3Fxd245UGZGL1k0TWhGVFBZWWd1RExrUkVSRVJFUkhjUXFWaUFGOGNFb1g5YkYzejVSekxPWGk4MGRrTWpza1VrRktCTHFCT20zK3VMZ2Uzclg2VDRUaUpzNmdFUUVSRVJFZFZIeDJCSHJIK3BQYUlESFp0NktFUXRVdTlJSmQ2YkVvYkg3L1ZsdGdMVlNDSVM0TEZCUG5odlNoanVpbWJBcGJZWWRDRWlJaUpxSk1HZUR2aDJmalRhZUZzdkFLcVVpL0RkYzlIb0U2bXl1RjZsRUdIMU0rMHd0SXViM2NmWFBzZ1JhNStQUnBDbnpPbzJkN2Qzd2YvbXQwTzdBSVhWYlRvRk8rSHNKNzJzdmdkN3ljd3ZRNmkzSEs5TkRESHBZa0pFdFNNUUNPRG5Kc1d6SXdQd3pieG9kcDBocTd4ZHBGZ3hweTFlR0JNSVB6Y3AvK2JXQWFjWEVSRVJFVFVTVFdrNWdyMGNzUHlwS0R5eStEelVoVHF6Ylo0WkVZQXVvVTZJRG5MRWtjdm1IU3ljSEVSd1U0cng4ZlJ3ZkxjbkRVdTJKS0pDRDZ5YzI3Wk9RWTRUVnd2TTJnd1hsWlREMzEyRzcrYTN4eFBMTHVKcXFzWmt2YWRLZ3Y4ODJnYTZjajF5aTh6SFh1TnJMdTVaNDlQMHN3bUZtTElrcGxiSFM4c3B4WnE5YVJqUjNSMEI3akpqeTFsYnZuNjJIWHFFSzJ0MWZHdE94eFZpMmljeFVNcEZPTFN3KzIwZHE5TElkODdVYXZ4RURhVmpzQ08rZUNvS0svOUl3WUdZWEJScHk1dDZTTlFNS0dRaTlJbFU0Wm1SQVFqM3JibGpHSmxqMElXSWlJaW9rV1RrbGVHVjc2NWh4ZE5SK0hCYU9KNWNmZ2xWbTRkRUJ6cGk0Z0J2bkxoYWdHOTJwMW84Um9xNkZGT1d4R0RKekhCTUhleUROajV5UExzeUZoc1BaK0JJYko3WjloRytDb3pzNFk3dEo3SnhKYlhZdUR3dHA5UnMyK3NaSlppMTdCSldQOXNPTDQ4Tnh1emxsNHpyQkFMZy9jZkNJQlVMTUh2WkphUmEyTDgyZmppUWpsMy9xQzJ1bTNtZkg1UlYybzJPNit1SnR5YlZyazN4OXRjNzIxei95cHByMkg0aUd6dE9aZU5DWXBGeGVkYzJUdWdVNG9RZkQyYWdwTFRDYkwvUnZUeFFYcUhIYjFXNml5U3JTd0FZZ2xTV0FrVGVMbElzbmhHT0QzNUp3SVVFdzJ1Ritjcng5dVJRTEZoN0RZa1o1c0VWUytlRHFMR0YrOHJ4eHFRUTdEMlhneTkzcGlBaG82U3BoMFJOS05qTEFUUHU5Y1Y5bmQyZ2xMTVZkSDB4NkVKRVJFVFVpQTdINW1IZC9uU0loQUlJaFFKVTNDeGVLUllLOE00amJaQlhyTU8vdnIwS3ZZMmFsa1hhY3N6OThqTGVueEtHSTVmelVGNEI3RGhsT1pBeHBMTWJSdlp3eDE5bmM3RHJqT1Z0RmswTHg3QnVwdE9WK2tTcGNQYVRYaGEzLytubERzYi8zM1ZHalJlL3ZtcnJMWnRJeXRUaXhOVUNpK3ZHOUM0ekNicWN1MTZJeFZzU2EzM3M2RUJIRE8vbWp0VzdVcEZiWEdheUxpYkpFUHpZY0NqRFpQa3pJd1BRS2NRSkszWWtJN3ZBZEIvQThEbG9kUlVXeDFHaE4yVG1WQmRZWkppZUZaK21NVnQvSlVXRDJPUmlzMzJJbWdzbkJ4Rkc5ZlJBendnVkZxeTVodU5XZmwrcGRlc1k3SWdsTXlJNDVjd09HSFFoSWlJaWFrRGZ6bzlHMXpaT0Z0ZE51c3ZMNHZMZDczUTErYmx5T2t0VnVuSTlYdjYyOXNHT21xVG5sZUx6WDIrWUxYOWlxQjhBWU5YT0ZMTjFjMGNFbVB6OCtzUVFUT2gvNnoydG5Oc1dnT240WHg0WGhKZkhCVmtkUjlVZ3haVlVEYTVVbStJVTRTZkg2eE5EOGNhNk9GeXY5aFMrV3hzbEJuVndSYjkyenBqMStVWGtheHArZW9SVUxNQ0p4VDB0cnF0OC8xVlZEVmhWR3Z6YWFZc0JINkttNU8waXhZcW4yMkxOdmpUOGRDZ0RLV3F0eldBd3RYeVZOWDRlN08ySjZTeXViRGNNdWhBUkVSRTFvRjlQWk9GMDNLMG54ZEZCanVnVHFjTEd3NWtXNjZKTXU4Y1hjZWthSExpUWExeVdyRzc0V2g4RnhlWFljaXpMYlBtNHZvWWdpcVYxVXdiNW1QejgwNkVNSEluTlI1Q1hEUE5IQldMRmptUmNTZEVncCtoV1FPSDdmZW5ZK1U5MjlVTUJBR1lOOFlmSzBYb0tlNFNmSEt1ZWFRY0JESFVHcWpzVlY0QzVYOFppK1ZOUldQNTBGR1o5ZmdrYUMxT0dHc0xpTFlrNGRORXd2Y3ZIUllybFQwWGhyZlh4T0h2ZEVFU0s5Rk5nNGRRd3ZQRDFGV093cUV1b0VtODhITklvNHlPcUQ0bFlnR21EZmRBNXhBbGYvNW1DQXpIbVV4aXA5ZWdkcWNTVDkvdWpVNGdUSkNJR1hPeUZRUmNpSWlLaUJ2UlR0ZWtzVSs3MlFaOUlGZGJzVGNPMU5JM1o5bE1HK1NBbXFRaEx0eVdacmF0ZUJIYkhLYlhkc2wzQ2ZlVldweE1Cc0xvdU1ldFd0c21sNUdKY1NpNUdwMkJEWnMrcGF3Vm14WUNUczdVNEhXYytKUWNBc2d2THJBWmRvdndWV0RtM0xYVGxlc3hlZHNuaVp3Y1lDZ1Mvc1BvS1BwMFZpYzltUitMcEwySlJWdDd3aitmVGMwdU5oWWUxWllaQVQwcTIxcmhNSVRXOHI2U3NXOHVZdGs4dGdVZ29RUGN3SlRvRVJXRDlnUXg4dGowSnBUcW12TFFtVXJFQXM0YjZZOXBnSHpoSTJlRFkzaGgwSVNJaUltb2hOaDY1VlN4MzFsQi91eDQ3TGFjVUgyMHlyMXZ5ekVqREZLTFB0NXRQUFhyaHdVQ2J4eFFJQkJqZnp3c3FoUWhmLzJrb0RGeVg2VVdWaG5SMnc3dFQyaUM3b0F6TGZydUJOeDRPeGV6bEY2RXRNNzN4ODNXVjR0TlprVmk4T1JFTDFsN0RoMVBEc1hCYUdGNzZ4bmFOSEh0WU5DMGNpNmFaTHF2dDlDS2lsa0FtRWVLeHdkNEk4WExBeXAwcHVKQllhRklJbkZvZW9jQ1FoVGQzUkFBR1JEdERKR1IyUzBOZzBJV0lpSWlvQ2RRbkNQRHI4VnZUY3FiZDQydkgwUUNGSmVVV0MrMVdUaUd5dEc3Mi9YNDJqL24rWTIzZzVpVEJKNy9leXRxcFMvY2lnY0JRTjJiMlVEOGNpYzNIUy8rN2drQVBCM1J0NDRSeGZiend3NEYway8wZnZkc0hVZjRLRkphVTQ4amxmSGk3Sk9MRk1VSDR2N0ZCV0xReEVXOU5Dc1c0dnA0V1gzdlB1MTB0THE5VVBkTm40K0ZNdkxVKzN2aHoxZWxGdGNYcFJkVFNDQVVDM04zQkJaSCtDbXc1bW9udjk2Y2pyeDd0NDZucE9UdUtNYkcvRjhiMjhVU0F1NnlwaDlPcU1laENSRVJFMUFRcVdtbEZ5dnM2dStMSit3MVpPUEhwSlppekloWVhieGk2OVR5NS9CSnVaR21Sbm1lNVBYSldmZ0xrMVZMYlZYSXgxdXhOdytMTmlhalFBeGNTaTNEb1loNmV2TjhmVzQ1bG9saHJtTXJqcVpKZzRnQXZISW5OeC9tYkxhRy8vU3NOZ1I0T2lFc3pUSUg2KzFJZUNxb1YxKzBXcGtUSFlFZjhzRC9kNHBRSlN5MmpBZURjell5Y1VwMGVuZVlmcTlOblZPbHFxZ1kvLzUxUjg0WkV6WXl2cXhTemh2cWhmWkFUL3JNKzN1cnZORFZQTGdveDNwc1NocjVSS29oWnU2WEJNZWhDUkVSRTFFQnNaVlpzZmJXVDFmM0c5UExBbUY0ZUpzdXFaMWJZbXoxcXVydy9KUXlqZXJvak5jZHdBN2J5ajJSY3ZGR014VFBDTWFTem04WDlyZmxpUnpLKytEMFo3Lzk4M1d6ZDRpMkoyUEJ5Qjd3NEpnanZiRENzLzcreHdaQ0toV2F0bmQvZGNHdi9uZitvc2JOYWxzMi9Id3BHeDJCSGZMUXBFVG9MY3lWc3RZeXVaT3R6cTQxaGIvK0RGRFZ2V3FsbEVRa0Z1Q3ZhR2Q4OUg0MVB0aVhoUUV5dVdWQ1RtaGVsWElSK2JaM3gvQU9COEhOamRrdGpZZENGaUlpSXFJRWNpTWsxNjFEVXI1MHoydm9yOE4yZU5PZ3NGSGkxMUwwSXVKVlowVkRzMFRJNk5VZUxOOWJGSXk1ZGc3WFBSeHVYcjk2VmdpMUh6YnNmVFJ2c2l3QVBHZDc3eVR5d2tsQ3RIWFJWVjFNMVdQbEhDdVlNOThmUnkvbVFTWVFZMXMwTlgrOU9SV3h5c2ZVM2FZR1BpeFI1eFRxTEFaZmFtcklrcHVhTmJNak1ZN3RvYXJsOFhhVjRhMUlvdHAvTXdqZC9waUl4cStHN3JWSGQrYnBLTWZ0K1B3enY1Z0dGak1WeUd4T0RMa1JFUkVRTlpQZlpIT3d5em5XV0FBQWdBRWxFUVZRK20yT3lySDJRSXdvMDVmaDRzK1hNQ1Z2ZGk2eVJTUVNZT3lJQXg2OFU0RUJNYnMwN1ZHT3JBNUt0bHRIVmwzMTJzOWh1WmZlaVNqRkp4WkNLTlRqMmNVOHMzcHlJTlh2VEFBRER1N25EMVVtTS9SZnFQdWFWZnlTalU3QVQzcDNTQmtLQkFHZmlDN0hNUXJIZm1rUUhPaHE3Q2RYVmhQNWVlSDJpZldxeWZQMW5hcDNPT1ZGejRpQVY0c0hlbnVnVDZZd1Bma21vMSs4ME5aeCtiWjN4Nm9RUStMbEpXU3kzQ1REb1FrUkVSTlJJL055azZCS3F4TDRMT1RWdlhFdVZGOU9CSGpMa0Z1cnFGSFN4TmYycHVwcW0wTlEwL2FtTnR4eENBY3dDSEw1dVVudytPOUprMmFYa1lvdmRra3oyYzVWQkpoSENRV0o0WW5zeXJnRGxkY3hXNlJ2bERCOVhLZFpYSzhoYlc3dlBxQkY3dzNabXpiaStuaGpUMnhQVGx0ck9obUZOREdycFJFSUIvTjFsV0RJakhEL3N6OEQ2QTJsSTVyUzVKdVhqS3NXakEzMHdjWUNYV2Iwc2Fqd011aEFSRVJFMUFwRVFlSFZDQ0tSaUFiN2JrM1pieDVKTGhYQnlFT0h1RGk0WTFzME5PVVU2dkxFdUhwdVBadGJwT051T1orRkNVcEhOYlI2LzJTWHBmMytsMnR3dUxzMTJ0c2lnanE0QUFGY24wOHZQTXAwZThlbW1VNG5TY3F4UFQzQnhGT1B4ZTN3eGVhQTNSRUlCbG01Tmdrd3F4S3loZnVnZG9jSm4yMi9nNzBzMWR4SHlkcGJpN2NtaFVCZnE4UFBoK2hXelZSZnFvQzY4TmUxclFMUXo1bzBLeE5LdFNjWXg5STkyQm5DckZmYW5zeUtoTGlqRHQzdFN6ZDQzVVdzZ0ZRc3haWkEzT29ZNDR2dTk2ZGh6UHNmaVZFcHFPR0tSQUFQYXVlQ3hRZDdvRnFaa2Rrc1RZOUNGaUlpSXFJRTVTSVQ0WUdvWTdvcDJ3VGU3VTNIMit1M1ZaeG5mM3dzQ0FTQ1RDUEhUb1F4OHNpMEorVllLV1ByZmJBV3ExVldZclR0NXJRQW5yeFhZZksxUlBRd0ZmWDg2VlA4dU94S1JBQS8yOW9TdVFvLzNId3VEdjdzTTMrOHpCSjZ5OHN0c0ZxbXQxQ25FQ1EvMTljU3didTV3a0FpeDh4ODFsdjEyQTlkdjFuN1pkejRYL3pjMkNDdWVqc0tsNUdKc081NkZuYWZWU004MWY5TGVQVXlKaGRQQ29KS0xNZStyeThndnZyM2luOTNhS1BIVU1ILzBpVkxoNk9WOEZGWTVGd0lBZWhodU9NVWlBWTVmemNmMGUzd3h0bzhuOXNma1l2V3VGUHdUMzdEMWVvZ2FtMGdvUUxjMlNvVDd5Tkh1a0FLcmRxVVlPNDFSdzVKSmhIanlmajlNNk9jRlowZmU3amNIUEF0RVJFUkVEYWhQbEFwdlRncUZ2NXNNYS9lbDJhVnV4NjUvMUJqYTJRMUx0eVdaQkUxY0hNWDQ3OHdJNUJYcG9DbXJnRlFzd04zdFhWRmVBVnhKcVZ1QjJmcFF5a1hRbEZiQTIwVUtBQ2k3K1hSNzdvZ0ErTGxKTWVmTFdQUnY2NEs1SXdJdzh6NC9GR3ZMb1llaFcxTmx1MmFoRUpDSWhFakwxU0pWWFlwSmQzbGpjRWRYK0xsSlVhQXB4K1lqbWZqeFlBYmkwazB6YTJLU2lqRDkwNHZvRytXTUtZTzg4ZUtZSUx3MEpnanhHUnFjaml2RTZsMHAwSlpWWVA3b1FJenU2WUViMlZyTVdIVVJGeEp0Wi9yWTBpdENoWG1qQXRBcHhBbW40d294NDdPTE9ISDExdm1RUzRYb0hxWkMzczFpeXJweVBkYnNTY09QQjlJeHZwOFhaZzMxdzNmUFJlUGt0UUs4c1M0T1NTeEFTcTJNU2lIR0UwUDgwREhZQ1I5dFNrUmN1b1paTHcxRUxCSWcyTk1CTHowWWhQN3RuSnQ2T0ZRRmd5NUVSRVJFRFNpL3VCeUZtbkxNWDNVWmU4N1pwN2hrV2s0cEhyTlFJeVMzU0ljb2Z3V2NIRVFBQUwwZVNNc3R4Y28va28xdG5CdlN5K09DamEydXRXVjZ4S1ZwTU9rdUwweS8xeGZiVDJUallFd2VEc2JrWWNPaGRJenA1WWx1WVVyNHVFang3L0hCRUF1RkVBb0JvVUFBb1FCWXRDa0JNVWxGNkJXaHdybUVRaXpab3NiK0M3a29LYlA5dFB4d2JCNE94K2JCMTFXS29WM2RNS2lESzV3VllpU3J0VkJJUmZCMWxXSDFueW40YW1jS05LVzM5K1JkVjY2SFFDREFuQld4T0hqUk1KMUlMaFhpOEtJZXFKck52NmJhZExKU25SN3I5cWRqMDVGTVBIcTNEL3EzYzI2VTgwUFVWSHBIcXJEOHFTaDhzenNWVzQ1bW9yQ0VyYVh0U1M0VllseGZMMHk1Mjl1WTNVak5oMEN2MXpQVVNIYTNhZE1tdlBmZWU5RHI5Wmd6Wnc1bXpweloxRU1pSXFKV3F0UDhZMDA5QkxxcFo0UVNQY05WS05LVzQwaHNQbUtUaS9IWVlCLzBDRlBoeFcrdTNERlB1RWYyY0llanpCRDRTc3dxd1pIWS9DWWUwZTBiMThjVGIwME9iZXBoVUF0WHF0UGpiRUloM3Y0aEhnbVpyR2xrRHdIdU1ydzVLUlJkMnlnaEZiTjJTM1BFVEJjaUlpSWlzb3ZqVndwdy9JcHBqWmcxZTlMTU1qMWF1KzBuc3B0NkNFVE5rbFFzUUk4d0piNS9JUm9MZjBuQVgrZHlXT3VsbnVSU0llN3Q1SW9YSHd5Q3UxTFMxTU1oR3hoMElTSWlJaUlpb2thalVvaXhZRUlJdW9jcDhmMytkTE5XOG1SYnFMY2Nqd3oweHNnZTdzYnBwTlI4TWVoQ1JFUkVSRVJFamNySlFZUnhmYjNRTFV5Sno3YmZ3Tjd6dVhmTUZNVDZFZ3FBZXpxNTR1bmgvZ2ozVVVEQTJVUXRnckNwQjBCRVJFUkVSRVIzSG9IQWtMV3hjR280bmg3dUQyY0Zjd0tzVVNuRW1EWFVEd3VuaGlQQ2x3R1hsb1QvcW9tSWlJaUlpS2pKU01VQ3pCcmloejZSemxqOVp3b094dVNoVk1kYUx3QWdGZ293c0lNTHBnN3lRYmN3WlZNUGgrcUJRUmNpSWlJaUlpSnFjaDJESGZIV3BGRDhlandiUzdjbG9sUjNaMDgza29vRm1Ec2lFR1A3ZU1ERmtiZnVMUlhQSEJFUkVSRVJFVFVMTG81aVRCbmtqWjZSU3J6K2ZUeXVwQlNqdk9MT0NyNElCVUNrdnlOZW14Q01UaUZPVFQwY3VrMnM2VUpFUkVSRVJFVE5TcFNmQWg5UEQ4ZWtBVjUzVkswWGxVS004ZjI4OFBIMGNBWmNXb2s3NTE4dkVSRVJFUkVSdFJoQkhqTE1meUFRZDNkd3hjZWJFM0E1cFhXM2xvNzBrMlBlcUVEMGpGQkJMbVYrUkd2Qk0wbEVSRVJFUkVUTmtvTkVpRDVSS2l4L3FpM3VidThDaWFqMXRlMlJpSVRvSFdsNGp3UGJ1ekRnMHNvdzA0V0lpSWlJaUlpYU5TOW5DWmJNak1Ddng3T3dkbDg2cnFWcFVOSENhNzBJQkVDNHJ3SVA5L2ZDMkw2ZXJUS2dSQXk2a0IyVWw1ZWp2THpjYkZuVi95OHRMVFZaTHhLSklCS0pHbVY4UkVUVXVwMzlwRmRURDRHSWlCcUJSQ1RBbU40ZTZCanNoSlU3azdIamxMcXBoM1JiN3Vub2lya2pBaERxN1FDUmtBR1gxa3FnMSt0YmRuaVFtdHoyN2R1eFlzVUtrMlZGUlVYSXpjMEZBS2hVS2lpVnBqM2xaOHlZZ2JGanh6YmFHSW1JaUlpSXFIWFplRGdUUzdZbUliOVkxOVJEcVJPVlFvdzV3LzN4eUVEdnBoNEtOUUptdXRCdGE5dTJMVkpTVXN5V0N3U0dhRzFCUVFFS0NncU15L1Y2UFRwMzd0eG80eU1pSWlJaW90Ym53ZDRlQ1BSMHdEZC9wdUJ3YkI3S0s1cDZSTGFKaEVEUENHZk1HdXFIYm0zWW1laE93VXdYc291aFE0Y2lPenNiZXIzZUdHeXBybktkczdNei92cnJyMFllSVJFUkVSRVJ0VWFaZVdYNC9WUTJWdTFLUVc1Ujg4eDZjWEVVWStwZ0g0enU2UUZ2RjJsVEQ0Y2FFY3NpazEwTUd6WU1sZkU3UzNHOHF1djY5ZXZYcUdNaklpSWlJcUxXeTlOWmdxbURmYkQwaVFpRWVzblJuTXFqQ0FVQytMbkpzUFNKQ0R3eHhJOEJsenNRZ3k1a0Z5Tkhqb1JJSkxLYTVRSVlwaHVKUkNJTUdUS2tFVWRHUkVSRVJFUjNnbTV0bEZqOWJGdE1HZVFEZDZXa3FZY0RkNlVFays3eXduZlB0VU8zTnNxYWQ2QldpVFZkeUM0OFBUM2g2K3VMNU9Sa205dXBWQ3FFaG9ZMjBxaUlpSWlJaU9oTzRxR1NZUDZvUUhRTFUyTFo5aHU0a3FwcGtuRUVlenJnK1RHQjZCZmxEQWNwY3gzdVpEejdaQmR1Ym03bzNyMjc4ZWVxVTR5cVRpMktpSWhBVUZCUW80K1BpSWlJaUlqdURCS3hBUGQwZE1YM0wzYkEvVjNkR3YzMTcrbmtpZzB2ZDhBOUhWMFpjQ0VHWGNoK3VuWHJCcUhRK2o4cGdVREFlaTVFUkVSRVJOUW9IQ1FDdkQ4bERBdkdoeURFeTZIQlh5L1FRNFlGNDBPd2NHb1k1QXkyMEUzc1hrUjJrNWVYaDVFalI2SzR1TmppZXBGSWhMMTc5OExSMGJHUlIwWkVSRVJFUkhlcWlnbzk0dEkxV0xjL0E1dVBaa0pYYnQ5YllMRklnQkhkM1RGMWtBL0NmZVVRTnFkS3Z0VGtHSDRqdTNGMmRrWjBkTFRGWXJvQ2dRQlJVVkVNdUJBUkVSRVJVYU1TQ2dVSTkxWGcxUW5CZU9XaFlEZzVpT3gyYkFlSkVLODhGSXkzSm9jaTBsL0JnQXVaWWRDRjdHcnk1TWxXMXozeXlDT05PQklpSWlJaUlxSmJSRUlCSnZUM3doZFBSNkZ2MjlzcmNPc2dGYUpYaEFvcm5tNkxDZjI5SUdhd2hhemc5Q0t5SzUxT2gwR0RCa0dqMFJnTDZBb0VBc2hrTXV6ZnZ4OWlNUnRtRVJFUkVSRlIwOG9wMUdIRG9ReXMzWnVHdkdKZG5mWjFsSW53K0wyK0dOZlhFNTZxcG05TlRjMGJNMTNJcnNSaU1mcjM3MisydkZPblRneTRFQkVSRVJGUnMrRHFKTVlUUS96dzVkeTJDUFdTMTNxL1lFOEhySndiaFNlRytESGdRclhDb0F2WjNmang0d0VZTWx3cTY3c01HemFzS1lkRVJFUkVSRVJrUWlRRW9nTVUrUDdGYUR3MnlBZXVqdFlmRXFzVVlqdzJ5QWZmUGRjT0hZT2RJT0tkTk5VU1V3L0k3Z0lEQStIbTVnYTFXZzBBY0hSMFJIUjBkQk9QaW9pSWlJaUl5SnlUZ3dqUGpBeEF6d2dWdnRxWmduTUpoU2JyMndVNll2WlFQL1JyNjh4VzBGUm4vQmREZHVmdTdvNklpQWpvOVhybzlYcjQrdm9pSkNTa3FZZEZSRVJFUkVSa2tWd3F4S0FPTGxqMlpDVEc5UGFBV0NpQVNDakFtTjRlV0RZN0V2ZDJjbVhBaGVxRi8yckk3aVFTQ2JwMjdXcWNYdFNsU3hkSXBkS21IaFlSRVJFUkVaRk5MbzVpVE9tcGg4dUZOeUU5UEIvOTNLN0FnN1ZiNkRZdzZFSU5ZdENnUVpCS3BSQUlCQmc1Y21SVEQ0ZUlpSWlJaUtoV0pDSUJIR1VpaUVXR2JCZWkyOEdhTHRRZ0lpSWk0T25waWVMaVluVHExS21waDBORVJFUkVSRVRVNkJoMElidlQ2NEhNL0ZLb3d1NkZUS3RCYWs0cGZGeWtFREJJVEVSRVJFUkVSSGNRQmwzSXJyUmxGZGh4V28zMUI5Snh2clFqb05kajdwZXhlR1NnTjBiMzlJUk13c2dMRVJFUkVSRVIzUmtZZENHN1NjMHB4Y2ViRXZEM3BYd1VhY3NoRURzQkFLNm1hdkR4NWtUc081K0xsOFlHSWRqVG9ZbEhTa1JFUkVSRVJOVHdHSFNoMjZZdHE4RFpoQ0s4dCtFNjR0STFGcmNwMWxaZzM0VmNYRTNWNE5XSndlZ1Jwb0lEVzY0UkVSRVJFUkZSSzhhZ0M5V2JYZzljUzlQZysvMXAySDQ4R3lWbEZUWHVrNnpXNHZsVlZ6R3N1eHNtRGZCR2RLQWphNzBRRVJFUkVSRlJxOFNnQzlYYm4yZlVXUFpiTXE1bmFGQ2hyLzErV2wwRnRoN0x3cWxyQlhoNnVEOUc5ZkJvdUVFU0VSRVJFUkVSTlJFR1hhaE9LanNUTGR1ZWpFMUhNMi9yT0VsWldpeFlFNGVETVhtWVB6cVFIWTZJaUlpSWlJaW9WV0hRaFdxdGFtZWltS1FpdXgzMzkxUFp1SnhTekE1SFJFUkVSRVJFMUtvdzZFSzFVcjB6a1QzcDlleHdSRVJFUkVSRVJLMFBneTVrVTIwNkU5a0xPeHdSRVJFUkVSRlJhOEtnQzFsVW44NUU5c0lPUjBSRVJFUkVSTlFhTU9oQ0Z0VzNNNUc5c01NUkVSRVJFUkVSdFhRTXVwQ1J2VG9UMlhNODdIQkVSRVJFUkVSRUxSV0RMZ1NnNFRvVDJRczdIQkVSRVJFUkVWRkx3NkFMTldobkludXAzdUhvWHc4Rkk4QmQxdFRESWlJaUlpSWlJcktLUVpjN1dHTjJKcktYeWc1SDhla2wrUGY0SUhZNElpSWlJaUlpb21hTFFaYzdVRk4ySnJLWHhLd1NZNGVqS1hmN0lOSlB3Vm92UkVSM3FFN3pqelgxRUloYXZYRjlQUEhXNU5DbUhnWVJVWXZEb01zZHFLazdFOWxMWlllak0vR0ZtSDIvSHpzY0VSRVJFUkVSVWJQQ29Nc2RvcmwxSnJJWHZSNjRubEZpN0hEMDNBT0I4SFptaHlNaUlpSWlJaUpxZWd5NjNBR2FlMmNpZS9uOVZEYmkwaldZMk4rTEhZNklpSWlJaUlpb3lUSG8wc3ExaE01RTlxTFhBNWR1RkxQREVSRVJFUkVSRVRVTERMcTBVaTJ4TTVHOXNNTVJFUkVSRVJFUk5RY011clF5cmFFemtiMnd3eEVSRVJFUkVSRTFKUVpkV3BuVzBwbklYdGpoaUlpSWlJaUlpSm9LZ3k2dFFHdnRUR1F2N0hCRVJFUkVSRVJFVFlGQmx4YnVUdWxNWkMvc2NFUkVSRVJFUkVTTmhVR1hGdXhPNmt4a0wreHdSRVJFUkVSRVJJMkZRWmNXNkU3dVRHUXY3SEJFUkVSRVJFUkVEWTFCbHhhRW5ZbnNqeDJPaUlpSWlJaUlxS0V3Nk5LQ3NETlJ3MkNISXlJaUlpSWlJbW9JRExvMGMreE0xRGpZNFlpSWlJaUlpSWpzalVHWFpveWRpWm9HT3h3UkVSRVJFUkdSUFREbzBreXhNMUhUWVljaklpSWlJaUlpc2djR1hab1pkaVpxUHRqaGlJaUlpSWlJaUc0SGd5N05CRHNUTlYvc2NFUkVSRVJFUkVUMXdhQkxNOEhPUk0wYk94d1JFUkVSRVJGUlhUSG8wb1RZbWFobFlZY2pJaUlpSWlJaXFnc1dxR2dpMnJJS2JEMmVoZm1ycm1Eek1RWmNXcHJmVDJWajNsZVg4Y3ZoREdqTG1KcEVSRVJObzMyUUk5YTkyQjUzUmJzMDlWQ0lpSWpJQW1hNk5JSFcycGxJTGhYaXRZa2gwSmJwOGM2R2VPaGJjU3lDSFk2SWlGcVBaMFlHWVBaUXY5czZ4dHA5YVZpME1SRUE0S0dTWU5HMGNIejVSektPWHM2M3h4Q3RTbFZyNGVjcXc5dVRRL0hnQjJlUlgxejc2NHF2bjIySFltMDVubGw1MmVvMkw0OEx3cWdlSGhpNDRKUTlobXNYTGZsOEVSSFJuWWRCbDBiVW5Eb1QvZnVoWUlSNk8rQzVWVmVnS2IxVnREZlUyd0ZiRm5UQ2loM0pXUDU3Y3AyT3FTMnJRSFpCR1I2L3h4ZEZKZVZZdkNXeFR2dTN4SXNvZGpnaUltbzl2dHFaZ255TnJrNzdPRWhFbUR2QzMyUlphVmtGVkFvUlBwOGRoZm1yTHVQdlMza1kyTjRGbjgrT3JQVnhqMXpPeCt4bGwycmNUbDJvd3dlL1hNY3pJd01RNGF2QXlXc0ZkUnAvVlRQdTgwV0F1d3ovK2ZHNnplMmlBeFY0NmNGZy9PZkhlRnpQS0tuMzY5MnU1bnErdm42MkhYcUVLK3MwcnVwT3h4VmkyaWN4VU1wRk9MU3crMjBkcTlMSWQ4NGdLVXRybDJNUkVWSHRNZWpTaUdRU0lYcUdLN0Y1UVVlemRYdk81V0QrcWl1bXk5N3RDbmVsNUxaZU03dWdESU5mTzIyeVRDSVNZRlJQRHlSbGxwZ0VYQURndnM1dUFJQmQvNmpyL0ZvVmVtREpsaVFvWkNKTXU4Y0hoMlB6OFBlbHZEb2ZwN2xlUk5uQ0RrZEVSQzNmTDRjemtLSXVyZE0rTG81aXMrK2ZmRTA1WmkrL2hMWFB0OGZTSnlJd1owV3NjZDI3RzY0anA5RDJkOXowKzN5Ti96K3VyeWZlbWhSYXE3RjhNNitkemZXdnJMbUc3U2V5cmE3WDY0SHgvYnh3SUNZUGU4N2xXTjN1MVFtaENQZVZRMWR1T2FVMXlsK0JIMTVxanpsZnhPSklQUjk2eUtWQ2JIeWxJN2FmeU1ibjIyOVkzS1k1bmk4QTJIRXFHeGNTaTR3L2QyM2poRTRoVHZqeFlBWktTczI3VTQ3dTVZSHlDajErcTNKdWt0V0dZRlpSU1RtbUxJa3gyOGZiUllyRk04THh3UzhKdUpCZ2VLMHdYem5lbmh5S0JXdXZJVEhEUExpU2xsTzN6NHFJaU95RFFaZEdjT1o2SWY0NHBVWkdYcW5GS1RmUGp3bTB1TitTTFVrMnN5Ykc5ZkZFK3lCSC9IUW9BNWVTaXkxdVkrbkxmV2hYTjZqa0ltdzVsb25vUUVlc2Y2bTkyVGEvL05zOE1BUllEdUpVdC9DWEJIUnRvOFJyRTBNdzVyMnpLTE55VVdaTmM3MklBZ3dYZ1VjLzZvRzMxc2RqNDJIVFdqeFZPeHg5T2lzU0lWNE9kWG9QUkVUVWVxZ0xkSml6SWhhdlR3eEZVcVlXVVFFS0FNREJpN2ttMzNHbi85c0xpelltNEljRDZjWmxvM3E2UXk0VEFRRE9YUzgweVJ3ZDBkMERJVjRPV1A2NzVVQUVBQWdnd1B6UmdZaEwwMkRyOFZ2ZlZURkpSVmIzQVlEdjlxUmlaQTkzdkRrcEZHZmlDNkMyOEQwNWVhQTNPZ1k3WXRIR1JOeklOcit4OTNXVjR0TlprUkFMNi8va1FTSVNZTW1NQ1BpN05kNjBYWHVkTHdEWWNDakQ1TmpQakF4QXB4QW5yTmlSak95Q01yUFg3aE9sZ2xaWFlURkR1RUlQbkUwb05Gc2VXR1Q0Yk9MVE5HYnJyNlJvRUd2bHVwQ0lpQm9mZ3k0TktDT3ZkcDJKWmc0eHY3a0hnRzNIc3l3dWwwdUZlR3R5S05vSE9lTGJ2OUxxUEkxbityMiswSlJXWU51eGJJaEZBcnorZlp6aHVESWhGb3dQd2RITCtmalZ5bXVYbEprSGNhclRsZXZ4K2ZZa2ZQSkVKQjY1Mnh2Zi9wVldwL0haa3owdm9xeXBETVFzM1phRXIvOU14ZldNRWh5T3pZT2Ztd3pxd2pKMk9DSWl1a05kenlqQnpNOHZBb0R4KzZldXJxUnFjQ1gxMXBUazhuSkRuWldkcDlWSXRaSzVFT1d2d0F0akFySDlaSmJaZC9BWFQwV2hmenRuazJWblAra0ZBRmkwTVJGdnI0L0htdWZiNDQySFEvSGNhdE1NM0JBdkJ6ei9RQ0JPWEMzQTkvdk52OXNIdEhQR3UxUEM0T1pVLzh2TFlFOEhmRGd0SE5HQjlmdThib2M5emxkRGtJb0ZPTEc0cDhWMUsrZTJOVnYyMDhzZHpKWU5mdTIweFlBUEVSRTFQQVpkR2tCNWhSNGlvUUJlemxLOC9VZ28zbjZrNXJUZzlOemFaWFlNYU9lTVZ5ZUd3TWRGaHJ4aUhVYjFkTWVwdUh6TUdSNkFyLzlNeFk3VDJUWUwyQTdxNElKSVB3VitQNVZ0TE9LNzVaZ2h3RkxaK1dETHNVejhldHg2K25GdEJIdktBUUF6N3ZQRGhvTVpadE9ZR2xOalgwU3A1Q0w0dUVnaEZnbWdrb3NaY0NFaWFtRUNQV1RZL25wbm05czg4TjdaZXRjenFSNzRlR1Y4TUY0Wkh3d0FHUExHUHpiM1BSeHJtTGJicjYwemZqbHMrYUZPcndnVkFPQklyUGtVMzVVN2s0MlptbTlPQ3NXTjdCS3MzcFVLQUxpVVhJU2tMQzIrMzV1R0ltMDVxaWVyNlBYQWhjUWlMRmg3emV4YTQ0T3BZUmpaM1IxSldWb2NqTW5GQTcwOGJMNFBTeWJkNVlXWHh3YWpWS2ZITjd0VE1mMWV5dytscW12TzU4dWVGbTlKeEtHTGhuUHE0eUxGOHFlaThOYjZlSnk5YnNoMGlmUlRZT0hVTUx6dzlSWGplKzBTcXNRYkQ0YzAyaGlKaU1nY2d5NTJscHBUaXV2cEdrUUhPZUxWdFhHMTJ1ZmxzY0UxYmhQb0ljUDhVWUVZMnRVTjV4S0s4TnlxSzVnejNCK2RRcHh3L0VvQjlnWGw0czFKb1hoNnVEOVc3MHJCcnlleVVGNHR6aUVXQ3ZEQ21DQUFnRVpySGdUcDE5WVplajF3K05MdEY1M3QzODRaeGRvS3VEcUtNYjYvRjlic3FYdTJTM082aUhwNVhCQ20zTzFqL1BtdFNhRjRhMUlvZHB4UzQ4MGZET2U1WDF0bjlHL3JncTVoVGlacDFZZGo4NUNlVzRvSGVubWFYY0FTRVZIenRmbG9KazVlTlMxTTJ6blVDZVA3ZVZuZDU1TW5JakM0b3lzQUlFVmRpbUZ2bTkrVUw5bWFpTlYvR2k3QlZqM1REai9zVDhmdXM0WmFhdXBDMjlrSTE5STBpRWtxd29UKzNsYURMZy8yOXNUMWpCTEVKSmxQTVRrZFo3aEJEL1YyZ0VvaFFsWjhHUTdFNUpwa3NuNjAyWElHYlVKbUNhWi9ldEhpdWdoZk9iNzhJeG1yZDZYaTRidXNmejYydFBWM3hJNVRhbnp5YXhMY2xaSmFCMTBxTmNmelpVL3B1YVc0ZWpQclNYdnpmS1ZrYTQzTEZGSkRkbTVTMXExbDNpN1NSaHNmRVJGWnhxQ0xuVlR0VFBUbzNkNW80eXZIL2d1NXRkcDN6bkIvcSt2ODNXU1lPY1FYRC9ieGhFWmJnZmQvdm80ZkQyYVlQR0VxTENuSDU5dHZZTjIrTk13YTZvL1hIdzdGekNGKytHUmJFbmFmdlZVSWIrbzlQaVoxUmtLOEhMRDExVTVtcjdubjNhNDJ4MnVwNkc5Vkhpb0plb1Nyc09GZ09vSzlIREIxa0E5KzJKY09YVVg5ZWtnM2g0dW8zMDVrSS9aR01TUmlJZDU0T01RNHBnSFJMbGozb3FFbVRxOElGY3JLOWJpWVZBd25CeEY4WEtYby8rOFR4dURYUFozY1VLRFJ3ZDFKd2c1SFJFUXR3RC94aGNaczBFcTZDcjNONzUvdjk2WGpyN001R05IRDNaajFXZDJWbEZ2VGhmUjZJREd6QkNldTFyN3IwTnA5YVhoL1NoaDZSNnJNdXZQMWpGQWl3aytPRDM1T3NIbU1vVjNjQVFCT2NoRitlS2s5bmxvZWk4a0R2VEhEUWowejROWVVwRXJWYTd4Ti92aENuV3U0VmZmZVQ5ZU54NmhQSTRIbWVyN3NaZEcwY0N5YVpycXN0dE9MaUlpbzZURG9jcHYwZXNOVHArLzNwMkg3OFd6amt5SnZaNm5aQllvdDFhY1hSUWM2WXZaUVB3enE2SXBDVFRsVzcwckY5L3ZTa0Z0a3ZmaXJ1bENIRHpjbVlOMytOUHhyWEREK096TUMvOFFYWXRIR0JKU1Y2ekYzUkFBdTNpaEdzS2NoOEpLVlgyYXM1K0xySnNPYzRmN1krWThhQjJvSUZsbWJRMTVwUkhkM2lJVEExdU5aY0ZhSXNlTHBLSXpvNFk2dHh5elhpYWxKYzdpSU9wOVloUE9KUlpCTERVR1h5akZGQnptaXZNTHdlYTdabTRhbFc1TlFWcTdISytPRDhXQnZUNU5zSTRsSWdCMG4xYmllcVdHSEl5S2lWdXJZRlVNUUpDcEFZZkg3cDArVXMxazNvcXFabHZzdjVLSzhob2NVTzA2cU1mTStQN3c2SVFUalB6eUhVcDFoZTVFUStOZTRZS1RubG1LempYcHlBZ0V3dG84bmJtUnIwVGxFQ1pFUVdQNTBGQlp0VEVCaVZzM1pveU82dXlQTXgvUzkzVzdBeFY3SHFDdDduNiszSm9WaVhGOVBpNjlWMDBPdDZ0ZU5HdzluNHEzMThjYWZxMDR2cWkxT0x5SWlhbm9NdXR5bVA4K29zZXkzWkZ6UDBLRHFOVkplc1E3L1dYKzlWc2V3MUwyb1dGdU9RRThITE42U2lKOFAxYTBtU2xLV0ZzK3N2SXlCN1Yzd3pNZ0FDQVRBaFA1ZUtLL1FZOEdhYS9qdXVXZ0FoZ3laeW1ER28zZDdBd0IrMkorT2s5ZnEvL1JHS0RCME5vaFBMekcyUzd5U29zR00rM3p4Ni9FczFEUFpwYzRhNDZJWEFENzRPY0ZZU0RlN29NenFCYU5ZS0lCY0trUkJpYzdZNFdqMi9YNFkxYVB1Yzk2SmlLamxpa2tzd296UExFL1JBWUM4SWgyZUdSbGc4eGk2Q2ozZStmRTZ2cG5YRGk4K0dHVE1hbmxxbUQ4aS9SU1l2K3F5emV1R0laM2RrRlZRaXRJeVBhNW5sQ0FydnhRUDl2YkVqUHQ4TVdkRnJObjA1T3FpL0JWbVFaZldxcTduNis5TGVTalFsSnRzMHkxTWlZN0JqdmhoZjdveFFGYVZwWmJSQUhEdVpsZWlVcDBlbmVZZnE5ZjRyNlpxOFBQZkdUVnZTRVFtMnJScGcyM2J0algxTUtpVllOQ2xIdlI2SURQZmVtZWlkelpjeHpzYmFoZHdBWUJkWjlSbXk2NW5sT0NoaGVkczdtZHJpZzlnQ0J4VVRuR1Npb1U0ZGEwQTE5STBGcmNkME00RlJkcHluSWszYjB0WUY4Tzd1Y1BmVFlaRkcyL05CMSs1TXhrZlBSNk8wVDA5ekRKV21vbzlMbnByUXlVWG9hU3NBajNDRFVVTjAzTU5iY092WjVSZ3dabzRISXpKdzNNUEJMTERFUkZSSzFmNUoxNWRXSVpMZG1qbmV5cXVBUC83eTFCc05qdS9ET3JDTWp4NXZ6OSsvanNUZTg1WnoxZ1ZDQXpCbVI4UHB1UCtydTZvcU5EampYWHhLTkNVbzdSTVgyUEE1WFpNdXNzTFBXOFcrYTEwOG1vQjF1MVB0N0pIMDZuditkcjVqeG83L3pHOXJ2djNROEhvR095SWp6WWxXcHhxYmF0bGRLVzZaRTliTXV6dGYweTZOaElSVWVOaDBLV090R1VWMkhGYWpmVUgwaEdUVkdSY1BxU3pHeGJQQ0xmTGF5emVrbWhzOGFpVWkzQm9ZZmQ2SFdmZ2dsUEc2VWcxWmE4RWVUckFVU2JDcWY5YWJrbG9hV3pWeVNRQ1BEc3FFRGV5dFZoLzhOWUYxQituMVpnOVZJTm5SZ1pnNXovcUp1MWtaTytMM3ByTUd4MklpZjBOMDZDS3RPVTRmTWswTGZqM1U5bUlTOWRnWW44dmpPN3BDWm1Fa1JjaW91YWlzbWk2UFNnVmhpS25lY1U2OUcvbmpKbjMrWmx0cy85Q0x2NzNWMnF0ajdsMFd4SkN2T1I0Wm1RQTlIcGczNFZjdkxzaDN1WStrKzd5aHArYkRMK2R6TWI5WGQyTnl6L2FsSWpvUU1kYTM5elhwLzF3K3lBbkRPbnNacktzdEV3UHdENUJsK1o2dm54Y3BNZ3IxdFc3dGgwQVRGa1NVKzk5QVNBemorMmlpWWlhQ29NdWRaQ2FVNHFQTnlYZzcwdjV4bmJMbGM0bkZocnJvMWpUTzlJWm8zcTY0NzliazZDMmNiRnlQckhJYk5uQm1EenNPWjlqWVd0emd6dTRZa0MwYzgwYlZyRmtTeUtjSEVRVzEwbkVRc3dkNFE5blI5N3djbGdBQUNBQVNVUkJWTEd4R3I0bHM0YjZ3ODlOaWhlL3ZncGR0V2sySDI5T3hKZHpvakJuZUlETkp6bVdOTmVMcU5yWWRqd0wyUVZsMEdncnNPZGNEdFNGcGpWNTlIcmcwbzFpZkx3NUVmdk81K0pmRHdVandGMW1sOWNtSXFMYlU1OUM3dFU1U0lSNGFXd1F0S1VWMEpicG9TM1R3ME1wUVk5d0piN1lrV3pjYm14dlQ1Tmk5N1hoNnlxRlJHUUkxZ3NFZ0orckRPMENIWTNUZXkxNW9LY0hmam1jWVRZRkJnQnVaSlhnNVcrdjF2aTZEL2IyUkpTL29rNWpCWURYdjQrcjhWcnBkalRYOHhVZDZHanorc21XQ2YyOThQcEUrOVJrK2ZyUFZDemRsbVNYWXhFUlVlMHg2RklMVlRzVHhhVmIvdEpNelNrMW1UcXo5dmxvSEk3Tnc3TGZibjFCSzJRaWpPcnBqai9QcUpHVXBhM1RHR0p1Rk9HblE3V2JrK3Z0SXExVDBDWElVNFpaUS8zeDFjNWtrMjVIQU9EbUpNWW5UMFJDSVJOaDNzckxWZ3U0ZFczamhKbjMrZUhrdFFLTDA2VU94K1poOTlrY1BEYllCM3ZQNTlTcGJreHp2SWh5VjBydytEMit1SytMSzJaOWZzbnFkbWZpQzAybWJQMTNaZ1FTTWtyTUxucUt0UlhZZHlFWDhla2wrUGY0SVBRSVU3SEQwUjFHWDFLQy9CWExBWWtVemsvUEFZUTgvMFJOclQ2RjNDc3BIY1J3a291dzRlVU9DSENYSVNhcHlPd2E0b3ZmYjMzLzlJbXMvZmUydDRzVWo5L2ppNGY2ZWFLaUFzWXB2Zk5HQitEN0Y5cmp6My9VK0dwWENtSXRaSFJ1T0pTQmZWWWU0dVJyeXJIamxQbDNlSFZkMnlqckZYUnBhTTN4ZlBXTmNvYVBxeFRyRDlRdm0yZjNHVFZpYjlqT3pCM1gxeE5qZW50aTJsTGIyVERwZVp4ZVJOVGtkRHFralI4THhjaFJVTTE2RXZsZkxJTmVxNFh5c1drUXVydlh2SDhkcU45NERRSUhCN2d1ZUsxTysxWGs1U0pyM2pNUU9EakFjOFZYWUEyRTI4ZWdpdzNXT2hQVlpHQjdGM1FLY2NJUFZ1WW9iMys5czlWOUI3OTJ1bDRwdTdjalZWMktQZWR5c0hCcU9FNWN6Y2ZDWHhLUWtGbUNjRjg1UHA4ZEJRZUpFRE0rdTJqMXlabWZteFNMcDBjZ3U2QU1MLy9QK2hPeWR6ZGNSNDl3SlQ2Y0ZvNUhGcDlIUmkxVFhadkxSWlJNSXNBOW5ReHRxSjhkR1FCZHVSNS9uYzJwMDkraGpzRk9jSFd5L211WG1GV0M1MWRkeGJEdWJ1eHcxSXpsZi9VbGREZHV3UFdWVnlGd3VCV2sweVVsSWV2Wk9YQjZlQktjSmo5YXAyTUtwRklJWFZ4UXRIa1RoQW81bE5ObjJudllSRlJMU1ZsYXE0Vkx0NS9JeHZacUJVK3JVOGlFR0JEdERKVmNoTGcwRFY3NCtncVdQeGxsOWxDaStsU2VlQ3NQZGdCRFo2TCs3Vnd3cm84bkJuWndnVjRQL1BKM0pyN2FtWXpNZk1QMzZaNXpPWGhtVkFCR2RIUEgwSzV1T0pkUWhFMUhNdkhuR2JWeHV2R21JOWE3R3JWVXpmRjhBWVpPbG05UERvVzZVSWVmRDlldm1LMjZVQWQxNGEySE53T2luVEZ2VkNDV2JrM0MzemVuTFBlLythRHQ3TTNDdTUvT2lvUzZvQXpmN2tsRmZIck4zYWlJcXNxWU1RMFY2cHFEcnhhSnhmRDVlWlBKb3JUeFl3R2Q5ZTZyTmc4WEVncVBwWjhhZjFhLytncEtMNXl2MzlodWtyUnRCL2VGaTZBdktrTDZvNU51NjFpVlBMLzRFaUpmOCt4NWk4UmlRQ1FDZElac1E2Y0pEeVB2aTJYSW5QTWtIQithQUtlSkR4czMxY1hISWV2NStTYTd1Nzc2T2lUaEVjaVlQdFZrdWVxcE9WQU1HMjd6cFMxOWZwV2ZoMUZGQmZJK1dZcUtnZ0lnTHc5Rld6YkQ4Y0d4dFh0dlpCV0RMalpZNjB4a2kxSXV3bXNUREdtZ0kzdDY0TzlMZWNpcDF1YjVnNThUa0pWdk9lQ1FYMXkvUDBxM282eGNqeS8vU01adko3UHc2b1FRYkh5bEk3WWN6Y0x3N201UUYrZ3c1YjhYY0NQYmNtYU9sN01FSzU1dUM1VkNqTWMvaVRGZStGbVNYVkNHMTliRzRkTlprZmppNmJhWXRld2kxQVhXMzI5enVvaDZabVFBSHIzYkc0NHlFVzVrYS9IejN4bllmRFFUNmdJZDVEY3pVc1RDVzlHUkQzNU9NSGFUcU9Tc0VNUExXWUxkWjIxL2tXbDFGZXh3MUp5VmxVR3pkdy9FUHI0bUFSY0FLRG55TndEQW9WLy91aDlYS0lUeThSblFhMHBRdEdVenBGMjZRdGExbXoxR1ROVHNGQllXNHR5NWMramF0U3NjSE9vMnBhWWxLTlpXNE1UVkFweFBMTVIzZTlJd29KMExmRnlsMkhmZXRNQnQ5WUx1bHE0Tkl2MFVlR3l3RHdaMWNJR3pRb3lzL0RLczJwbUNEWWN5ekxaUFZtdnh5bmZYc1BLUFpEdzJ5QWNqZTNqZ2pZZEQ4T3FFRUp5NVhvQjNmcnh1dGFEK25jeWU1NnRTOXpBbEZrNExnMG91eHJ5dkxpTy8ySHc2VjExMGE2UEVVOFA4MFNkS2hhT1g4MUZZWlhxWUFJQWVoZ3RWc1VpQTQxZnpNZjBlWDR6dDQ0bjlNYmxZdlNzRi85eG1vd1M2Y3ppT0dJV0tZdk1IcmVXWm1TZzVzQit5YnQwaERyRTg1VTBnTXIrMWRILy9RMEJ2K2NGMS9qZGZReUFVUWpudGNjdkhxL2I5NEREZ0xrakNiOVhRTEwxNEVXV1hZNkVZTmh3Q21mbjBmTTJldndDUkNQS0JkeHVYaWJ4OURNZVd5K0grNFVkbSs1Um5aeU4zMFVLb25wZ05TVVFFQUVDWG1JaThaWi9CK2JubkliWVFYQkY1V0c0VGI0M0F3UUY2bmVIdmg5RERBNjZ2djRtUy9mdWd0eEtjY24zOVRRaWRuSkQ5eXI5TWxsZU9KMmZSUXVNeTlSdXZRZVR1RHVmNXoxczhsamdrRkk2akh3QmdlSWdvVkNwTjF1ZDlzUnphVXllaGV2SnBsS2VubytDNy8wSGs0UUdIQVhmVjZUMlNLUVpkcXFtcE01RXRTcmtJWHp3VkJYZVZCS3QzcGVMUlFkN1kva1puL0hvOEd3Y3Y1c0pOS1FFQUhMeVlhM0Y2a1ZCZzZESWtFUXRRckRYOTR4VHBwOENZWHJXNytZNzBxMS9LYjFLV0ZrOTlFWXNSM2QyeFlId0lIR1VpZlBCemd0V0FTeHR2T1pZL0ZRVXZGd2xlWFJObnNSWk5kZnN1NU9MejMyN2cyWkVCV1BOY2U3ejB6UlZjckNGdHRyN3NlUkZWVWxxQnc1Znk4ZE9oREJ5T05aMWlwU210UUdGSk9RWjFkTVhtbzVrV00zaFVDaEhtRFBjSEFMT3BVcGF3dzFIenBUbDBFUHFpSXNqdnZROWxWNjhnKzZVWHpMYkptditzeFgyRnppN3crbmFOemVPclpzMUc2Y1VMeVA5aU9UeVhmUUZJSkhZWmQxMlZuajhIOVdzTG9IeHNLaHdmbWdEZzVoT1MyRXZHcDFnbGZ4OUNicFV2K2tvQ21Rd2lMeTg0OU8wSHg0Y21XTHdRc3FmMGg4ZERITnJHOUVtTkJXbmp4MExrNmdyUHI3NjJ1azNXczNPaFMwcUV6eStiRFUraWJDajhZUjBLZi93QjdoOStCRWxVMjNxTi9VNmxWcXZ4NXB0dm9xeXNEQ05Hak1EdzRjTVJFQkFBUjBkSFNKcm8zendBN0hpemk5Mk85WDgzTXo5RlFtRHVpQUNjU3lqQ3NTdjVBSUNERi9NdzQ3T0xPR0hoKzBBdUZTTFF3d0hKYXNOM2IycU9GbTI4NVRnYW00OXR4N053NkdKZWpRVlo0OU5MOEo4ZnIrTy9XNU53ZjFkM2pPN3BnY3ZKR3BzQkY3bFVpS01mOWFqMSs3T1ZsZnZ0WDJsV2krN1hWa3hTVVkxdGtwdmorZkpVU1RCL2RDQkc5L1RBald3dFpxeXluaWxjRzcwaVZKZzNLZ0NkUXB4d09xN1FiQnh5cVJEZHcxVEl1L21BVDFldXg1bzlhZmp4UURyRzkvUENyS0YrK082NWFKeThWb0EzMXNYVmVYbzczWGtjeDArd3VGeDcvQmhLRHV5SC9MNGh0WDY0bFA3SXc5QVgxM3lkbi8ydi8yZnZ2c09qcVBZM2dMK3p2YVVuSklGQWdFQ0FoTjQ3S0VXYWdHREhhMFc0S3NyUGVyRlFCQkdscUNnV3NGejFJbElVUlVWcGlvRDBKaUM5UTBoQ2V0bk45dDNmSDVzczJleG1zeW1ia09UOVBJK1AyWmt6TTJjU0lMdnZuSE8rTDVhNlQ1RExFYm5xT3dDQWF2Z0lsMzNhYi80SDg1blQwTnh6SDBRaEllNTlQbklFZ2t6cWVmU3dTT1R4ZDdjb0pSa0FJR25jMkcyL05MWXBKTTJhZSt5bi92Y3R5UDFnY2FuMzRhbTkvdmN0YnR0ejMzOFA2bkhqRWZEZ2pTQksyanpPNC8wVjlVY294KzlOY1ZnWWxJTUd3M0w1RXV3R0F4UTllemwyV0szSVhmb3g5SnMzUWpWc3VPTjdiYlBCbXBtQm5IY1dJakEzRjZxUm8zeStEcmxpNkZKTWFaV0pmTkcxUlFCbTNkc2NEWUtsZU83enM5aDJQQWZyRDJiZ3FSRXh1TE4zQk83dGQyTXF6Qyt2ZFlEVlZ2Uk13akZOcnZnb2lYVjdNekI5aGV0Q2N3UGJCbU5nMitBSzMxdDUvSG93RXdmTzVlSDErNXJqalFuTjBUTStDRyt0dmVUeWxHWndoeERNZlNBT1Zwc2RVNWFlY1E1eDljV25tNUtoa0lydytOQ0crT2I1Uk14ZGZRbmY3NzRSY04yTWI2SSsyNXpzOVRxcmRxVGhzU0hSMkRLN2s5ZDJ4eTdyc1BXWWJ3c2lGMkdGbzV1TDdvZTFFT1J5S0FmZUFsZ3RDSHJhTWV6VGJqUWliOWtua0xWcjc5am5nVS9oZzBTQ2dBbi9RdmE4dWRDdC94bnFzZU9xc3Z0K0lXbldETEw0VmdBQXU4ME91NzRBNW5Qbm9GMjlDcWJqeHhFNlp5N1hxQ0dQOHZMeXNITGxTcXhjdVJLdFc3ZEdRa0tDODc5bXpacEJKcE5WYTM4K1dKL2tuSWJqSzZWTWhCZkdOaWwxLzh0M05rV3JSaXBNWEhJajRNL01ON3VFRnMrTmFZeUhiNDEyT1c1dDRlL0ZmTDBWRTk0NVhxNCtGY25YVy9IZHJqUjh0NnZzcVMwbWl3MnpWbnF2ZkZSa1JKY3d4RVVwSzlTbnFuUXovcndLakRaRWg4angrWlprZkxvcHVkSVZHeTFXT3dSQndKT2ZuTVpmaGV2cUtXVWk3SjdmRmNYZU91Si9XMTFETHBQRmpoWGJyK09IUGVtWU1DQUtmZG9FSVNXYmE3cFF4ZGtLcDdtSmdzdjNlVVRSdDU5elpFVkpaWTEwMGYzOEU0ejd2WWV2bFdJeUlmWHU4UjUzWmMyYzdyYXQ1RlFmQUdqdzM2OGhDZ21CdEdVOEFoNSt4S2ZMNm43OEFhS1FFQ2dIRFBTNFgxcjRuc3FmREh2M0FoSUpGRDE3d1phWGg1eEZDMkE2OGpjVUF3WWk4UEhKamtZaUVZS2ZmUjU1S2pYeVBsMEs0K0ZEQ0p6OEJNUVI1UnZaUXd4ZG5MeFZKdkpGb3pBNWtyT05lT0tUVTg2bkNPZFM5SGoyODdOUXlrUkliS0pHZ3lBWkFsVmlTTVVpQ0FJZ0ZnbU9Fc2FDNi9wRWZ4N0xjVHYvc2szSldMSSt5YWUrVEJrWmcwbERmWnhYV0lxMFhET2UrT1EwN3U3VEFJTTdoc0pzY1gycWR2SnFBVTRsRldETzZvc1ZXcEgvZy9WSnVKSnV3TzNkdy9IYm9VeTNmVGZibTZpeUxQN2xLbmFkemtIckdEV1VVdmNQbHlhTEhaZlREZGh4UEtmY0pTTlo0ZWptWWR5M0Y1YkxsNkRvMncrQ3lqR2lURGxvc0dQZmdmMkZyd2RCT2ZEV1NsM0hrdXdJK2JUZmYrOFlNcXVvK1E4MzNzZzdkWFo1SWdNQXNObVEvZVliTUI3WUQrTytmWkQzN0Zrem5hT2JtdDErNDkvRFU2ZE80ZFNwVS9qMTExOFJIQnlNSmsyYVlPalFvUmd3WUFCQ1EwTzluS1hxckQrUWdlU3M4bjB3RFZaTHZQNytTYzgxWS80UGw3MHVJUC9id1V6a0ZsaGdNdHRodHRwd0tjMkFQYWZ6eXRXUGlpZyswdE5xOC8xM25xL3QvTzFtL0hucGpGWTh0dVJrcWNkNmN0ZjgwdGVvT0hRaDN5MTAwNXRzZUhYNWVhamxqdEY0VnpKSy8vT2lOOW53MmVia01oOGVFWlhGbXVZSWI4VVJ2aGV5QUFCUmNJaHp5azV4b2EvUGdVaXRCc1JpMkhRNlpNK2U1YkkvWk5xckVBVzdqKzd3aDRDSEg0RzhVeGNBZ0RVakhkbHpYa2ZRVTFNZ2pYZU1kTEZjdm9TY2R4WWkrS1Zwa0RTS0FRQ1lUcDFBM3NjZk9jOGhhZElFa2lhbC85dFNuR0gzYm9nQ0EydjB3WnBoNzI3SU8zV0c2ZmcveVAzd0E5aHljNkVhZFRzQ0gzdmM5WU9wU0lUQUo1NkV0RlVyNUMzOUdPbFBUSUptM0hobzduK2d4dnBlRzlYNzBNV1h5a1MrV0xjM0ErdjJabmpjcHpmWlBJNm04RVcrM2xybThOcVNscXhQOGhyUTlKbDIwT2R6cmQ2Wmh0VWVxaVpkeXpMaW9jWGVWOGt2eTdwOUdXNEw1QUkzNTVzb1grdy9tNC85Wnl2MmMvWUZLeHpWTUlzRmVWODZwcVdVbkdNTUFNYS9Ed01BNUIyOGozYnloZkhRUWNkODMvdzhGR3pjQ1BXWXNaVStaN1VUaWFDOGRSQ01CL2JEZlBGOHZRbGRpb2NJVmRHdXNzZFY5RG9WNWV2MUxCN21yUmNkcTlmcm9kZnJrWnFhaW4zNzltSCsvUG00NVpaYk1HYk1HRFJ2M2h3S2hRSXltUXhTcVJTaUtocEJWZGJ2VFc5eWRCYXZ2NmVYYnJ4VzZyNGlKNU1LL0RiVnRpN2l6d3Rscm10SFZOVXMxNUlBaVFUaWNsVFlpVnl4cXZCZ0N5Sy9XZW15VDFBb29QdHBIUUJBM3JrTG9uNzgyZTE0ZWMrZUNKejRlTVU3N1NOeFdEZ2tzYkdPZnNrY1UzWEVEU0tkMit3R3gyZEVTWFMwYzVzMTAvUG52dFJ4WXdDYjV4RnVrU3RYUTFBb0lkSm8zS1pkNmI1YkEvTzVzd2g4Y2dwRWdZR1Z2eWt2YkptWnNKdy9EODNZY2JDYlRCQTBBWkExYm9LQ1gzNUd3Uy91UDRjaUVSOHRSZjd5cjUzcjRwRHY2bTNvVXRIS1JPUS9mQlBsRzA4VmpnNGVQQURBOVFOUDBkZENZVnJ0YVordlh3dUNVT28rWDg1UlZoOThQVWRGanZmMHVqem5HRDdjc1JLOGJ0MFBzQ2JmZUZKb1NVcEN4cFFuM001WmNqWDVrdVRkZTNndDNXZkx6b0xwK0Q5UURSc09TM0l5ZEQvOUNQWElVWTdWN3N0Z1RVMkJkdFZLR1AvK0d6WnRQc1FSRGFDODVSWm94dHdCRkUzVHNObFFzSEVEOU51MnduTDVNdXdtRTBTQmdaQzE3NENBQ2YrQ3VFSDVubUI1WTh0M2hKYmljTmYxcUt6WGtxRDkvanVZamgyRk5Uc2JnbGdNY1V3TTFNTkdRRGxrYVBudnllMGJZVVhPb2dVdzdOb0p6VjMzUURPaGNrOWpVc2VOZ1dyRUtBZ1NNUXArK3hXUXlSSDhqUHNRWXdENCtPT1BBWlQvejNmeHIwditXZmYxK0tMWG52NitWYVFQNWIxdWFmczh0ZE5xdGREcGJremo5WFk5azhtRWpSczNZdVBHalFnTkRVWFRwazBSRlJXRi92MzdvMCtmUGxDcGJyN1N4VVJFdFkydmE1S2tqaHRUWnB1QWh4OXhHY1ZoMkxmWDQwaVhJc1pEQnoyT2RLbXVCelk1aXhZQWkxd1gxZlYxZXBFbmlnRURJVzkvbzFxdDZmUXA2RGR0ZEw0V2hZVEFkTHpZQ0RhckZicGZmNEZJcFlKSW95bG43OHZQa3BvQ0FCQ2tNc2g3OW9TaWJ6OVlybDZCK2N3Wlp4dnRxbThocURWUWo3cmR1VTBjRllYZ2w2YjV2WDkxVWIwTlhTcFNtWWpvWmxHeXd0SDdyN3hTYXR1eW5qejc4bVM2ckRhZVBpVFdWRi9LYXVOclg0dk9NM3o0Y0ZndVhrRCt0eXNnYWRZYzFzSUYxc1FoSWM3MVhLenA2ZEN1WEFGRjd6NlFkL0crRUdWWjgyRDEyN1lCTmh1VXR3eUNUWnVQN05kblFyOTlHNVMzRHZKNm5PWHlaV1JPZXhGMnF3M3FZY01oYnRRSXB1UC9RUHZOY2xqT24wZndOTWVma2J4bG42Qmd3MitRZCs2Q2dBa1BBQkJnT25FY2htMS93bkxsTXNMZmZkL3JkWHhoTitoaFBua0sybFVySVk2S2hxSmZmK2MrYTBveU1sNTREcEJJb2JydE5vZ2pJbURMeWtMQjVrM0kvZkFEaUFJREllL1JzMXozNUtKWTRGSjhFZURLTXV6WUJvakVVQTBmQVV0eU1xVHhyV0ErZDg2dDNlZWZmMTRsMTZ2clN2czdXRmJZazVXVmhheXNMTmp0ZHV6Y3VSTk5talJCMzc1OUFiVDNhMytKaU9vNlNkT21VSS96dkw2SlhhZER3Y1lOa0xadURWbENZcG5uS3JrbWlhSjdENDhqWFdRZGJxemo2R21rUzNHNVM5Nkhmc3Rtai92S2V1Q1ZPdloybDlmS3dVTVFOT1VaNSt2aTA0dDhWWEo2VVhHeStGYk82ZWNBQUxIWUpYUVJSMGJDdXUxUHg0Z1lrUWlHdlh0Z3k4cEM0RU9QT05mQUsxN2V1Zmo5WmMrOUVWWVZENEh5UHZrSXVwL1d1VDNvOHRpL3hMWlFEaHFNM0k4L1JFUzdkaERVYWtnYU40R2s4WTFaQTdwZmY0RTRMTnoxUHFqQzZtM29ZcmJhWVREWndMeUZhak9EMlFhejFRNmo4VVkxQXFFQ0pZNHFja3p4NDhvemhjSGJ0VXJiNTJtN0w5Y3M3MzJWMXI1Z3d3Ym5ZbUtaMHh3cjdBdHF0Zk1YVWNIUFB3RUFWQ05HUWRhMmJibXU2Y0ptUThHdnYwRGNLTVpacGxBU0d3dmQydThjaS9ONm1VcVI5OWt5MkUwbWhDOVlCRW56T0VkL2JodUdYS2tVK3QrM3dIeitITVNob1NqWThCdGtIVG9pWk1hTkowcXFVYmNqNSsxNU1PemVCY3ZWS3k2L2RIMmhXL3M5ZEd1L2Q5c3VDZ3BHNkt6WkxtdlM2SDc4RVhhOUhtSHpaa0hhSnNHNVhkRzdMekttVG9GKzI1L08wTVdYZTVMRzNTZ2RDYXNWT2U4c2hHSFhUZ1JPZkJ5cVVaNFg3cXNJVzI0dXdqLzRzTXp2VGRPbVRWMytYZ2lDNEh4ZDh2OUZQTzMzcFUzUi80dVBidkYwdmJMMkY3OUdhZHZLdWhkZi9sLzhIQVVGQlRoeTVJakx2MTNsSVpGSVlMUFpvTlBwWURBWUtuUU9JaUs2UVJyWHd2VjNhakg2TFp1QmpSdWd1V084ODNkMFdieUZKT1dsSER3RThrNmRIV3ZBRkdNNmNSem1zMmVoR2pIU1l3VWZUeVdqZ1dLaGtFeFdadGhUR2tsc0xGUzNEYS9Zc2RFTkFiTVoxdFJVaUtPaW9GMnoydTBoVmVERXgyRStkeGE1SHk1QjhIOWVoaWdnQUZuVFgzV01TbTdVQ0RsdnowUFFVMU1nam02SW5FVUxvZXpYRDRxKy9aRy8vR3VmK2hEdzRNUFE3OWdPM1M4L1EzUFB2Ulc2RC9KZHZRMWRobmNPUTN4REZhY1hVYTBrbDRoY3BoYzFYclNvMUE5cEpiOHVxYlIyM3M3bjYzVXEyd2RmejFIUjQ0dVBldkYybktKL2Y4Z1NFMHRkSU0xdzZBQUVoUkt5MXBVckcyellzUjNXdERRRVBEclJ1VTF6MXozSVdUZ2YrcTEvbFBxMHdhN1Z3dlRQTWNnN2QzR0dFMFVDSG53STZ0RmpJR25ZQ0pCS0VibjhXOER1K3UrZDNXQndMZ3hzMTVmL0Eyeng2a1VBWURlYVlFbEpodm4wS1dTKy9CK0V6cHdGU2RObUFJREFTWk9oSGo4ZTRnYVJyaWNwTE05c0wvd0E3Zk05RmJIWkhJSEx6cjhROE5BamxROWNTdng1RUVkRit4UkdmZis5ZS9oRTdxNWN1WUtKRXllNmhTNmV3dFRpZnhlam9xS1FtSmlJdG0zYklqRXhFVzNhdElGS3BjS3ljcTU5UnBYVElscUp0eDZNd3h1ckwrSHZpMXFQYmU3ckY0bVg3NHpGeURsSFdLYVlxSllyMkxMWjhUNm5RMGZuTktTd2hlOUEycUpscWNkbzdyd2JxaEpUaG91enBxY2paK0Y4YU82N0gvS08zdGZERXdVRlF4d1ZCVVdmdmk3Yjh6NWRDdlBac3doOGRLTEhhZGhlUzBZWEtqa0twcndpbG4zbS9wNm1ETklXam5ETGZPNHNqSWNPd0hMeEFvSmYvSS9MdzdYaXBhbGxyZHM0U2tZTEFpU3hzYzd2dTdSRlMwZkphTGtNNG9hTklJMlA5N2tQb3FBZ3lOdTJnL0hnZnBoT25ZRHA4R0czTnBiejU5MitQOFZMZUpQdjZtM29JZ2lPTncwdmptMkNnVzFEc09qSEs3aVV4cWRsZFBPTENWUGcyVEdOMGJ0VklOUUt4d2ZWcmwyOVQybWh5cEVsZWgrOVlrMUpnZDJnUitxZGQzaHRWM0tPc3d1VHNYQnhza2lvUjR4MGJsYjA2UXZKbWxYSVg3RWNpajU5UEZZeXNxYW5BM1k3SkkwYnUrMFRCUVZERkhTanZLT2dWanNxQ2gwNEFFdnlOVmpUcmpzcUVoUjkyTFdYUDREMldMMElnUEh3SVdTL1BoTTVpeFlnZlBFU3g1c0pzUmlDUkFydG1sV3dYTGdBUzlwMXgvZXZjRUU1ZStIMXkzTlBBR0ErY3hybXM0NjV5S1ovamtGOWgvdjNXWkRMWVRlYjNiWVhaemViSFFGUWlWRkY1Vms0a01yUFc5Z2lrOG5RdDI5ZkRCOCtIQzFhdEVCSVNBZzBHazJGUitoUjVmMXJZQlJpSTVSSXltU1lRbFRYbVUrZGhQblV5Y0pxaXU2RkJFb2pqb3FDT0tyMEJWZHQyWTVxcllvKy9TQ0ppYWxRMzZ3WkdSQTBHcC9XdlN0TjJOc0x5bTdraFRqRXZicGUzcWRMa2ZmcDB0S1BpWXFHS0NnSStxMS93SFQ2RkJTOSs3Z0ZTZ0JnTnhjdU9sLzRZTXJKV3JpOUV2Y05BS0x3Y0ZpU2toQjAvd093OXUzdnNzL1RtaTRBSUZUeW12VlZ2Zit1cWVSaURFZ01Sc3RvSmVhc3VvU0Q1L001Nm9WdVNuS3BDTzFqMVpoNWJ6TTBpZkQ5bHg3NVg4QkRqN2l0UWwvRWJqRkR1MklGYlBsNWtEU0pMZlVjMmpXcllVMVBkeXhRVnZ3WG1pQWc4T0hIa1BYNkRHaS9YZUh4YVkyOTZKY3Z5dmdRYWpZN3lqZ2ZQZ1J4b3hqSTR1TWg3OXdGMHJnNEdBOGVnRzdkajJYZGFybklPM1dHdEhWcm1FK2RndlY2S3NUUkRSMUJ6Tnc1Z0VnTWVXSWk1TzA2UURKcU5HU3RXaVA5eWNubHY2Y2loZE8vakFjUFFQL25WdWkzYklaeThCRFhKaG9OckZsWnpqblVudGp5Y2owdllsZnlEUTlWdWFJUVJTNlhRNmxVb2xHalJoZzVjaVNHREJsU2JTV2pxV3dSZ1ZLTTdCcU9WWDlkUjBhZTl4RFRGM2YxYVlEcGR6ZXQwTEZ6VmwvQ0dnOFZGb21vaXRoc3lQdmlNMEFpcWZBYWFablRYb0w1Vk9sbDFEMFZKU2dpam9oQXhLZGZsTHJmZlA0Y3BGN2VXM2xUc09FMzVIM2llVTJXOGxLUEcrL3k4S21zaFhRQlFONjFHL1MvYjRFb01CQ0JrejEvRCt4NngzdExVWWtGNDIxNlJ6VWxrYkxpQzhuYjlYcVl6NTZGb0ZaQjFyRVRyTmVTWUVsS2NrNGY0NW91VmF2ZWh5NUZHb2JLOGQ3RWx0aHdPQXNyZDF6SGlhczZsR09aaW5ydDQzKzNna291THJPRTlONEZYZkhid1V6TVdubXhtbnBXTndnQzBLcVJDbmYzYVlEYnUwVkFMdVhUM1p1Sk5Ua1oyaldyb2JucmJpaDY5WGJaWjh2TlFmYWJjMkUzNkJIeTZuVElPM3RlcE0xODRnUzAzMzhIV1VJaUZMMzd1TzJYZGVvRWVjK2UwUDIwRHZMdVBkeEczaFFOYTdWY2M2LytaVWxLZ25ibENxZ0dENEhsZWlxTWh3OUJkZHR3QkQ3eHBFczcvWTd0NWJwdm54V0dHM2FySTh6T1hmd3VJQklqNHYwbExrL0FiSm11NVU5OXZTZFo0WkJrYVh3cktQcjFoN3hqSnhnUEgwYmU1NTlDM3JFalJPRTNGaTZXTkdzRzYvWHJNSjg5QTJrcjk2bGdsa3NYWVM4b2dMUlQ1Y3QrazIrS2oxWnAzYm8xMnJScGcwNmRPcUZGaXhabzFxd1paS1ZWcUtJYTgramdockRhN1BoODg0MXFibXVudFVPTGFQZFJlQUN3Zm5vSHQyMXJkNmU3dlJlWXZ1SUNDZ3l1RDczK1Bhd1JSQ0xnbzE5ZEt4Q3FGQ0xNdWI4NWlNaS9kRDk4RC9PWk05RGNlMytaaFFDS1pEenpGTlJqeDdrVUFKREd0MExnWXplbVRtZSsvQitveDR5Rm9tY3ZBSUR4OEdGb1Y2NUE2Tng1enBFVTJ1L1d3SEtwOU04TXBzT0hZY3ZJZ0x6WTZPRHlVUFRxQldtelpsN2JGR3plQlAwZnZ5TnMzdHRlMjVVY0RWdHlJVjNsb01FSWV1SXBXRk5TSUk2VXVUeklVUTRhREZGUWtQTjF6anNMSVltT2h1YStDYkNrcGtBSUNIQWIwV0pOVHdkRUlwZmpmR1ZKU1hhWk1sUlVranZ2cXk5aE9ua1NEZHAzZ0tBczl1KzV6WWE4VDVkQkhObWc5TkhhVkNhR0xzWElwU0tNN2hhT1RzMDErUGpYYTFoL01MUHNnNGo4YkhDSFVEd3pLZ2FOd3hVUU1XKzU2WWdqSXFEbzBRTTU3eXlFckcxYkJEMCtHZUtHaldDNWZCblpiN3dPdThtRTBEZm1PUmZHTGNtYWRoM1o4K2RCRkJTTTRCZGVLdlU2UVpPZlJQby8veUJuNFFLRUwzd0hvbUsvNEVXQmdaQzJTWUR4OENGWXJsNTFtWkpUc1A1bkdQN2FBZldvMGJEbE9rbzRTMHVzUFdQTHlJQmh6NTdDRGxYZFNEL2o0VU13bnpvRlVWZ1lKQTBiQWpZYmJGb3R4R0ZoYmtPT2RldC9jYm0rci9kVWtoQVFnTURKLzBiTy9MZVE4OEg3TGlVcGxYMzZ3YmhuRDNLWGZZTFFHYSs3dkZteDYzVEkrM1NabzEzL2dWWDJQU0R2QWdJQ01HalFJQXdkT2hTeHNiRUlEZzZHb2h6RDE2bDZSWVhJY0dmdkJ2anlqMlJrYVMyNHMzY0Q5SWdQeElydDEwc3VnNFJ1TFFJeHJITW9QdncxQ1ZsYWk4dStDNmw2dDNOdit5Y0hPVHJYZG5mMWJRQ0pTTURtSTFrdTI0UFZmUHRLNUcvRy9mdVEvODF5U0Z1M2h1YXV1MzA2eG03UXczTGxDc3huVHJ1RUxvSmE1ZmF3UXh3WjVkeG1TWEdVTUphMWpBY0t3M1p2Z1lJdEl3TTVINzRQVVdBZ1ZFTnVLOWQ5RlNrNVZkbDQ4QUR5bDMrTmdBY2ZocnhUWjBjZkR4MENBRWMvN1haa3Yva0dSRUZCVUkrNXcrUDBad0NJV3JzT2RxMFc1aE1uWUw1OENaYkxsMkMrZEJHV1M1ZGdOeGpRNE12L1FmZmpXdWgvM3dKQm8wSEJsaTFRajczRDJSZlRzV093RjQ1a01aODdEMmx6OTREWmN1a2lKSTFpQUErTEI0Zk9mc1ByNitDRFR3QUFJQUJKUkVGVWZVdWlHMEo1eXlEQVpJUXNzUzFrSFR2QmZQSUVqUHYySW5EaUpOZkFCUUJFSXRnTmV1Ui8rVjhJQ2lWVXd5cTJlSEI5eDk5YUpRZ0MwQ1JjZ1hrUHhxRmZZakRlL3prSktUbEdqbnFoYWlVSVFHU3dERThNYjRRN2V2ajJaSUZxaUZRS3pUMzNRZGwvQUhLWGZvTDBaNlpBZWNzZ0dIWnNoeWc0Q0dGdkw0QTRLdHJqb2JiTVRHVE5tZ21iVm91d045K0d5TXNVQ2xGSUNJS25Qb3ZzdVhPUTlmb01oTTZlQzFId2pUY0xRWk1tSS9QbGFjaDg2WG1vUm95Q3VFRUVUTWVPd2ZEWERpZ0hEWWEwZFdzSVVpbTBLMWNnLytzdllkZHBJUW9OZytYcUZSU3Mvd1YybzJOTks1dk84NktZM2hnUEg0SmRwM08rdHR0c3NDWW53M1RpT0dDM0kvQ3h4NTBqWGhSZHU4R3daemR5RmkyQW9rZFAySTFHR0hidGhQSFFRVUFpY2JtK0wvZmtpYUozSHloNjlZWmg5eTRVYlBqTitRWkIwYTgvRkh2M3dQRFhEcVE5L2hqa2JkdENGQlFFVzE0ZVRNZVB3MjdRUTlHdnY2TlNGUGxWU0VnSVhuMzFWWFR2M2gzS2ttL3c2S2IxN09qRzBCb3MrR0pMQ2tRQzhPamdhQlFZclhqcHEzTnU3NU1rSWdIRE9vZmkxNE9aUGkya08vdis1akNYQ0gzam8xVVFSTUNpUjEwcnFrakZwVmR5STZMS00rN1pnK3hGOHlHT2pFTElLOU5kcDlnVy9mMnpXTjJPczJVNUFsSmZSOFZVaE9tZmY1RHp6Z0xZdERxRXZqcmRNUktrTXVjN2NSemFWZC9DZE9RSVpPM2FsNWpLVSt3Zk5xc1ZzcmJ0b1B2aGUraTNiSWE4YXpkb3h0L3ByTVNvLytOMzZMZitBVXRTRW16Wk40SmlVWGdFcExHeFVJMjhIWktZR09Rdi94cjZMWnVodWVjK0tMcjNRTWFMenlIN3JYa0lmVzBHN1BvQzJMS3pITldWYkRZWTkrMkYrbzQ3WU5mcFlDc29jRXlQRm90aDJMc1hzZzd1b3doOTVSS2ltVXpJL1dnSnhBMGJsUnFvQkQzMU5LeFpXY2hiK2pGRUFRRWUxNThoN3hpNmVNRUtSMVFUU2xZbW90cEJITjBRb2JObXc3QjlHM0tYZmd5N1FRL04zWk5MRFZ3c1Y2OGdlL1lzV0RNekVmeC96L20wNHJ5OFczZG9KandBN1RmTGtUbnRSWVM4T0EyU09FZGxIMG16NWdoYitBNjBLMWVnWU5ORzJJMEdTS0tqRVRoeEVsVERSempheE1VaDVOWHAwSzVhaWZ6bHl3R1JBSEZFQkZURFIwRGV2UWN5bjM4V3hrT0hJTy9XdlZ6M2JybDRFWmFMeFlZQWk4VVFCUVZCMGFNblZLTkd1NVRSRG5wNktrUWhvVERzM3d2RDdsMFFCUWRER3RzVVlYUGZnbTc5enpEczNnVmJkalpFSVNFKzNWTnBBaWMvQWVNL3g1RC81UmVRZCtvTWNhUmp1bEx3Q3k5QjM3VWI5RnYvZ1BuQ2VkaTBXb2cwR2toYnRvUnF5RkFvU3BTVkpQOElDQWpBZ0FIOFh0Y20vUktDTWJ4ekdHYXN1QWliM1k3YnU0Y2pKa3lPeVIrZHJwSUhVN2tGRnBoS3ZNOHkyMndRMlFYa2xCZ3BJNU15ZENIeUM1c04ydFdyb0YzMUxTUk5ZaEU2YXpaRWdZRXVUY1NGMDNiMU83WkJHaGQzWTdTRjJZeUN6WnNBd0tkcWYrWHVXbFlXOHIvK0N2by8vNEE0S2dwaGMxOHJkUlN4TDB4SGp5Qi8rZjlnUG5NYTB0WnRFUHJHbTVDMWJlZmNiemZvWVRwK0hLS0F3dnVYU0tBZU14YnE0U05Rc0drRHRHdldJUFBsLzBDYWtJRGdwNmZDYmpiRG1wa0JXZHUya01iRk9VcHdONCtEVUZqbTJwYVZoZXo1ODJBK2N3WUJqendHOVppeEFJREFpWk9RdCt3VHBFOTVBaUtOSTBDU2QrNE0vZTliWU5OcG9Sd3dFT2xQL2h1MjNCd0lDaVhzQmdQTXAwOGg4TEdKc0dWblE1Q0lZY3ZOaFZCaTdUbTdUZ2RyYXFxelVsSnA4cjc2THl4WHJ5TDB6YmVjMDVoczJkbXdwcVU1UnRNVTNudklTOU9RT2UxRjVMeTdDS0hCd1dVV21TQlhERjI4WUlXamlodlNJUlNMSG0yQjBYT1A4bnRXRHA0cUUxSHRvdWcvQUxMRXRzaFpzaGk1Nzc4SDQ1Ry9FVFJ4a3N1VEdNT3VuY2g1NzEwSVloRkNwczkwRG1QMWhlYXVlMkEzR3FIN2JnMHlYbndPUWY5K0VzcWhqcUcxa3BnWXIxT1VBRURlcFN2a1hUeFh1NHI2OFdmbjE3SzI3VnhlQTBEbzNIbXU5OXE3ajF1YnNnaHFOUUluL3h1QmsvL3R0aTg0SWNGdG15LzM1S2wwb1NnNEdKSC9XK0d4dlhMZ0xlVWF6UksxZHAzSDdacjc3b2ZtdnZ0OVBnOVJiZGFualdPby8rejdtMkgyL1k1MUVQNDZtWXZkcDNQUnFwRUthMTd5L0FhODVKb3VPVG9MK3I5eXlLM2RvaCt2dUUwdldoYlJHaEtSZ0Rtckw3bHNEMVpMTUtaN2VJWHZoWWpjbWMrZlErNUhTMkE1Zng2Sy9nTVE5T1JUSGlzbXloSVNJWTJQUjhINlgxQlFORFc0R0Vsc1U4ZzdkcXhjWnl3V1dKT1RYYTR2S0JTd1pxUkRQZjR1YU82NnkyUGZ5a1VpQWV3MngvdXd3dmRGZG9NQjErKzdHOFdUWlBYb01hN0h5V1JRalJvTjVlQ2gwUDM4RTB5SEQwRWMwUUNxMjRaQmRkdXdVaTluelVpSDNXaEM2T3czWE1JZDFZaVJFSVdFUUx0cUpTekp5VkRkTmh6U3VCYXdYcnNHemZpN0lBb0pSZWpzT2JEbGF5R0ppWUUxT1JuS3dVTWdiZEVTcWZmY0Naak5nRVRpSFAxNy9mNTdYSW83bFBXUVN0d2dFdXJSWXlGTFNFVG1pOC9CZlBhc2MxL3h4WUFGdFJvaHI4MUU3Z2VMSVNubGdTS1ZqcUdMRDFqaHlOM3pZNXJnb1Z0ZDEyUTR1dGp4ZFB5OW42L2lhanJMU0pZSEt4UFZMYUt3TUlUT25JMkMzMzZGWWZjdVFPcjZUNjNqNlVkekJEM3hGQ1N4NVY5MVArQ0JCeUdKYmdqOTFqK2c2TmUvN0FPSWlDcHA5VjlwT0pOY2dHeXRCWGYxYm9CZXJZUHd6cm9yQUlEVWJKTmJNRklhWXoxLy8wUjBzeEtwVklBZENINXBtc2RGL1c4MEZDSHN6YmRoUEhxa2NCSDh3b0JDSklZNExNd1JLSlJSVnJqa3c0eWloeUhHQS91Ui9jWnM1L2JpZ1llZ1VpSDBqVGZMZFUvaDc3MWY2ajVaUWlMQ0ZyempzazFRS0JBMDlWbm5taXFTNkdqbmd2MGxDUXFGWTVxT2ordmRTT05iSWZ6ZHhSNzNLWHIxZGl2R1VIemtyU1QyUm9VM1VYQXdnZ29mVW9VdmZBZDJYUUhFVVZIT0tlcUJFeWZCbXBrQjJHd1FSMFpCV2NZSTNxSVJONERqd1o3NThtVUlJZ0dTWnMzZENrQ0lJeVBML1RNZ0I4RnU1Mm9sNVdFMDIxamhDRUNYdUFDMGpYVU1seHZmcXdHa0VnRXJkMXdIQUJ3OGw0L29FTG5iU0plOUM3cENLWE1mRWp4eXpoR2Y1bnZYUmF4TVJFUlVlZTJuN3F2cEx0UWJIWnBwOE9VekNmaDJSeXJtcjcxUzZmT3haSFR0TWE1bkJHYmQ1NzNhQzFGSm1kTmVncUJVSUhUbTdETGIyblU2NlAvYUR0aHNFSVdFUXRHOWgzTk5PS0xhakNOZHlva1ZqaHdPbnMvSHdmUDVBSUNlOFVGUXljWDQ2bzlVNS83b0VMbkg0MDVjMWVHUG85a3UyM0pMRENldVQxaVppSWlJYW90Z3RRVHpIMnFCYkswWkg2NTNsSEZXeThVd21LMlZMbnpHa3RGRWRWUFlXL045Yml1bzFWRGR4dW80VlBjd2RLa0FWamlxdUZOSkJWaTJLYm1tdTFHaldKbUlpSWhxRzdsVXdIc1RXeUk2UklacFg1OUhzMGdGeHZXS3dHMmR3dEQvbFlOWStVSWlFaHFyeXp6UHNrM0pXTEkreWZsNnpjNjBVa2VybEZZeUdnRFc3YzJvK00wUUVSRlZJNFl1bGNRS1IxUWVyRXhFUkVTMVVjdG9GVG8zRDREWmFzZUVBVkVvTUZyeHoyVWRYbDErM2puSzVYeXFIbC8rbmxMcU9lWk11REU2cFdqQmZWOFVyUmxYbXVuZlhNQzZmUXhoaUtqcVhMaHdBVk9uVGtWV1ZoWm16cHlKb1VPSDFuU1hxQlpqNkZKSnJIQkV2bUpsSWlJaXFxMU9YeXZBckpVWGNmU1NGdWRUOWM3UnZRRktNVFNGdjlQUzg4eGV3NC9pb2N2SkpGMnBpKytPN2hhTzlrMDF5RGRZSVJZNXBqRDl1RGNkeHk3clBMWS9ja2xid2JzaUlpTHlQNFl1VmFTK1Z6Z1NpNER1TFFOeFc2ZFFxQlJpL0hFa3UreUQ2Z2xXSmlJaW90ck9iTFZqN2U1MEJDckZHTmcyR0YzakF0RzFaU0JhTlZMaDhROVBsdnQ4U1psR3QybEZJZ0Y0NXZiR2FOZFVneGtyTG1Ca3QzQklSQUwrT3BtRHg0YzJ4THE5R2M3MTVJaUlpR29MaGk1VnJHR29ITzlOYkZrdktoeEpSQUs2dGdoQW96QTVtalpRNExNcHJhRTMyYkRxcitzMTNiV2JBaXNURVJGUlhYRnZ2d1lZMzZzQjRodXFJQWhBanM2Q0ErZnk4ZU9lZEp4S0txajArUnVIeS9IbUEzRm9GcW5FMDh2T1lNZUpISXpzRmc0QStHSkxDcVJpRVQ1OXFqVSszNUtNcFJ1U1liSFYwVGRYUkVSVTV6QjA4WVA2VU9Ib29WdWo4UGpRUmdoVWltR3gyckg5ZUE1K1BaaUpyY2V5b1RmWk1LUkRhRTEzc2NheE1oRVJFZFVWQ3FrWUJVWWJsdnlhaEowbmMzRGlxbnZRMGpNK3NNejFWMG9LVUlveGNVaEQzTjgvQ3NjdWEzSFgvR05JeVRhNXRWdTY4UnJPcGhSZzdnUE5jVnVuTUh5eEpRVy9ITWlBeGNyd2hZaUlibTRNWGZ5a3JsYzR5dFphY0RhNUFPc1BaR0xUMzVuSUs3RFdkSmR1Q3F4TVJFUkVkZEdYZjZUZ3l6OUtYeVFYS045Q3VnMURaYml2WHhURzlZcUF5V0xEbk5VWDhWTVppK0grY1RRYm85ODRpdjhiM1JpdjM5Y00vemU2TWJiOWs0MmY5MmZnd0RsT095SWlvcHNUUTVkcVVCY3JIUDIwTDhQdHpWSC94R0FzbVJUdjJ1N1Y5aTZ2eC9XS3dMaGVybUhFOXVNNW1MTHNqSDg2V28xWW1ZaUlpT3F6OGl5azJ6QlVqdjZKd1ZpMjZScFc3VWp6K2IxUmVwNFpyeTYvZ1AvK25vSzdlamRBejFaQitLK1hvSWVJaUtpbU1YU3BCdldsd3RIRjYzb3NXWjlVN3VNdXA5Zis3d1VyRXhFUlVYMTI3OExqWmJacFAzV2Y4K3NENS9JeDVzMmpGYjdldVJROTVuMS91Y0xIRXhFUlZSZUdMdFdvcmxjNHVwcGh4TEpOeVRYZGpXckZ5a1JFUkVUK01lbkRVelhkQlNJaW9rcGo2RklENmxPRm83cUtsWW1JaUlpSWlJaW9MQXhkYWtoOXFIQlVsN0V5RVJFUkVSRVJFWldGb1VzTnF1c1ZqdW9hVmlZaUlpSWlJaUtpOG1Eb2NwT29peFdPNmhKV0ppSWlJaUlpSXFMeVl1aHlrNmd2Rlk1cUkxWW1JaUlpSWlJaW9vcGc2SEtUcWVzVmptb1RWaVlpSWlJaUlpS2l5bURvY3BOaWhhT2F3OHBFUkVSRVJFUkVWQlVZdXR6RVdPR29ackF5RVJFUkVSRVJFVlVGaGk0M09WWTRxaDZzVEVSRVJFUkVSRVJWamFGTExjSUtSLzdCeWtSRVJFUkVSRVRrRHd4ZGFoRldPS3A2ckV4RVJFUkVSRVJFL3NMUXBSWmloYVBLWTJVaUlpSWlJaUlpOGplR0xyVVlLeHlWSHlzVEVSRVJFUkVSVVhWaDZGTExzY0pSK2JBeUVSRVJFUkVSRVZVWGhpNTFBQ3NjZWNmS1JFUkVSRVJFUkZRVEdMclVNYXh3NUlxVmlZaUlpSWlJaUtpbU1IU3BZMWpoNkFaV0ppSWlJaUlpSXFLYXhOQ2xqcXJQRlk1WW1ZaUlpSWlJaUlodUJneGQ2cmo2Vk9HSWxZbUlpSWlJaUlqb1pzTFFwUjZvTHhXT1dKbUlpSWlJaUlpSWJpWU1YZXFKdWxyaGlKV0ppSWlJaUlpSTZHYkYwS1VlcWlzVmpsaVppSWlJaUlpSWlHNW1ERjNxb2JwUTRZaVZpWWlJcU1pSzV4SnJ1Z3RFZFY1b2dMU211MEJFVkNzeGRLbkhhbU9GSTFZbUlpS2lrdHJHcW11NkMwUkVSRVFlTVhTaFdsSGhTQkNBdUNnbDd1OGZ5Y3BFUkVSRVJFUkVWQ3N3ZENFQU4zK0ZvOEVkUXZIVWlCZzBiY0RLUkVSRVJFUkVSRlE3TUhRaHA1dXR3cEVnQUJHQlVqdzFNb2FWaVlpSWlJaUlpS2pXWWVoQ0h0VjBoYU9peWtUMzlvMUVRbVBPMVNjaUlpSWlJcUxhaDZFTGVWU1RGWTZpZ21WNGNWd3NLeE1SRVJFUkVSRlJyY2JRaGJ5cXpncEhSWldKWHIyN0tacEhLdjF5RFNJaUlpSWlJcUxxd3RDRmZPTFBDa2VzVEVSRVJFUkVSRVIxRVVNWDhwbS9LaHl4TWhFUkVSRVJFUkhWUlF4ZHFGeXFxc0lSS3hNUkVSRVJFUkZSWGNmUWhTcXNvaFdPV0ptSWlJaUlpSWlJNmdPR0xsUmhGYWx3eE1wRVJFUkVSRVJFVkY4d2RLRks4NlhDRVNzVEVSRVJFUkVSVVgzRDBJV3FqS2NLUndBckV4RVJFUkVSRVZIOXhOQ0ZxbFRKQ2tjbXE1MlZpWWlJaUlpSWlLaGVZdWhDVlU0UWdOeVVzemk0L0hrWWpVWmNiLzBXbWtmMnF1bHVFUkVSRVJFUkVWVXJVVTEzZ0lpSWlJaUlpSWlvTG1Mb1FrUkVSRVJFUkVUa0J3eGRpSWlJaUlpSWlJajhnS0VMRVJFUkVSRVJFWkVmTUhRaElpSWlJaUlpSXZJRGhpNUVSRVJFUkVSRVJIN0EwSVdJaUlpSWlJaUl5QThZdWhBUkVSRVJFUkVSK1FGREZ5SWlJaUlpSWlJaVAyRG9Ra1JFUkVSRVJFVGtCd3hkaUlpSWlJaUlpSWo4Z0tFTEVSRVJFUkVSRVpFZk1IUWhJaUlpSWlJaUl2SURoaTVFUkVSRVJFUkVSSDdBMElXSWlJaUlpSWlJeUE4WXVoQVJFUkVSRVJFUitRRkRGeUlpSWlJaUlpSWlQMkRvUWtSRVJFUkVSRVRrQnd4ZGlJaUlpSWlJaUlqOGdLRUxFUkVSRVJFUkVaRWZNSFFoSWlJaUlpSWlJdklEaGk1RVJFUkVSRVJFUkg3QTBJV0lpSWlJaUlpSXlBOFl1aEFSRVJFUkVSRVIrUUZERnlJaUlpSWlJaUlpUDJEb1FrUkVSRVJFUkVUa0I1S2E3Z0RWVGUzYXRjT21UWnRxdWh0RVJFUkVSRVJFTllZalhZaUlpSWlJaUlpSS9JQ2hDeEVSRVJFUkVSR1JIekIwSVNJaUlpSWlJaUx5QTRZdXRWRGVwMHVSTlhNNjdBYUR5M2JMMWF0SUhYczd0TjkrVTBNOUl5SWlJaUlpSXFJaVhFalhENHo3OXlGNzdwd3FPVmZJdEZjaDc5bnp4Z2F6R2ZvL3QwSVNGUTFCb1hCcGE5aXpDd0NnNk4yblNxNU5SRVJFUkVSRVJCWEgwTVVQeE5FTm9SNDMzbXNidTE2UGd0OStoYUJVUW5YYmNFQWtlRDVYbzRZdXIvVTcvNEpkcDROeTBHQ1l6NTFGNWd2UHVSMlRNZlZwaitjU0JRV2p3VmYvOC9FdXlrZjc3UXBvVjMyTHNMY1hRTnFxTlV6L0hFUFdhNjhnNEY4UFFqMytMa2Uvbm40S2xxdFhTblJLQkpGR0EybDhLNmpIalljc0lkRXYvU3RTOUQzVDNIVTNOQlArVlhxNzA2ZVErWjhYb2J6bFZnUk5mZFpqRzF0ZUh0SWVuQUJwNnpZSWUydCttZGRPSFhzN1pKMDZJWFRtN0FyM240aUlpSWlJaUdvUGhpNStJSW1KUWNDREQzdHRrL3ZoQnhBVUNvUk9ud1ZwUW9MUDU5YjlzQmFDWEE3bHdGc0Fxd1ZCVDA4RkFOaU5SdVF0K3dTeWR1MGQrendRNUhMZmI4S1BsRU9HUWhBNVpyYlp6V1pZczdOZy9Qc3dqSWNPSW1UNlRNZzdkYTdoSGhJUkVSRVJFUkZWSGtPWEdtQTZmQmlHWFRzUit2b2NTRnUxOXZrNDQ3NjlzRnkrQkVYZmZoQlVLZ0NBY3RCZ3g3NEQrd3RmRDRKeTRLMVYzK2txRlBUNFpFQW1jOWxtUG5NYW1TKzlnUHl2dm1Ub1FrUkVSRVJFUkhVQ0Y5S3RadmI4UE9RdS9kZ3hNdVcvWC9oK29NV0N2QzhkN1V1dTVRSUF4cjhQQXdEa0hUcFZTVCtybXpTK0ZTU05tOEJ5NlNKZ3RkWjBkNGlJaUlpSWlJZ3FqU05kcXBQRmdxeDVjNkcrZlRUeVY2NG8xNkc2ZFQvQW1weDg0MVJKU2NpWThvUmJ1N1JISHZSNkhubjNIZ2g1NVRYQWJrZkJwbzNRYjlvSVM5SlZDSEk1cEMzam9ibjNma2hidG5TMnQxNUxndmI3NzJBNmRoVFc3R3dJWWpIRU1URlFEeHNCNVpDaDVib0hyMncyMkxSYWlFSkRBYkhZWlh2QnhnM1FiOXNLeStYTHNKdE1FQVVHUXRhK0F3SW0vQXZpQmcxY1RtTTZlZ1M2SDliQ2RQWU1ZTEZDMGpnRzZ0RmpvZWpYdi9STFoyY2o4N1ZYWUUyN2pwQnByMERlcFd1RmIwTzdlaFcwSzVZamRPNDg1SDN5TVN3cHlaQzFTVURvbkxrVlBpY1JFUkVSRVJIVlRneGRxbEh1a3ZjaENnaUVhdVNvRzZHTHpZYnMrZk1nYlJZSHpmZzdBWW43ajhSeThRTHl2MTBCU2JQbXNLWTRnaGR4U0loelBSZHJlanEwSzFkQTBidFBtWUdCT0NMQzJSZjk3MXNnYmQwR21na1BBRlliZE90L1J1YXIweEQyeGp4STQrTmhUVWxHeGd2UEFSSXBWTGZkQm5GRUJHeFpXU2pZdkFtNUgzNEFVV0FnNUQxNmVyMWVtYXhXV0xPeW9GdjdIV3paV1FoODRrbVgzWG5MUGtIQmh0OGc3OXdGQVJNZUFDREFkT0k0RE52K2hPWEtaWVMvKzc2enJmNlAzNUg3L25zUWhVZEFQWG9zUkFFQjBQKzVGVG1MRmlBd054ZXFVYmU3WGQ2V2s0T3M2YS9BbHBHTzBOZG1RdGFoUStYdXAxRE8vTGNnYmRNR3NvNGRJUTRLcnBKekVoRVJFUkVSVWUzQzBLV2E1SC81QmN3WHppTnNYb2txTnhZTHhPRU5vRjI1QW9aZE94SDA5RE9RdG1qcDBxUmd3d1pBSkVMd3M4OGpjOXFMQUFCQnJYYXU1MUx3ODA4QUFOV0lVWkMxYlZ0bVgwd25qa1AvK3hZbyt2UkY4UE12QW9XTDJpcDY5VUw2ay8rR2R2VktoTHcyQTdvZmY0UmRyMGZZdkZtUXRybXgySytpZDE5a1RKMEMvYlkvS3hTNnBON3R1YktUZXV3NFJ5V25RcmJzTEJScytBMnlEaDBSTW1PV2M3dHExTzNJZVhzZURMdDN3WEwxQ2lTTm04QnVNQ0R2MDZVUVIwVWpmTkc3RU5ScVI5dkJRNUR4N0RQSVgvVXRWTU9HdTF6UGxwT0RyTmRlaGpVekU2R3pacnZjWTJYSjJyWkQ4SXYvcWJMekVSRVJFUkVSVWUzRDBNWGZiRGJrZnZ3aGpQdjNJV3pCTzg0d3dFa21RK0RFeDZIbzFRdTVpOTlGNWtzdlFEMzJEZ1RjLzRCejFJdWlmMy9JRWhNaGFkTEU0eVVNaHc1QVVDZ2hhKzNib3J6R1Bic0JBT283eGprREZ3RE93RUlVN0JpWkVUaHBNdFRqeDBQY0lOTDFCSVhUZit3R2cwL1hLOG1sZXBITkJsdCtIc3duVDBMMzQxcllUVVlFUGo0WkVBU0lRa0lSdWZ4YndHNXpPZDV1TURnWEVyYnJIWDB3SFQwQ3UxNFAxVDMzdW42UHBWS0V2RHJkOFhXeGU3WG01Q0pyK2l1d0pDVWhiUDVDU09OYlZlaGVBQUNDZTdsdlJmY2VGVDhmRVJFUkVSRVIxUWtNWGZ6SWJqUWk1OTJGTUIwL2pyRFpiemluOW5naVMyeUw4TVZMa1B2eGg5Q3QvUjdHZ3djUS9IL1BROUtzR1dTSjNrZXZXRk5TWURmb2tYcm5IVjdiQlR6OENOUmp4OEZ5L1RvQVFCTFQySzJOcEZuekd5L0VZZ2dTS2JSclZzRnk0UUlzYWRjZDF5b29jTnhmaVRERVY1NnFGOEZrUk5hYzJTajRkVDFrYlJLY2E3QUlhaldNQi9iRGVPQUFMTW5YWUUyN0RtdGFHbUMzTzQ0cjdJUFZ5ejJKb3h1NmJkTnYzdWdNUzB6SGo3dUZMb0xNVVY3YmJqYVhmaU9GKzRTUzl3SkFGQlpXK25GRVJFUkVSRVJVTHpCMDhSUExwWXZJV1RnZnRydzhoTDN4SmlTeFRjczhSbEFxRWZ6Y0M5QjM2SWpjcFo4ZzQ4WG5FRFQ1aVRJWHJBMTQ2QkZuRUZLUzNXS0dkc1VLMlBMeklHa1NXOWc1UytFRjNVZG9GR2M4ZkFqWmMrY0FJakhraVltUXQrc0F5YWpSa0xWcWpmUW5KNWQ1UCtVaWswTXovazVrSFRzS3cvNTlqdERGYkViMm0yL0FlUGdReEkxaUlJdVBoN3h6RjBqajRtQThlQUM2ZFQvZXVFK3JiL2RVUkJRY2pKRFhaaURubllYSS8rWi9rSGZ0Qmtuakc0R05LRUFEQUxEbDU1ZDZEbHR1anFPdFJ1TzJUeENKM2JZUkVSRVJFUkZSL2NMUXhROEtObTV3ckM4U0hvR3dlVzlEM0NpbVhNY3JCdzJHdEdVOGNqOWFBbG1DOTNWR3JNbkowSzVaRGMxZGQwUFJxN2ZMUGx0dURyTGZuQXU3UVkrUVY2ZEQzcmtMQUVBYzZaZ3VaTDJXQkVuek9KZGp0TjkrQTF0ZVBnSW5UVWJ1NG5jQmtSZ1I3eStCT0NycXhua3pNOHQxUHo0cm12NWpjNHhlS2ZoakM0eUhEMEYxMjNDM0JYYjFPN2E3dkM2YUFtVzVsdVMybUxCaDUxOHdIdGdQelgwVG5OdFVRNFpDMnFJbGdxZE1SZVlyLzBIdTRuY1JObitoc3craXNIQUlBUUV3bnpzTG1FenVJM1BnV0JzSEFLVE5tN3Z0SXlJaUlpSWlJaEtWM1lUS1M5eWdBV1R0MmlGOHdhSnlCeTVGSkUyYUlPeXQrV1VlTDQ2SWdLSkhEK1M4c3hCWnI4K0FOZmthQU1CeStUSXlYM2dPMXRRVWhMNHh6eVdJVVBUb0JRRFFGUzdBVzhTYWRoMjZIMytBSlNVWnNOdGgwMm9oRGdsMkNWd0FRTGYrbDhJREtqYTl5Q09MQmRvMXF3RUFzbmJ0QVFDMjNEd0FnTFRFV2pXMmpBd1k5dXh4NllPOFEwY0lDZ1gwbXphNnJqVmpzVUQ3M1dvWTl1eUdPQ1RFN2JMU2hBU29Sb3lFK2R4WmFMOWZjMk9ISUVEWnV3L3NPaDF5bDM0TVdLMnUzVTFLZ3ZhN05ZQkVBa1h2UHBXNmRTSWlJaUlpSXFxYk9OTEZEK1NkT2tQZXFYUDFYRXdxaGVhZSs2RHNQd0M1U3o5QitqTlRvTHhsRUF3N3RrTVVISVN3dHhkQUhCWHRjb2lzUXdjb0I5NEMvZFkvWU0zTWhLSjdEOWdOQnVoK1d3OElJZ1ErOGhnZ0VrSFJ0UnNNZTNZalo5RUNLSHIwaE4xb2hHSFhUaGdQSFFRa0V0aDAyZ3AxT2ZmVHBjNkZkQUhBcHRmRGRPUUliTGs1a01URlFWVllsVW5ScFN1MEsxY2cvK3N2WWRkcElRb05nK1hxRlJTcy93VjJveU5ZS2VxRG9GWWo4TEdKeVAxd0NUS2Vtd3JWb01FUUZFcm90MjJGNWVKRkJFMTlGcEJLUGZZbjRNR0hZRHl3SDlwVks2SG8xaDJTcHMwYzJ4OTQwRm5weVhqZ0FHUUpDUkRrQ2xqVHJzTjA2aVJndHlOdzBtU1BhOFlRRVJFUkVSRVJNWFNwSThUUkRSRTZhellNMjdjaGQrbkhzQnYwME53OTJTMXdLUkwwelA5QjJxSWxDalp2Uk42WFgwQ2swVURXSmdHYSt4OXdybTBTOVBSVWlFSkNZZGkvRjRiZHV5QUtEb1kwdGluQzVyNEYzZnFmWWRpOUM3YnNiSWc4akNEeFJyOTVrOHRyUWFHRXVHRkRxRWFNZ0hyMFdHZlZKa2xjSEVKZW5RN3RxcFhJWDc0Y0VBa1FSMFJBTlh3RTVOMTdJUFA1WjJFOGRBanlidDBCQU1vaHQwRVVIZ0hkOTk4NVJzMklSSkRFTmtYSTlKbHVVNDVLWGovb3FhZVJOWE02Y2hhL2kvQUY3d0FTQ1lTQUFJUXRlQWNGNjMrR1lkY3VHSThkaGQxZ2dEZ2tCSXJlZmFBZWRUdWtyZHVVNjk2SmlJaUlpSWlvL2hEczlxSXlNRlNkcnYvcmZrZ2F4U0RzcmZubE8rNytlNkRvM1FkQlU1NHB0WTB0TXhNNVN4YkRkUGd3RkFNR0ltamlKQWdCQVpYdE1oRVJFUkVSVVoxMzRjSUZUSjA2RlZsWldaZzVjeWFHRHZWZTJJVElHNjdwVWdlSndzSVFPbk0yQWljL0FWdDJOaURsZ0NZaUlpSWlJaUtpNnNaUDR6VWs4bjhyS25iY2lsVSt0MVVOSHdIVjhCRVZ1ZzRSRVJFUkVSRVJWUTVIdWhBUkVSRVJFUkVSK1FGREZ5SWlJaUlpSWlJaVAyRG9Ra1JFUkVSRVJFVGtCd3hkeUMrT0hUdUdvVU9IWXNDQUFkaTllM2ROZDRlSWlJaUlpSWlvMmpGMElTSWlJaUlpSWlMeUE0WXVSRVJFUkVSRVJFUit3TkNGaUlpSWlJaUlpTWdQR0xvUUVSRVJFUkVSRWZrQlF4Y2lJaUlpSWlJaUlqOWc2RUpFUkVSRVJFUkU1QWNNWFlpSWlJaUlpSWlJL0VCUzB4MmcyaytuMHlFdkw4OWxXMFpHQm13MkcreDJPN0t5c3BDU2t1S3lQeUFnQUJxTnBqcTdTVVJFUkVSRVJGU3RHTHBRcFowN2R3NHpac3h3MldZMm01R1hsd2U3M1k3MzMzOGZDb1hDWmYrTUdUUFFwVXVYNnV3bUVSRVJFUkVSVWJWaTZFS1YxcUZEQitoME9tUm5aOE51dDd2dFQwOVBCd0FJZ2dBQUNBNE9adUJDUkVSRVJFUkVkUjdYZEtFcU1YcjA2RExiRkFVeXc0WU44M2QzaUlpSWlJaUlpR29jUXhlcUVnTUhEblI1TFFpQ3kzL0ZEUjQ4dURxN1JrUkVSRVJFUkZRakdMcFFsV2pTcEFsYXQyN3RGckFVSndnQ1ltTmpFUlVWVlkwOUl5SWlJaUlpSXFvWkRGMm9TcWhVS25UcTFNbjV1dmphTHNXL2J0V3FGWUtEZzZ1MWIwUkVSRVJFUkVRMWdhRUxWUW1aVElZT0hUcEFwVktWMmtZdWw2Tmp4NDVRS3BYVjJETWlJaUlpSWlLaW1zSFFoYXBNcTFhdEVCUVU1SHh0dDl0ZFJybW9WQ3AwN05peEpycEdSRVJFUkVSRVZPMFl1bENWYWRTb0VlTGo0ejJ1NnlJSUF1TGk0aEFYRjFjRFBTTWlJaUlpSWlLcWZneGRxTXFJeFdJTUdUS2sxUDBqUm95QVJDS3B4aDRSRVJFUkVSRVIxUnlHTGxTbGV2VG9BWWxFNGpMYVJSQUVTS1ZTcjRFTUVSRVJFUkVSVVYzRDBJV3FWR2hvS0FZTUdPQzJ2WC8vL2w0WDJTVWlJaUlpSWlLcWF4aTZVSlViTTJhTTI3YkJnd2ZYUUUrSWlJaUdLRFdHQUFBZ0FFbEVRVlNJaUlpSWFnNURGNnB5clZxMVFxTkdqU0FJQWdSQlFIaDRPTnEwYVZQVDNTSWlJaUlpSWlLcVZneGRxTXBwTkJyMDZOSEQrYnBkdTNZSURRMnR3UjRSRVJFUkVSRVJWVCtHTGxUbEZBb0ZFaElTSUpWS0laRkkwTEpsUzY3blFrUkVSRVJFUlBVTzYvZVNYeFNOYmpFYWplalZxNWRMTlNNaUlpSWlJaUtpK29DaEMvbEZreVpORUJNVEE1MU9oL2o0K0pydURoRVJFUkVSRVZHMVkraENmaUdUeWRDMWExY1lEQVlvRklxYTdnNFJFUkVSRVJGUnRhdlZvVXY3cWZ0cXVndmtqYjRSN0hZYlB1UFA2YVozZEhIM211NENFUkVSRVJGUm5WT3JReGU2eVNrandKVmNpSWlJaUlpSXFMNWk5U0lpSWlJaUlpSWlJajlnNkVKRVJFUkVSRVJFNUFjTVhZaUlpSWlJaUlpSS9JQ2hDeEVSRVJFUkVSR1JIekIwSVNJaUlpSWlJaUx5QTRZdVJFUkVSRVJFUkVSK3dOQ0ZpSWlJaUlpSWlNZ1BHTG9RRVJFUkVSRVJFZmtCUTVkcXRHUlNQQlpQYk9seis5czZoV0x1QTgwOTd1dlVYSVB2cDdWRGw3aUFxdXJlVGUrcnFRbjRhbXBDbForM2Zhd0dSeGQzeDhpdVlWVitiaUlpSWlJaUlxcS9HTHJjeE9LaWxMaTlXemdtRG1ub3R1K0ZzYkdJaTFMaWVvNnBCbnBXTzhSR0tQRFYxQVRFUlNtci9OeUpUZFJZL213Q21rVElTMjB6SURFWVgwNXRnell4cWlxL1BoRVJFUkVSRWQzOEpEWGRnYnBDS1JOaDc0S3VQclU5dXJpNzEvMGo1eHpCMVF3alB0NXdEZTFpTlpneU1nWW5rM1RZZVRJWEFEQ2lTeGpheGFyeDV6ODVTTW8wK3R6SEw1NXVnNjR0S2pjeTV2QUZMUjVhZkFJQlNqRjJ2dFdsVXVjcVVuUy9WVTBwRTZGRnRCS2ZQOTBHajc1L0VoZXU2N0gxalU0SUM1QjZiRC92WDNHWTk2ODR0KzFUUHp1THJjZXlYYmJwREZZMENwUGo2Nm1KbVBqaFNaeEwwYnZzandpVVl2YUU1ckJZN2NqUldhcnVwb2lJaUlpSWlLaldFT3gydTcybU8xRlI3YWZ1cStrdU9Ja0VZRURiRUkvN2huWUt4YkJPWWNqWFd5QVNCR2lVWXF6ZG5ZWWRKM0k5dHQ5ek9oZDZrdzBBRUtLVzRJZVgyME1pRmpEKzdXTXdtbTFZODUrMmlBeVMrZFF2aTgyT3pzL3VCd0RjM2FjQkdvY3JuUHM2TmRlZ2ZWTU5WdjJWQmtQaDlZcTd2WHM0ckRZN2ZqMlE2ZHgyTGN1QWxUdlNJQktBdGswMGJzZEVCc3V3Nk5FV21QZjlaUnkvckFNQXhFVXI4ZnA5emZESzh2TzRrdVllcnB4TTBzRnNkZnd4M1A1bVp3U3JLNVlGbWl4MmRIMSt2OHUyenMwRDhPbVUxc2pSV2ZDdmQ0OWpZTnNRVEJzZlc2N3o5bjM1SVBJS3JHN2Jpd0tkMDBrRm1QVFJLZWQyUVFDV1Bka2FiV1BWZUhqeFNaeStWbENoKzZsT1pRV0JSRVJFUkVUMXhZVUxGekIxNmxSa1pXVmg1c3laR0RwMGFFMTNpV294am5TcElqWTczRVpEUklmSThIK2pHNk5qc3dCTVhISVNqd3lLaHRWbXg3YzdybVAyZmMwaGs0aXc1TmNrcEdhWFBrVW9XMmZCNjZzdW9uOWlNTEsxWml5WjFBcVJRVEw4ZGlnVEI4N2xlKzNUaUM1aFNHaXNkcjVldlRQTlpmK1VrVEZvMzFTRFR6WmNRMmErMmUzNG5xMENZYlRZc0dqZEZZLzNlL1N5MW0xN1k1MWp1czNGVkwzYi9yUEplcDhDaU4ybmMxMkNuaUlUaHpxbVdYMjJLZGx0MzZBT29lamRPc2h0KzZFTCtYaDk1VVYwYXhHSXRGd3pmdHlianBOSk9wYzJjVkZLekxpbkdaWnV2SVpkcDF5RHNBS2p6U1Z3bWY5UUN3enJIT3JTcG1lcndGSkRpelV2dFhWK3ZmbElGcDcvNHB6SGRrUkVSRVJFUkZUM01IVHhnMmFSQ3R6WEx3b2p1b2JodTExcG1QWHRVZWhOTmp3eUtCb0FzT2QwSHNhOGVSU1BEbTZJVlMrMnhaYS9zN0I2WjFxcGdjVFdZOW5ZZWl3YlUwYzFSczlXZ2ZqclJDNWUvdm84YkdXTVVVcG9yRWFMNktwZno2U0lUQ0xnd0tKdUh2Y3RlNnExMjdiaUFVU1JXMTQ3N0JiNG5FL1ZZOTIrRExlMjQzbzFBQUNQK3hwSEtEeUdMZ0R3MDc0TS9GUjRqTVZxeCtFTHJtR1F0VEJUdVpSbWNOdm55ZlZjRTViOGt1UzIzVnNvOU5TSW1ETFBTMFJFUkVSRVJIVUxRNWNxRXFLV1lIREhVQXp2SElaV2pWVDRZVTg2eHMwN2lyUmM5eEVrQUtBMzJmRGhyMGxZL21jcTd1N2JBTzgvSG84Y25RVmJqMlZqNCtGTVhMeHVjRHNtTTkrTTdjZHo4UHgvejVZWnVBQ0FWQ3pBWlBILzdMRkY2NjQ0MTV1SkNwYmhvMyszd3F5VkYzSDBraVBBaUcrb3dsc1B4dUc1TDg3aVVwcmp2am8yQzhDTWU1cjZ2Vy8ra0Y5Z0xYY285TURBS0wvM2k0aUlpSWlJaUc0dURGMnFTR0lUTlNZTWlNU2FuV2tRaVlBSGI0bkNnN2Q0L3FEdGFTcEtVcVlSUnk5cE1hWkhPSGFkeXNYaWlTMXhTN3NiYThRTW1mRTNsbTlMeGZKdHFYaHBYQk04TU1EenVkZnNUTU9jMVpjQUFGS0pBSlBGZmEyV3FuWTl4K1JjU05ab2Rsd3ZPZFBvM0thU2lRRUFWek51YklzTTltMU5tb3FhTTZFNXhuUVBkNzUrYVBFSkRFZ013YU9EbzBzOXByU0ZkTGNmejhHVVpXZWNyMXRFSzcydWdWTGF2aXNaN2tFYUVSRVJFUkVSMVYwTVhhcklYeWR6OGRmSll3Q0F2bTJDY1NuTmdJOStjNStDNHNramd4ckNiTFZoN3BwTHptMnIva3JEWHlkejBUa3VBQ083aExrZGs1WnJ4dHZmWDNiWjl0ell4aTZ2WlJJUlRHYi9qM1NaLzFBTHpIL0lkWnV2MDRzOGVXQkFWS21oRWxCNnFGRjhWTTh2K3pOdzRvb09UU0lVbURBZ0VnQ3c2cS9yMkhZOEcxOU5UZkNwSHdEd3hDZW5rWkxsdXVaT2FyWUpDMzV3WCtkbXlrakhGS0lsNjkxLzdpVi9Oa1JFUkVSRVJGVDNNWFR4azJ5dEJSc09aZm5VZGxUWGNBUnJYSDhVeFJkMDlSUzZGQml0Mkh6RTlmeVRibXZvOGxvbUVXQXNIT2t5Njk1bUdOY3J3dVAxdDc3UnlXdi9Tb1ljYTNlblk5YktpODdYeGFjWCtjcmI5S0x0eDNPd2JxLzdGQjF2b2Nhd0xxRVlrSGhqWk5EZU0zbllleVlQWFZzRU9FT1hsR3dUVXJKTk9IMnRBR2FySGU5NFdDQzR5SWd1NGJpemR3UU9uYzkzVnBJcW9qVzRmKytCRzFPSVBPMHIrYk1oSWlJaUlpS2l1bytoaTU4MGpWUmcva010ZkdyYk9rYU4xQnozVXNwZXo5OUE0WEhFUjlFNktnQWdsWWljMDR0Mm5jcEZ2dDYxN0hIbnVBQzBpMVhqMiszWFBhNzk0cWxrTkFBY0s2eEtaTExZSzF5MisxeUtIdC90U3ZPNDcwcUdvZHloUnFzWUZRWWsrbjc5WEozRmEvV245azNkeTJFVEVSRVJFUkVSbFFkREZ6OFJBSWpGdnJVVkNlVS8vL1VjazNQdGxpTFR4c2U2dkpaTFJEQ2FIR0hLcHIrenNPbnZMTGYyN1dMVldQRERGVmc4ck16cnJXUjBFVzlybS9oaTJPdC9Jem1yOUpMWk55T3U2VUpFUkVSRVJFUytZT2ppSnhldkcvRDhGK2Q4YXJ0a1VyemI5S0t5NkUwMmJEK2U0N0x0NlpHdVpZbmxVaEYwUnMvVmt3QkhwYUhjQW92SHdNVlhEN3h6b3NMSEFrQjZLZFdkL0sxUG02QUtCMFlzR1UxRVJFUkVSRVMrWU9qaUo1MmFhOHIxb2Y3b1pXM1pqY3BKS1JQQlpDNjllbEZDWTdXem1sQjUzZFduQWFiZlhUVWxuNy9Za29MM2ZyN3FmRjBWQyttVzVlZ2xMZWF2TFgwRXo2aHU0YmkzWHdPMzdTOTlWWHFRNXExa3RLZHRSRVJFUkVSRVZMY3hkUEdUOGxZdjhnZUZUQVI5S2FGTHIxWkJpQXFSWWVXTzZ4VTY5KzlIc25BNnFjQnJtM0c5SWpDbVJ3UWVlcy83YUpqcnVhN1RpM2Fmem5WYlJ3YndQcEprVUlkUTlHNGQ1UFU2M1ZvR29HR29ISUJqelpibHovbGV4Y2piUXNRbGxSVzJsVnlJbUlpSWlJaUlpT29taGk1K1V0bnFSWjdjMDdjQnNuVVdBTDR0cEJ1a2trQnZ0THExaVF5UzRmWDdtaUZMYThGM3V6MHZabHVXTEswRldkb2IxK3FiRUlSblJqWEdlejlkZFZaZTZwUGdDRUdLUnZHOC8zZzhzdkxOK0dwckNpNWU5N3krU2Y5WERwVjZ6Y3FNSkxtalp3UkdkUXZISjc5ZGMvU3BuQ05kZnQ2ZmdlTlhkVjZ2OGZDdDBRQ0FMLzlJOGRydVFtckZSaGNSRVJFUkVSRlI3Y0xReFErZStPUjB1ZHBQV1hhbTFIMHF1UWdBc09peEZtZ2ZxOEgwYnk0QUFOSnl6WGo3Kzh0dTdhOFdMdGJhSlM0QUtya0lsOU5kdzQwdWNRRjQ2NkU0QkNvbGVPYlRNOGdyY0E5bHlxTno4d0Q4ZTFnajlHd1ZpTDFuOHFBdFZpRkpBR0NIWThxUFJDeGcvN2s4UEhKck5PN29HWUh0SjNMdytlWmsvSDJ4NnFkVkZhZFJPRll6SHRzakF1c1BadUtMMzFNd3BHTW84dlZXcjFPNmVoV09tckhaSGYwL2VENGZCOCtYWHUwSWNJUm5BTEJtWjhXQ0xDSWlJaUlpSXFwYkdMcFVrU2tqWXpCcGFOVk1FMXEyS1JsTDFqdW1KdDNhTGhRQUVLeVNZdkpIcDdIN2RDNndEMjZqTkJZKzNBSm1teDE1QlJiSUpDSU03UmdLaTlXT3JjZXlBUUFSZ1ZKTXZiMHhidThXanFSTUl4Nzk3Q1NPWC9FK2NzT2I3aTBEOGN5b0dMUnZxc0hoQzFvOCtzRkpseExNU3BrSVhlSUNrVnM0TXNkaXRlTi9XMU94YXNkMTNObTdBUjRmMmhCZi8xOENEcDdQeDR3VkYzQTFvM3dsczMwMXFMM2orL2YxMWxRcy9MSDBrUzFOSXVUb254QUN2Y2tLUVJBd3RtYzQwdlBNTUpvcnZzZ3dFUkVSRVJFUjFXOE1YYXJJMW1QWi84L2VmVWM1V2VadEhML1NNelhURzczUEFGSUZCUlFVcWFMSTJqdXJxOWdYZFYzRjN0ZUtkVjBWMFhkeGJZc1ZWa1ZGQlJFUWtDSkk3M1dZd3ZTV1pDYkorMGNnTXlFekEraUVVZmwrenZFd3VaOXkvNTVrT01kYzNFVzV4VTJ6OWZIYU90TlkxdTZxMEtydDVYcnhzMTJOTGhUcjhmazA5TGg0MlN4R2VYMCs3Y3gzNnNWUGQydG52ai9NcUhSNWxSNXYwK3RmWit1MXI3SlY1VzU0Z2QzRFVlUHh5V0F3NlBwWE5taitPdjkwb2dpclVUODhlWHpRRnRqL21aTVRkSjI3eHFkMzV1WHE0MFg1dW1SSW1nWmxPYlMzS0h4YlJtL1lVNmxYdjl5amx6N2YwK2g1WnFOUnQ1L2RPdkE2dDlpdGY3eS92WkVyQUFBQUFBQm9uTUhuOC8xdS95bS94OFFselYwQ0RqTG0rRVJGMmZ4VGVuYnVjMnJSaHRKbXJ1andtWXlTenlmOWloMjBmN2QrNmZiWkFBQUF3Qi9OMXExYk5YSGlSQlVXRnVyKysrL1hpQkVqbXJzay9JNHgwZ1ZONnJONmRoMzZ2ZkQ4dXNFL0FBQUFBQUFFTVRaM0FRQUFBQUFBQUg5RWhDNEFBQUFBQUFCaFFPZ0NBQUFBQUFBUUJvUXVBQUFBQUFBQVlVRG9BZ0FBQUFBQUVBYUVMZ0FBQUFBQUFHRnd6SWN1U3lmMzA1UWJNcHYwbmwxYlJXblY4LzExNDVpV1RYcGZISjVwRTd0cXdlTjltL1NldjdYUGRQelFOSzE2dnI5TzdCemIzS1VFeWMvUFYxRlJVWE9YQVFBQUFBQy9DY2Q4NkJJT05SNmZDc3FxVmVuME5IY3BhQ0svdGMrMHl1VlZRVm0xM0RXK1pxdkI2L1dxdkx4Y2UvYnMwWXdaTTNUMTFWZnIzSFBQMWJwMTY1cXRKZ0FBQUFENExURTNkd0YvUkJ1ekszWHFQU3VhdXd3MG9kL2FaenA5UVo2bUw4aHJscjdMeXNxMGZ2MTZyVisvWHN1V0xkT0tGU3RVWGw0dVNZcU9qbTZXbWdBQUFBRGd0NGpRQmNCaCtmbm5uL1hkZDk5cHhZb1YycjE3dDRxTGkxVlRVeU5KOHZtYWI4UU5BQUFBQVB4V0VicnNONlp2b3E0ZW1hRldTWGJsRnJzMWM4ayt2VDQ3VzlXZTJpK1RCb04wM3NBVW5kRXZTUjNUSTJTM0dGVlVVYVBGRzByMTRtZTd0TGZJTGNtLy9zZDd0M1hUbEsreTlYOWY3OVc4eC9wbzhjWlNYZi9LaHNDOWVyU0oxbHUzZHRXR1BaVTY3OG5WZ2ZhV2lUWjlmbDlQVFoyZHJSYyszUzFKT3JGTHJDNGRrcWJ1YmFJVkcybFNwZE9yMVR2TE5lWExiQzNmV2hhNGR1bmtmdnJ3aHp5dDIxV3BTNGFrcW0xS2hDcmRIbjIvcGxqUC9XK1g5cFZXQjg0MUd3MjZjbGk2eHZaUFZtcWNWWHVMWEhwcmJvNWFKZGsxZm1pYVR2ajdVbFc1dlEyK1gzYUxVVGVOYWFtVHU4VXBQZDRtWjdWSEs3ZVZhK3JzYlAyMHJmeVE3M2ZiRkx1dUhkVkNKM1oyS0RiU3BOd1N0NzVkV2FSWHY5eWowcXJhS1R4VGJzaFVmSlJaYjN5OVY3ZWYzVnFSTnBQZW5KT2psejdmTFl2Sm9Ba2pNelRtK0NTbE9LemFubGVsVjc3WTAyQzlWdzVMMStpK2ljcElzS25jNmRHU2phVjY2ZlBkMnA3blBHUi9jMzR1Q255bS8vek0vN204ZkcwWHBjWlo5ZEIvdCttRzAxdXFlNXNvR1EwRy9iU3RUQzkrdWx1cmQxWklrcWJmM2wydGsrdzY1ZTdsY2xZSHY2ZVRyK3lvVTQrTDE3RDdWcWl3ckVZR2czVEJTU2s2ZTBDSzJxVkVxTWJyMVpxZEZmcjNOM3MxZjExSjRMcnhROVAwdDdOYWE4Skw2N1ZvWStraDMrOGpWVk5UbzRxS0NoVVhGK3ZUVHovVnJGbXp0SGZ2M3NEeGcwTVdnOEhRNURVQUFBQUF3Tzhkb1l2OEFjanhIV1AwL29JOHZmZDlyb1owaTlmMW8xdW9lK3NvM1RobFkrQzh1ODV0cXd0T1N0SDh0U1g2NTJlNzVaUFV0ME9NenVpWHFJNFpFVHEvVG5oeVFJWExveDgzbGVyNGpqR3ltZzJCTlRnR1pEb2tTWjB6SWhVZlpWWlJoWC9Fd0pEdWNaS2tiMWI1RnlNZDFTZEJUMXplVVZ0eXF2VG10M3RWNXZTb1kxcUV4cDJZckZldno5U29CMzlTUVZsdG1ESzZUNktHOW9qWDFLK3l0VFczU3YwNnhtckN5QmIrTU9YNXRZSHpucjJxazRaMGk5TzhOY1Y2WjE2TzJxVkdhTks1YlZSYWVYaHJsand4dnFOTzd1clF1OS9uYXZQZUtpWEdXSFRSNEZTOWNWT1dMbmg2dFRabFZ6VjRiYzkyMFpweXZYL3g0ZzhXNW1sM2dVczkya2JyMGxQU05LUjd2QzU3ZGszZy9aQ2s5SGliN3J1d3JUNWJXaUNyMmFDVjIvMUIweit2NmF3QlhSeWE4M09SM3BxYm8vWnBFWHB5ZkVlNWFyenkxc2syckdhRHB0NlVxZTZ0by9YNTBnSzlPU2RIS1E2THpodVVxdmR1NjY0clgxeW50YnNxRHRsZmZkSVRySHJwbWk1NloxNnVwczdPVmthQ1RiZU1iYVdwTjJacHhQMHJWRnJsMGNlTDhuWG5PVzAwdEVlOFBsOVdFTGcyTnNLa0lkM2k5ZjJhWWhXVytaOTM4aFdkTkt4bnZGWnNMZGVMbisxU3BNMmtzZjJUOUs5cnUraXBUM2JxUDNOeUR1dnorYVgyN05talJZc1dLUzh2VDh1WEw5ZnExYXZsZHZ2RHhQcEdzeHdjdHRUVTFHakZpaFdxckt3TWE1MEFBQUJBdU9UbTVxcXFxdUh2TThDUklIU1JGR2t6NnUvLzNxd3ZWeFJLa3Q3N1BrOFBYOUplWi9WUDBpbmQ0elIzZGJHU1lpMDZmMUNLZnRoUW91dGZyUjJ4OHU2OFhFMitzcU9HOTB4USs5UUliYzBOL2NzNTUrY2lEY3gwcUcrSFdQMnd3VDlhWVdDbVF6bEZicVhGVzlXdmM2eSsydC8za083eHlpMTJhODMrVVJMWGpXcXBrc29hWGY3Y1dwWFhXY1IxZTU1VGQ1N2JSc042eHV1Lzgydlg5b2lOTkd2Y1AxWUZSbS84dUtsTTdWSWpOTEozZ2xvbjI3UXozNlhoUFJNMHBGdWNQbGlZcDRmK3V6MXc3Y0wxSlhyK3FrNkhmTDlpSTB3NjliZzR6Vnl5VDA5OXZEUFF2bVJqcVI2NXRMMjZ0WXB1TkhSNStPTDJzcGdNUWVITXUvTnl0WHhMbWU0OXY2MXVQYXUxN24xbmE1MW5NdW1SNmR1RDFqQVoxak5lQTdvNE5PM2JIRTJlVVZ2RC9MWEZldUhxemlxck0xcm1pdE15MUtOTnRPNS9kNXMrWHBRZmFKOCtQMDhmM1htYzdyK3duUzU0cWpZd3E2Ky9ycTJpNm4yV0tKdEpEN3kzVFIvOVVIdGZpOG1nZTg1dnErRzlFdlRoRC9uNmJPaysvZTJzMWpxalgxSlE2REtxVDZLc1prT2dwdEY5RWpXc1o3eG1MUy9RcERlMzZFREc4Wjg1T1hydjc5MTB5OWhXbXJPcVNMc0xYQTIrdDcrRXI4YWwyYk5uNit1dnY5YTZkZXVVbTV0N3lHbEREWTFzY1RxZGV2dnR0MlUwc2tZM0FBQUFmcCs4WHEvY2JyZHNOaHYvWDR0ZmpkQkYwcGFjcWtEZ2NzQWJYMmZyclA1Sk9xMW5ndWF1THRhKzBtcWRmT2V5a0MrYkVWYWp5dmQvd1krMDFmOFhjdTdQeGJyN1BHbFFsa00vYkNoUmxNMms0OXBHNlpsUGRtbmltYTEwNHY3UUpjcG0wdkVkL0NOdURqai9xWjhWRzJFT0NseE1Sc2xWNDkzZnB5bW9yMjI1VlVIVFpTUnA4OTRxamV3dEpjVll0VFBmcFpGOUVpUkpMODhLbm9vejUrY2lyZDFWMFdEQWNFQ0Z5NlBTU285T09TNWU1dzlLMFp5Zmk1UmZXcTFWTzhvMTl0RlZqVjdiT1NOU2JWUHMrbXhwUVVndzgvNkNQRjF4V3JxRzlZclgvZTlLM2pyZjkrZXVEdDZHK0xTZS9tZDRjODdlb1BhNXE0dTFOYmRLeWJIV1FOdnBmUk5WN3ZUb3U5VkZpb3VxL1pXdjl2aTBjSDJKUnZkSlZFYUNWZG1GN2diN2E4eWNWY0huYnNueFAxZFNyRVdTVkZycDBiZXJpalM4VjRJU1l5eUJrVWxqK3llcG9LeGEzNjh0bGlTTjdPMS9wbjkrdGx0MXM0NEtsMGRUdjhyV3c1ZTAxL0JlQ2ZxL2I0S2YrZGN5Vk96UnNtWGJ0WDc5ZXBXVWxNanJiWGhhMlNIdlpURElaclBKWXJFMFlZVUFBQURBMGVkd09OU3laY3ZtTGdPL2M0UXU4b2NTQjl1VzY1VEhLN1ZPc2dmYVNxczhHdEl0VGlkM2kxT2JaTHRhSk5xVWtXQ1RjWDhPWTJ6Z1gvOXpTOXhhdTZ0Q2c3SWNldm9UNllRdXNUSWJEZnArYmJGT09TNU9KM1QyVHpVYTFOVWhzOGtRbUZva1NhNXFueEpUTExyODFIUzFTN1VySThHbTFzbDJXYzMrdmc3dXNyak90SndEcWozK0w5RUhRdHAyS1JHcWNIbVVYMmVObDdydnhhRkNGNDlYdXVmdExYcmtrZzY2NS95MnV1Zjh0dHE4dDBvTDE1Zm8weC8zYWYyZWhxZVd0RXF5K2Z2SnFmK2NyVGxWR3R3dFRuSFI1c0NVRzU5UEliVzJTcktwMHVXdC94bXlnME9YMXNsMm1ZelMzRWY3TkZoWFJvSXRFTHJVMTE5amlnNTZ6NnYzVHlFekdtcy9uSThYNVd0VW53U2QzamRSLzVtYm96YkpkdlZvRzYzLysyYXY5bjg4YXBWa2w2dmFwMTM3UWtleWJOci9POW9pMFhiWWRSMDJSM3RObW5TaHlzcks5UFBQUDJ2WnNtWGF1SEdqMXE1ZHErSmlmeUIwOElpWEE2OFBEaUVqSXlOMTg4MDNxM2Z2M2sxZkp3QUFBSEFVUlVkSEt5RWhvYm5Md084Y29Zc2tWM1hvdit5YjlnY1VudjNETFN3bWc1Ni91ck5PeW5Kb1c2NVRxM2FVYThHNkVxM2RWYUdUdThacC9OQzBSdnVZODNPUmJqaTlwVkxqckJyUXhUKzFhRWUrVXo5c0tOSEVNMW9wUGQ2cUlkM2lWRnhSbzJWYmFoZEd2WFpVQzEwL3VvVUt5cXExYkV1WlpxOHMxSVk5bFRLYkRIcjZ6eDFEK2ptY1RXUXNkZGFXQ2JuKzBKZEw4bzhvR1hiZkNnM0tjbWhncGtQOU84ZnE4bFBUZE5rcGFYcmlveDE2WjE1dXZkY2QrSTdlVUowSGdxdnFPdlY1ZmZXZmJ6RWJaRENFSGpQVUdYQmtNRWhHZzdRejM2VkhwbTlyOEhucWpycHBxTDlmWTlIR0V1MHRjdXVNZmtuNno5d2NuZGsvU1pMMHllTGFhVWxxWkMzYUEvbU51K2FYajBJNWxKaVlHQTBjT0ZBREJneFFlWG01Q2dvS3RHclZLczJjT1ZPclY2OVdkYlUvaUtvYndCd2N2aGdNQmlVbko2dDE2OVpocXhNQUFBQUFmaThJWFNTbHhsbEQyaklTYkRJWnBlMTUvaS9qWjUyUXJKT3lISnErSUUrUFROOGVkTzdvdm9tSDdPUGJWZjdRWldDbVF5ZDJpZFdpamY2MVhSWnRLTlhFTS94cnZKemNOVTdmclM0T2pIeG9tMkxYOWFOYmFPMnVDbDN4d3JxZzNZVEdIRWFmRGRtZTU5UXAzZU9DRnZBOW9HMnl2WUdyYWtWWWplcVVFYW5jSXJlK1dWVVVHSm5UcFVXa1hyOHBTOWVPYXRGZzZISmdGRWZIdE1oNmo3ZExzNnZjNlFsYWs2VStPL05jNnRFbVdpMFRiU0VqUTlvbVJ3Uis5dm1rN0NLWFV1SXNXcjYxTENSczZ0MCtXamFMVWM3cXcxdEErSmZ5K2FRWmkvTjE3YWdXYXBOczE1ampFN1Z5VzdtMjVkWk9CZHU5ejZsTzZSRnFtV2dMV2JlbFE1ci9tUTdza0JWT0JvTkJNVEV4aW9tSlVkdTJiVFYyN0ZobFoyZnJ5eSsvMUp3NWM1U2RuYTJ5c3JLZ2RWL1lNaG9BQUFBQVFyRXFrUHc3RUtYRkJ3Y3ZGNTZjS2ttQnRWNFNvdjM1MU1xRHRrTk9kVmcxdEVlOEpNa1V2THhLa0UxN3E3Uzd3S1Uvblppc05zbDJMZHJnSDgyeWRsZUZTaXByZE1WcEdZcUxNdXViVmJWcnk4VHY3M05qZG1WUTRHSTJHblR1b0pUQXowZHExdjdGWE1jUFRROXE3OWNwUmozYlJSL3krcllwZHIxMVMxZmRNS1pGVVB2bXZaVXFyL0lFUmdmVloyTjJwWGJrT3pXcVQ0STZwa2NFSFJ0M1FySmFKTmowOWNyQ0JxNnU5Y1VLL3pOY016SzRocE95SE9xVUVYemYyVDhWeW00eDZycFJ3Zk14VXgxV3ZUaWhpeDY5dEVNZzZBcW5UeGJueStlVGJoN2JTaTBTYlBxNDdpZ1hTVi85NUgvdUcwNFByalBDYXRTVnd6TGs4VXJmcmp6OHRXYWFVa1pHaHE2NDRncE5uVHBWTDc3NG9pWk1tS0NoUTRjcVBUMWRCb01oOEI4QUFBQUFvQllqWGVTZlV2UHFkWmw2NnBNZEtpeXIxc2plaWJwMFNKbysraUZmaXpmNnc1SHYxeGJyMnRFdGRQUFlWb3FKTUNtdnhLME9hWkc2YUhDcUlxeis3Q29tb3ZHM2M4N1BSYnJzbERUNWZBcU1kUEg1cE1VYlN6V2lWNEtxM043QTdrYVN0RzVYcFhLTDNUcmorQ1RsRmxkcnc1NEtKVHVzT25kQWlsb2wydzZyei9yTVdsNmdzMDVJMHBYRDB0VXVOVUtMTnBhb1phSk41dzlLVlpYYkczaWVBNTRZMzBGOU9zVG9wbGMzYXYyZVNxM2JYYWs1UHhkcjNBbkppckNhdEdSVHFjeEdnMGIwVGxCR2dsVlBmMUs3bTlERmcxTjF4YkIwVGYwcVcvK2RueWVmVDNyZzNXMTYrYm91ZXV1V2J2cnYvRnovbHRGdG9qVzJmNUwyRkxyMDNNeGRoM3lHZVd1S05XdDVnY2IyVDFKaWpFWGZyU2xTaXdTN0xocWNxc0x5R2xsTXRRSEFsQyt6ZFhMWE9QMWxlTG82WmtSb3dicGlSZHZOdXVDa0ZFWFpUTHJ2bmEycThZUi9wRVoyb1Z1TE41WHF0Qjd4cW5KNzljWHlncURqbnk4cjBNamVpUnB6ZktKUzQ2ejZabFdoN0ZhanhwM2dEK3FlbmJsTGV3cWJkdWVpSTJXMVdwV1ZsYVdzckN4VlZsYXFzTEJRR3pkdTFPelpzelYvL3Z4bXJRMEFBQUFBZm1zSVhTUjl2clJBZXdwZHV1Lzhka3FLdFdqWFBsZkl1aVRyZGxmcXIxTTI2dHBSTFhUVEdTM2w5VW81Ulc1Tm41K3J1YXVMOU41dDNUVW95NkY1YTRvYjdPZEE2TEo1YjFWZ2tWaEpXclNoUkNONkpXait1bUs1cW11Ly9EdXJ2YnI2cGZXNlpXeHJuVGNvUlJGV28vSkxxclZzUzZsdW5MSkJiOS9hVFFPekhKbzg0OGlmK2VhcG0zVHRxQllhM1RkUkozZDFhSGVCUzQrK3YxMGplaVhvcEs2T29MVkQ0cU10U25WWVpUWFhoakYzVE51czhVUFROS3BQb2s3dUdpZURRZHF3cDFLVDN0d1N0QzF5dE4ya1ZJZFZVZmJhWVVETHRwVHA0c2xyZE8zSUZocDNZcktpN1NibEZMbjE3Mi8zYXVyczdFTk9MVHBnMHB0YnRIcG5oYzRibUtMYnhyWFIzaUtYSHBtK1hRTXpIUnFVNVFpY1YrNzA2TEpuMStxcTRSa2Exak5CQXpNZEtxMnMwYnBkbGJwajJoWXQzMXAyNUcvZ0wvVHhEL24rM2FwK0tsU2xLM2g0amM4bjNUeDFveTRaa3FaeEp5VHJsckd0NVhSN3RXWlh1UjcvY0ljV3JDdHA0SzdOSXpJeVVwR1JrV3Jac3FXR0RoMnFxcW9xTFZ5NFVCa1pHYzFkR2dBQUFBRDhKaGg4ditQRkdIcE1YTkxjSmZ3dU9TTE5jdGQ0ZzZZc0hmRFdMVjNWT3RtdXdYY3RiNGJLMEZ4V1BkKy91VXNBQUFBQWdEOGMxblE1QnYzcHhHUXRmdXA0bmR3MUxxaTlYYXBkM1ZwSGErWDI4Z2F1QkFBQUFBQUFoNHZwUmNlZ3IzNHEwTFdqV3VnZmw3WFgrd3Z5bEYzb1VucThUZWNNVEpHejJuTllhNm9BQUFBQUFJREdFYm9jZzdJTDNicG84bXBOR05GQ1p4eWZwTVJZaTRyS2E3UmdYYkZlK1dKUHlCYk1BQUFBQUFEZ3lCRzZIS08yNVRwMTUzKzJOSGNaQUFBQUFBRDhZYkdtQ3dBQUFBQUFRQmdRdWdBQUFBQUFBSVFCb1FzQUFBQUFBRUFZRUxvQUFBQUFBQUNFQWFFTEFBQUFBQUJBR0xCN0VYN1R6Q2FEemo0eFdTTjdKNnBUUm9RaWJTYmxGcnUxZW1lNTNsK1FwNldieTVxa24ya1R1NnBqZXFkQ3lPTUFBQ0FBU1VSQlZJUUdUVnJXSlBjREFBQUFBSURRQmI5WkxSSnNlbUZDWjNWS2oxQnVpVnZmclNsV1dWV05XaVRZZFZxUEJJM3VrNmdQRnVicnNRKzJxOXJqYSs1eUFRQUFBQUFJUXVpQzM2Um91MG12WHArcGxrazJQVGR6bDZiTjJTdVB0L1o0UXJSWi83aXNnODRkbUN5Zno2ZUhwMjl2dm1JQkFBQUFBS2dIYTdyZ04ra3Z3ekxVT3RtbWwyZnQwUnZmQkFjdWtsUllYcU1iWDkyb1RkbFZPbTlRaW5xMWkyNmVRZ0VBQUFBQWFBQWpYWTZ5bG9rMlhUT3FoUVowY2NnUmFkYmVJcGYrOStNK1RmdDJyOXcxdFZOa2VyYUwxalVqV3FoSHUyalpMVWJ0eUhQcXd4L3k5TzczdWZJZHhreWE0OXBFNmJyUkxkV3piYlI4a3VhdEx0Yi9mWk90RHljZHA4a3pkbXJhdHptU3BGWFA5OWVDZFNXNjdwVU5RZGZmT0thbEpvekkwSVZQcjlIYVhSVkhWRmZ2OXRHYU5yR3I3bjE3cTBiMFR0QUpuUjNLTDNWcjlrK0YrdlBRZE4zMjc4MzZha1ZoVUgvRGV5Wm84cFVkZGQ4NzIvVEo0bnlkUFRCWlZXNnYzcHl6dDhGbnJQSDY5TktzM1hydUw1MTA5b0JrL2JTdFhKSTA1WVpNeFVlWjljYlhlM1g3MmEwVmFUUHB6VGs1ZXVuejNiS1lESm93TWtOamprOVNpc09xN1hsVmV1V0xQZlhlMzI0eDZzcGg2UnJkTjFFWkNUYVZPejFhc3JGVUwzMitXOXZ6bklIekd1c1BBQUFBQUhEc0luUTVpanFtUitqTm03dktaRFRvL1FWNTJwNVhwYjRkWW5YVG1KYkthaG1sVzkvWUpFa2EwU3RCajQvdm9Kd2l0Lzc5elY1Vk9EMDZzWXREazg1cG81N3RvblhIdEMyTjl0TzNRNHltM0pDcG92SWF2ZkxsSGxXNXZEcDNZTEplbU5ENVY5Vi9wSFhkTXJhMTloYTU5UFozT1VxTXNlaWRlYm02L05SMG5ka3ZLU1IwT2JOL2txcmNYbjMxVTRIYXBkb1ZIMlhXa2sybHFuSWZOTVRsSUF2V0ZjdnJrMDdvN0FocVQ0KzM2YjRMMitxenBRV3ltZzFhdWQyLzRPNC9yK21zQVYwY212TnprZDZhbTZQMmFSRjZjbnhIdVdxODh0YnB5bW8yYU9wTm1lcmVPbHFmTHkzUW0zTnlsT0t3Nkx4QnFYcnZ0dTY2OHNWMVFXRlVRLzBCQUFBQUFJNWRoQzVIMFIxbnQ1SGRZdFRGazlkby9aNUtTZElIQy9OVjdmRnEzQW5KNnRvcVVqdnlYTHJ2d25iYWxlL1NoVSt2RG9RTzczNmZxNXZQYktVcmg2VnIxcklDelYxZDNHQS9kNTNiVmw2dmRPbXphNVJUNUpZa3pWaWNyN2YvMXUwWDF4NWxNeDF4WGE0YXJ5NS9ibTNRSXJlTE41Wm9VSlpEOFZGbUZWWFVTUEt2ejNKU1Y0YytXMXFnU3BkWHFRNnJKQ20zMkgzSXVselZQaFdYMXlqWllaSEJvTUJvbTloSWt4Nlp2bDNURitRRnpoM1dNMTREdWpnMDdkc2NUWjZ4TTlBK2YyMnhYcmk2czhxcVBJRzJLMDdMVUk4MjBici8zVzM2ZUZGK29IMzYvRHg5ZE9keHV2L0NkcnJncWRXQjl2cjZBd0FBQUFBYzIxalQ1U2lKalRDcFg2ZFlMVnhmRWdoY0RuaHU1aTZkOC9qUDJwUmRwWk82T2hRYllkTG55L2JKWmpFcUxzb2MrTytMNVFXU3BOTjZKalRZVDZza216cGxST2pyVllXQndFV1NxajArdlQ0Nyt4ZlgvMHZxV3JpK0pHUlhvWThYNWN0c05HaDAzOFJBMitsOWsyUTJHdlRKZ1hERDRQK2o1akIzSktyMjFqOGFadTdxb3FEWEIrbzdlTXJTM05YRjJwcGJGZFIyZXQ5RWxUczkrbTUxVWRDelZudDhXcmkrUkZrdEk1V1JZRzIwUHdBQUFBREFzWTJSTGtkSldyeE5Sb05DdnR4TC9rVmhDOHY5b3o3YXBrUklrbTQ0dmFWdU9MMWx2ZmRxa1dCcnNKOFdpZjVqdS9jNVE0NXR6UW50KzNEOWtycnlTa0pIcW55enNraWxsUjZON1ora2QrYmxTcExHbnBDazNRVXVMZHZpbjVKeklDeEtjVmhEcmorWTFXeFFZclJGKzBxcWc5YTY4Zm1rL05McW9ITmJKZGxVNmZLR3RFdlM1dXdxSmNmVzl0YzYyUzZUVVpyN2FKOEcrODVJc0NtNzBOMWdmd0FBQUFDQVl4dWh5MUZpTnZtSGJ4eHFFVnpqL3JGSEwzMitXeXYzTHd4N3NES25wOTUyU1RMc0h5WmlOQmhDanJscUdsOGZwUzZ6TWZqNlgxS1hwNTZSS3RVZW56NWJ1azhYRFU1VnUxUzd6RWFETWx0RUJpMDZ1eVBmcWR3U3QzcTNqMUdremFoS1Y4TjFuOURaSWJQSm9CODNsd2ExZTMzMXY5Y1dzeUZvR3RJQmhqcGp2Z3dHeVdpUWR1YTc5TWowYlEzMnZTbTdOc1JxcUQ4QUFBQUF3TEdMME9Vb3lTNTBTYW9kTVZKWDJ4UzdyaC9kVWg4dHl0T2VBdGYrVm9NV2JRd09FcUpzSmczSWpGVk9JMnVkYk12ekJ3SHQwMEw3YVpNYzJ1YnhTalpMNkN5emcwZVovTnE2NnZwb1ViNHVHcHlxRWIwU1pUYjV3NG9aUy9ZRmp2dDgwc2MvNU92YVVTMTA5ZkFXZXY3VFhmWGV4MncwNlByUkxmejMvQ0cvM25QcTJwbm5VbzgyMFdxWmFOT3VmYTZnWTIzcnZEYytuNVJkNUZKS25FWEx0NVlGN1NvbCtYZG5zbG1NY2xZM0hINEJBQUFBQU1DYUxrZEpjVVdObG04dDA2QXNoOXFsMm9PT1hUdzRUYVA2SktqUzVkVzhOY1Z5Vm50MXlaQlVKY2RhZ3M2N1psU0ducm15a3daa0J1L1VVMWRPa1ZzcnRwYnJsTzd4NnBSUkd5UVlEZElWcDZXSG5KOWY0bGFuakFoRldHdC9GVklkVmczdUZoZDAzcSt0cTY0TmV5cTFibmVsVHVzWnIxT1BpOWZpamFWQjY4OUkwdFRaMmRxOHQwcFhEa3ZYaEJFWk1oMzBteG9YWmRZemYrbWticTJqOU9FUCtZR3BTWTM1WW9WLzdabHJScllJYWo4cHl4SDBYa25TN0o4S1piY1lkZDJvNEtsVXFRNnJYcHpRUlk5ZTJrR2V3eDg0QkFBQUFBQTRCakhTNVNoNjdJTWQrdmZFTEwxOWF6ZTk5MzJ1c2d2ZDZ0Y3BScVA3Sk9xVHhmbGF0ZDAvYmVlSkQzZm92Z3ZhNllOSngybjYvRHpsRnJ2VXY1TkRvL29rYU1YV2NuMzBRKzBPT1UrTTc2QStIV0owMDZzYkF3djBQdlRmYlpvMnNhdW1UZXlxZCtmbGFsOVp0VWIzU1ZSV3k2aVFtbVlzMmFkclJtYm9QN2QwMWVkTEN4UWJaZGE0RTVLVlhlUlNiR1JrNEx6aWlwb2pxdXRRUGxtVXJ6dlBiU05KbXZSbTZCYlk3aHFmcnZuWGVqMzdsMDY2Y1V4TG5Uc3dSWXMybHFpMDBxUDBCS3NHWmNZcDBtYlVKNHZ6OWRnSDJ3K3J6M2xyaWpWcmVZSEc5azlTWW94RjM2MHBVb3NFdXk0YW5LckM4aHBaVExWVHFxWjhtYTJUdThicEw4UFQxVEVqUWd2V0ZTdmFidFlGSjZYNGQzSjZaK3RoTC9RTEFBQUFBRGcyRWJvY1JSdjJWT3FpcDlmbyt0RXRkYzdBRkVWWWpkcVY3OUpqSCs3UTlQbTVnZk0rL0NGZmV3cGMrdk5wNmJwNGNLcXNacU95QzEzNjE2dzltdmJ0WHJtcWE3L3N4MGRibE9xd3ltcXVIUXF5SmFkS0Z6K3pXbjg5bzVVdUdwd3FvOEdnNzljVzYvMEZlWHIwMHZaQk5iMzZ4UjVKUHAzUkwwazNqR21wUFFVdXZUeHJ0MG9xYS9UaytJNUI1eDVKWFlmeTJkSjl1dldzMW5MWGVQWE5xc0o2ejhrdnJkYWZuMStuRWIwVE5PNkVaQTNNakZOY2xGbDVKVzdOWFYya0QzL0kwNCtiRGozQ3BhNUpiMjdSNnAwVk9tOWdpbTRiMTBaN2kxeDZaUHAyRGN4MGFGQlc3VWlkY3FkSGx6MjdWbGNOejlDd25na2FtT2xRYVdXTjF1MnExQjNUdG1qNTFpUHJGd0FBQUFCdzdESDRmTC9mNVQ5N1RGelMzQ1g4cnB6WU9WWlRic2pVNUJrN05lM2JuR2F0SlNiQ3BHOGY3cU5QRnVmcjBmY1BiNlFLd21mVjgvMmJ1d1FBQUFBQStNTmhUUmMwaXd0T1NwWE5ZdEQwQmJtSFBoa0FBQUFBZ044aHBoZmhxUHJIcFIwVUYyM1dvRXlIWnE4c0ROcDJHUUFBQUFDQVB4SkNGeHhWU2JFVzlXb2ZyYm1yaS9UZ3U5dWF1eHdBQUFBQUFNS0dOVjBBc0tZTEFBQUFBSVFCYTdvQUFBQUFBQUNFQWFFTEFBQUFBQUJBR0JDNkFBQUFBQUFBaEFHaEN3QUFBQUFBUUJnUXVnQUFBQUFBQUlRQm9Rc0FBQUFBQUVBWUVMb0FBQUFBQUFDRUFhRUxBQUFBQUFCQUdCQzZBQUFBQUFBQWhJSEI1L1A1bXJ1SVgycmx0dkxtTGdFTldML21KNzM2N0lOeXU5MjY2WTVIbGRtdFYzT1hoRWIwYkJmZDNDVUFBQUFBd0IrT3Via0wrRFg0b3ZqYlZWTVlJYlBKSUk5UjZwZ2V3V2NGQUFBQUFEam1NTDBJQUFBQUFBQWdEQWhkQUFBQUFBQUF3b0RRQlFBQUFBQUFJQXdJWFFBQUFBQUFBTUtBMEFVQUFBQUFBQ0FNQ0YwQUFBQUFBQURDZ05BRkFBQUFBQUFnREFoZEFBQUFBQUFBd29EUUJRQUFBQUFBSUF3SVhRQUFBQUFBQU1LQTBBVUFBQUFBQUNBTUNGMEFBQUFBQUFEQ2dOQUZBQUFBQUFBZ0RBaGRBQUFBQUFBQXdvRFFCUUFBQUFBQUlBd0lYUUFBQUFBQUFNS0EwQVVBQUFBQUFDQU1DRjBBQUFBQUFBRENnTkFGQUFBQUFBQWdEQWhkQUFBQUFBQUF3b0RRQlFBQUFBQUFJQXdJWFFBQUFBQUFBTUtBMEFVQUFBQUFBQ0FNQ0YwQUFBQUFBQURDZ05BRkFBQUFBQUFnREFoZEFBQUFBQUFBd29EUUJRQUFBQUFBSUF3SVhRQUFBQUFBQU1LQTBBVUFBQUFBQUNBTUNGMEFBQUFBQUFEQ2dOQUZBQUFBQUFBZ0RBaGRBQUFBQUFBQXdvRFFCUUFBQUFBQUlBd0lYUUFBQUFBQUFNS0EwQVVBQUFBQUFDQU1DRjBBQUFBQUFBRENnTkFGQUFBQUFBQWdEQWhkQUFBQUFBQUF3b0RRQlFBQUFBQUFJQXdJWFFBQUFBQUFBTUtBMEFVQUFBQUFBQ0FNQ0YwQUFBQUFBQURDZ05BRkFBQUFBQUFnREFoZEFBQUFBQUFBd29EUUJRQUFBQUFBSUF3SVhRQUFBQUFBQU1LQTBBVUFBQUFBQUNBTUNGMEFBQUFBQUFEQ2dOQUZBQUFBQUFBZ0RBdytuOC9YM0VVQUFBQUFBQUQ4MFREU0JRQUFBQUFBSUF3SVhRQUFBQUFBQU1LQTBBVy9XZTVWSzVWMzFSV3EyYlVyNUZqTnRtM0t2M2FDYXJac2FaSytmQzZYOHErN1JwV2ZmOVlrOXdNQUFBQUFnTkRsTUJSTXVsMEZrMjV2N2pLYWpLK3NUSVgzM0NYbmd2bE5mdS9xVFp0VWNQdHQ4bVJuTjNpTzY4Y2xLcmp6amtNR0pxNmZmcEt2b2tMbWpJeVFZeFV6UDVHOEhwbmJ0UG5WTlV1U2E5bFNlZlpteTJDMUh0RjF6b1VMbERQdVRGV3ZYUnR5ekZkUm9aeHhaNnI4bmJja3QxdEZEejhvOTRvVlIxeGI0YjEzcS9EK2U0NzRPZ0FBQUFCQTh6STNkd0YvUklWMzN5bjNtdFcvNmg2V3pDd2xQdjZrZkJVVnlyM2t3aWFwSy9ubFYyVkt6NUMzcWxMZWttSVZQL1dFb2pac1VNeWZyNUNNUmhYZWQ0L2NxMVllOXYyczNib3I0ZEhIZ3RxTWtSSHk1T2FxNE03YmxmRFFveUdoaUxld1VNVXZQQytEMlNSRFRFeWo5M2V0V0M1Yjd6NlN5UlRVWHJON3Q2cStteXQ1dmNvNTkwLzFYcHZ5ZjIvS0dCOHZTZjV6YW1wQ3pqRzNiYWVrNTE2UUpEbm5mU2NaamJMMVA2SHhoejRDdmdOOUdvenlsSlNvZXNkMkZUNzhnQnczM0tTSTA0WWQvbjFjVGhrZGNVMVdGd0FBQUFEZzZDQjBDUVA3U1NmTDByRmo0TFY3M1RwVmI5eWd5RkdqWmJEWlFzNnZtdk90WkRJcFl2Q1FRSnNwTlUyU1pJaUlVT0lUVDRWYzR5a29VUEdUanl2MnFnbXlkT29rU2FyWnVWTWxMNzBveDgyM3lKd2VPanJFbEpUcy96TWxWWWxQUEsyaUp4NVR4Y3hQVkxOcnArTHZ1VStSdzBmSTFyTm55SFhWTzNiSU9lODcyUWNQa2FWT2lHSktUZ250bzBWTEpUejBpQXJ1dVV1bGI3eW1oQWNmcVQzbzlhcjQyY2xTZGJVU0hucFlwcFRRNndQUGw1MnRtbTFiRlgzT3VhcjQ1Q05Wekp5aGxEZW1TWkpLWDU4aStYeHkzSHlyek9ucGdXdDhWVlVxZXVvSkdlUGlaWXlPRHJRN2JyeEo4bmlEN2wveHY1bTFaWldVeVBuakVsbXp1c29ZRzl0Z1RVZk00L0gvYVRUS2xKeXN4RWNlVStHOWQ2bmt4ZWRsaUl5VWZjREF3N3ROWHA0czdUbzBYVjBBQUFBQWdLT0MwRVdTYS9reUZUMzB3Q0hQeXhsM1pvUEhIRGZmcW9oVFRwVWtSWTQrUGVoWStkdi9VZlhHRFlxKzRLTEE2SXVnL2xldWxNRnFVY3dWZndtOXNkRW9TNWZNME9hOS91azc1bGF0UW81YjJyU1Z1VjM3UnAvRkVCbXBoSHZ2Vi9GenovaURGcE5KOXBNSDEzdXVjK0VDZitoeTRnRFpCdzZxOTV6aXA1K1VjLzczUVczdWxTc2JmTS8yM1RJeDhMTjl3RURGM1hGbjBQR3E3K2RKa216SDkxUGxGNS9YdHMvK1V0VnIxOHJTdm9NcVB2NUlpVTgrN1EreWZENFZQLzJrZk5VMWlyL2pUc2xpQ1Z3VGNjclFlcC9KVTFEZ3YrZWNieVNQUis0MXF4djlqS012dUVpUm8wYXIrS2tuRkRseWxPeERUbW53WEVueTFWUkxrZ3o3YXpHbHBTbmgwY2RWOHE5L3l0YWpOdHpLT2Zzc3lldXQ5eDRIVkg0NVM1VmZ6bXI0QktOUmFSL05hUFFlQUFBQUFJQ2ppOUJGa3JsbFMvOFVtd1ljV0Z3MTh2UXhEWjVqNmRDeHdXTy9tdHV0blBQUHFmZFE0ZjMzaHJUVkRUUU9xRHZkSnNCc1Z0eHRUYmRXalRFaFFUR1hYQmJTWHY3Qis1S2s2SFBQQ3psVzl1N2JvVGZ5ZWxYMTlWZVNKSVBkSG1pdTJiWlZKYTlOVWN5bGx5dmk1TUhhZDlzdEtyei9Ic1hmY1pkSy8rOTFPUmN2VXZ6dGsyUnUzZnJ3aS9aNFZQSHBwekpFUmlyNi9BdUNEbFZ2M2l6bi9POFZOZTVzR2VNY3NtWm15UmdYSjUvUHA1SlhYNWIxdUI2TjM3dkdQOUxGVUNjQU1xV2tLT0dCaDRKT2MxeC9vK1NyUDNTcCt1NDd1ZGV0bFR3ZVJRd2ZJV3ZuenZYM1pXQjVKZ0FBQUFENHJTRjBrWCs2VGRTNHN4czg3bHkwU0pJYVBlZG9pUG56RmJMMTdpdEo4dXpMVjlIREQ4cHh3NDJ5ZFBhUGRLblpzVjNGenp5dHVOc255ZHlpcFNUSnZYNnRTbC8rMTFHcHp4Z1ZYZTlhSlpXei9RRktmY2ZxVHZNNXdMbDRrVHo1K1NIdFBxOVh0cDY5RkhYR21aTFJxTVJISDFQQjNYY3FiOEpmSko5UDhYZmRJMXVmdmtkVWM5WDM4K1RkbHk5WmJZb2FPMDR5MW9ZWDVmOTlWNUlVZmVHRk10Z2pBdTJPcXlkbzM2MDNxK3l0TjJVN3ZwOGt5VnRhMnVBb21kTFhYMVBwNjYrRnRNZmZmYTlzL2Zvcll0andlcStyMmJWVHBWTmZVL1M1NTh0Z3M2cDgrbjhWY2RKZ1dldVpBZ1lBQUFBQStPMGhkUGtkTVNVbUJSYW1OVmozVDFsSlNRMjArWnhWa2lSemVucWd6Vk93TCtnZUJ5L3lhei9wNUNZYjdWS3phMmVqMDNNYU9sWjNYUlpKcXZqNEk4bGdrSHkrb0haTGg0Nkt2OXMvc3NlVHZVZmw3MCtYdDZoSXBxUWtlZkx5VlBIUmgvSTVuYklmMzA4Nm5GMklQQjZWdi9ldVRDbXA4dVRscW1iSERwbmJ0YXZ6UEx0a2pJOFBDbHdreWR5K2d5Sk9IU3BEUkVTZ1JvUGRwcGpMTGc4NnIyYnZYbFY5UFZ2V3J0MWs2eHNhQnBsYnRXcXd0SnJ0MjFUNDRBT3lkT3prSHlGa3NjaFg0MUhoUS9jcmN2UVl4Vng2YVVoZEFBQUFBSURmRmtLWDM1SGl5VTlKazRNWDFUM2M2VVVIUkF3ZkxtdlBYcEtrOHZmLzI2VDFHWk9TRkh2bFZTSHRaVysvSlVtS3VlVFMwR1AvZmlQb3RXdnhJbFZ2M0NEN3lZUGwzTCt1eXdIZW9rSTVGLzBnNTRJRmNxOWRJMnZYYm9xLysxNVoyclJSK2NjZnFYckxaaFUvK2Joa3RjbmFyYXNpaDQyUWZkQkpLbjM1SlZWKytVVkkzK2JXcldYTnpGTFVuLzZrZ3JzbXliVmlXVkRvNGw2elJwYU9uZXA5VnNmRVd5VDUxNGFSSklQVnBxaHpncWRQVmMyZG82cXZaMHRHWThpeEJuazhxdmowZnlwNyt6K1MyeTNMS2FmNEF5aEowZWRmSUd0bXBvcWZmVWJPNytjcGN1UklSWTQ2WGNhRWhNTzdOd0FBQUFEZ3FEcm1RNWVLbVROVTlzYlV3enEzc1ZFY2toUno1VldxMmJuRC8wVzdIbmxYWEY1dmUwUDNqeGcyWEk0Yi8xcDcvenJUaXc3WHdkT0w2aTRxVy9ISlIwZDByME14UmtUV3U5QnV4VXovQXEvMUhTdWZIaHo4VkMxYzRCOFowcXQzU09qaVhyOWVGVE5teUQ1d2tCelhYUytEemE3eUQ2YXI2SW5IRlRGd2tCSWVmRVNldmRtcSttNnVuRXVXeUJoZFowdHFxMVdPYTY2cnJXbi90Q2JIemY3d3hOcXR1Nm9XekZmVTJlZEs4bzgwOFJZVnl0YXJkNlBQN0hPN0d6eFdzM3ZYL3JyWHlWZFpLVU5rWk1QM2NibmsvRzZ1eWovNlVKNzhQRVdmYzY2TWlVa3FlK3ROT1pjc2tlUGE2MlE5cm9lc1BYb3ErZVZYVmZuNXB5ci8rQ09WZi9DK0xKMDd5OWF6bHlLR2paQXBPYm5SZWdFQUFBQUFSODh4SDdyWXVuV1hHbGxFMTdsZ3ZxbzNiWkxrLzJKdTY5ZXYwWHVaRWhObGpJb0thbmV2WGFQcVRac1VlZnFZb0VWVkQ2aHZ5MmhKc25UdTR2L0JhbFhhSi84NzNFY0tZbTdUUnBFalIvK2lhNXREeEVrbnk1U1VyT3F0VzBLTzJRY01sTFZyVnprWExWTEoxQ21xWHJ0VzlnRURsZnpjQ3pKbCtMZklOcmR0cDVpMjdSUXpQdmd6TlpqTlFXdktITHkrVE1SSko2djRtYWRWdlc2dExGbGRWZm5GTE1sb2xLMy9DUTNXV3JOdFc2T0JYZlg2OVRKbHRKQW5MMWZPeFlzVWNXcm9Ma28xVzdhb1l0Wm5jaTVjNEo4YWRmSmdKVHp3a0V4cC9pM0RJd1lPVXVuclUxVTFiMTVnNFY2RDNhNm9zODlWNU9sbnlMVmtzYXJtZlNmMzZ0V0tQdWZjQm1zQkFBQUFBQng5eDN6b1l1N1FRZVlPSGVvOTVseTRRRFY3OThxWTVCODlVTDF6aDZJdnVWVFdydDBhdlo5OTBFbEJiYVd2dmFycVRadjhVMi9Nb1c5NW8xdEc3M2VvVVRhSGtqeGxxa3dwcWIvcUhvZlNGR3U2MlByMWw2UjZReGRKS245L3VxbzNibFRFcWFjcS90YS95eERqSDgzaWMxYXAvSjEzVkxNM1cvRjMzaDIwSU83aHNBOFlLR05jbkVxbi9WdHhmNzFabGQ5K0kvdUpBeG9jT1ZLOWFaTUtIN2kzd2EyZWZXV2xjcTlkbytnTExsTDFsczJxblAxbHZhR0xJVEpDN3JWckZUWG1ERVdPSEJYNFhRc2NqNGtKak1ZSnVkWnVsMzN3RU5rUEN1c0FBQUFBQUw4Tngzem8waERud2dVcWVlRTV4ZDk1VDJCYjQ2aXhaNm5vc1VlVitNREREUVkxOWZIczJ5ZERkSFM5Z2N2aFNuemlxVU9mMUFoVGZQalgvV2l5TGFNYkVYdlZoS0RYUHBkTGxWL09Vc1ZISDhxVW1pYkhoR3VQT0hDUkpGa3NpcjdnSXBXKytySUtKdjFkOHZrVWZkRWw5WjdxWHZtVGloNTdWT2EyN1JRNWZJUktYbncrNUp6S09YTWtyMWYyRXdmSTNMS2xpcDk2UXRVYk44cHkwSmJQcHZRTUpmL3JsUWJMcXB6MW1aeUxmcERqdWhzRG8xOENkYXhhcWJLMy9xTzR2LzFkcHRUd0Jtb0FBQUFBZ0NOSDZGS1BpazgrVXRuYmJ5bnVsci81dCtmZEh3ellCdzZTSnp0YkJYZmRvYmpiYmcrTXlqaVU2aTJiWlduZDVoZlZVdm5GTEpXKzBqUmJQa2VkZlk1aUx2OXovUWZkTHBXOTg3YXMzWThMYklOOEpCcmJBYW14TGFQcmF6c2NOZHUycXZMcjJhcWFPMGZtOUF3NWJyaEp0bjc5NVMwdFZmSGovNUNsUzZhaS90VHdGdCt1cFQrcTRyUC9LZUgraHdKdGtjTkhxUHlENmZJV0ZDaHl6Qm4xN2k3a1hEQmZ4YzlPbGpVelMvSDMzQ2ZYOG1XaE4zZTdWVEZ6aG14OStzcmNwbzNNTFZySWxKYW1zamYvcllSSC9sRnZQY1ZQUFNHRDNTN0hUUk1EMDV5U1gzdERsamJ0VlBIeFI4ci82NDJLdmV4eVJaNDVObkNOMGVGUXpkNjlLcGowZHlVODhKRE1iZG9ld1RzSUFBQUFBQWczUXBjNnZLV2xLdjNYUCtWYXNWd0pkOTByYSsvUVJWU2o5bS9mVy9UWW80b2E5eWZGWEhoeG85c1R1MWVza0hmZlB0bE9IL09MYXJJUEdDQkxuUjExNmxNNSt5dFZmZnVORWg5N290SHpUSW1KOWJhN1ZpeFg2YXN2eTVPVEkyTnM3QkdGTGlYL2ZLSEJoWU1QZHFncFVnY3ZIRnlmcXJselZQN08yL0lVRjh0KzRvbEt1UGQrV1RLekpQbEhKNVcrK3JKTUxWb29abERvb3IyUzVQNTVsY3JlZlZ2VmE5ZjZwMXU1WFpMVkprLzJIaFcvK0lLOEJRVXkyQ05VT2V0em1WdTBWT1JCbjV2UkVTZGI3ejZLLy92dGt0VldieC9sSDB5WGQxKytvdSs4eTk5Z05pdm00a3RWL016VHF2cm02NUNncVdiN05qa1h6RmYwUlJlSDNNdlN0YXVTbm4xQnhTOCtGeGpCVXpWM2pweUxGaXJ1aHB1VStNaWpLcmpuYmhYY05Tbm92UUFBQUFBQU5EOUNsLzJjQ3hlb2RNb3JNa1JGSy9ISnlUSzNhWGhrU3RSWjQyUktUbGJKU3kvS3VlZ0h4VjQxUWJZK29ic0tlZmZ0VS9GTEw4Z1lHNnZJNFNOL1VWMUdSNXlNanJqQWE5ZXlwU3A3NjAzRlhQNW4yWHIza1NTWmxpK1hKRm02WkVvK240cis4WWlNRG9laXp2cFR2YU0xSlA4YUtMN0tTcmwrWENMbi9POWxpSW1WNDhhL0h2SElrNGhUaGphNHJmSUJCM1pKaWhyWDhNZ1RTVEszckwvV3FIRm5CNjYxSDk5UEJxTlJ0djc5WmJCSFNKTGNxMzlXMlp2L1ZzM09YWW8rL3dKRmpmdFQwQlFqYjJXbGZOWFZLcmpyRG4vWWtwYm1mOVpUaDhwYlVxTHlqOTlVNWF6UFpUQ1pGSHYxTllvWVBGaEZUejJwMGltdnlMbHdnV0l1SHg5WTFOamF2YnVzM2JzMytBenUxYXRWL3NIN2lqeGpyQ3dkT2diYTdTY1BsdldMV1NwOTdWVloybmVvM1pyYTYxWEpLeS83UDY4enh0WjdUME5VbE9JbjNSMTRYYk5qdTF5TEYwczMzeXB6bTdaS2ZPUlJsYnowb2d5MitrTWdBQUFBQUVEek9PWkRsK290bTFYNittdXFYcnRXRVVOUFUreUVhd0pmNWh0akh6aElsbzRkVmZMOGN5cDY2QUdaMjNkUTdHWGpBNk5qM0t0WHEvaVpwK1F0cjFEQzNmY0dGbno5cGR4cjE2ajh2Ky9LdlhLbHJNZjFrREZvKzJGZjdZOGVqNnpkajFQRnh4K3E2dXZac2gzZlQ5SG5uQ3RMVnRlZysxVisrYVgvU3JkYmtTTkhLZWF5OGY1MVorcmh5YzJWcEhwM1hqcFVDQ0g1UjJaSVV1U29YNytMa2lFNld2YkJRK1J6dVZUMXpkZXEvSEtXcXJkc1VlU0lrWXEvKzk2Z2dFcmF2NkR0eXArazZtcDVpNHZsK092TmlqamxWRlZ2M3F6aTU1K1ZjK0VDeWV0VnhLbERGWFBSSlRJbUpVbVNFaDU4V0pXZmY2YXlkOTVTd2UyM3laTFZWZEhubmlkYjMrTWJySzFtMnpZVlBmYUlMQjA2S1BiZ0hiRU1Cc1g5L1hidHUzbWlDaCs4eno4ZHFHMDdlZkp5SmE5SE1lT3ZrR0gvcmxjR3ExWGVzbko1OHZOREZ2TDE1T1hKdVdpUnpLMWFCWDVQelczYUt2SEp5Yi8yclFVQUFBQUFOTEZqUG5SUmRiVjhUcGNTSG5wRTFoNDlqK2hTVTBxcUVoNTlUTTRGODFYK3dYUVo0K0xrTFN4VTJadlRWRFgzVzVuUzBwVDQ2RDJ5ZEdwOEpFaGpEaXlXV3IxeGd5eVpXVXA0NUIreWRqOHVjTnpuckpKN3pSb1pZMkw5RFdhem9zNGFwNmpScDZ2eXF5OVUvdjc3S3JqekRsbTZkbFhjVFJObFN2ZHZyV3dmT01nL2l1T3k4VUdoaWJlMFZFV1BQeXBqVEt4LzVFUjF0WncvTHBHTXhtWmZNOFJiVWlMWDhtVnlMVnNxMS9KbE10aHMvckJsMHQweUp0Uy9VTEFoTWtyVzdzZkprcG5wSDBteWZ3U013V3hTOWVaTmlqcmpURVdlUGlaMFp5ZURRWkZqemxERWtGTlVNZk1UT1JjdmxxV1I1M2Y5dkZJVk0yZklGQit2K0x2dXFYZlJaR044Z3VMdnZFdUZEejJnZ2ttM3kvSFhtMlVmT0Nna01MSDM2NitxcjJjci8rb3I2Ky9NWUZEY3piYzI4azRCQUFBQUFINExqdm5ReFpLWnBhUm5udnRWOTdBUE9pbXdUYlN2c2xLZWZmbUtPdWM4Ulo5MzNtR05tbW1VMlN6NXZJcS85LzdBS0F1ZjA2bmNpODZYZkxValhLTEduaFY4bmRXcXlEUEdLbUxZQ0ZYOGI2YmNLNWJMbEp3U09HeEtUcTUzUnlSamJLeHF0bTJUcjZxcXRpMHBXVEhuWHlCVFNrckkrVWVUZTgxcWxiLzdqbXpISDYrNHY5OGgyM0U5RHIwamxNbWt1TnNuaFRTYjIzZFE4cjllUFdTZmh1aG9SVjk4cWFJdnZyVFI4NHlPT0ZuYWQxRGNiWDhQR1cxVGx5VXpTNG1QUHFhU0thL0tldEJPUmdmWVRqaFJ5Uys5ck9yTm0rVnp1NExyc2RsbDZkUXBFSjRCQUFBQUFINjdERDVmblcvdXFGZkJKUC9PUEltUFA5bk1sZFNxbWpzbkVJeVkwOU5sN1JXNjZDOEFBQUFBQUdnK2hDNEFBQUFBQUFCaFlEejBLUUFBQUFBQUFEaFNoQzRBQUFBQUFBQmhRT2lDc0ZpMmJKbEdqQmloSVVPR2FObXlaYzFkRGdBQUFBQUFERnd2a3dBQUlBQkpSRUZVUngyaEN3QUFBQUFBUUJnUXVnQUFBQUFBQUlRQm9Rc0FBQUFBQUVBWUVMb0FBQUFBQUFDRUFhRUxBQUFBQUFCQUdCQzZBQUFBQUFBQWhBR2hDd0FBQUFBQVFCZ1F1Z0FBQUFBQUFJUUJvUXNBQUFBQUFFQVlFTG9BQUFBQUFBQ0VBYUVMQUFBQUFBQkFHQkM2QUFBQUFBQUFoQUdoQ3dBQUFBQUFRQmdRdWdBQUFBQUFBSVFCb1FzQUFBQUFBRUFZRUxvQUFBQUFBQUNFQWFFTEFBQUFBQUJBR0JDNkFBQUFBQUFBaEFHaEN3QUFBQUFBUUJnUXVnQUFBQUFBQUlRQm9Rc0FBQUFBQUVBWUVMb0FBQUFBQUFDRUFhRUxBQUFBQUFCQUdCQzZBQUFBQUFBQWhBR2hDd0FBQUFBQVFCZ1F1Z0FBQUFBQUFJUUJvUXNBQUFBQUFFQVlFTG9BQUFBQUFBQ0VBYUVMQUFBQUFBQkFHQkM2QUFBQUFBQUFoQUdoQ3dBQUFBQUFRQmdRdWdBQUFBQUFBSVFCb1FzQUFBQUFBRUFZRUxvQUFBQUFBQUNFQWFFTEFBQUFBQUJBR0JDNkFBQUFBQUFBaEFHaEN3QUFBQUFBUUJnUXVnQUFBQUFBQUlRQm9Rc0FBQUFBQUVBWUVMb0FBQUFBQUFDRUFhRUxBQUFBQUFCQUdCQzZBQUFBQUFBQWhBR2hDd0FBQUFBQVFCZ1F1Z0FBQUFBQUFJU0J3ZWZ6K1pxN0NQeStMVjI2VkpNblR3NXFxNnlzVkU1T2pyeGVyekl5TWhRWkdSbDBmT0xFaVRyeHhCT1BacGtBQUFBQUFCeFY1dVl1QUw5LzNicDEwNDRkTytSeXVlbzl2bnYzN3FEWE5wdE5QWHIwT0JxbEFRQUFBQURRYkpoZWhGOHRJaUpDWjU1NXBpU3BzWUZUQjQ2TkdERWlaT1FMQUFBQUFBQi9OSVF1YUJLbm5ISks0T2Y2Z3BlNmJjT0hEejhxTlFFQUFBQUEwSndJWGRBa09uWHFwTlRVVkJrTWhnYlBNUmdNU2sxTlZldldyWTlpWlFBQUFBQUFOQTlDRnpTSjZPaG85ZTNiTi9DNjdzaVd1ai8zN2R0WENRa0pSN1UyQUFBQUFBQ2FBNkVMbW9UZGJsZFdWcGFzVm11RDU1aE1KbVZsWmJHZUN3QUFBQURnbUVEb2dpYlR1M2R2eGNmSEIxNzdmTDZnVVM0eE1USHEzYnQzbzFPUUFBQUFBQUQ0b3lCMFFaTnAzNzY5V3Jac1dXK29ZakFZbEphV3B2YnQyemREWlFBQUFBQUFISDJFTG1neU5wdXQwWjJKVGovOWRObHN0cU5ZRVFBQUFBQUF6WWZRQlUzcXROTk9rOGxrQ21vekdBd3ltVXdhT1hKa00xVUZBQUFBQU1EUlIraUNKcFdRa0tDZVBYdUdUREhxM2J1M2twS1NtcWtxQUFBQUFBQ09Qa0lYTkxsenpqa25wSTFSTGdBQUFBQ0FZdzJoQzVwYzM3NTlGUmNYSjRQQklJUEJvTGk0T1BYdTNidTV5d0lBQUFBQTRLZ2lkRUdUaTRxS1VxOWV2UUt2ZS9YcXBZU0VoR2FzQ0FBQUFBQ0FvNC9RQlUwdUlpSkNtWm1aTWhxTk1oZ015c3pNVkd4c2JIT1hCUUFBQUFEQVVXVnU3Z0x3eDJNd0dOU3paMC9GeDhmTDVYTFZ1N0F1QUFBQUFBQi9kSVF1Q0l2dTNic3JQVDFkbFpXVjZ0NjllM09YQXdBQUFBREFVVWZvZ3JDSWpJeFU3OTY5NWZQNUZCa1oyZHpsQUFBQUFBQncxQmw4UHArdnVZdjRwWHBNWE5MY0pRQi9DS3VlNzkvY0pRQUFBQURBSHc0TDZRSUFBQUFBQUlRQm9Rc0FBQUFBQUVBWUVMb0FBQUFBQUFDRUFhRUxBQUFBQUFCQUdCQzZBQUFBQUFBQWhBR2hDd0FBQUFBQVFCZ1F1Z0FBQUFBQUFJUUJvUXNBQUFBQUFFQVlFTG9BQUFBQUFBQ0VBYUVMZmplbVRleXFhUk83TnZsOWU3U0oxcXJuKzJ2TThZbE5mbThBQUFBQXdMR0wwS1dKRGUrWm9GWFA5MWRHZ3JWSjczdkgyVzMweW5WZFpMZlVmbVNUcit5b2FSTzd5bUJvMHE3K01Ob2syelZ0WWxkMVNJdG84bnQzYXgybHQyN3BxdGJKdGdiUEdkSXRUditlbUtXc2xwRk4zajhBQUFBQTRMZlAzTndGSEF0aUlreGE4SGpmUTU1MzNwT3J0V0ZQWlVpNzBTQ043cHVvSFhsT09hdTlrcVFvbTBsRHVzWHJzNlg3NVBNZFhoMXYzSlNsNHp2R0hGSHRCMXV4dFZ6am4xOTcyTTkwT01ZOHZGSzc5cm1hNUY1MVJWaU42cGdlb2Rkdnl0S1ZMNnpUMXR3cXpYbWt0eEpqTFBXZS85aGxIZlRZWlIxQzJpZE8zYVE1UHhjRnRWVTRQV3FSYU5PYkU3dnBxcGZXYWZQZXFxRGp5YkVXUFhSSmU5VjRmQ3F1cUdtNmh3SUFBQUFBL0c0UXVoeEZrMmZzMUlKMUpTSHRuVE1pOWZqbG9WLzJEemloczBNSjBXWTlNeU12MERhcVQ0S3Nab00rV1p4LzJQMS9zYnhBYTNaV0JGNzNiaCt0SG0yajlkLzVlWEs2dlNIbm45ay9TUjZ2VDU4dkxRaTA3U2wwU3ZLSERwYytzemJrbXRRNHF5WmYyVkdQZmJoRGEzYjQrK3FRSHFFSEwycW51OTdhb3AxNW9lRktUcEU3OFBPOGYvUlJYRlRqdjVhcm51OWZiN3U3eHFmai8vWmo0UFg2UFpXNmFjcEd2WFpqcGw2N01WT1hQYnRHcjMyVnJVbm50R24wL2dkYnRxVTBwRzE3bmxOWHY3UmVyOStVcGR2LzFFWVQvclUrY014Z2tQNXhXUWRaelFaTmVHbTk5dFo1UGdBQUFBREFzWVBRNVNqS0xYYUhqSWlRcEVpcnFkSHJ6ajhwUmVWT2o3NWFVUmhvdTNod21pUWQxaG9uczFjVzZtOXZiTmIwQlhsQjdUZU9hYWtlYmFQMXloZDdWRkJXSFhMZGlWMWk1YXJ4YXZLTW5TSEh2RDVwMVk3eWtQWldGZjdwTnR0eXFrS09iOHF1cW5ja3o4RisyRkFTRlBRY2NOV0lERW5TMUsreVE0NmQxak5CQXpNZEllM0x0NWJwd2ZlMnFWL0hXT1dWVk91VHhmbGF0N3NpNkp3T2FSRzY3NEoyZXZYTFBWcTRQamdVcTNSNVZWcnBDYngrY254SGplcVRFSFRPaVYxaUd3eUMzcis5ZStEbkE1OERBQUFBQU9EWVFPalNSUDUyVm11Tkg1b1dlUDNGL2Iwa1NUZE8yYWdWVzhzaytiK3dQem4reU82YkdtZlZLZDNqOWZteWZZR3BSU2QzalZPbmpBaTlPU2RIbTdJcmRmOUY3ZlRqcHRKNmd3cEoybFBZOUZOM0pNbHFObWpwNUg3MUhwdHlRMlpJVzkwQTRvQlQ3MWtSRXZoc3lhblNqQ1g3UXM0OWUwQ0tKTlY3ckZXeXZkN1FSWkptTHRtbm1mdXZxZkg0dEdKcmNCamsyWitwYk05emhoeXJUMjZKVy8vOGRIZEllMk9oMEEybnR6emtmUUVBQUFBQWZ5eUVMazFrNXBKOHJkcGVyaDV0b3pWK2FKb2VtYjVkUmVVMVdyT3pRbVZWSHZXWXVFU3BEcXRpSWtOSHRUamRYdTB1cUQ4WStmUFFkSm1NVXJuVG53d1lETkxOWTF0cDF6NlhucDI1VXg2dmRPOEY3Um9NS282R3V0T20wdUtzK3RlMVhmVEFlOXUwYXJzL3dEZ3dmZXJXTnpacGU1NS9lbEt2ZGpHNjc0SzJ6Vkx2cjFWVzZUbmlVT2pTVTlKQzJnQUFBQUFBZjJ5RUxrMWswOTRxYmFvemRXait1bUpsRjdvMWZtaWEvblpXNjZCejU2MHAxbzFUTm1yeWxSMDF2R2Z3VkpYM0YrVHA0ZW5iSlVscDhWYWROeWdsNlBqRmcxUFZLVDFDOTc2OVZaN1FaVmlhUmQxcFU2NzlvM0d5QzF5QnRnUFRwM2J0cTIxTGpXdmEzWjBPOXZBbC85L2VmY2RIVmVaN0hQOU1lcDlrMGhOQ0FnUUNvVW52UmhFRWhJdm9LaFpVcnU3aVlpL3I3dFZkZGQyMXJMdksydFpyV2RaVnhBSjZ4WVlGaFNBZHBBWVNPb0VrcEpMZU01bVorOGNrRTRZVVFESWJ4ZS83OWZMMVNzNmNjNTdubk9HZmZQMDl2NmNubDQ4TWMvdys5NFVNVXZxSGNNdWs2SGF2YWErUmJ2UDMxU3d4MnJmZDVVVFFmcytackJOMVp6SjFFUkVSRVJFUk9VOG9kSEdoNW0yamR4K3I1c0ZGOWw0ZU4xNFU3YlNkOUFmckMzbHpWUjRBOTh5SWM3cis3dWx4ZUhtMDdBY2RZL0xpN2hseDdNbXE1dFB2bmFzcGJraUo0b2FVMXRVVUJlVU5USDUwWitjOFVEdmFXaloxcHN1TDJ0TGVzelRycUpGdXM4Ky9QMEZHVmpYZHczMllreElKd0pKMUJYeVhYbnBHZlhDYTNmYnFmdkpLbkJ2aDVwYzI4TXl5MW4xdTdweHVYMEwwaitXdGx4N2RQeXV1MVRFUkVSRVJFUkU1dnlsMDZVUnVCbnQxQ3NDN3Z4bEFrSjg3TDN5V1RiM1o2dGdTdWFLMmtSaGFRcGZLV292anMrWWxSR0J2empwalJDanI5NVl6dEpkOW0rZkNjak9yMGtwWmxKclhhcHZvOXByUDFqYnRTdlRZdFQyNGNreDRtL05PZldKSWg4OTFhc2p4MGNZaUhucy8wL0Y3ZTdzeWRhU2o1VVZyMHN2NFpIUHJKVG9kaFJwVGg1bEk2Ui9pK0gzemdRbzJINmhnZUdLZ0kzVEpLMjBncjdTQi9jZHJNRnRzL0wyTkJzSE5MaHNXeGxWanc5bCt1Tkx4RHB0VjFWbjRabGRKcTJ1YWx4QzE5ZG10VTJMYUhVdEVSRVJFUkVUT1R3cGRPc244cWJIY2NGRVVRYjcycFRSSEMydFptVmFLbXdHR0p3WTZCUmRyMHNzY1A5OHlLZHBweWNzSFRUc016Um9WVGxXZGhUOHZ5ZVRqM3c4QzdFMWdIM3I3Y0p2am42Nm55NFo5NVZUV1dweU9EZTBWeU1CNGY5NWJVK0JVSmRLc3JTMmpBWFkzN1VyVTBHaGowRDFiMmgyekk0Znlhdmx3UTJHYm4yV2RxRHZyVUNPcG14OHAvYzk4L1BMcVJyWWVxbXozODBFSkFXZCtNeEVSRVJFUkVaRTJLSFRwSkQ1ZWJ1ekxzVGZOdldSUUNMOS8rN0NqcDhzUFdWNjBiRk1ScTlKS3lTdDFYdHJ5UTYzWVdjS0tuYzVoeFlPL2lHZGd2RC9QTE11aTBkbzZkT2xveStobUhmVTJPUk5ULzdTVDNKTE9lY2IvRlBWMEVSRVJFUkVSa1RPaDBLV1RQUDlwTmdDVEI1dTRaRkRMTXBlM1Z1WHoxcXA4eCs5UGZYaVVwRmcvMGw0WXllUkhkMUpRM2hJNFBQRG1JY2ZQbXc5VXVIek9VY0ZlbE5jMHRobTRuS2tiL3A1eFRuTW9LamVmL2lRWEdOZlArSU1ESTIwWkxTSWlJaUlpSW1kQ29Zc0xqZXRuNUpYNVNlMSsvczJmTDJqeitQT2ZaZlBHdDNsbk5WWkh6V2VuUDc3TDBUZm1aTWx4L283ZGhNN1cxZU1pZUdSMjUyejUvTWEzZVR6L1diYmo5ODVvcEhzNmFVZXIrTnRIN1Zmd3pCZ1J4clVUSWxvZC85MWJoOW80MjY2akxhTzdhanR2RVJFUkVSRVI2VG9LWFZ4b1YyWlZxMHFRQ2YyTi9ISnlEQjV1Qm1ycXJUeStKTE5WSUpKWDJqb2dPWjMyR3VrQ0ZGZTJyaVlaazJRa0tzU0w5OWNXblBWWUFDdDNsYkEvcDZiRGM2NGNFODdsbzhLWiszekgxVEFuVi90QSs4L1NVU1hKSllOTmpPMXI3SENjRWIwRGlURjVBL2FlTFl2dlAvTmRqRHBxUkh5cTAxWFFuTnFJV0VSRVJFUkVSTTVQQ2wxY3FLck9RbHBUMDFtREFmNTdZalJYakk3Z3NmY3llV0pPVDU3OStCaDN6WWpqd1VXSDJKbFpkVTVqbmE2Ujdza2lqVjc4NmJvZWxGUTE4dUhHdHB2Wm5rNUpWU01sVlMxekhwOXM1TzRaY1R6L2FUWWI5dGwzTWhxWGJBOUJtdC9CaS9QNlVGSnA1cTNVUERJTDJ1NXZjdUh2dDdjNzVybFVrbHd4T3B3Wkk4SjQ5Y3ZqOWptZFphWExaOStmSUQyN3VzTXgvbnVpdlNGeWM0K2U5aHpKLzJIVlJTSWlJaUlpSXZMVG90Q2xreGtNclkvMTcrN1A3NjZJeDlQRHdJM1BwUlBrWjMvdGE5UEx5UzFwNE1WNWZmaDB5d24rdVNLWDhwcEdsODV2V0s5QW5wN2JpeUJmRCs3KzV3RXFhaXludjZnRFEzc0dNbjlxTEtPVGd0aDhvSUtxazNaSU1nQTI3RXQrUE53TmZIK29ncHNuUm5QRjZIRFdaSlR4cjI5eXp6bHNPcDBBSC90dVVyTkdoYk44V3pGdnJNeGo4Z1VtS210YkFyRzJqR21xbXJFMjdjMjk3WEFsMnc2M3Y5c1J3SXpoWVVETERsUWlJaUlpSWlMeTg2YlFwWk5jUFM0Q1AyODNKaVFIQTFCVmEyRkU3MEJ1U0lsaWJOOWcvcjB5bDlkWDVOSm9zVGxDRjdCdjVYejlnblQrZUcwUHZucHNNSjl1T2NFbm00dkl5TzU0NmM3WkNnL3k1SjcvaXVPL1JvU1JVMXpQTFF2M2twN1ZjZVZHUjBiMkR1THVHZDBZbEJEQWppTlYzUExTWHFjdG1IMjkzQmpXSzRqeWFudUkxR2l4OFhacVBrdldGbkRWMkFqbVhSckRvbnVUMlhhNGtrZmZQZEptejVuT2NNa2dFd0NMVXZONTl1UDJLMXU2aDN0ellYSUl0UTBXREFZRHMwYUhVVlJocHQ3OHc1c01pNGlJaUlpSXlNK2JRcGRPTWlJeGlLbERUZFEyV0huajJ6d3FhaTFjT1NhQzZqb3JWL3dsalp6aTlrT0ZuT0o2NXIyOGo0bURRcGczT1laZG1WV2RIcnJVMUZ1SkR2SG1YOS9tOHM4VnVkUTJXTS9wZm8wV0d3YURnZHRmM2MrNnZmYmxSTDVlYm16ODIzRGNUcXIyZVRzMTMrbTZoa1liNzY0cFlObW1JdWFrUkRHdW43SFR0c1Z1eS83ak5iejI5WEZlL3VKNGgrZDV1TG54dXl1N08zNHZLR3ZncVErT3VteGVJaUlpSWlJaWN2NHoyR3kybit6L3loOTB6NWF1bm9JVGR6ZXduRnVXOFpNM2ZYZ28vdDcySlQxWkorcll0Ti8xVzE5M0ZuYzNzTm5nSEhiUS9zbjZvZHRuaTRpSWlJaUlTUHRVNmRLSmZ1NkJDOER5ZG5aUStpblE5eWNpSWlJaUlpS2R5YTJySnlBaUlpSWlJaUlpY2o1UzZDSWlJaUlpSWlJaTRnSUtYVVJFUkVSRVJFUkVYRUNoaTRpSWlJaUlpSWlJQ3loMEVSRVJFUkVSRVJGeEFZVXVJaUlpSWlJaUlpSXU4TE1QWGJZdUdNSHJkL1R0MUhzbXgvbVQ5c0pJN3B6ZXJWUHZLMmZtclh1U1dmLzBzRTY5NTQvdE81MDdNWXEwRjBZeXVrOVFWMDlGUkVSRVJFUkUydkd6RDExY29kRmlvN2pTVEUyZHBhdW5JcDNreC9hZDF0WmJLYTQwMDlCbzYrcXBpSWlJaUlpSVNEczh1bm9DNTZNRHVUVmMvUENPcnA2R2RLSWYyM2U2ZEgwaFM5Y1hkdlUwUkVSRVJFUkVwQU9xZEJFUkVSRVJFUkVSY1FGVnVqU1pQaXlVZVZOaWlBdnpvYUNzZ1UrM25PQmYzK1JpdHJRczN6QVk0T3F4RWN3WUVVWml0Qzgrbm02VVZqZXllWDhGTHkzUEpxKzBBYkQzLzNqL2dmNjh2aUtYZjMrYng1cS9ER1h6Z1FwdWYzVy80MTZENGdOWWZIOHkrNC9YY1BYZjlqaU9kd3YxNW90SEI3UHdtMXhlL0R3SGdORkpRZHlRRXNXQStBQ0MvTnlwcWJPeUo2dUsxNy9PWmZ1UlNzZTFXeGVNNFA4MkZySTN1NFk1S1pFa1JQaFMwMkJoYlhvWnozK1d6WWtLcytOY0R6Y0R0MHlLWnViSWNDS0R2Y2dycldmeDZueml3bnlZT3pHS1ViL2RTbTJEdGQzMzVlUHB4bDNUdXpHaGZ6RFJJZDdVbVMzc3lxeGk0VGU1N015c091MzdUb2p3WWY3VVdFYjNNUkxrNTA1QmVRT3JkcFh5MnRmSHFhaHRXY0x6K2gxOUNmSDM0STF2OC9qZGxkM3g4M1puVVdvK0wzK1JnNmU3Z1Z1bnhEQjllQmdSUmkrT0Z0Ynk2bGZIMjUzdkxaT2ltVFlzbEJpVE4xVjFGclljcU9EbEwzSTRXbGgzMnZGU2Q1YzZ2dE4vTExkL0w2L01UeUl5MklzL0w4bmtqc3U2TVNEZUh6ZURnWjJabGJ6MGVRNTdzcW9CV1BxN0FYUVA4K0dpUDJ5bnp1ejhUaGZja3NqRkEwT1k5T2dPU2lvYk1SamdtdkVSWERrbWdoNFJ2alJhcmFSblZmUG15anpXN1MxM1hEZDNZaFMvdWJ3N3Q3NjhqMDBIS2s3N3ZrVkVSRVJFUk9RL1Q2RUw5Z0JrZUdJZ0g2d3Y1UDIxQmFUMEQrSDJhYkVNNk83UG5hOGZjSnozKzZzU3VHWjhCT3N5eXZuSDhoeHN3TEJlZ2N3WUVVcGlqQyt6VHdwUG1sWFhXL2orWUFYREV3UHg4akE0ZW5DTTZXc0VvRStNSHlIK0hwUldOd0tRTWlBWWdKVnBwUUJNSFdyaXJ6Y2xjamkvbGtXcjhxaXNzNUFZNWN1czBlRzhkbnRmcHY1cEo4V1ZMV0hLdEtHaFRCd1V3c0lWdVJ3cHFHVkVZaEMzVG9tMWh5a3ZaRGpPZSs1WHZVbnBIOHlhOURMZVhaTlBqMGhmSHJ3cW5vcWFNK3RaOHRlNWlVeElOdkxlMmdJTzVkVVNHdWpKZFJkRzhzWmQvYmptMlQwY3pLMXQ5OXJCUFFKNC9YWjc4K0lQTnhTU1UxelBvSVFBYnJnb2lwUUJJZHo0WExyamZRQkVoM2p6NkxVSkxOOWFqSmVIZ1YxSDdVSFRQMzdkaHpGSlJsSjNsN0o0ZFQ0OW8zejUyOXhFNmh1dFdFL0tOcnc4REN5OHF5OER1Z2Z3eGRaaUZxWG1FMkgwNU9weGtiei93QUJ1ZVdrdkdkblZweDJ2TGRFbUwxNytkUkx2cmlsZzRUZTV4Smk4dVc5bUhBdnY3TWVsZjl4QlJhMkZaWnVLZU9nWDhVd2NGTUlYMjRvZDF3YjV1cFBTUDRTMTZXV1VWTnFmZDhITnZaazBPSVFkUjZwNGFYazJmdDd1ekJ3Wnh2L09UK0taajdONE96WC9qTDRmRVJFUkVSRVI2WG9LWFFBL2J6ZCsrK1lodnQ1UkFzRDdhd3Q1ZkU1UExoOFp4a1VEZ2xtOXA0eXdJRTltajR0ZzQvNXlibit0cFdMbHZUVUZMTGdsa2NtRFRmU005T1ZJUWV1d0lYVjNLV1A3R2huV0s0aU4rKzNWQ21QN0dza3ZiU0FxeElzUmZZSlkwVFIyeW9BUUNzb2FTRytxa3JodGFqZktheHE1NmZrTXFrNXE0bnEwc0k2SHJvcG4wdUFRbHF4cjZlMFI1T2ZCcktmU0hOVWIzeCtzcEVla0wxT0dtT2dlN2sxV1VUMlRCNXRJNlIvTWh4c0srZk9TbzQ1ck4rd3I1NFZmOVQ3dCt3cnlkZWZpZ2NGOHV1VUV6eXpMY2h6ZmNxQ0NKMjdvU2YrNGdBNURsOGV2NzRtbnU4RXBuSGx2VFFIYkQxZnl5T3dFN3IrOE80KzhlK1NrWjNMbmlhVkhuWHFZVEJvY3dwZ2tJMit0eW1mQkp5MXpXSmRSeG92eitsQjVVclhNelpmRU1DZytnRCsrbDhteVRVV080MHZYRmZMUlF3UDU0N1U5dU9hWmxzQ3NyZkdTNC96YmZCWi9iM2NlZXorVGp6YTIzTmZUM2NERHN4T1lmSUdKLzl0WXhQS3RKL2pONWQyWk1TTE1LWFNaT2pRVUx3K0RZMDdUaG9ZeWFYQUlYMjR2NXNGRmg3RTFGVm05blpyUCs3L3R6MzB6NDBoTkt5V251TDdkZHlzaUlpSWlJaUkvSHVycEFoek9yM1VFTHMzZStEWVhnRXNHbXdBNFVXRm13a1BiK04yYmg1M084L1Z5bzZycEQzdy83N1pmNStyZFpRQ002MmV2YnZIM2RtZGdnaitMVXZPcE45c2MyLzc2ZTdzenZGY2dxNXFxWEFCbVA3T2JYenk5Mnlsd2NYZUQra1pyMDVqdVRtTmxGdFE2TFpjQk9KUm5EemJDQXIwQW1ETFUva3l2Zk9tOEZDZDFkNmxUeFVkN3F1c3RWTlJZdUdoZ0NMUEhSUkFlNUFsQTJyRXFaajZaeHNlYmk5cTl0aytNSHdrUlBueTlvNlJWTVBQQmVudlZ5NlFMUW5Bek9GKzNlaytwMCsvTjM4dWkxTHhUeml0ckZYeGROaXlVcWpvTDMrMHBKZGpmdy9HZjJXSmp3NzV5K25Yekk4YmsxZUY0SFVsTmN6NzNjSDdUKzI1Nkx4VTFGbGFsbFRJbXlVaG9vS2Zqdkprand5aXVOTE0ydy83dlk4b1ErelA5WTNtT0kzQUIrL3RldUNJWER6Y0RreTh3bmZHOFJFUkVSRVJFcEd1cDBvV1dVT0prbVFWMVdLelFQY3pIY2F5aTFrSksvMkFtOUE4bVB0eUgyRkJ2WWt6ZWpvREF6V0JvZFIrQWd2SUdNcktyR2RmUHlMTWZ3NmlrSUR6Y0RLek5LT09pZ2NHTTZtTVBZOFlsRy9Gd056aVdGZ0hVbTIyRVJuaHkwOFhSOUlqMEljYmtUZmR3SDd3ODdHT2RPbVRaU2N0eW1wa3Q5b0RHclNrVDZoSGhTM1c5aGFLVGVyeWMvQzdhcStwb1pySEN3KzhjNW9rNXZYaDRkZ0lQejA3Z1VGNHRHL2FWOC9uM0o5aDN2S2JkYStQQ3ZPM2o1TGQ5enBIOFdpN3NIMHh3Z0lkanlZM05ScXU1eG9WNVUxTnZiZnNaY21zSkQyb0pVYnFIKytEdUJxdWZITnJ1dkdKTTN1U1dOTFE3WGtkS1Qzbm41cVlsWkc0bkpVZkxOaFV4ZGFpSnk0YUY4dmJxZk9MRGZSaVVFTUMvVitiUjlQVVFGK1pEdmRsRzlvbldsU3dIbS82TnhvWjZuL0c4UkVSRVJFUkVwR3NwZEFIcXphMGJ4cm8zQlJRV3EvMFBhRTkzQXkvTTY4UDRma1l5QytwSU8xYkYrcjNsWkdSWE15RTVtTGtUb3pvY0kzVjNLWGRjMW8zSVlDL0dKTm1YRmgwcnFtUGovbkx1bVJGSGRJZ1hLZjJES2F0dVpOdmhsc2FvODZmR2N2dTBXSW9yeld3N1hNazN1MHJZZjd3R0QzY0R6LzUzWXF0eFRxNlFhSS9uU2IxbFdsMS8rc3NCZTBYSnBFZDNNSzZma2JGOWpZenNFOFJORjBkeDQwVlIvUFdqWTd5N3BxRE42NXBEb3ZibTJSeGNtVSthbjlYVzl2bWVIZ1lNaHRhZkdVNHFPRElZd00wQVdVWDFQTEUwczkzbk9ibnFwcjN4enNXbUErWGtsVFl3WTBRWWI2L081NzlHaGdFNFZ3VzFuZGtCT0lLOWhzYjJteHVMaUlpSWlJaklqNHRDRnlBeTJLdlZzUmlUTis1dWNMVFEvc2Y0NWFQQ0dkL1B5TkwxaFR5eDlLalR1ZE9HaFo1MmpGVnA5dEJsYkY4am81T0MySFRBM3R0bDAvNEs3cGxoNy9FeUlUbVk3L2FVT1NvZkVpSjh1SDFhTEJuWjFkejg0bDZuM1lTbW44R1k3VGxhV01kRkE0S2RHdmcyU3dqM2FlZXFGcjVlYnZTTzhhT2d0SUdWYWFXT3lweWtXRC8rZFZjLzVrK05iVGQwYWE3aVNJenlhL1B6SGxFK1ZOVlpuSHF5dENXcnNKNUI4UUYwQy9WdVZSbVNFTzdyK05sbWc5elNlaUtDUGRsK3BMSlYyRFNrWndEZW5tN1VtYytzZ2ZBUFpiUEJKNXVMbUQ4MWx2aHdINllQRDJWWFpoV1pCUzFMd1hKTzFORTcycGR1b2Q2dCtyYjBpckkvVS9NT1dTSWlJaUlpSXZManA1NHUySGNnaWdweERsNnVuUkFKNE9qMVlncXc1MU83VHRrT09kTG94Y1JCSVFDNE83ZFhjWEl3cjVhYzRucXVHQjFPZkxnUG0vYmJxMWt5c3FzcHIybms1a3RpQ1BiM1lHVmFTMitaa0tZeEQrVFdPQVV1SG00R3Job1g0Zmo1YkgzWjFNeDE3c1JvcCtNamVnY3l1RWZBYWE5UGlQQmg4WDNKM0RFOTF1bjRvYndhcW1vdGp1cWd0aHpJcmVGWVVSMVRoNXBJalBaMStteldxSEJpVGQ1OHU2dWtuYXRiZkxYRC9neS9udUk4aC9IOWpQU09jYjd2Tnp0TDhQRjA0N2FwM1p5T1J4cTllT25XSko2OG9aY2o2SEtsanpjWFliUEJ2VFBqaURWNXMreVUzamNyZHRxZis0N0xuT2ZwNitYR0xaTmlzRmhoMWE0ejd6VWpJaUlpSWlJaVhVdVZMdGlYMUx4MlcxK2UrZmdZSlpWbXBnd0o1WWFVS0Q3YVdNVG1BL1p3WkcxR0dmT254WEx2ekRnQ2ZkMHBMRytnVjVRZjExMFlpYStYUGJzSzlPMzRkYWJ1THVYR2k2S3cyWEJVdXRoc3NQbEFCWmRlWUtLMndlclkzUWhnYjNZTkJXVU56QmdlUmtHWm1mM0hxd2szZW5IVm1Baml3cjNQYU15MmZMbTltTXRIaFhITHBHaDZSUHF5NlVBNTNVSzltVDB1a3RvR3ErTjVtdjExYmkrRzlncmtydGNPc085NERYdHpha2pkWGNhc1VlSDRlcm16NVdBRkhtNEdMaDFpSXNia3hiTWZ0K3dtZFAyRmtkdzhLWnFGSzNKWnNxNFFtdzBlZXkrVFYyNUxZdkY5L1ZteXJzQytaWFI4QUROSGhuRzhwSjduUDgwKzdUT3NTUy9qeSszRnpCd1pSbWlnSjkrbGx4SnI4dUc2Q3lNcHFXckUwNzBsakhyOTYxd21KQWZ6eThuUkpNYjRzbjV2R1FFK0hsd3pQZ0ovYjNjZWZmY0lqWlpPWGsvVWh0eVNCallmck9DU1FTSFVObGo1YW51eDArZGZiQ3RteXBCUXBnOFBKVExZaTVWcEpmaDR1VEZybEQyb2UrN1RiSTZYYU9jaUVSRVJFUkdSbndxRkxzQVhXNHM1WGxMUG83TjdFQmJrU2ZhSitsWjlTZmJtMUhEMzZ3ZVlQeldXdTJaMHcycUYvTklHbHE0cllQV2VVdDUvWUFEaitobFprMTdXN2pqTm9jdWh2RnBIazFpQVRmdkx1ZlFDRSt2MmxsRnZidm5qdjg1c1pkN0wrN2h2Wm5ldUhoZUJyNWNiUmVWbXRoMnU0TTdYOS9QTy9mMFoyOC9JZ2svTy9wbnZYWGlRK1ZOam1UWXNsQW5KUm5LSzYzbnlnNk5jZW9HSjhjbEdwOTRoSVFHZVJCcTk4UEpvQ1dQKzU2MUR6SjBZeGRTaG9VeElEc1pnZ1AzSGEzaHcwV0duYlpFRGZOeUpOSHJoNzlOU0JyVHRjQ1hYTDBobi9wUllabzBPSjhESG5melNCdDVjbGNmQ2IzSlB1N1NvMllPTERyTW5xNXFyeDBid3dLeDQ4a3JyZVdMcFVjYjJOVHAyaWdLb3FyTnc0M01aL0dweURKTUdteGpiMTBoRlRTTjdzMnY0bjdjT3MvMUk1ZG0vd0I5bzJjWWlSdmNKWXNYT0VtcnFuY3RyYkRhNGQrRUI1cVJFTVd0VU9QZk43RTVkZzVYMDdDcWUvcjlqck45YjNzNWRSVVJFUkVSRTVNZklZTE4xZHN2US81eEI5MnpwNmluOEpCbjlQR2hvdERvdFdXcTIrTDVrdW9mN2NPSHZ0M2ZCektTcnBMMHdzcXVuSUNJaUlpSWljdDVSVDVlZm9TdEdoN1A1bWVGTVNBNTJPdDRqMG9mKzNRUFlkYlNxblN0RlJFUkVSRVJFNUV4cGVkSFAwSXFkeGN5ZkdzdFROL2JrZy9XRjVKYlVFeDNpelMvR1JsQm50cHhSVHhVRzdTaURBQUFPRmtsRVFWUVJFUkVSRVJFUjZaaENsNStoM0pJR3JsdXdoMXN2aldYRzhEQkNnendwcldway9kNHlYdjNxZUtzdG1FVkVSRVJFUkVUazdDbDArWm5LTEtqam9iY1BkL1UwUkVSRVJFUkVSTTViNnVraUlpSWlJaUlpSXVJQ0NsMUVSRVJFUkVSRVJGeEFvWXVJaUlpSWlJaUlpQXNvZEJFUkVSRVJFUkVSY1FHRkxpSWlJaUlpSWlJaUxxRGRpNlJMZFF2MUpxZjQzTGFvRHZiM1lFNUtGQ2tEZ29rTDg4YUFnZHlTZWpidUwyZnB1a0tPRmRXZDh6eEg5d25pOVR2NjhyZVBzbGo4WGY0NTMwOUVSRVJFUkVUT2Y2cDBrUzRSNU9mT2U3L3B6elhqSTgvcFBtT1NqSHoreUdCK1BTVUdOd01zMzFyTUoxdUtLSzlwNU1hTG92am9vWUZjUFM2aWsyWXRJaUlpSWlJaWN1WlU2U0pkd2hUZ1NmL3UvbXc5VlBtRDc5R3ZteDh2enV0RG5kbkNuYThmWUUxNldhdlBGOXpTbTBkbUoxQloyOGhYMjB2T2Rkb2lJaUlpSWlJaVoweVZMdktUOVllckUvRDJOSER2d29PdEFoZUF2VGsxM1ByeVBtb2JyRHg4ZFE5OHZmVFBYVVJFUkVSRVJQNXpWT25TaVh5OTNKaDNhUXlUTHpBUkZleE5hWldaZFh2TGVmV3JIQXJMelk3em9rSzh1RzFxTE9PVGd3bng5NkN3M016S1hTVzgrdlZ4S21zdHB4MG4wTmVkZVpmR01HbXdpYWhnTHlwcUxXdzVVTUVyWCtXUVdkRFN2K1NWK1VuRWhucno5MCt5dUcxYU4zcEYrVkpSMDhqYWpESmVXcDdEaVFxejAzM1BkRjQ3bmh2SmUydnphYlRZdUdaOEpIVm1LNCs4YzRRMTZXVWtSUGp3eTBreGpPZ2RSTGpSazBhTGpjeUNXcGFzSzJUWnBpSUFyaDRYd1NPekV3Q1lPekdLdVJPanVPM1YvYXpmV3c3QXpKRmhYRHNoa3NSb1g2eFdTTStxNW8yVnVZN1BBUktqZlJtVUVNRFdRNVZzTzl4K3RVeE9jVDBmYlN4aVRrb2trd2FiK096N0V3enBHY0JiOXlUenlEdEh1SFNJaVZGOWpCUlZOSERqY3htY3FEQXp1RWNBdDAyTlpXQjhBRFlick5wZDRqUjJaNzh6RVJFUkVSRVJPVDhwZE9ra1BwNXVMTDYvUDcyamZmbGlXekZ2cCtZVEUrck45UmRHTXJKM0VOZi9mUThWTlJiaXczMVlkRjh5WGg0R1BsaGZTRlpSUFVteGZseDNZU1RqazRPNTRibjBEb09YRUg4UDNybzNtWVFJSC9zNFI2dUlOWGx6OWJnSVVnWUVNLytWZmV3NFV1VTRQOGJremJNMzkrYUZ6N05admJ1VTNqRisvT0hxQkVZbkdabjl0ejJVMXpRQ25QVzhMaHNhUnFQVnhwSjFCY1NIKzdEN2FCVnhZZDY4KzV2K21DMDJQbHhmU0Y1cEF4RkdUNjRZRTg2ZnJ1dEJXYldaMU4xbHJNMG80L0dsUjNsa2RnSXIwMHBadHFtSWpLeHFBUDdueW5qbXBFU3k5VkFsTDN5V2paZUhHOU9HaGZLL3YwN2l5UStPc25SOUlRQkRld1lDc1BsQXhXbS9telhwWmN4SmlXUlVueUErKy82RTQvaDlNN3VUVjFyUE85L2xFeHJveVlrS015TjZCL0xxYlgycHJMR3crTHQ4YXV1dHpCZ1J5cVRCcGxiMzdZeDNKaUlpSWlJaUl1Y3ZoUzZkWk83RUtIcEgrL0xVaDBkNWYyMmg0L2podkZxZXZLRW5zMGFGc3lnMW4wZXVTY0RYeTQwNUM5STVtRmZyT0cvMW5sSmVtWi9FL0NteFBQTnhWcnZqM0RXakd3a1JQanl4dENXQUFQaGtTeEZMSGhqQTQ5ZjNZdWFUdTdEYTdNZTlQQXdzK0NTTHQxUHRPKzVrbjZpbnRNck1XL2NrYyt1VUdKNVpaaC9yYk9kbEN2UmcxbE83T1ZMUWN1NGQwN3NSNE9QT1RjOW5zRE96SlZCWXNiT0VqeDRjeVBSaFlhVHVMaU8vdElIdkQ5ckRrcHdUOVk1cWoyRzlBcG1URXNubjN4ZnorOFdISGRlL3ZUcWZmOTdSbDk5ZUVjKzNhU1dVVkRZU0Vld0ZRRUZadyttK0d2TEw3THNqUlRaZDA2eSswY3BOejJkZ3R0Z2N4eDc4UlFLMURWYXVlWGFQNDk3dnJzbm5YM2YyWTNDUEFLZnJPK09kaVlpSWlJaUl5UGxMVFM0NnljUkJKaXByTFh4d1VoQUM4T1cyWXE1ZmtNNUhHNHN3Qlhvd3NuY1EydzVWVWxSaEp0amZ3L0ZmZWxZMSthVU5YTkpHUmNYSkpsOWdJciswZ1E4Mk9JOXpNTGVXNWR1SzZSN3VUWEtjditPNHpRWkwxem1mdStOSUZjZUs2cGpjTk5ZUG1WZFdVWDJyOE9Bdkh4NWw2cDkyT2dVdUFJMU5vWWFmdDN1SHp6WnRXQ2dBSDI4dWNwcERnSTg3SzNhVTRPMXBZRUsvWUFBTXpmZTJXanU4NThuakd3ek94emZzSzNjS1hMcUhlOU03MnBjVk8wcWN3cHlHUmh0dm43Sk5kR2U5TXhFUkVSRVJFVGwvcWRLbGs4U0dlcE5WVklmbGxBeWcwV3BqVDlQU21XR3g5aVV4NC9vWldmUFUwRGJ2WTdQWnd3R2JyZlZuUVg3dUdQMDhTTThxYi9QelEzazFqcmswajNtaTBreHRRK3RnSXJla25qRkpSanpjRGZTSThEM3JlUldXdDY0d3NWakIzR2hqM3FVeDlPM21SNnpKbTdnd0h3Sjk3V0hMcWFISHFSSWlmQUJZZUdmZmRzK0pDZlVHSUw4cEZJa3dlclY3YnJQb0VQczFwMWJGblBvTWNXSDI4WThXdGc1R0R1VTZIK3VzZHlZaUlpSWlJaUxuTDRVdW5jVFQzVUFiT1lpVDV0RGhtMTBsZkhCSzljbVpNRFRWZDdRVnVBQzROUTNRMEdnNzZWajc5N0xhd0dxMS9hQjVOVnBiVDJKc1h5TXZ6dXVEeFdwajIrRktOaCtvNEozdkN0aDF0SkxQSHg1ODJuczJ6Ly91Zng2Z3JvMmdDT0I0aVgycFVQUHlwUEg5Z25uajI3d083enMrMmRoMGpYUERYWXVsN1JmcDdkbTZBTXp0bEVPZDljNUVSRVJFUkVUay9LWFFwWlBrRk5mVFBjeW5WWldLd1FCUDM5U0xuVWVxV0wybkZBQ2pud2ViMm1nQWUvSEFFRXFxek8yR0t1VTFqVlRVV3VnWjVkdm01ODNIODB2ckhjZE1BWjRFK3JvN05YUTFHT3k3LzJRVjFXRzF3ZkhpK25PYVY3TW41dlRFWXJYeGk2ZDNrMVBjTW9jSW8yZkhGelk1WGx6UDhNUkFLbXN0clhZa2lnLzNJVDdDaDVwNmV4aHp0TENPYlljckdaNFl5TmkrUmpic2EzdDNvZWdRTDY0YUcwRlZuWVVWTzRzN0hQOVlvWDNucDU2UnJkOXZmTGhQcTduQ3ViOHpFUkVSRVJFUk9YK3BwMHNuV1pWV1NwQ2ZPek5IaGprZG56ell4TFNob2ZqNXVKRlgya0I2VmpVamV3Y3hycC9SNmJ3SnljRzg4S3ZlekwwNHVzTnh2dDFaMGhRa2hEc2Q3eEhwdzJYRFFza3BybWR2VG8zanVNRUF2NXdVNDNUdWxhUERDUXZ5NUl0dDloQ2lNK2JsWmdDanZ3ZkZsV2Fud0FYZ3VnbFJBTGk3dDVUZFdKdlNDRStQbG1NcmRwWUFjT2YwYm5pY2RLNkhtNEhINS9Ua0g3ZjJ3UlRRa2hNKzlsNG10UTFXbnIwNWtZc0dCTGVhVTJLMEw2L2QzcGNBSDNlZVhIclVFZGkwSjZlNG5venNhaTRkWW5Jc2RRSndkNE81RTUyZnZ6UGVtWWlJaUlpSWlKemZWT25TU2Q1Y21jZWt3U0g4NmJxZURPMFp5TzVqMWNTSCszRE5oQWdPNXRieTduY0ZBUHg1U1NadjNOMlBsK2IxNGFOTlJlekxxU1lod3BmWjR5TW9yalR6L0djdHU5MWNmMkVrTjArS1p1R0tYSlkwTFdGNThmTnNSdllKNHBIWlBSalNNNUNkbWZZdG8yZVBqOEJpdGZISU8wZGF6VzFPU2hUUkppKzJIYW9rT2M2ZkswYUhjeUMzaG4rdnpIV2NjemJ6YW92VkJ0L3RLV1BTNEJDZXZxa1hxM2FYNHV2cHh1UUxUSXhQRHNac3NSSGsyOUpJdDZTeUVac05MaHNXaXNFQUgyOHFZbTFHR2N1M0ZqTjllQ2p2UDlDZjVWdUxxV3V3TW4xRUtJUGlBMWlVbXUrMFM5Q3hvanB1L2Q5OVBIZExiMTZjMTRkOXgydlllYVNLUnF1VnhHZy9SaVFHWWJYWitNdUh4MWkrcmVNcWw1YjNjSlEzN3VySDR2djc4OTZhQWtxcnpGdzJQSlJ1SnA4MnpqMjNkeVlpSWlJaUlpTG5OL2ZISG52c3NhNmV4QS8xeWxmSHUzb0tEbWFMalMrMkZlUGw0Y2FGL1VPWU10UkVSTEFYeTdjVzg4aTdSNml1czFkWm5LZ3c4ODNPRW96K0hseVlITXlrQzB4RUJYdXplazhwZjFoOHhLbEtaRXlTa1lrRFE5aCtwSklkUit3N0F0VTJXUG44KzJLOFBBMk02eHZNMUNFbXVrZjRzRDZqbkFjWEhYYXFjcGt4UEl6dTRUN2M4Rnc2TTRhSGMvbW9jRUtEUFBsd1F5Ri9XSHlFT25QTDJwZXptZGY4cWJIa2x0VHoyZmNubk43QmhuM2wrSG03TXpiSnlJd1JZUXlNRDZDNDBzd2YzenRDZ0k4SEkzb0g4ZUdHSW1vYnJEUTAycWczVzdtZ1p5Q0Q0Z001bUZkTFJuWTFLOU5LS2E0MGt4VHJ4NlZEVEF4UERLS2l4c0pMbitmdzc1V3RlN2NVbERXd2JITVJaZFVXZWtUNk1pd3hrSUh4QWRoc05yN1lXc3dmMzh0azNWN25wVWZSSVY1Y01UcWNMUWNyV2kxaktxb3drN3E3bEc2aDNrd1pFc3JvdmtIc3k2bmgrVSt6bVRreWpQVjd5MGs3VnRWcDcrekg0clpwc1YwOUJSRVJFUkVSa2ZPT3dXYjc2WGFkR0hUUGxxNmV3by9hSy9PVEdOZlBxUGNrcDVYMndzaXVub0tJaUlpSWlNaDVSejFkUkVSRVJFUkVSRVJjUUtHTGlJaUlpSWlJaUlnTEtIUVJFUkVSRVJFUkVYRUI3VjUwSHJ2dDFmMWRQUVVSRVJFUkVSR1JueTFWdW9pSWlJaUlpSWlJdUlCQ0Z4RVJFUkVSRVJFUkYxRG9JaUlpSWlJaUlpTGlBZ3BkUkVSRVJFUkVSRVJjUUtHTGlJaUlpSWlJaUlnTEtIUVJFUkVSRVJFUkVYRUJoUzRpSWlJaUlpSWlJaTZnMEVWRVJFUkVSRVJFeEFVTU5wdk4xdFdUK0tIMkhLdnU2aW1JbkJjR3hQdDM5UlJFUkVSRVJFVE9Pei9wMEVWRVJFUkVSRVJFNU1kS3k0dEVSRVJFUkVSRVJGeEFvWXVJaUlpSWlJaUlpQXNvZEJFUkVSRVJFUkVSY1FHRkxpSWlJaUlpSWlJaUxxRFFSVVJFUkVSRVJFVEVCUlM2aUlpSWlJaUlpSWk0Z0VJWEVSRVJFUkVSRVJFWFVPZ2lJaUlpSWlJaUl1SUNDbDFFUkVSRVJFUkVSRnhBb1l1SWlJaUlpSWlJaUFzb2RCRVJFUkVSRVJFUmNRR0ZMaUlpSWlJaUlpSWlMcURRUlVSRVJFUkVSRVRFQlJTNmlJaUlpSWlJaUlpNGdFSVhFUkVSRVJFUkVSRVhVT2dpSWlJaUlpSWlJdUlDQ2wxRVJFUkVSRVJFUkZ4QW9ZdUlpSWlJaUlpSWlBc29kQkVSRVJFUkVSRVJjUUdGTGlJaUlpSWlJaUlpTHFEUVJVUkVSRVJFUkVURUJSUzZpSWlJaUlpSWlJaTRnRUlYRVJFUkVSRVJFUkVYVU9naUlpSWlJaUlpSXVJQ0NsMUVSRVJFUkVSRVJGeEFvWXVJaUlpSWlJaUlpQXNvZEJFUkVSRVJFUkVSY1FHRkxpSWlJaUlpSWlJaUxxRFFSVVJFUkVSRVJFVEVCUlM2aUlpSWlJaUlpSWk0Z0VJWEVSRVJFUkVSRVJFWFVPZ2lJaUlpSWlJaUl1SUNDbDFFUkVSRVJFUkVSRnhBb1l1SWlJaUlpSWlJaUFzb2RCRVJFUkVSRVJFUmNZSC9CNnJBVnFuSXIwQXRBQUFBQUVsRlRrU3VRbUNDIiwKCSJUaGVtZSIgOiAiIiwKCSJUeXBlIiA6ICJmbG93IiwKCSJWZXJzaW9uIiA6ICIiCn0K"/>
    </extobj>
    <extobj name="ECB019B1-382A-4266-B25C-5B523AA43C14-4">
      <extobjdata type="ECB019B1-382A-4266-B25C-5B523AA43C14" data="ewoJIkZpbGVJZCIgOiAiMzA0NjU3OTMwMDU2IiwKCSJHcm91cElkIiA6ICIzMjM0MDQ1MCIsCgkiSW1hZ2UiIDogImlWQk9SdzBLR2dvQUFBQU5TVWhFVWdBQUJwOEFBQVRPQ0FZQUFBQThNejdpQUFBQUFYTlNSMElBcnM0YzZRQUFJQUJKUkVGVWVKenMzWGQwVkdYK3gvSFB6S1QzWGdtQmtJVFFleEFCV1draVNMRXNkbEhFcm11dnErdnUycnVzWUVIWFZSRVJRYXhZc0FBQ1VxU0dFbG9TUW5ydmRUSXp2ejhHQm9Za2xEVnVnTi83ZGM2ZVkrNTk3cjNQdlhNRG5QbnM5L3NZYkRhYlRRQUFBQUFBQUFBQUFFQWJNTGIzQkFBQUFBQUFBQUFBQUhEbUlId0NBQUFBQUFBQUFBQkFteUY4QWdBQUFBQUFBQUFBUUpzaGZBSUFBQUFBQUFBQUFFQ2JJWHdDQUFBQUFBQUFBQUJBbXlGOEFnQUFBQUFBQUFBQVFKc2hmQUlBQUFBQUFBQUFBRUNiSVh3Q0FBQUFBQUFBQUFCQW15RjhBZ0FBQUFBQUFBQUFRSnNoZkFJQUFBQUFBQUFBQUVDYklYd0NBQUFBQUFBQUFBQkFteUY4QWdBQUFBQUFBQUFBUUpzaGZBSUFBQUFBQUFBQUFFQ2JJWHdDQUFBQUFBQUFBQUJBbXlGOEFnQUFBQUFBQUFBQVFKc2hmQUlBQUFBQUFBQUFBRUNiSVh3Q0FBQUFBQUFBQUFCQW15RjhBZ0FBQUFBQUFBQUFRSnNoZkFJQUFBQUFBQUFBQUVDYklYd0NBQUFBQUFBQUFBQkFteUY4QWdBQUFBQUFBQUFBUUpzaGZBSUFBQUFBQUFBQUFFQ2JJWHdDQUFBQUFBQUFBQUJBbXlGOEFnQUFBQUFBQUFBQVFKc2hmQUlBQUFBQUFBQUFBRUNiSVh3Q0FBQUFBQUFBQUFCQW15RjhBZ0FBQUFBQUFBQUFRSnNoZkFJQUFBQUFBQUFBQUVDYklYd0NBQUFBQUFBQUFBQkFteUY4QWdBQUFBQUFBQUFBUUpzaGZBSUFBQUFBQUFBQUFFQ2JJWHdDQUFBQUFBQUFBQUJBbXlGOEFnQUFBQUFBQUFBQVFKc2hmQUlBQUFBQUFBQUFBRUNiSVh3Q0FBQUFBQUFBQUFCQW15RjhBZ0FBQUFBQUFBQUFRSnNoZkFJQUFBQUFBQUFBQUVDYmNXbnZDUURBbWFyM25ldmJld29BY0VZYlB5QkV6MTRUMTk3VEFBQUFBQUFBUjZIeUNRQUFBQUFBQUFBQUFHMkc4QWtBQUFBQUFBQUFBQUJ0aHZBSkFBQUFBQUFBQUFBQWJZYndDUUFBQUFBQUFBQUFBRzJHOEFrQUFBQUFBQUFBQUFCdGh2QUpBQUFBQUFBQUFBQUFiWWJ3Q1FBQUFBQUFBQUFBQUcyRzhBa0FBQUFBQUFBQUFBQnRodkFKQUFBQUFBQUFBQUFBYllid0NRQUFBQUFBQUFBQUFHMkc4QWtBY0VxYmRXT2laczVJT09IeDUvVUwwbE5YeGJXNHIxK2NqejU5cUpjR2RQSDlyK2V6K0tGZWV1TEtscy92NVc3VWlxZjc2N0xoWWYvMStRRUFBQUFBQUlEVEhlRVRBT0NNMGlYQ1V4TUhoV2pHbUtobSsrNmJFcXN1RVo0cUtHODg0Zk5kTkNSVXIxNmZJS09oK2I1Z1gxZDllSGQzRGV2bUwwbnFHdTJsUUc4WEZWZWEvNnU1M3o2aGcxSm1KaXZZMS9XL092NTBkZE41VVhwNSt1R0EwZFBOcUxzbXhXam1qQVM1bUZwNDhIK1FNWDJDbERJeldmM2lmSnJ0OC9Fd0tXVm1zbTRiSHkwM0Y0Tm0zNVNvSVYzOVQvb2FiOStXcERtM0pyWEZkQUVBQUFBQUFFNVpMdTA5QVFEQS8xK2Via2F0ZTJIZ0NZMU5tWmw4elAwVG50aXFyT0lHdmZGZGpuckYrdWoyQ1IyVW1sMmoxYWtWa3FUeEE0TFZLOVpieTdlWEs3dWs0WVRubUYzY29CRTlBL1hneGJGNlpsR21ZN3VQaDBsdjNOSlZnZDR1eWlpb2x5UjE2K0F0bTAzYWxGWjF3dWYvdlo2NE1rNlRrME5hM0hmWml6dTBNNnRHZDAyTTBVVkRRblhPSTV0TytMelBYTjFGRXdZR245UmN2bGhmck1mbXBUdHRlMmw2dk1iMENXcjFtS0VQYlZSdGcxV2ord1NxUjBkdkpVUjY2YllKMGZKeU0rbTFKVm15V0czTmpwa3dNRmpQWE4zbHBPWW1TZk5YRmpoOWhpZkQ5V0FJWnJWSlFiNnVTb2owMHV5YkUvV1BqelAweGJyaUV6NlBwN3RScFZWTi85VWNBQUFBQUFBQVRoZUVUd0NBZHROZ3R1ck9kL2EydUc5c3Z5Q042eGVzcXJvbUdRMEcrWGlhdEhoTm9WYnVyR2h4L0tGcUk1dE5lbVJ1bWo1N3VMZWV1eVplRnorM1RRMW1xKzZlSENOSitsUFBnT01HV1UxV20vcmYvWnNrYWYzZVNzMzZKa3ZoL3U1TzFVOFJnVzVxTkZ0MS9heFU1WlRhdzZ3aFNmNUt6YTVSYVhYcjRjS2MyNUowVnFMZk1hKy83TWwrcmU2Nzk5MTkrbUZycWRPMm5OSUdmZkJ6dnRQY3Joc1ZlY3hyU0ZLUGp0NTZiR3BuelYyV3B5VWJTNXJ0cjY2MzZKVXZzNDU3SGttNmIwckhGcmUvLzFPK3Z0dm9QRjlYRjRNZXU3U1RxdXNzcW11MGF0R3ZoYnAyVktUZXY3TzdYRTBHZmJHK1NLOStsZFZxU0xOaGIxV3I3MDFySHIrczgwbU5QOXFoQ2l5cjFhYjhza1pOZnkxVjc5emVUZis4UEU3VmRSYjlsRkoyUXVlSkNuVFhydXphM3pVWEFBQUFBQUNBVXgzaEV3Q2czVmh0MHJKdHpsL2FSd2E2NmE1Sk1lcmIyVmN6WnFYcXVsR1JzbGh0bXIreVFQKzhQRTV1TGtiTitpWmIrV1d0dDg0cnEyblNQeFprNkp3ZUFTcXJObXZXalYwVjd1K21iemVWYU1PK1kxY2xqUjhRck80eDNrN2IvdjFEWHJOeCsvTHFkTlVyT3gwL3U1Z01Tazd3azZlYnNjVnc2OGlxb09wNmk5NzVJYmZabUxPVC9KV2M0S2M1UzNOVjIyQngydGM1M0xQVkNxZVNLclBtcnl4dy9Odzl4dnVZNFpPcnlhQVpZNk4wdzlnbzdjcXVWVnArWFl2akdzeFdMVnhkMk9wNWpuVEhoQTdOdGhrTjBqWG5SdWp6OVVWYWRVUm9lTmZFR0htNW1YVDN2L2VxeVdKVGs4V21sejgvb0dldTZhSjNmc2pWdjc3T2xpUWxSWHM1MmljKytNRStXYXoyNHdzcUdsV3c3Y1JiSjByU2d4ZkZOdHNXN091cUY2K0wxNkxWaFMyR2IwZHlkYkdIVDQxTjlrcXM3SklHWGZldm5YcjhzczVhdjdmU01XN3pLOGt5SGFlcDhkU2hZWm82dFBWMXdTeFdxZC9kNjQ5OUVnQUFBQUFBZ0ZNWTRSTUE0SlRRT2R4RGx3K1AwUGlCd1ZyMGE2SCtQajlGZFkxV1I0aXlkbmVsSmorZG91bWpvN1RnL3A3NmNVdXBQbGxkcU4wNUxWZVJMTnRXcG1YYnluVG5CVEU2cTZ1ZlZ1MnMwTU1mcEttRkxtNU91c2Q0S3o3U1U1SjBicTlBelp5UjBHeE1mS1J6RVBUWXZIVFZObGpsNFdyVVh6OU1WMzJqUFNXSkRuYlhQWk5qOU5FdkJmcHkvZUhXYkRVTkZyMzdZL05BeTh2ZHBPUUVQODMvcFVBbFZjN3JScDNUSTZEVjhPbVFYNTd1cncrWDUydFZhc3ZWWVpJMG9rZUFIcmdvVnI2ZUpqMzNhYVkrV1YwbzIzR2V5WC9MYXBNcWFwdjB5dlJFM2ZyV0x2MjJ0MHJEdXdkbzJzaEl6VjJlcjdXN0Q0YzJTemFXYUZpUEFGMXpicVJLcTVwMGJxOUFEVXJ3VlZwK25lWjhuOXZzY3p1UmtPZDRTcXJNTWhpa1IvN2N5U2xBYXNtaHlxZkdKcXRqVzE1Wm8yNStZN2ZUdUg5OG5DRmpLL09hTUNCRS9lSjg1R0l5Nk5NMVJkcVdXZDNpT0t1MXhjMEFBQUFBQUFDbkRjSW5BRUM3Q2ZSMjBlaStRVHEvZjdDNlJudnBzN1ZGdXVpWkZCVldtRnNjWDlkbzFleHZzdlhoOG54TkhSYW1mOTJRcVBLYUppM2JWcWJ2TjVjNDFsNDZVa21WV2Ivc0tOZTkvOWw3M09CSnNsY0ZIYXB1MmJxL1NyZlAyU05KY25jeDZ1YnpvNVVRNmFtMWV5cjE1Zm9pVmRiYXE1TjJaOWZxbjFkMmxzRWcvYmkxVkhVSHc2ZGgzZndsU1QrbmxHbG5WczFKUDUrMkZ1anRvcHZIUmV1SHJhVjZaMm11cXVzdHh4d2Y3T3Q2M0JhRngvUFV3djBLOFhQVGF6ZDAxY3l2c25UWHBCZ3QzVktpbDc0NDBHenM0eCtsSzh6UFRROWMxRkg1WlkyNjg1Mjl6U3JqRHBreEsxVUdRNHU3V3ZUQ3RmRXRibjkyVWFZVzNOOVRmN2tnUnIvc0tKY2tCWGkzZnQ4UFhoVGJZaFhWN1hQMjZKY2Q1ZnA4WFZHTHg4V0ZlK3JCaTJMMTlnKzVhbWkwNnNiem92WGRwaEt0MjNQczBBc0FBQUFBQU9CMFJQZ0VBR2czUFRwNjY4b1I0VnE0dWxCR283MUYyelhuUnJRNHRxVXdJTHVrUVNuN3F6VjVjSWgrM1ZXaG1UTVNkRzZ2UU1mK01YL2JvZzlYNU92REZmbDY0S0tPdW1wRXkrZGV1THBRVDN5eVg1Szl2ZHFoNnBiU3FpYjlzcU5jU2RGZWV2cnFMaklhN1d0TGRZMzIwbjFUWXZYZysvdTBiaytsdWtaNzZheEVlOUFVRmVUdWFHTVhFZWdtU2NvOXVDWlVleXVyYWRMbEwrMDQ0ZkZ0c2VhVDFTWTk4UDVlTFh5Z2x4NitKRlkvcFpRcE5hdFdXMTl0T2R5NTZwV2Rtall5UW1QNkJHbkNnR0R0eXE1UjNzRVdpekVoN29xUDlEcmgrUi9KWURDb1E3Qzc0LzNJTFczUTdweGE3Y3FwMVplL0ZhdW13ZUlJcytvYUxYcjFLK2Y3N2hqaW9ZdUdoR3BqV3BWVzdpeHZkdjcwVmxvWFNsSkNsS2ZldURsSk93N1U2SjJsdVRKYmJISXhHZlRHelYzMThhb0N2ZloxdGlPd0JBQUFBQUFBT0JNUVBnRUEyczJxMUFxdFN0MG1TUnJXTFVEN0MrdjErcmZaSjNUc2RhT2laTFpZOWRUQy9ZNXRDMVlWYWxWcWhmcDM4ZFdFQWNITmppbXNNT3U1VHpPZHR0MHpKY2JwWnpjWG94ck45c3FueUVBMzNUYStneVlNRE5IaU5ZVjY0Yk1EK3VqZUh0cVRXNnVTS3JQZXZDVkpyMzUxUUdjbCttdnRuZ29ONmVxditFaFBSL2dVSCttbGVyTlZlV1hPNFZPNHY5c3hLNHFXUGRudmhKNUJTNDRzN25JeEdweXVjNnhydnZ0am5sUGc4dkRjdEpPNmJtdHJRM201RzNYL2hiSHFGT2FodDVmbTZyVWwyWW9PY2xkNlFjdGhUVnBlbmU1OWQ1OHVPVHRVZDAzc3FHLysxbGRiTXFyMCtkb2lCZmk0Nk43SkxZZGNKMko0OXdBTjd4NGdTVnE4cGtoLy96aERraHhyY1kzcEV5VEp2dGJWMFcwUkp3d00xa1ZEUW1XeDJscHNtZGdTazFHNllrU0U3cGpRUVI2dVJuMjlvZGp4K2N4Wm1xc3RHZFY2K3VvdU9yKy92ZFhrSjZzS1ZWVFpjdFVmQUFBQUFBREE2WVR3Q1FCd3lpaXJidEozbTBwUGFPd0ZBME1VNE9QODE5aXZ1dzZ2ZGRSUytGVGJZTkVQVzUzUGYrTjVVVTQvdTdrWTFIQ3c4bWxvdHdDRkI3anB5cGUzYTJmVzRiV2x6QmFiWHZqc2dMYnVyOWFsUThPMUk2dGFQMjRwVTF5NHAzckgrdWo3emZackpIWHdVbXBXclN4SEZiVlUxbHIwOHBmTjI4Nk43QldvYzNvRTZJWFBENmptcUpaNGlWRmV1dUtjOE5ZZWh5VEpZSkNhTElmako0dk5wbWNXWmVwUHZRTFV0N092WHYweVMwa2R2RFJsY0toZStPeUFMRWYwSWR5UlZhT1hwc2M3QXBqZmE5bTJNaTNkWEtwN3BuU1V5V0RRUGUvdTFZOWI3UzMwY2tvYmxIT2NhckJGdnhicHUwMmx1dnljY0UwY0ZLS2MwZ1o5c2I1WTcvK2NmOHpqbnA4V3I5NmRmRFR1SDF0T2VzNXVycTMzOFlzTHQ2OEQxcmV6cjd6ZFRhcHBhTDFsb1llclVSTUdCdXU2VVZHS0NuTFR2My9NVlVGNW8vNXlRWXpPN1Jtb0p4ZG02TGU5VlZxL3QxSVRuOXlxeTRlSDY5cFJrYnArVEpTMlo5Wm83ZTRLTFY1YnBQeURGVjhBQUFBQUFBQ25HOEluQU1BcG8xTzRoNTZmMXZMYVBFZEw2dUN0L1BLVGEyZlhLY3lqeGVxZmxQM1ZqdjkyZFRFNjJ1NHQrclZRaTM2MVYvUzRtQXhhY0Y5UHpWMmVyOC9XMnRmMVdicTVWRXMzSHc2enRtUlU2K3h1L3RMbjlvcWZYckUrbXJlaWVWaFNaN1pvOFpybWF3TkZCYm5ybkI0QittWkRpVXFxbkN0Z3p1a1JjTnp3eWMzRnFQb2oycmZaYk5MOGxRVUtEM0JUdHc3ZW1yK3lRRkZCYnJyd3JGQ2xadGRvWTFxVjAvR0wxeFJwdzk3RDI4YjJDN0tIVmw4ZGNGU0RuYWlza25yRlIzanAxOVFLdmZCNXBxNGNFYUdYcHllYzFEa2VtNWV1dDVmbTZ1Mmx1VTdiYnprL1doMkMzZlgwd3N3V1E2Q29JRGNOU3ZEVmIwZmNpNnZKb0FjdmpwVzV5YWJuRm1jMk95WXh5a3YzWDloOExhZEQrbmIyMWY3Q2VrVUh1MnRrNzBCOTlWdHhzekhkT25qcDBtSGhHdE0zU0o3dVJuMjNzVlEzdjVHdDdCTDdlN3AwUzZrZXVEQlc1L2NQY2N5dHJ0R3FkMy9LMC95VkJUcTNWNkRPSHhDc2dmRisrdmVQdWMzT0R3QUFBQUFBY0xvZ2ZBSUFuRElNa2t5bUV4dHJiTDFJcFZVRjVZMk90WjBPZWVoaTU4REIzY1dvaHNibVFjdll2a0ZLaVBJODV2cE5hM1pYNkx4K1Flb1U1cUhFS0MrNW1nejZPYVhzNUNmNlh6QWFKSGRYbzBxcmo5MjJMYmUwVWRrbERScldMYUJaK0xRNnRVS3JaYThlOC9NMDZiWUpIZlQxYjhldk5tck5xcDBWVGo5YmJkSmYzdDV6M09NQ3ZGMzA1SlZ4cmU1Zm5WcWhGNitOMThJSGUrcmh1V25hbWxIZGJNeTlrenZxcXBkM3FzbHFVOGRRZHowL0xVSGRPbmpwdlovelpETEtxUnF0UjBkdnZYVkxrb3pHbHEvbjcrV2lmbDE4OU5aM09lb2U0NjJMaG9TMkdENVYxMXZVdjR1djVxOHMwTUxWaFNvb2Q2NWNxcXkxNk5HRExmNk9WdGRvMVRjYlMvVE54cEpXN3hzQUFBQUFBT0IwUWZnRUFEaGxaQlRVNjk1Mzk1M1EyRmszSmpacnUzYzhkWTFXL2JLajNHbmJIUk02T1AzczdtcFVUWU05d0xscllveW1qNDUwMnYvMmJVbE9QKzh2ck5la3AxSWtTVDl1TGRWZi85eEpsdzBQVjVjSVR4VlVOR3BMQzhISUh5SFkxMVZHZ3h4Vk5zZXlaRU94L2p3MFhIT1c1cWl1MGRyaW1PNHgzdkx6TkdueTRCQk5IaHh5UW5Pb2E3UnE4UDBiV3QxdnM2blo4MjlKdUwvYk1mZW43Sy9XMUJlMjY1bXJ1K2k5djNUWGM0djM2K09WaDllY2FyTFkxRDNHVy9kTWlWRkdRYjN1bTlKUlZYVVczZnpHYnEzWjdSeUluWlhvcDFkbkpHcDNUcTBXcnkzVUUxYzBENzBtRGdxUmk5R2duMUxLbEZGUXJ4ZXZpMWZQanQ3YWZxREdhVnhXY1lQalhXakpwY1BDTktwM2tQNjVJS1BaNTVTYzRLZS9YTkJCRDc2ZmR0eVdoQUFBQUFBQUFLYzZ3aWNBd0Ntalg1eFBpMjN4V3BPUzJmYkJqcWViVVkxbWV5RHorYm9pYlVxdjBxUkJJUnJaSjFCLyt5aGRsYldIMjd3OU5yV1Rzb3NQQndXVnRSYjlzS1ZVRnc4Sms3dXJRUzkva2RYaU5jTDkzWTU1bjh1ZTdIZkM4MzNzWUNYTjJVbitrcVJITHVta1IrYW1xZmVkNjFzOVp0NktBbDF6YnFTdU9UZENiMzNmY251MzlJSzZabFZpeHpMdDNFaW5OYVQrYU9VMVRicmx6ZDJhUGlwU2EzWlZPdTNMSzJ2VWQ1dEtkTU5ZKzNwZVM3ZVU2cDhMTXB3K084bGV6ZmJNTlYyMEpiMWF0OC9acldIZEFwcGR4ODNGb0t2UGpkQ3FuUlhhbDFlbi9RWDF5aXB1MEYyVFlqUmoxcTRXNS9iQ3RmR3FhN1RvYng5bDZKbXJ1NmhmbksvRy9XT0w5dVRXNnRwUmtmcjBvVjc2MTlkWm1yZWl3SEZNV2JWWk1hRWUrdUR1N3JyNTlWM2FtMWYzZXg4UkFBQUFBQUJBdXlGOEFnQ2NNdllYMXV2MWI3TlBhT3gxbzZMK2tEbDR1QmxWZHpCODJsOVlMM09UVGNON0JPajd6YVg2K3JmRExkSEdEd2hXZUlDYkhuamZ1VkpyN3ZKOGpSOFFMSXRWV3J5MlVDMnBycmZvblIrYWh6NW5KL2tyT2NGUGM1Ym1xcmFGdFl3a3FhVEtyUG4zOXREc2I3SzFLdlZ3RmMrSW5nRmF2N2RTVVVIdWV2UFdycnI2bFowcXJteTVCVjk1VFpNK1dKYXZHOCtMMXZxOWxkcWMzanpFSzZ3d2ErSHFsdWZma210SFJoNnpKYUVrbVl3NnFYRHhSQ3hZVmFqaFBmeDEyL2dPYWpBZnJ1SjZiVW0yd2dMY05EazVSSzRtZzF4YTZOTllVbVhXcXAwVmV1RDl2V3BvWlUyckc4WkdLVExRVFhmLzI5NHVzTWxxMDZ3bDJYcHVXaGROVGc3UkYrdWQyKzhsUkhscWJOOGd2ZjV0VHJOemJVNnYxcCtmMjY0bnJveVQ5ZUJVSnd3TTF1ZytRZnI3L0F6TmVDMVY3OXpSVGYvNVMzZmRObWQzaSswRUFRQUFBQUFBVGdlRVR3Q0FVMFpaZFpPKzIxUjZRbU12R0JoeVFtMzNMaDBXcHJLYUprbFNwekNQRnNPUGxQMkh2K1QzOTNKUjNSSEJqOEVncmR4UnJ2SDlneFhzNDZyWGxtU3B5V0xUWTVkMjBoZnJpNXNGTjVjUEQ1ZGtEMXJ1bUJDanB4WTJyeDZxYWJEbzNSL3ptbTMzY2pjcE9jRlA4MzhwVUVsVnk4RlJjb0tmZW5UMFZreW9oM1F3ZklvS2N0T0ZaNFhxOXJmMnFMalNySG4zZHRmck4zZlZ0RmQzdHRwVzc4M3ZzcFdjWUc4NWQrUHNYZHFkVTl2aXVCUGg3VzVTVkpDN1Z1NDhka3M5cTgyKzdsWjVUWk5lL3laYlI4Yzk3aTVHdlhoZHZEYW1WV2xndkcrcjU0a09jdGZ3SHY0NnAwZWdCaWY2eWRWa1VFbVZXWXZYRkNrbXhNTXg3ckY1NlVyTHE5T2RFMlAwOVdOK21yczhYd3RXRmFpMHl2NCtiRXlyYXJidTFaRUdkUEhWakRIUituQkZ2blptSFg0KzMyNHEwZFJoWVhyNGtrNUt6YTdWbmx6N1BvTkJldlRQblZWVzNhUjVLMXBlSjZ1NjNxSzcvNzNYOFhOQ2xKZk83UldvUithbWFXOWVuV2E4bHFySEwrK3MrbFkrTndBQUFBQUFnTk1CNFJNQTRKUnd5NXU3VDJyODdYUDJ0THJQeTkwb1NYcnArbmoxanZWeHRLWXJyRERydVU4em00M1BLcTZYWkE4YnZOeU55aXlxZCt6TExtblFmZS90VTVjSVQ5MXlmclRtM2RORGRZMVdGVldZOWNTQ0RLZnozREdoZ3lZbGgraTFKZG5xRmV1alM0ZUZhY2VCR24yK3JzZ3g1c2JaTGJkcWsrU29kdW9XNDZWVk95dWE3ZmZ6TkducXNEQkowc1o5OXRERTE5T2tWNjVQMU04cFpWcS8xOTUrN3VFUDBqUnpScUpldWk1QnQ4M1pMWDl2KzEvM0hZTGRkY25aWVFyMGNkSGo4ek4wLzN0NzljN3QzVFR2bmg1Njl0Tk1MZnIxeEN1ZERqRVk3TlZCSnFPMGJrL3pPUi95eHJjNWV1UGJIRTBaSEtySEx1Mmt5WU5EOWRjUDB4emhtSituU1ROdlNGUkRrMVVMVnhkcSttdXB6YzR4T1RsRTE0Mk9WRnk0cHlUN0drc2ZyU2pRVHltbDJycS9XamFiOU5hdFhXVzFIWTYxM3ZzNVR5dDNsdXZleVIxMXk3aG8zVEFtU212M1ZPcmpsUVhIWEg4cU1jcExNMmNrYW1kV1RZdnRFKzkvYjU4V1B0QlRiOTdTVlRlOXNVdDdjK3NVSGVRdWswbDYrY3NEcXE2M2Y1WU5acXY4dlUyS0NIUlRmbG1qMHpraUE5MDBxbmVnMHZMckhNOWhiMTZkcm5wNVo2dnpBZ0FBQUFBQU9CMFFQZ0VBMnMzdEV6cm94ckZ0MHo1dnp0SmN6VnBpYjlrM3NsZVFKQ25BeTFVM3ZiNWJhM1pYU091bDV4Y2ZjRHJteFd2alpiYmFWRm5iSkRjWG84YjJEVktUeGFabDI4cWN4bm02R1RVdzNsZEowZDZ5MnFSOWVYWHFGZXV0MTIvdXFuOTluYTJVL2RXNmIwcEhYWE51aE43L09WOXZMODJWcDV0Ukg5N2RRNDlmMWxsK1hpWjlzS3psU3BnanJkaGVybHZHZGREck4zVTk1cmcxdXl1MEo3ZFdIVVBkOWNyMFJNa2cvZVBqdzBIWTh1M2xldnVIWEZYWFdlVHY1YUxSZlFMbDUrbWlKWS8xVVdWZGs2T2RYbUdGV1ZlOXNrTXZYQnV2Z3ZMRzFpNG5TWW9OOWRCbmovU1N1Y21teGlhcnltdWFWRmxyVVhpQW04TDhYYlVsbzFvcmR6aUhUL0dSbnVvYzV1bTByYWJlb2tXL0ZtcGtyMENON0JXb3hpWjdVQlFkN0s0K25YejB3Yko4TlZsc0d0TW55T200QThYMXFxNjNxTUZzMCt4dnN2VnpTcG4yNXRYcDJwR1J1bU5DakRLTDZ1VGo0YUt6RXYyMTlxZ1FMQzIvVHJlK3RWdmRZN3cxT1RsRVE1TDhsWjdmK3BwS3lRbit1dnJjQ0JWWE51ck9kL2FveWRLOEpWOXhwVmwzL1h1dlhyK3BxK2JlMVVPUHpVdlhEMXRMbXdWSEszYVU2Y0t6UXJYMDczMWJ2SmJWSnYxMWJscXJjd0VBQUFBQUFEZ2RFVDRCQU5yTnNtMWx4dzA5VHRUT3JCcW4vMDdaWDYzWGxtUTV3bzJXV0d3Mmpld1ZLSGRYbzZ3Mm13NFUxZXUxcjdOMW9NaStkdEhFUVNHYWxCeWkvbDE4NVdveTZKY2Q1YnIvdmIxS3phNVYzODQrdW50U1J5VkdlZXJtODZJMXRKdS8zdm8rVjdPL3NRZGdkWTFXM2ZMbUxzMjZxYXZ1bTlKUjBjSHVlbVpSODZxckk2WGwxMm5pVTFzMXJGdUFBbjFjZFBRcVJVMFdtdzRVMTJ2NWRudkZqbytIU1JXMVRicnZ2YjNOMnVzZEN1SWs2YmU5VmJMYWJQcHlmYkYrVGExUWsvWHdNNm1zdGVpbTE0OWZkWlpaVksvbDI4cGxrMDFORnB1ODNFM3k4VEFwTmJ0R0gvMVNwZm0vRkRpZFY3SzNScHcrT3JMVmN6NXpUWmRtMjFvYlAzOWxnWjVabEttZlVweUR3YUxLUmcxSzhOV2dCRjgxV1d6YW5WdXJWMXFvVkpMczc4V1I3MGxyU3F2TlNzMnEwWVB2NzFOcGRWT3I0N1ptVkd2NmE2bDYrSkpZcFdTMnZEN1RzbTNsbXZ4MGluckVlTXZkemVpMHI3N1JxbTJaMWNvcVB2WmFXUUFBQUFBQUFLY2JnODFtYS8xYk9RREFmNjMzbmV2YmV3cjRuUzQ1TzFSVGg0VnIrYll5ZmJtK1dOa2x6VU9DVUQ5WFBYOXR2RDVZbHFkbDI1cTNjZk4wTStxSksrUDArZG9pclVwdHZTMGRnSk0zZmtDSW5yMG1ycjJuQVFBQUFBQUFqa0w0QkFCL0VNSW5BUGhqRVQ0QkFBQUFBSEJxTWg1L0NBQUFBQUFBQUFBQUFIQmlDSjhBQUFBQUFBQUFBQURRWmdpZkFBQUFBQUFBQUFBQTBHWUlud0FBQUFBQUFBQUFBTkJtQ0o4QUFBQUFBQUFBQUFEUVpnaWZBQUFBQUFBQUFBQUEwR1lJbndEZ29NTENRbTNhdEttOXArRXdmWFNrVW1ZbXExK2NUNXVlZDlhTmlVcVptU3dUZndQOEx0TkdSaWhsWnJMT1N2UnI3NmxJK3QvTTU0MmJ1MnJ6SzhsLzJQbVBwWHVNdDFKbUp1djJDUjNhNWZvbkl6TFF6ZW4zNitGTFlwVXlNMWxEdS9tMzI1eld2VEJRNzkvWi9iODY5bzJidXlwbFpuS3ovMjE1TlZtcm5oMmdCZmYzMVBWakl1VmlNclR4ckFFQUFBQUF3T25LcGIwbkFBQ25pZ01IRHVpUlJ4NlIxV3JWcEVtVE5HSENCSVdFaE1qYjIxc3VMbWZPSDVlVnRSYVZWSmxsczdYM1RFNXZkUTFXbFZTWjFkaDBhanpJVTIwK2JhM0pZbE5KbFZtMTlaYjJuc294WFhKMnFCNjhxSlBPZVdTajZocXQ3VDBkaDVJcXM4cHJtbjdYT1Q1Y2thK3F1c1BQMzJnd0tDTFFUU043QmVyT0MySVVGKzZwdjM2WS9udW5DZ0FBQUFBQXpnQm56cmVwQU5CR3lzcks5UDc3NzJ2Ky9QbnEzcjI3K3ZmdnI2U2tKQ1VrSkNnNk9sb21rNm05cC9pN1BQSmhXbnRQNFl6d3llcENmYks2c0wybjRYQ3F6YWV0N2NtdDFibVBibTd2YVJ4WGNvSy8zRjFQdlFxZzhmL2MrcnZQOGVIeWZPV1dOamJiL29xdml4WSswRXNUQjRYb25SOXlsVkZRLzd1dkJRQUFBQUFBVG0rRVR3QndGTnZCa3FDR2hnWnQyYkpGVzdac2taZVhsL3o5L1pXWW1LaXhZOGRxeElnUjh2VDBiT2VaQWtEN0s2MXEwcmNiUzNUTnVSSHEzY21IOEFrQUFBQUFBQkErQWNEUkRBWjcxWUxOWm5NRVVUVTFOYXFwcVZGZVhwNVdyRmdoZDNkM1RadzRVZVBIajFkc2JLdzhQVDNsN3U3K2g4d24yTmRWejF6VFJTTjZCTWhvTUdoVGVwVmUveVpiMncvVU9JM3JGT2FoNjBkSGFWQ0NuMEw5WGRWa3NTbWpvRTRMVmhYcXM3VkZqbkd6Ymt6VU9UMEMxTy91OWJyamdoaE5IeFdwSzEvZW9XMlpoOC8zeHMxZE5iU2J2KzU4WjYrV2JTdHpiSC82cWk0NnIzK1Foais4VWJVTlZ2bDZtblRkcUVqOXFXZWdvb1BkWlRJYWxGZldvSisybHVuMWI3TWRMZUNtajQ3VVhSTmpOUFg1N1pvMk1sSkRrdnpsNDJGU1JrR2QzdnM1VDBzMmxEamRTL2NZYjkwMlBscDlPdm5LWkpMVzdLclU2OTltYS9GRHZmVCt6L2w2NllzRHgzeG1sdzBQMDVUQm9Zb044NUJCQnUzTHI5WENWWVg2WW4zeENUM3pTY2todW14NHVPSWpQV1cxU2pzTzFPamRuM0sxT3JYQ01XYmF5QWpkTzdtamJweTlTMnYzVkVxU05ydzBTSit1S1ZScVZxMnVIQkd1VG1HZXFtMjBhT1dPY3IzNlZaYUtLODBLOUhiUlQwLzAwOGEwS3Qwd2U1ZlRkWTBHNmNkLzlsTlpkWk11Zm02YkpNblgwNlFieGtacGRKOGdSUVM0cWJMT292VjdLdlhHZDlsT1gvSzNOQi9KM2didTRpRmhpb3Z3VkYyalZUc09WT3YxYjNPMDQ0ajN4OFBWcU9takkzWCtnR0JGQmJtcnV0NStqZG5mWkd0L1lmTWdvWHVNdCs2L3NLTjZkdlJSVGIxRkszYVVhZGFTYkJWVm1wM0duZFhWVDFlTmlGRFBXQi81ZVpsVVcyL1Y5Z1BWbXZOOXJqYWxWem5HZFFoMjE1MFRZOVM3azQ5Qy9GeFZXbVhXbXQwVmV2M2JIT1dYTlRxdStmRjlQVFJuYWE1bUxjbDJISnVjNEtkclIwV3FWNnkzWEV3R3BlZk1HazVhQUFBZ0FFbEVRVlRYYSs3eVBIMjNxZlM0bi9QSnZHZDlPdnZvcHJIUjZ0M1pSeDZ1Um1VVzF1dlROWVdhdjdMQTBjSnkyWlA5Rk96cktzbSt4bEpLWnJXdWVubm5jZWR4dEU1aEhycDVYTFRPU3ZTWG41ZEpCUldOK25scm1kNzZQa2VWZGM1dEI4L3JGNlJwSXlQVkpjSlROZlVXZmJPeFJDbVoxWHJ4Mm5qZFBtZVBmdGxSN3BqUHJ1eGFUWnRwbjg4Yk4zZFZlSUNiL3JrZ1E3ZU43NkNlc2Q0eUdnemFrbEdsMTc1dS91Zkw4UmdQcm5GVmYxU3J3WWhBTjkweUxsckR1Z2NvME50RmhSVm0vYlMxVkc5K24rUFV3ZzhBQUFBQUFKeFpDSi93UDJVMm03VisvWHBsWm1hMjkxU0Fackt5c2xSZmYvaUw5aU5EcUVPT3JJcGF0R2lSRmkxYXBLU2tKUFhvMFVNZE8zYlV3SUVERlJjWEp6YzN0emFiMTVOWGRsRldjYjNlK0M1SGZwNG1YWDVPaE42N3M3dHVtSjJxemVuVmtxU1lFSGQ5ZEc4UG1TMDJMVnBkcUx5eVJvWDV1K3JDSWFINngrV2RWVjVqMXJKdDVjM08vWE5LbWFhUGl0VFpTUUdPOE1uVlpOQ0FlRjlKMGxtSmZvN3d5V2lRaG5YMzE5cmRGYXB0c01yRlpOQzdkM1JUbDBoUGZiYW1TQit2TEpDWHUwbGord1ZwK3VoSXVib1k5TUpuemlIUm5OdVN0R3BuaFI2Ymx5NFhrMEUzajR2V00xZDNVVW1sMlJHWTlJL3oxVnUzSnFtdTBhTDVLL05WVTIvVmhJSEJldWYyYmlmMHZLNytVNFR1djdDamZ0eGFwa1cvRnNuVlpOQ2s1QkE5Y1dXYzNGMk54MjFOOStCRnNicHlSTGcyN0t2U3pLK3k1T1ppMVBrRGd2WDZUVjMxMU1MOXh6MysvUDdCR3RrN1VPOHN6VlY2UVowR3hmdnB4dk9pRlJQaW9Xa3pkNnFzcGtuTHQ1ZHJaTzlBaGZ1N3FhRGljQnV6czd2NUs4VFBWZS8rbUNkSkN2UjIwZnQzZFZlbk1BOTlzN0ZFYy9kWEt6cklYWDhlR3FZUlBRTjA4eHU3SE85QVMvNTVSV2ROR1J5cXplblZtclVrV3lhalFWZWNFNjcvL0tXYnB2OHJWZHNQMU1qTnhhQjM3a2hTejQ0KyttWkRpVDVZbHE4d2YxZjllV2k0UHI2dnA2YS9scXFkV1llRENLTkIrczlmdW1uZG5rcTk5RVdtRXFPOGROR1FNSjNWMVY5VG45K3VpbHI3dWtMaitnZnB1V3ZpbFpaZnB3OSt6bE5WdlVYeEVaNmFjbGFvM3JvMVNlUCtzVVVsVldiNWVwcjA3enU2eWRWazBNY3JDMVJVYVZhWENFOWROanhjZ3hMOE5PWHBGRFdZVzE3SGFsSnlpSjY0SWs3NTVZMmF1eXhmNVRWTm1qZ29STTlQaTFlZ1Q2Ym0vMUxRNnJNNW1mZHNiTjhnUFR1dGkvTExHdlhlVDNtcXFiZm9ySzcrZXVqaVdQWHA3S01IMzdlM3NuejRnelRkTkM1YUE3cjQ2dDUzOTZtb3NubUx1dVBwMDlsSGMyNU5raVF0K3JWUTJTVU42dDNKUjFmOUtVSWplZ2JxNmxkMnFPemcyazJIQXNlOXVYVjY0OXNjZVhzWTllZWg0YnBnVU1nSlhTc3l5RTJ6YitxcWozNHAwRHMvNUNvcXlGMTNUNHJSTzdkMzA5akhOemNMdWxyVElkaGRGd3dNVVlQWnBpMUh2SSt4b1I3NjRPN3Vjbk14YU9IcVFoMG9hbERYYUM5ZGZrNjRoblVQMEZXdjdDQ0FBZ0FBQUFEZ0RFWDRoUCtwdExRMHZmamlpenB3NE5oVkM4Q3A1RmdobENUdDJyVkx1M2J0a3MxbVUxaFltR0pqWXpWNjlHaXBNVkJ5OC92ZDE4OHNxdGMxcis1d2ZBSC83Y1pTTGJpL3B4NjZ1Sk11ZldHN0pHbmF5RWo1ZUpoMHphczd0U1hqOEplL1M3ZVVhdkZEdlRSaFFFaUw0ZE8yekdxVlZKazFySnUvM3ZvK1I1STBvSXV2UEZ5TnlpOXIxT0N1aCtmZnA3T1BBcnhkOUZPS1BZd2ExVHRRWGFPOTlOcVNiTDI5Tk5jeDdzTVYrZnJ1OGI2YU1EQ2tXZmkwT3JYQ2FjMnAvWVYxK3VLUjNwcDhWcWdqZkhwMGFpZlpaTk1WTCsxUWRrbURKR25laW56OTU4NXVDdkx4T2U3em1qdzRSSGxsamJybjNiMk9iWit0TGRLOGUzc29QdExybU1jTzZPS3JLMGVFNit2ZlNwem1PWGQ1dnQ2K0xVbjNYeGlySDFOS1ZWclYxT281L0x4Y05PWHBGRWZGMEc5N3E5UTUzRlBuOVF0U3gxQjNIU2hxME9LMWhScmRKMUFUQmdicjNaL3lEczg5T1ZSbWkwMWZiN0JYYU4xeFFRZDFDdlBRazU4NGgxNWZyQy9TZ3Z0NjZva3J1bWpTVTF0bGJTR2I2Ui9ucXltRFEvWDk1bEk5OFA0K1IzWE9qMXRMOWVXanZYWFR1R2pkTVdlUHJoc1ZwZDZ4UG5wOGZvWlRoZHducXdxMStPRmVldnl5em83M1RKSU1CdW1yMzRyMTVDZjdIZHUyN3EvV0UxZkU2Y2F4VVhyaGMvdG5mc3U0RHFxb2JkSTFyKzVVZGYzaGdHRi9ZYjBldmlSV28vc0Vhc0dxUWcxSzhGTmtvSnNlK3loZFg2dzdYSmxXVU42b3lZTkQxRG5NVTd0eWFwdmRuNmViVVE5ZEhLdXM0Z1pkOXVKMnh6VStXMXVraFEvMjFDM2pvclZ3ZGFHYUxDMEhWeWY2bm5tN20vUzN5em9ycThoK25icURsVDN6Vnhib3Jva3htajQ2VXQ5dUxOSHk3ZVZhdTZkU0Z3MEpreVN0U2kxM2pEMFpUMXdSSjFlVFFaZSt1RjE3Yyt2czEvcWxRSnZTcXZUWTFFNjZaM0pIUGZaUnVzTDhYWFhIaEJqdHpxblZWYThjL3ZQaDB6VkZXdnhRcnhPNmxyZTdTWC8vT0VPTDF4eiszRjFOQmowNnRaUEc5QTNTcDBkc2w2VHBvNk5VZlVSWTVHb3lLQ0xJVGNPNkJjalR6YWhuUDgxMENsTWZ1N1NUUE4yTXV2S2xIZHFiVitmWXZueDdtZDY0dWF0dVBpL2E4YjRBQUFBQUFJQXpDK0VUL3FlcXE2dFZVMU1qZzhHZ29LQ2dOcTBPQVg2dnhzWkdsWldWeVdvOStTK01KY25GeFVWbXMxblYxZFZxYkd5VXpXYVRvUTNtOWU4ZmNwMHFQOUlMNnJSOGU1bk82eGVrcUNBMzVaWTI2cGxGKy9YdWo3bktMWFd1dERqMHhidVh1Nm5GYzl0czB2THQ1Wm95T0ZSK25pWlYxbGswSk1sZnBWVk5XcnkyU0xlZUg2MVFQMWNWVlpvMW9tZWdyRFpwK2NGS3FPODNsMnBUMm1aVjFqa0hNWDZlSmxYVU5Da210SGtid2lOYitFbFNSa0c5TEZZcDVHQ3JzaTRSbm9xUDlOU2lYNHNjZ1lBa21TMDJ6ZmsrVjdOdVREenU4OG9yYTFSQ3BKZnVtaGlqcjM0clZscCtuZXJOVmwzODdMYmpIbnYrZ0dCSjB1ZnJpaFRnN2Z4WDVOTE5wUnJReFZmRHV3VWNzMzFmUmtGZHMxWjErL0xxZEY0L0tjVFhUUWVLR3ZScmFvVUtLaHAxd2FBUVIvams0MkhTbjNvR2F2bjJNcFVmckd3WjB6ZEkrV1dOV3ZpcmM3WFYzdHc2TGRsWW9zbkpJZW9lNDkxaWk3UlJ2UU1sU2YvNUtVOUhaS1hLTG1uUTVTL3VVRW1WdlVYZStBSEJxcTYzYU1YMk1xZDdObHRzK25WWGhjN3ZIK3g0enc1NS9adkRiZThrNll0MXhicnpnaGlONmhQa0NCT212ckJOZnA0dVRzR1R5U2cxTk5sL3Z3NjlrL2xsOXMvNTJwR1JxcXkxYU4wZWUyWGQzT1g1bXJzOHY5WG5QRGpSVHo0ZUpyMzFmWTdUTmN3V20rNllzMGVTWkdrcGxkUEp2V2ZEdXZ2THo5T2t1Y3Z5NU81cWxMdXIwYkh2dTAwbG1qNDZVcVA2QkduNTl1Ymg3c2xLalBKU3B6QVBMZGxRNGdpZURsbTR1bERYallyVTZMNkJlbnkrTkxKM29OeGNEUHJQVDNsT2Z6N2tselhxMDErTE5HMWt4QWxkYzFtSzgrOWtXcjc5dWlGK3JzM0dUaDBhMW14YlJXMlRmdHBhcGsvWEZHcGoydUZXaWtHK0xrcE84TlBxMUFvVlZacWQzcTBkQjJxVVg5Ym85TDRBQUFBQUFJQXpDK0VUMm9XM3Q3ZWVmdnBwRFJ3NHNMMm5BamhzMkxCQmp6enlpRXBLbk5jZk9yTEs2WkJEMVZDU0ZCc2JxN2k0T0NVbEpTazVPVm1KaVlueThQRFFjK3ZYdDhtODl1WTFyL3JZbDFkcnI2UUo4VkJ1YWFNc1ZzbmNaTk1OWTZPVTFNRkwwVUh1aWdueGtLK242ZUI4V3ovL3NtMWx1bmhJcU03cTZxK2xXMG8xdEp1LzF1NnAwRzk3SzZYem81V2M2S2NsRzByMHA1NEIycHhlcGRMcXcyRlRWWjFGRXdlRnFGK2NyMkpDUE5RaDJOM3hwZldoOVo2T1ZGWmpicmJOWXJYSlpMUlBzRk9ZaHlRcG83Q3UyYmkwdk9iYld2TENaNW5xR09LaDZhTWpOWDEwcEFvcjdPc0gvYkNsMUxIK1RXc09YZitkMjVOYUhSTVZmT3kxdlE0RlIwY3lXK3lCeTZGMWNhdzI2YXYxeFpveEprcEowVjdhbFZPcmNmMkQ1TzVxY0ZRZitYbVo1Ty9sb2gwSEt0VENLNmg5QjkrTDZHRDNGc09uNklQenpDaG8vdHgySDFGSjFESFVReWFqdFB5cC9xM2VVMVNRdXlOOEtxMXFjbm9IRGtuTHI5UGdSRCs1R0ExcXN0clVZTFlwT014VjE1d2JxYzdoSG9vS2NsZkhVQSs1dWRnLzYwUHY1TTZzV3IzNVhZNXVHQnV0bVRNUzFHU3hLU1d6V2l0M2x1dkxkY1hOMXBFNit2N1M4NXV2U1pWVjNOQnMyNUZPNWozckZPWXBTYnB0ZkFmZE5yNUR5M01KYXB2MTNtSkM3T2ZabDkvOGQxNlMwdlByZEU2UEFBWDR1RGptMWRMbjI5cnhMU2s3Nm4wMUgveTlOUnFiLzZFeDdoOWJsRnZhS0lOQmlvL3cxTDFUT21wd29yOEtLeHFkZ2lkSjZueHdma083K2V1WHAxdCt0MncyKzN2UTB2c05BQUFBQUFCT2I0UlBBTkNLWTRWTzd1N3VHanQyck1hTUdhTzR1RGo1K2ZuSnk4dkxLWlJxSzQwdHJIZHpLS3hwT2xqWmNYYVN2LzUxUTZJc1ZwczJwbFZwM1o1S3pWdFJvSzM3cS9UMW8zMk9lZjYxdXl0VTEyalYyVW4rMnBCV3FZUklMMzI0dkVCYk02cFYyMkRWV1luKzJwcFJyYmh3VHoyLytuQ1ZRa1NnbTk3N1MzZEZCTHBwMi81cXBXYlhhc21HWXFYc3I5WWpsM1JTdHhqdlp0YzYzcGZNcmdlRENYTlQ4K296bTA3c0crb0RSUTJhOGt5SytzZjVhbGkzQUNVbit1bUNnU0dhbkJ5aUg3ZVdPYlhqTzVyeDRPZjNsN2YzcUw2VmxtazVwY2NPTms3MGkvVFAxaGJwK3RGUm1qZ29STHR5RG1qaW9GQVZWcGoxYTJxRkpNbWdRKzBlanozWGxrSStTWEl4SGZ0NHlmN0Z2OUZnZjJaUGZwTFI2cmdqcTNBYVd2aHNEbDNQYXBNc0J5OTQ4N2hvM1hwK3RFcXF6TnFZVnFVZnRwWnFkMDZ0WEV3R3ZYaHR2Tk94cjMrYm93V3JDaldpWjRDR2RQWFhvSGcvOWIvQVZ6ZU9qZFlOczNZcEpiUDV1bGFPK3p2QjkrSklKL09lSFFvTVozK1RyYTBaTGErdlZWWGZOdXNXSGZyajQzaWZ1Ym5KSmxmVE1UNy9QempNc2Rta3ZYbDF1bVBPSHZ2NllhTWpaYkhhOU5xU3d4VnhoKzdsaDYybFdyanEyT3VrQVFBQUFBQ0FNdy9oRXdBYzVjalE2Y2l3eWN2TFMxMjZkTkg0OGVNMVpzd1llWGtkZS8yZ3RoSWU0TllzOElnSnNWZHVaQjVzNy9ia2xYR3lXRzI2K05sdFRtM0V3dnlidDg0NldtT1RUYXRUS3pTMG03L1c3NjJVd1NDdDNWT2hKcXRORzlNcU5UalJUN3R5N0pVMVAyOHJkUngzOTZRWVJRVzU2ZjczOXVuN3phVk81d3owT2Y1MVczTG9manFIZXpiYkZ4dmFmTnZSakFZcEljcExOcHUwTWEzS1VZMFI1T09pMTI3c3F0RjlBaFVmNmFsOXJWUlI1WlEwYUdDOHI2cnFMTTBxT1dKRFBSUWI1cUhhaHYrdUxlUFJzb29idENtOVNtUDdCMm4reWdMMWkvUFJPei9rT3RadnFxaHRVbVdkUlhFUkxkLzNvZTJIMnRhMWRDK1N2Y3JuNkRXVGJqMC9XdjdlTG5wbVVhWnl5eG9VRnVDcVRlbFZ6WUtNZm5FK2NuYzFxdDU4T0Z3SjhuRjFWRGNkcVVPSXV3NFUxY3RtczEvejF2T2p0VE9yUnRmOUs5VnA3YU1KQjFzYk9zN242NktFU0M5dFRxL1M0alZGanZXSEpnNEswVk5YeFduYXFBamQrKzYrVnUrdmM1aW5WdTJzY05vM3RtK1FodmNJME92ZlpDdXZyTEhac1Nmem51VTRmcDhNam5YSkR2RjJOMmxJa3AveXk1dGY0Nzl4cUdJclBxTGxQMXM2UjNpb3V0NmlxanFMOWhmWjd5RXUzTlBSS3UrUTJJT1ZYWDgwczhXbSs5N2JwMDhmN0tVWlk2TDAyOTVLeHpNNjlOejh2VnlhUFRkSk9yZFhvRXFyelZROUFRQUFBQUJ3aGpJZWZ3Z0EvUDlpTUJoa01Cams2dXFxK1BoNFRaNDhXWGZmZmJkbXo1NnQyYk5uYS9Ma3lmK3o0RW1TTGhqay9HVjlpSityUnZZTzFLYjBLaFZWbW1VMFNQN2VMaXFwTWpzRlQ1SjArWEQ3dWk4bTA3RXJzcFp0SzFONGdKc3VHeDZ1ektKNjVSLzh3bjdOcmtwRkJMcnA4dUVSU3MydWRWcjM1MURBdEhXL2N6WEkwRzcrNmhqcTdxak9PaG1wMmJYYVgxaXY4L3NIT3dWblJvTTBmWFRrY1k4M0dneDYrN1lrdlhCdHZLTXlScEpLcTV0MG9OaitaZjJoZGJCYXNuU0xQVVM3ZlVJSHArTmRqQVk5Y1dXY1p0MllxQ0NmdHZ2L2JTeGVVNlJ3ZnpmZE82V2pKUHRhVTBmNmNVdXBJZ1BkZE1uWm9VN2JPNGQ3YVB5QVlHV1hOQ2cxdStVV2F6OGZYRi9yeWo4NXIvMFRGZVNtYVNNakZSdHFEeWgrMkZJcUQxZWpiaG5uM0ZJdTNOOU5yOTNZVlU5ZDFVV1dJL0kyZDFlRHh2UU5jaHA3YnE4QWhmdTdPVUxJd0lQUGFFOXVyVlB3NUdJMDZKS0Q2d2E1SEh3L0pnd00wZHUzSmVtOGZzN3YrZGI5OXZEUDBrcFIwYm85bGFwdHNPcmlzMFBsNlhiNG56TXVSb05takkzU3FONkJLbTZsWmQvSnZHZS83Q2hYdmRtcUswZUVLL1NvZFpCdUdoZWxsNmNuYUVpU3YyUGJvY3F2UTlWVkoyTlBicTB5aStvMXJuK1E0aU9kUTdBcGcwTVZIZVN1SDdmYW4vRVBXMHJWWkxYcGloSGhUdTlxZ0xlTExqbTcrZHBNZjVUOHNrWTl0emhUQm9QMDk4dmpISjlGWGxtamRoeW9VWEtDbjRaMjgzYzZabmozQU0yY2thQnA1eDcvZHhvQUFBQUFBSnllcUh3Q2dLUDQrL3RyNU1pUkdqVnFsS0tqb3hVYUdpcFB6K05YM2Z4UkppV0hxckxXb204MmxpZzYyRTEzVCtxb0pvdE5UMzZ5WDVKOS9hQVYyOHMxdWsrZ25yMm1pMzdlVmlaUFY2UEc5QTNTc080Qk1sdHM4anU0OWxOclZ1d29rOFVxOWUzc293Vkh0TWhhczl0ZVVkSXgxRjJ6djhsMk9tYlp0aktkbGVpbmw2Y242T09WQldvd1d6VXczazhYRHdsVnZka3FEMWVqUE4yTVR1SERpWGppa3d5OWRVdVNQcm0vbHo1WlhhQ3Flb3ZPNnhla2hFaDc0SGRrVzdRZUhiMzE2b3dFL2JhblNvOThtS1ltcTAxdkw4M1YvUmQyMVB0M2R0ZTNHMHRVYjdhb2IyZGZUUmdRckJVN3lyWC9ZTlhMMGNkSzBzcWQ1VnF5b1VRVEJnYnI0L3Q2YU1tR0V0VTNXalZoVUxCNngvcm9nMlg1Mm51Q2EwK2RpQisybE9yaFMySTFxbmVnTnFaVjZVQ1JjM2o0cjYremxKem9wOGVtZGxhL09GOXR5YWhXZEpDN3BnNExrOFZxMDJQejBsczk5N285bGZycXQySk5UZzVSZUlDYmxtMHJrNWU3VVpjTkM1ZlZadE9Mbjl0YktNNzVQbGZEdXdmbytqR1Jpby95MU9yVWN2bDR1T2pTWVdIeWRqZnBieCtsT3dWMlRSYWJIcDNhU1o3dVJtM0xyRmJmenI2NlozS01kdWZVNnQwZmN5VkpxVm0xS2lodjFBVURRMVJRYnRidW5CcUYrcnZwa2lGaGlnbTFyMnZrNjJuL0o4Z1g2NHAwK2ZCd1BUcTFrN3JGZUdsZlhwMEN2RngweWRBd21TMDJ6ZnNsdjhYN3E2cXo2UG5QTXZYNHBaMjE0UDZlK254ZGtlb2E3SjlWVXJTWC92cGh1c3dINS8zY3RDN3EzOFZYZDd5MXgxRUZkcUx2V1hsTms1NzdORk4vdTdTekZqM1VTNStzS2xSQmVZT1NFL3cxcm4rUU5xZFhhL0dhdzc4enBRY0RyK2VueFd0aldwWGVYcHJyMkhmRk9lRWEyU3V3eGZ1Wi9XMjJTcXVhOVBmNUdYcmpscTc2OE80ZVdyQ3FRTmtsRGVvZDY2Tkp5U0hLS1czUXExOW1TYktIUG05OG02TTdKblRRUi9mMjBEY2JTdVR1YXRRbFo0ZkszZFVlQVAydnFvcStYRitzY2YyRE5heWJ2KzZaM0ZGUExiVC8yZlRQQlJsNjl5L2Q5Tm9OaVZxOHRraTdzbXZVS2N4VFU0ZUZxYVRLckZlL09uQ2NNd01BQUFBQWdOTVY0Uk1BSEJRVEU2TW5ubmhDZ3djUGJ1K3BPTG5uM2IyNmFrU0VyaGdScmlhTFRXdDJWK2lPT2RuS1BOaDJTNUllbjUrdW9zb09PcmRub0ViM0NWSnBsVmw3Y210MTNiOTI2b3B6SWpTcVQ2Q0NmVjFWVXRWeUpVaGxyVVdiMDZzME1ONVhhM2NmYm1HV2xsK253Z3F6d3Z4ZDlWTkttZE14ODM4cGtJdlJvRDhQRGROalV6dXJwdDZpck9KNi9lUGpETG03R3ZYbzFFNGExaTFBUDJ3dFBmcHl4L1RiM2lyTm1MVkx0NDN2b0drakkyVzEyYlJxWjRYKzgyT2VYcmsrd2FrMW5KdUxRZUgrYm81S0cwbWF1enhmcGRWbVhUNDhYRGVOaTVLbm0wbFp4ZldhdFNSYjcvMmNkOHhqSmVuaHVXbmFuRjZsaTRhRTZwYnpvMlZ1c2ltenFGNlB6VXZYRit1TFQrcGVqcWZlYk5WM20wcDB5ZGxoK254dFViUDlwZFZOdXZ6RkhicHBYSlJHOWdyUytmMkRWVmJUcE9YYnlqVm5hWTRqU0d2Tm8vUFN0ZjFBalM0WkVxWjdKM2RVWlcyVE5tZFVhZGFTYkdVVTJJK3RycmZvNmxkMmFzYVlLSTN1RTZTemsveFZXZHVrMUt4YVBmaCttamFsTzdjZnpDdHIxTXl2c25UVGVkSHFGTzZoOHBvbWZiYTJTTE9YNURpQ3hucXpWVGZNM3FXN0ozWFVuNGVHeWRQTnFLSUtzemFtVmVyMk9iczE3NTRlT3J1YnYxNzZ3djd1VFg4dFZUZU9qZGFmZWdacTZ0QncxVGJZMzhjSDN0dW43UWRxV3IyL3hXdUtsRi9XcU90SFIrbkdzZEd5V0czYW0xZXJXOS9jclZXcGg5L2pRQjlYaGZ1N3ljM2xjSVhVeWJ4bm42NHBVazVKZzY0ZEZha3J6Z21YbTR0UnVhVU5ldjNiSEwzL2M1NGFqbGlYYmQ0ditlcmR5VWVERXZ6VUtjelRLWHdhM2oyZzFYdVp1enhmcFZWTjJwaFdwU3RlMnFHYno0dldsTE5DNWVOaFVuNVpvOTc3T1Uvdi9KQ3JxcnJEcFdCdkw4MVZTWlZaVjU0VG9kc25kRkJsYlpPKytxMVl0UTBXM1RhK1E0dHJXdjFSL3ZGeGhqNS9wSmVtRGczVDk1dEx0R0ZmbFZLemEzWHBDOXQxMDNuUkd0a3JVQmVlRmFxaUNyTyszVmlpT2QvbkhuZjlOQUFBQUFBQWNQb3kyR3gwMjhmL3pvWU5HL1RJSTQrb29hRkJMNzMwa2dZT0hOamVVd0wrTUwzdlhOL2VVemd0aGZ1N3FhQ2krUm82WnlmNTY4MWJ1dXFaUlptYXY3S2dIV2FHTThucC9wNTV1aG5sNW1KVVJXMVRzMzEzWGhDajY4ZEU2cUpudDdXNnZ0bVpZdnlBRUQxN1RWeDdUd01BQUFBQUFCeUZOWjhBQUtlVUx4L3RyWG4zOUdpMmZWSnlpS1REYXdFQnY4ZnAvcDdGUlhocTVUUDlkZmVrR0tmdEhnZGJibGJXV3JTLzROaVZjUUFBQUFBQUFIOFUydTRCQUU0cG42OHQwdVhuaE92Tlc3cHF4WTV5R1NRTjdlYXY0ZDBEOU5uYUl1M01xbTN2S2VJTWNMcS9aNmxaTmRxZFU2dHJ6bzJVbjVlTGRtYlZ5TmZUcEFrRFF4UVQ0cTdIUGtwWGs1WGlkZ0FBQUFBQTBENElud0FBcDVUbkZtY3F2YUJPRjU0VnBqc21kSkRSWUZCR1FaMmUrR1MvRnE0dWJPL3A0UXh4dXI5blZwdDAvYXhVVFI4VnBaRzlBM1hCd0JEVk5WcTA0MENOWGxpY3FiVjdLdHQ3aWdBQUFBQUE0UDh4d2ljQXdDbkZhcE1XckNyVWdsV25mZ0NBMDllWjhKNVYxbHIwNmxkWmV2V3JyUGFlQ2dBQUFBQUFnQlBXZkFJQUFBQUFBQUFBQUVDYklYd0NBQUFBQUFBQUFBQkFteUY4QWdBQUFBQUFBQUFBUUpzaGZBSUFBQUFBQUFBQUFFQ2JJWHdDQUFBQUFBQUFBQUJBbXlGOEFnQUF4elF3M2xjcE01TTFmWFNrMC9iSVFEZVorSmNFQUFBQUFBQUFqc0pYUmdBQTRLUmRjbmFvdnZ4ckg3bTU4RThKQUFBQUFBQUFPT01iSXdBQWNOS1NFL3psN21wbzcya0FBQUFBQUFEZ0ZFVDRCQUFBQUFBQUFBQUFnRGJqMHQ0VEFBQUFiYXREc0x2dW5CaWozcDE4Rk9MbnF0SXFzOWJzcnREcjMrWW92NnhSa24wZHAzZnY2S1pYdjhyU3V6L21PUjMvL3AzZGxkVEJTNFB2MzlEaStaYzkyVS9CdnE2U3BIVXZERlJLWnJXdWVubm5IM3RUQUFBQUFBQUFPRzBRUGdFQWNBYng5VFRwMzNkMGs2dkpvSTlYRnFpbzBxd3VFWjY2YkhpNEJpWDRhY3JUS1dvdzIzN1hOUjcrSUUwM2pZdldnQzYrdXZmZGZTcXFiR3lqMlFNQUFBQUFBT0JNUVBnRUFNQVpaRkNDbnlJRDNmVFlSK242WWwyeFkzdEJlYU1tRHc1UjV6QlA3Y3FwL1YzWFdMdW5VaGNOQ1pNa3JVb3RWMTJqOVhlZER3QUFBQUFBQUdjV3dpY0FBTTRnK1dVTmtxUnJSMGFxc3RhaWRYc3FWTnRnMWR6bCtacTdQTCtkWndjQUFBQUFBSUQvRHdpZkFBQTRnK3pNcXRXYjMrWG9ockhSbWpralFVMFdtMUl5cTdWeVo3bStYRmVzb2twemUwOFJBQUFBQUFBQVp6akNKd0FBempDdmY1dWpCYXNLTmFKbmdJWjA5ZGVnZUQvMXY4QlhONDZOMWcyemRpa2xzL3FZeDV0TS82T0pBZ0FBQUFBQTRJeGtiTzhKQUFDQXRoUGs2NkxCaVg2cXFtdlM0alZGdXYrOWZmclRvNXYwMXcvVDVlbG0xTFJSRVpJa2k5VW1TWEozYmY1UGdYQi90Ly9wbkFFQUFBQUFBSEJtSVh3Q0FPQU1NbUZnaU42K0xVbm45UXQyMnI1MWY1VWt5V0t4LzF4VVlXKy8xNmVUajlPNDRkMERGQjV3L1BESllyT0hWNjR1aHQ4N1pRQUFBQUFBQUp4aGFMc0hBTUFaNUl0MVJicDhlTGdlbmRwSjNXSzh0Qyt2VGdGZUxycGthSmpNRnB2bS9aSXZTY291YWRDbTlDcWRuZVN2ZjkyUXFJMXBsZW9jNXFuekJ3UnJiMTZkT2dTN0gvTTZwUWZYam5wK1dydzJwbFhwN2FXNWYvaTlBUUFBQUFBQTRQUkE1Uk1BQUdlUXlscUxwcitXcWlVYlN2U25ub0Y2NUpKT3VuWlVwUGJtMW1yYXF6dTFOZVB3ZWsvMy9XZWZ2bHhmckw2ZGZYVDcrQmpGUlhqcWpqbDd0Q1c5NnJqWG1mZEx2clptVkd0UWdwOHVIaEwyUjk0U0FBQUFBQUFBVGpOVVBnRUFjSWJKTDJ2VVB4ZGtISGRjY2FWWmo4NUxiN1o5L2Q1S1BmSEpmc2ZQRy9aVnFmZWQ2NTNHNUpZMjZ1cFhkLzcreVFJQUFBQUFBT0NNUStVVEFBQUFBQUFBQUFBQTJnemhFd0FBQUFBQUFBQUFBTm9NNFJNQUFBQUFBQUFBQUFEYURPRVRBQUFBQUFBQUFBQUEyZ3poRXdBQUFBQUFBQUFBQU5vTTRSTUFBQUQrajczN0RJeXlTdHM0ZmszSkpKbjBBaUZBRUVLVjNrVnNkQXNLNklxOW91N2F5N3I2dXF5dVhWZnNxeXNxeU9JcU5wU2lvb0tLMHJzVUNTMmhwL2MrSlZQZUQ5RklTU0NCU1NZSi85OG44anluM0pPSkVwNXJ6amtBQUFBQUFBQStRL2dFQUFBQUFBQUFBQUFBbnlGOEFnQUFBQUFBQUFBQWdNOFFQZ0VBQUFBQUFBQUFBTUJuQ0o4QUFBQUFBQUFBQUFEZ000UlBBQUFBQUFBQUFBQUE4Qm5DSndBQUFBQUFBQUFBQVBnTTRSTUFBQUFBQUFBQUFBQjhodkFKQUFBQUFBQUFBQUFBUG1QMmR3RUEwRnpkZTNGYmY1Y0ExSW05d2lPejBTQ3p5ZUR2VW9CYTZSUWY3TzhTQUFBQUFBQkFOUWlmQUtDZTNEcTZ0YjlMQU9xazkzMXJkZDE1cmZUd1plMzhYUW9BQUFBQUFBQ2FNTGJkQXdBQUFBQUFBQUFBZ004UVBnRUFBQUFBQUFBQUFNQm5DSjhBQUFBQUFBQUFBQURnTTRSUEFBQUFBQUFBQUFBQThCbkNKd0FBQUFBQUFBQUFBUGdNNFJNQUFBQUFBQUFBQUFCOGh2QUpBQUFBQUFBQUFBQUFQa1A0QkFBQUFBQUFBQUFBQUo4aGZBSUFBQUFBQUFBQUFJRFBFRDRCQUFBQUFBQUFBQURBWndpZkFBQUFBQUFBQUFBQTRET0VUd0FBQUFBQUFBQUFBUEFad2ljQUFBQUFBQUFBQUFENERPRVRBQUFBQUFBQUFBQUFmSWJ3Q1FBQUFBQUFBQUFBQUQ1RCtBUUFBQUFBQUFBQUFBQ2ZJWHdDQUFBQUFBQUFBQUNBenhBK0FRQUFBQUFBQUFBQXdHY0lud0FBQUFBQUFBQUFBT0F6aEU4QUFBQUFBQUFBQUFEd0djSW5BQUFBQUFBQUFBQUErQXpoRXdBQUFBQUFBQUFBQUh5RzhBa0FBQUFBQUFBQUFBQStRL2dFQUFBQUFBQUFBQUFBbnlGOEFnQUFBQUFBQUFBQWdNOFFQZ0VBQUFBQUFBQUFBTUJuQ0o4QUFBQUFBQUFBQUFEZ000UlBBQUFBQUFBQUFBQUE4Qm5DSndBQUFBQUFBQUFBQVBnTTRSTUFBQUFBQUFBQUFBQjhodkFKQUFBQUFBQUFBQUFBUGtQNEJBQUFBQUFBQUFBQUFKOGhmQUlBQUFBQUFBQUFBSURQRUQ0QkFBQUFBQUFBQUFEQVp3aWZBQUFBQUFBQUFBQUE0RE9FVHdBQUFBQUFBQUFBQUtTT0ozMEFBQ0FBU1VSQlZQQVp3aWNBQUFBQUFBQUFBQUQ0RE9FVEFBQUFBQUFBQUFBQWZJYndDUUFBQUFBQUFBQUFBRDVEK0FRQUFBQUFBQUFBQUFDZklYd0NBQUFBQUFBQUFBQ0F6eEErQVFBQUFBQUFBQUFBd0djSW53QUFBQUFBQUFBQUFPQXpoRThBQUFBQUFBQUFBQUR3R2NJbkFBQUFBQUFBQUFBQStBemhFd0FBQUFBQUFBQUFBSHlHOEFrQUFBQUFBQUFBQUFBK1EvZ0VBQUFBQUFBQUFBQUFueUY4QWdBQUFBQUFBQUFBZ004UVBnRUFBQUFBQUFBQUFNQm5DSjhBQUFBQUFBQUFBQURnTTRSUEFBQUFBQUFBQUFBQThCbkNKd0FBQUFBQUFBQUFBUGdNNFJNQUFBQUFBQUFBQUFCOGh2QUpBQUFBQUFBQUFBQUFQa1A0QkFBQUFBQUFBQUFBQUo4aGZBSUFBQUFBQUFBQUFJRFBFRDRCQUFBQUFBQUFBQURBWndpZkFBQUFBQUFBQUFBQTRET0VUd0FBQUFBQUFBQUFBUEFad2ljQUFBQUFBQUFBQUFENERPRVRBQUFBQUFBQUFBQUFmSWJ3Q1FDQVpxalU3dGJtdmFYMU9vZWp3cU9VREp2Y0htKzl6Z01BQUFBQUFJQ21oZkFKQUlCbXh1WHg2cm5aKy9Udyt5bmFrVlplYi9OOHNqeGI5MHpicFQxWjlucWJBd0FBQUFBQUFFMFA0Uk1BQU0yTTJXalFuNGEybE0zcDBic0wwMVJzYy90OGptWGJDalg5KzNUMTdSQ3ExbEVXbjQ4UEFBQUFBQUNBcG92d0NRQ0FabWhBeHpBOWUzMUgvYkM1UUQ5c0t2RHAySmtGVHYzcmkvMnltQXk2LzVJRWhRU1pmRG8rQUFBQUFBQUFtamJDSndBQW1xa0JpYUc2ZkdoTFRabTdUeHQybC9oa1RFZUZSLzlkbktIaWNyZWV2UzVSY1pHc2VnSUFBQUFBQU1EaENKOEFBR2ltcklFbTNUUXlYbkdSZ1hwMjluN3R6YktkOUpnL2JNN1hndlc1K3ZQNXJUV2thNFFQcWdRQUFBQUFBRUJ6US9nRUFFQXoxaTQyVUgrYmtLRGRtVGJOK0RGRGpnclBDWTkxSU1ldXh6L2VxLzZKNGJwMFNBc2ZWZ2tBQUFBQUFJRG1oUEFKQUlCbTdwenVrWHBnWEZ2OTlHdUJGcDNnK1UvWlJSWDYrd2U3MVNMY29sdEh4eXVVYzU0QUFBQUFBQUJRQThJbkFBQk9BUk9IdHRTWlhTUDBuMjlTbFhTZ3JFNTluUzZQWnEvSTF0NHN1KzRmbDZEZTdVUHJxVW9BQUFBQUFBQTBCNFJQQUFDY0FrS0NUTHAxZEd0NVBGNDkrZWxlRmR2Y3RlNjdJN1ZjczVaazZxcHo0alNtYjNROVZna0FBQUFBQUlEbWdQQUpBSUJUUk5jMlZ0MDRvcFgyWjlzMWZWRzZLbHplNC9iSkxIRG80ZmQzSzdGVnNLNCtOMDRHUXdNVUNnQUFBQUFBZ0NhTjhBa0FnRlBJbGVmRTZicGhyVFIzVFk3VzdDbytadHZpY3BlZS9teS9TdTF1M1RPMnJXTER6QTFVSlFBQUFBQUFBSm95d2ljQUFFNGhacU5CMXc5cnBhNnRyZnJIck4wcXRWZS8vWjdYSzMyOVBrK3JkeGJwNXBIeEd0dzVYQWFXUFFFQUFBQUFBS0FXQ0o4QUFEakZSSWFZOVpmelc4dG9NT2h2LzAxUlNUWG5QMjFQTGROL2Y4elFpTjVSdW1WVVBOdnRBUUFBQUFBQW9OWUlud0FBT0FYMTd4aW1xOCtKMC9xVVluMjZQRXNWN2ovT2Y4b3ZkZW5aMmZzVUhtelNmWmNrK0xGS0FBQUFBQUFBTkVXRVR3QUFuSUpNUm9NbWpZclg2TDdSZW45eGhuYWwyeVJKVHBkSFQzNnlSM3V5N0xwdFRHdTFqUW4wYzZVQUFBQUFBQUJvYWpnNUhBQ0FVNVRaWk5CRGw3YlRua3k3cHN6WkwwbGF2cjFJcFRhWExoa1Vvd3Y2eC9pNVFnQUFBQUFBQURSRnJId0NBT0FVRmhrU29EK1BhYTNkbWVXU3BQUjhoL29uaHVtdWk5cjZ1VElBQUFBQUFBQTBWWVJQQUFDY3dvd0c2ZHlla1JyVE4xcVNGQjlsMFQyWEpDakN5dUpvQUFBQUFBQUFuQmpDSndBQVRuRTJwMXZCZ1NhRlc4MjZlRkNNT3NZRitic2tBQUFBQUFBQU5HRjhyQmtBZ0ZPUTF5dnR5N0ZwYVZLaFpxL0kxb0VjaHlUcGsyVTVLaTUzNjhMK01lcmVMa1JCQVh4T0JRQUFBQUFBQUhWRCtBUUF3Q21teE9iU25OVzUrbVpEbm5hbGxjbnRPZnplcDh1enRTU3BVRU83UmVqYTgrTFVPZDdxdjJJQkFBQUFBQURRNUJBK0FRQndDbG0xczBoUGZMeFhHUVhPWTdiTExIQnF6cW9jelYrVHE5dkd0TlpOSStObHRiQUtDZ0FBQUFBQUFNZEgrQVFBUUROWDVuQnIwNTRTZmI0cVYwdVRDbFRoOHRhNnI5dmoxVHNMMC9YOTVueGRkMTZjaG5hTFZIeVVwUjZyQlFBQUFBQUFRRk5IK0FRQVFEUGw4bmkxWm1leFppM0oxSmI5WlNvdWQ1M1FPRjZ2VjdzemJIcnU4d1BxSEoralN3YkhhdnpnV0lVR21YeGNNUUFBQUFBQUFKb0R3aWNBQUpxaHZCS1hucHU5Vno5c0taQzM5Z3VkanFuQzVkRzJnMlhhZHJCTW55ek4wdU5YZDlEQWptRytHUndBQUFBQUFBRE5CdUVUQUFETmhNZnJWWEs2VGQ5dXlOTm5LN05WYW5QWDIxejdjK3k2OVkzdEd0NHJTbGVlM1ZLOTI0ZktHc2hLS0FBQUFBQUFBQkErQVFEUUxPelBzV3ZPcW13dFRTclMzaXliUEQ1YTdYUXNIcS8wNDVZQ2JkcGJxa0dkdzNUNTBKYnFseGltQUpPaC9pY0hBQUFBQUFCQW8wWDRCQUJBRXpkN1piYW1MMHBYVnFHelFVS25JK1dWVk9pN1gvSzFOS2xRbzNwSDZaSExPeWcweU5qd2hRQUFBQUFBQUtCUklId0NBS0FKeWkydTBKcGR4ZnB3U2FhU0RwVDV1eHhKVXJuRG95L1g1ZW1ucllXNjlyeFdHdE0zU3AzaXJmNHVDd0FBQUFBQUFBMk04QWtBZ0Nha3pPSFdENXNLOVBYNlhQMjZ2MVRsRG8rL1N6cEtpYzJ0NmQrbjY4Y3QrUnJXSTFLWERXMnBOdEdCL2k0TEFBQUFBQUFBRFlUd0NRQ0FKbUo3YXJtZSszeWZ0aDBzVTRYTEQvdnIxWUhMN1ZWeXVrMjdNMno2YWwyZTdoN2JWdU1HeC9xN0xBQUFBQUFBQURRQXdpY0FBQm94ZTRWSHV6TnMrbnhWdHI1YW15dG5JdytkanVUeFNwbUZUajA2YTQ5bXI4aldwRkd0MWJkRGlLSkNBL3hkR2dBQUFBQUFBT29KNFJNQUFJM1U5dFF5elYyZHE1OS9MVkJtb2RQZjVaeTB6ZnRLTmZuRDNSclVLVXpqQjhmcTdPNlJDZ3d3K3Jzc0FBQUFBQUFBK0JqaEV3QUFqVXhobVV2dkxrclgzTlU1S25lNDVXMWFpNTJPcWN6dTFzOWJDN1ZpUjVGNnRndlJRNWVlcHA3dFF2eGRGZ0FBQUFBQUFIeUk4QWtBZ0ViQTQ1V3lDaHhhc2FOWS8vMHhRd2R6N2Y0dXFWNVZ1THphdUtkVWsvNjlYUmNQaXRVVlo3ZFVoNWJCQ2d3dytMczBBS2hYWldWbHlzdkxrODFtazkxdVYwVkZoYjlMd2lFQ0FnSVVGQlFrcTlXcXFLZ29oWWFHK3Jza0FBQUFvRWtpZkFJQXdNOUs3VzU5dVRaWEN6Zm1hZU9lVW4rWDA2RHNGUjU5dmpKYkszY1VhbFNmYUYwNnBJVTZ0Z3IyZDFrQTRGTjc5KzdWRHovOG9LMWJ0eW85UFYwT2gwTnV0MXN1bDB2ZTVyUzh0Umt3R0F3eW04MHltODJ5V0N5S2o0OVg3OTY5Tld6WU1IWHExTW5mNVFFQUFBQk5CdUVUQUFCKzRuSjc5ZVBtQXIzeHpVRmxGVHJscURoMUgwQ201enYxMGRJc2ZiMCtUNWNOYWFHYlJzWXJQTmprNzdJQTRJUjRQQjRWRmhacStmTGwrdUtMTDdSMTY5YkQ3bHNzRnBsTUpobU5SaGtNclBoc1RMeGVyendlajl4dXQ1eE9wL2JzMmFNVksxWm82dFNwNnRhdG02NisrbXFkZWVhWmlvcUtrdEhJdVlVQUFBQkFUUWlmQUFCb1lFWGxMdTFNSzlmN2l6TzFja2VoM0I1L1Y5UTR1TnhlNVpkVWFQcjM2ZnB4UzRGdUd0RktRN3FHS3k0eVVFYWV6UUpvSXRMVDA3Vnc0VUo5Ly8zMzJybHpweVRKWkRLcFM1Y3U2dENoZzA0NzdUVEZ4Y1hKYXJYS2FyVXFJQ0RBenhYalVCVVZGYkxaYkNvcksxTjJkcmIyNzkrdlBYdjJLRGs1V1R0MjdOQVRUenloTGwyNmFPVElrUm83ZHF4YXRXcmw3NUlCQUFDQVJvbndDUUNBQnJRa3FWQUwxdWRweWRZQzJaeWtUalhabTJYVEU1L3NWZDhPb1RxL1g0ekdEMjZoa0NBK1lRNmdjVHR3NElDZWVPSUpKU1VseWVWeUtUSXlVaGRkZEpGR2p4NnR1TGc0aFlhR0tpUWt4Tjlsb2c3S3lzcFVVbEtpbkp3Yy9mVFRUNW8vZjc1Mjd0eXBsSlFVclY2OVdnODk5SkM2ZE9uaTd6SUJBQUNBUnNmZ1paTnhOS0QxNjlkcjh1VEpjamdjZXZubGx6Vnc0RUIvbHdRQURTSTF6NkZYNWgvUW1sMGxLclc3eE4rK3RSY1lZRkRiNkVEZGMwbUN6dXNSS1JQTG9BQTBNaFVWRlZxNWNxVWVmZlJSbFplWEt5Z29TTDE3OTlaRER6MmtEaDA2c0xWZU0rSDFlclZueng2OS92cnIrdVdYWDJTejJXUzFXdlg0NDQvcnZQUE9ZeFViQUFBQWNBakNKelFvd2ljQXB4S1gyNnZNUXFjV3JNL1ZyQ1ZaS2l4eitidWtKczFzTXVpYzdwRzZkWFJyZFl3UGx0WENTaWdBL2xkUlVhRlpzMlpweG93Wktpc3JVN2R1M1hUZGRkZHA5T2pSTXB2WmFLSTVjcmxjV3J4NHNXYk9uS2xkdTNZcE1EQlFmL25MWHpSeDRrUUZCd2Y3dXp3QUFBQ2dVZUJmUXdBQTFJUFVQSWNXYnN6VE4rdnpsWnhSN3U5eW1nV1gyNnVmZmkzUStwUmlYZEEvUmhjUGpGSHY5cUdzaEFMZ1Y0Y0dUMTI2ZE5Fenp6eWpkdTNheVdReSticzAxQk96MmF4Um8wYXBZOGVPZXVxcHA3UjE2MVpObno1ZEZSVVZ1dVdXVy94ZEhnQUFBTkFvRUQ0QkFPQkRqZ3FQUGxxYXBVK1daU21ucUVJdUR3dU1mYTNFNXRibks3TzFjR08renVvV3Juc3ZTVkNiNkVCL2x3WGdGT04ydXpWdjNqeTk4Y1liTWhxTjZ0dTNyMTU3N1RXRmhZWDV1elEwQUtQUnFJNGRPK3JOTjkvVUF3ODhvTTJiTit1dHQ5NVNXRmlZL3ZTblB4RStBZ0FBNEpUSGZqVUFBUGhBWVpsTGk3Y1U2S3FYa3ZUcWx3ZVZVZUFrZUtwSFhxOVVYTzdTdDcva2ErS1VyWHJ2aDNTbDVUdms1bnNPb0FGNHZWNHRYYnBVVTZkT2xkRm8xTWlSSS9YQ0N5OFFQSjJDd3NMQzlOSkxMMm5reUpFeW1VeDY2NjIzdEh6NWNuazhIbitYQmdBQUFQZ1ZLNThBQURnSnhUYTNsbThyMUxjYjhyUm1WNUhzRllRZkRhM1U1dGEvdjA3VndsL3lkY0dBR0kzdUU2V0UyQ0IvbHdXZ0dTc3NMTlE3Nzd5amdvSUNKU1FrNko1NzdsRk1USXkveTRLZlJFUkU2SjU3N3RHK2ZmdVVuSnlzdDk5K1cxMjZkRkY4Zkx5L1N3TUFBQUQ4aHBWUEFBQ2NvQjFwNWZyYmY1UDF6R2Y3dENTcGtPREpqN3pleXZmalA5K2s2cjdweVpxOUlsdHVQblFPb0I2NDNXNU5telpOeWNuSkNna0owWlFwVTlTbVRSc1pESncvZDZveUdBeHEwNmFObm5ubUdZV0dobXJYcmwyYU9YT20zRzYzdjBzREFBQUEvSWJ3Q1FDQU9uQzZ2TnAyc0V5UGZiUlhWMHpacXRVN2kxVnE1K0ZTWTFIaDhpb2x3NmFuUDl1bksxNzhWVDlzemxkUk9lOFBBTi81NXB0dk5IdjJiRmtzRmozNDRJUHEwcVdMdjB0Q0k5R3BVeWM5L1BERHNsZ3NtanQzcnViUG4rL3ZrZ0FBQUFDL0lYd0NBS0FXM0I1cDYvNVN2ZnJsQWQzL1hyTG1yOG54ZDBrNGp1UjBtLzd4NFI0OS92RWVMZDVTb0hJSFM2RUFuSnpVMUZSOThNRUg4bmc4T3V1c3N6UjgrSEIvbDRSR1p0aXdZUm82ZEtqY2JyZisrOS8vS2kwdHpkOGxBUUFBQUg3Qm1VOEFBQnhIWWJsTDczMmZvZTgzNVN1andDRXZ1K3MxR1RhblI0dTNGR2g5U3JINkpZYnBqZ3ZhcW51QzFkOWxBV2lDdkY2dmxpeFpvb01IRHlva0pFU1hYbnFwd3NQRC9WMFdHcG1Ra0JCTm1EQkJHemR1VkhaMnRwWXNXYUtycjc2YWJSa0JBQUJ3eW1IbEV3QUExZkI2cFlKU2x6NWJrYTF4VDIvVys0c3psSjVQOE5SVUZaZTd0V1Jyb2E1NWVhdWUvbXlmRHVUYTVmTHdaZ0tvdmVMaVlpMWN1RkJPcDFPOWV2WFN3SUVEL1YwU0dxbEJnd2FwZi8vK2NybGNXclJva1hKemMvMWRFZ0FBQU5EZ0NKOEFBRGhDYmttRjVxN08wWDNUZCtsZlgreFhJV2NHTlJzZXJ6UjdSYmJ1bUxwVDB4YW1hMWQ2dVR5RVVBQnFZYzJhTmRxeFk0Y2s2YzQ3NzFSZ1lLQ2ZLMEpqRlJRVXBGdHV1VVdTdEgzN2RxMVpzOGJQRlFFQUFBQU5qL0FKQUlEZlZMaTgrbXB0cnU2WXVsUFBmN0ZmbS9hV3l1VW1tR2lPRHVZNjlNN0NOTjN6N2k2OVBQK2c4a3BjL2k0SlFDUG1kRG8xZGVwVXVkMXVqUm8xU2oxNjlQQjNTV2prVGovOWRJMFpNMFl1bDB2VHBrMlQwK24wZDBrQUFBQkFneUo4QWdDYzhteE9qNUlPbHVuT2QzYnBIN1AyYUdkYXVSd1ZIbitYMWVUOTVmeldlbVZTNTZxdmd5MUczVDh1UWEvZjJsbG1rLy9QdnZCNHBZd0Nwejc0T1ZNVFgvaFY4OWZrcXJqY3pkYUtBSTd5NVpkZjZzQ0JBNHFLaXRMMTExL3Y3M0xRUkV5YU5FbVJrWkZLVFUzVjNMbHovVjBPQUFBQTBLRE0vaTRBQUFCL2NYbThXcDlTckc4MzVHdlJwbnlWMlU5K2U3M0hybWl2aVdlMXJGT2ZuMzR0MEgzVGt3Ky85a3cveFlRRm5GUXRlU1VWR3Y3b1JrblMxZWZFNmUrWG4zYkNZOTAzUFZrLy9WcFE5ZlhMa3pwcGRKL29HdHVmOWNnR2xUczhHdFVuU2ozYWhhaHp2RlYzalcwanE4V2tOeFljbEx1YXJlN0dEb3pSODlkM3JITnRIeS9MMHZPZjc2OXp2MFBsbGxUb2lVLzI2c3UxT1JwL1JndWQyeU5Ta1NIOG1nUkFjcmxjK3U2Nzd5UkpRNGNPVldKaW9wOHJRbE9Sa0pDZ0lVT0c2THZ2dnRPOGVmTjArZVdYeTJReStic3NBQUFBb0VId1ZBVUFjRXBLeWJCcDJxSjBiZGhkckp6aUNwK3VkaWtxZCttcFQvYlZxdTBENHhPcXZmN0svSU1Lc3RTOFFQbXlJUzNVbzEySVpxL0kxbzYwOG1yYjJKMS9yTjc2WlUrSlhwNS9vRlkxSGFwenZGWGpCc2NlZGYzOUh6UDEzWWI4dzY0Rm1BMTY3TXIyS3JXNVpYTjY5UG5LYk4wME1sN3YzOWRkQVNhRDVxL04wV3RmSFZSK0RWdmNyVTh1T1NxRU81N0hyK3BRcC9iSDR2WjR0UzZsUk50VHkvWDVxaHpkUEtLVnpqbzlRaFl6QzhXQlUxbEtTb295TWpKa3NWZzBlUEJnV2ExV2Y1ZUVKaUlvS0Vobm5IR0dsaXhab3B5Y0hPM2V2VnRkdW5UeGQxa0FBQUJBZ3lCOEFnQ2NNaXJjWGhXV3VmVFJra3g5c2l4TFpZNzYyVnJQWHVIUjk1dnpqOTlRMGkyajQ2dTkvdFc2M0dxdkIxdU1ldUxxRHVyUkxrVHZMODZzZGFDME02MWNPMnNJcVk1bGRKL29vOElubzBHNllYZ3J6VnVibytYYmlxcXUzMzlKZ3F3V2t4NTRMMWt1dDFjdXQxZXZ6RHVnNTIvb3FPbmZwK3ZmWDZkS2tycTFzZXJXMGEwbFNmLzN2eFM1ZjNzYnNvcWN5dnExYm1kaS9OOWxKNzZhcXlhbGRyYzI3U25SQTN0TGRkYnBFYnIza3JacUZ4dWs0R09FZ1FDYXJ5MWJ0cWlnb0VDaG9hSHExYXVYdjh0QkU5T3paMDlGUmtZcU56ZFhXN1pzSVh3Q0FBREFLWVB3Q1FCd1NqaVFZOWUzditScC9wcGNwZVk1Nm5XdXVBaUx0cncrdU5idHN3cHJGN2ljZlhxRS9uRkZlN1dLREZSUnVVc1hENHJSTDN1S2RlZUZiVFhqaHd4OXR6R3ZRYzRyOG5nclYzZTlPcW1MN254bmg5WWxsK2ljN3BHNmNVUzhQdmc1VTZ0M0ZsZTFYYkFoVDJmM2lOUU53K09WWCtMUzhGNVJHdFE1VExzemJYcDNZYnFPM0gxdjQ2dURaV29rR1kvSDY5V3liWVZhbjFLc0N3ZkU2T0tCc2VyZk1VeEcveDlYQmFDQk9Cd09KU1VseWVGd3FGdTNibXJidHEyL1MwSVQwNjVkT3lVa0pDZ2pJME5KU1VrYU8zYXNnb09EL1YwV0FBQUFVTzhJbndBQXpWcGh1VXRmck1qUjErdHpkU0RYcmdwWC9hY3poV1V1UFRwclQ2M2FQbnpwOFZmdUpNUUc2cjZMRXpTbVg3UiszVittKzZjbjY4NEwyNmgzKzFDdFN5N1JrbmFGZXZ5cURycmp3alo2Ny90MGZiMCt0Mm8xMGFGZXY3V3p6dTBScFg0UHJLM3JTenJLczdQM0tUYmNvamR1NjZyWHZ6cW8rOGNsYU5HbXZHcFhZajMrMFI2MURMZm80Y3ZhS2JQQWVkVDVVWWU2OWMzdE10UWgzSG54cGs0bitoSnF6ZWIwYU83cUhLM1lYcVJCbmNOMDg4aDRkWTVuMnkzZ1ZGQldWcWF0VzdkS2trYVBIczE1UGFnenM5bXNZY09HYWUzYXRkcTZkYXNLQ2dvSW53QUFBSEJLSUh3Q0FEUkxUcGRINjVKTDlNS2MvZHFYYlcvUXVSMHVqNVltRmRhcTdaMFh0cW54WHB2b1FOMHlPbDRUaHJTUXplSFJjNS92MDZmTHN3OWIzVlJxZCt2TkJhbjZhRW1tYmh2VFJvOWQyVUczakc2dDE3ODZxQiszVkIvdytJTEhLejM4ZnJKbVA5eExmNy84TlAyNHBVRGJENVpyODJ2VnIvaTY3dFZ0dW5GRUs0M3VFNjJ4QTJLMEk3Vk1HUVdWSzc0U1lnUFY2UVRESElQQm9MWXhnUnJlSzBxU2xKN3ZPS0h0QlkvSDY2MWNvZmIxdWp3dCtiVlExdzl2cFJ0SHhDc293Rmluc0F4QTA1S1NrcUtEQncvS1lyRm8xS2hSL2k0SFRkU0lFU1AwK3V1dmEvLysvZHE5ZTdkYXQyN3Q3NUlBQUFDQWVrZjRCQUJvVnNyc2JtM1lYYUl2MStacThhOEZjcmtiWUIrNkk1enN0bnZkRTBMMDV6R3ROYXhYbEVwdGJyMzNmWVptTGNsVVlabXJ4akh5UzExNlljNStmYlEwVS85MzJXbDY5WmJPMnJTM1ZGUG03TmZXQTJWVjdVeEcxYW0ybWxnRGpYcm8wdFBVdm1XUXBpMUsxeHNMVXRVbU9sQjdzbXpWdHQrZFlkT0RNMUowK2RBV3V2K1NkdnJtbjMyMWFXK0o1cTNPVVdTb1dRK09iM2ZDdFp6VFBWTG5kSStVSk0xWmxhTW5QdGw3d21QVlJvbmRyYmUrVGRQQ2pmbTY1dHc0bmRNOVVxMmlMUFU2SndEL1dMWnNtZHh1dHdZTkdxVFkyTmpqZHdDcUVSc2Jxd0VEQm1qbHlwVmF0V3FWempubkhIK1hCQUFBQU5RN3dpY0FRTFBnOVVvcmRoVHBnNTh5bFhTd1RNWGxOUWMxOWEybzNLV25QdGxYcTdZUGpFODQ2bHE1dzYyRUZrRjZlZjRCZmI0aVd6Wm5OWHZvMWVCZ3JrTjN2N3RMNS9hSTFOMWoyeDYxS3NmamxWNzk4dWl0OFdyU09kNnFjWU1QZitBNmRrQ00vanFoblV3R2cvNDZJMWsvYks1Y1laV1c3MUJhL3JIUDAvcDhaWTYrK3lWZlY1OGJwMHNHeFNvdDM2SDVhM1AxL3VMTVkvYWJjbU1uOVc0ZnFndWUzRlRyMnV2YjdreWJwc3c5b0UrV1pXbjhHUzMwcDZFdEZCTElsbHhBYzVLVWxDUkpHalJva0F3c2M4UUpNaGdNR2pKa2lGYXVYS2tkTzNiNHV4d0FBQUNnUVJBK0FRQ2FOTGRIeWlodzZNMEZxZnB1WTc0OG5vWmY2WFNvcHovYnA2Yy9xMTN3SkVuZmI4NC82dHErYkx2KzlLOWZqOW52dnVuSng3eS9OS213MnEzL3ZGNGROK2c1MUdrdGdwU2NVYTZVakQrMnNtc1JZZEhLN1VWNmNkNStYWHRlSzcweXFYT3R4NU9reDJidDBiUkY2WnEyS1AydzYzZGMyRVp0WXdMMTNPejlLbk80aityWE90cWlRWjNEdEM2NXBPcGFnTW1nLy92VGFhcHdlZlhDblAxMXFzTVhIQlVlSldmWTlOSzhBL3BxWGE3K05xR2QraVdHeW1JMk5uZ3RBSHpMNVhJcEpTVkZrdFMxYTFjL1Y0T21ya2VQSHBLazNidDN5K1B4eUdqazd3a0FBQUEwYjRSUEFJQW15ZVh4YWxkcXVYN1lVcUI1YTNLVVcxemh0MXBHOTRuV3k1TTYrV1NzbCtjZnFBcUh3b0pOV3ZHdkFTYzB6cm1UZnpubU5uMjF0VC9IZmxSWU5YTnh4bUZmZTd6U3ZkTjJIWGVzeUJDem5yazJzY2I3SzdZWDZhV2JPbW4yLy9YVTN6L1lyYzE3UzQ5cTgrRDRkcnJ1bFcxeWVieHExeUpRVTI3c3JOUGJXalZ6Y1laTXhzb3cwbDkycHBYcnJuZDJhbGl2S0kwYkhLc0JIY01WRXNqRFJhQ3BTa3RMVTFsWm1VSkNRdFN5WlV0L2w0TW1ybFdyVnJKYXJTb3RMVlZxYXFyYXRUdng3V1lCQUFDQXBvRHdDUURRNU9RVVYyaldra3o5dUxsQUIzTHQ4dnAzc1pPMkhpalZZN1AySExQTkdWMGlkUEdnR0wzNjVVSGxsOVFjbEIxNlB0UHZsbThyMGs5YkMycFZ5L0NlVVRxN2UwU3QydnFLMTZ0cVYxa2RLUzdpMk9jaWJkbFhxaXRlM0tybnIrK29tZmQyMXd0ejl1bVRaZGxWOTExdXI3b25oT2l2RXhLME44dXV2MDFvcHhLYlc3ZFAzYWxWTzR0TytuWDRndFBsMWFLTitWcTNxMWlEdTRUcjJ2TmFxVytIVUgrWEJlQUVKQ2RYcmpDTmk0dFRjSEN3bjZ1cFh5a3BLWHIwMFVmMXlDT1BxRy9mdnRXMitmVFRUelZseWhUTm16ZFBDUWxIYnhsYkczZmZmYmZLeThzMVk4YU1reW0zU2JKWUxHclpzcVgyN2R1bjdkdTNFejRCQUFDZzJTTjhBZ0EwR2NVMmwrYXZ5ZFViWHgrVXZjTFBpZE1oTWdxY21yODJ0K3JyRHgvb3JsVTdpL1NmYjlLcXJsa0RUYnA0VUl4KzJKeXZnN25IUGhmcFNOdFN5elI3UmZieEcwcUtpN1RVUy9qVXJZMVYvNWpZWG04c1NOWGE1R0tmai8rN3dqS1g3bmg3cHlhTmpOZXFIWWZQazFIZzFIZS81T20yTWEwbFNZczI1ZXVwVC9lcXVQem9MZnI4cmFETXBZVWI4N1Z3WTc0dTZCK2p1eTlxcXpZeEZwbU1uQmtETkJVN2QrNlVkR3FFVDdObXpkTCsvZnZWdG0xYmY1ZlNiRmtzRnJWcTFhb3FmRHIvL1BQOVhSSUFBQUJRcndpZkFBQ05YblpSaGRidUt0S25LN0sxZFgrWjNINCsxK2xZenUwUnFkN3RRL1h4MHF4cTd5OTRyRStOZlljL3VsRjV4MWdWNVUvdFdnU3BUNGRRSmNRR2F1MFJ4MDJaak5LVzF3ZjdkTDVQbDJmcm5CNFJ1dXVpdG5KVS9MR1gzaHNMVXRVeTBxTHhnMk1WWURMSTNBVENuTzkreWRNdnU0djFwek5iYWtUdktIVnNGU3l6cWZIWERaenFkdTJxM0U0MExpNU9RVUZCZnE2bS91VGs1T2piYjcvVnhJa1RGUnNiZThMalRKOCtYVk9uVHExVjJ3RURqcjJsN0lNUFBxaHJycm5taEd0cGpDd1dpK0xpNGlSSk8zYnM4SE0xQUFBQVFQMGpmQUlBTkZwZXI3UmdmYTdtcmNuVjVyMGxjcmdhYitna1ZaN1I5T2pFOXBLa3NZTml0WEpIa1FxT09IZnArYy8zMTNnK1ZYSDV5Wi9SZEN3ZWIyVlFaREViNUt6ajk3TFBiMXZIN1VvdnIzYmNyRUtuQ3N0Y2V1dWJWQjA1Y3FEWnFKZHU3cVFOdTBzMHNGTllqWE8waVE3VU9UMGlkRzZQS0ozUkpWd0JKb1B5U2lvMFoxV09FbUwvZVBENzJLdzkycDFoMDMyWEpPanJ4OEwxd2MrWituUjVsdkpMNnZmN2R6S3lpeW8wOWJzMExkeVVyOUY5b25YdGVYR0tET0hYc0thaTlOTlA1TnE3UjVHUFRKWWtlZTEybFg3NnNWeHBhWXA2K0JISnpIdlpHRlJVVkdqYnRtM3EzTG16ckZiclNZM2w5WHFWblYyNTRyUkZpeGJOT255YU9YT21UQ2FUYnI3NTVxcHJFeWRPMUo0OTFXOG5PMkhDaEtPdWpSOC9YbGRmZmZWeHo4YjY4TU1QNVhRNk5XblNwR08yNjltelp5MHFiMW9DQWdLcXZqL3A2ZWwrcmdZQUFBQ29mL3hMR1FEUUtPMU1LOWZrRDNZck9jUG03MUpxSlN6WXBLbTNkMVZNZUlEZSt6NUQxdzZMMDRKLzl0SFg2L0swZkh1aG9zTUNKRW5MdHhkV3UrMmUwU0JaekVZRm1BMHFkM2dPdTllbHRWWGpCOWZ1MCtoZFd0Zjh3RFdyMENsSnVuRkV2TjVmbkZHckFNcHNOS2hQaDFDTkd4eXJNb2RiMnc4ZUhqNU4vVFpOVTc5TjA0UXpXdWl4Szl0ci9Ca3Q5SThQZDh2bXJId040Y0Vtdlg1YkZ6bGNIczFla2ExSmIydy9hbzd4ZzJOMTg2aDRKY1pWYm10MU1OZWhqNVprNmNjdCtkcThyMVJlci9UT25WM2xPZVJ3cjVtTE03UnNXNkVlSE45T2QxelFScmVOYnEzVnU0cjF5YktzV3AwLzVTOTdNbTE2SnpOTkgveWNvVWV2YUs4TCtzYzBpZFZialVuNWdxOVZQTzJkRSs0ZjljZy9GRGhrU05YWGhTODhML3VxbFRXMmo1djFpUXpCUWJLdlhxV0s1R1M1OXU5VHlVY2Z5bXUzSyt5Nkd5U2o4YWcrdHA5L1V0RnJyOVM1TnV1Rll4WCtsOXZyM0ErVjdIYTdwazJicGsyYk5tbjQ4T0VhTzNhc3VuYnRLcXZWS292RklvT2g5dit0MmUxMnVkMXVHWTFHaFlXRjFhbHZVNUtabWFrNWMrYm9oaHR1VUhSMHRMNzQ0Z3V0VzdkT1YxMTFsYnhISEtpNFljTUdMVnEwU0xmZmZydWlvcUlPdTllaFF3ZDE3dHhablR0M1B1WjhpeFl0VW5sNXVjYU5HK2Z6MTlMWUdRd0doWWFHeW13MnkrMTJ5MjYzTit0UUV3QUFBQ0I4QWdBMEd2WUtqM2FsbGV1cmRibjZaa09lU215Tjd5eWY2Z3pzRktZbnJrcFVBTnJuUkFBQUlBQkpSRUZVeThnQS9mVzlaQzFKS3RTQ0RibTY2NksydW54b0MxMTF6aCtmQlAvNjBUNXllN3hWcTRNTUJoMFdQc3hmazZ2SFBqcjgwK2JEZWtacVdNL0lrNjV6L3BvY1hYRjJTOTB6dHEzdUdWdjNjejFlbVg5UUxvOVhuZUtEMWFIbDRlZWZsTm5kK254bHRrYjBpdEtJWGxGVndWYWJtRUQxYVIrcS8vMlVLWmZicTlGOW9nL3JkeURYcmxLN1c0NEtyLzd6VGFvV2J5bFFjb1pOTjQySTF6MWpFN1EveDZiUUlMT0dkSW5RNmwxRmgvWGRuV25UbmUvc1ZQZUVFSTBmSEtzenUwVm9UMmJUQ0N2TEhSNzljOVplelYrVHEydk9hNlUrN1VNVkhjcXZaYlZoNmQ1ZFlUZmRmUHlHUjNEdDJ5L2J6NHVQdWg0eTRWSUZuWFB1RVkxZEtucnJQektFV0dVSURKUjF6QVVxbXp0SGVYOS9XSEs1RkR4eWxNS3V2MUhHeU9yL3V3enMyVXRSai95alR2VVZ2ZlZHbmRxalpqYWJUZDk4ODQwV0xseW9oSVFFblg3NjZlcldyWnY2OU9tanJsMjd5bUt4SEhjTXU5MHVqOGNqbzlGWXEvWk4xZXV2djY3UTBGRGRlT09OY3J2ZG1qbHpwa0pDUXZUY2M4L0plRVN3Nm5hN3RXalJJbDF3d1FWS1NFandVOFZOVzJCZ29JeEdvendlajV4T0orRVRBQUFBbWpXZWNnQUFHb1h0cWVYNjMwOFpXck9ydU1adDZScXJOakdCU2k5dzZJNjNkMVN0YWtySnNPbUI5NUlWYkRHcVI3c1F0WXl3S054cVVvREpLSU5CTWhrTk1raVNvVEtBK3QzUHZ4NjlhdWZkUmVsNmMwRnFyV3E1ZTJ4Yi9YbE02MnJ2YlU4dDE1VXZidFhZQWJGcUVSRWdZeTAreWUveGVsVlk2dEt5YllWYXZhdFlrblR4d0ZoTkdoVmZZNS9uYitoNDFMV2Eybis4TEV2UGY3NWZQMjRwT094NlRyRlRnenFIYVZEbk1MbmNYdTFNTDllcjh3OVdPOGEyZzJYYWRyRHN1Sytsc1hGNXZGcXpxMWliOTVhcWQvdFFYVDYwaFViM2paYUpsVkRIWk82UUtIT0h4RHIzczY5Y2NYVDQ1UEdvYlA0OEJZOGNwY0FCQTZzdWwveHZwcngybTZJZStidGtOc3RnTml2OHBra3FmUFZsaGZ4cG9zS3V2MEdTNU5xelc2V2Z6NVlrUlQ3NGtHUXlTWktNc2JFS3JPUFpPWWIzM3EzemEwTE52RjZ2WEM2WDl1M2JwMzM3OXVtSEgzNVFWRlNVV3JSb29URmp4dWo4ODg5WGl4WXRhdXp2Y0Rqa2NybGtOQm9WR0JqWWdKVTNuR1hMbG1uUm9rWDY1ei8vS2FQUnFBVUxGaWc5UFYxdnZ2bm1VY0ZUWGZ6NzMvL1crKysvZjh3Mk5aMzVkTmxsbCtrZi82aGJjTnVVV0N3V0dZMUdlYjFlT1J4SHI0SUdBQUFBbWhQQ0p3Q0FYNVhhM2ZyUE42bjZaRm0yM0o3R2ZhWlRUZWF2eWRYOE5iblYzck01UFZxZlVuSkM0NWJZM09wOTM5bzY5WGx6UWVveGc2cmtkSnRlUzY4K3hLbXQxNzQ2cU5lK09ya3hqbWZCK2p3dFdKOVhyM00wRnZZS2o5WW1GMnR0Y3JGNi9aeXBKNjlPVktmNDRPTjN4TWt6R21VTUMxUEJ2NTVUOUQrZmtLVlhiem5XcjFQWnZMa0tHVGRCbHI3OXFwb0duVGRNUVJ2V3EyeitYQmtqSXVSWXUwYk9yYi9LbkpDZzBJbFhIcDRpUzhxOGJMems4Unc1SXhxSXdXQ1ExK3V0MmpyTzZYUXFLeXRMMmRuWlNrcEswcXV2dnFyenpqdFBGMTEwa1hyMjdLbnc4SEFGQlFWVmhTNE9oME1lajBjR2c2SFpoaytyVnEyU0pEMzExRk42NnFtbkpFbG5ubm1temp6elRPM2N1VlBYWEhOTnRmMk9QUE1wSWlKQ2l4Y2ZIdXhhTEJZOS9mVFRSL1Y5NzczMzVIUTZkY2NkZHh4MTc5bG5uejJoMTlHVVdDd1dtVXdtdWQxdTJXeE5ZNlV1QUFBQWNLSUlud0FBZm5FdzE2RWxXd3MwYTJtVzB2TDQ5QzhnU2IvdUw5UDFyMjNUMklHeHVuaGdqTG9uV0dVeFZ6NE1YNzkrZlZXN1k1MC9jNkwzZkQyZXIrdm8xYXRYMVo4TG5udEdqdlhyMUdyTy9EcVBjNlR3djl3aGQzNitDcDU5V21IWDM2amk5MmNxYU9oWjFXN3RGM24zdmNyUHoxZkpqT2t5eHNaV25oOTF4aGxIQlUrU0ZQM1VzNUpxSDZnWHZqaWwydXZKeWNrMTltbm85K2JRZTBlZUIxUlR2NGFzbzd5OFhIYTcvYWgyaDdZNTlNOUxsaXpSa2lWTEZCRVJvZDY5ZTZ0YnQyN3ExNitmZXZUb1VSVStOZWR0OXk2Ly9ISjE3dHhaa1pHUm1qTm5qbGF2WHEzNzc3OWZraFFYRjZlLy8vM3Z0UnFudW5ET2FEUnExS2hSUjEyZk4yK2V5c3ZMcTczMzBrc3YxZkVWTkQxSGJyc0hBQUFBTkdlRVR3Q0FCbFZRV3FGdk51VHJtdzI1MnBGbVU0V0xsUUhBb2Nyc2JuMjJQRXZMa2dvMHNuZTBManV6aFRxMkN0Ymt5Wk9yYlg4aVFVNTk4WFV0aDQ3MzdiZmYrblRzS2tham9oNTZXRG4zMzZ2aWFlOG9jTWdRQlhUc1ZMbHlxUm94LzNwUlpmUG55cjVxcFd4TGY1WTVNVkdtbHBYbnVya3owdVhhZitERTZ2QjY1TTdPa21QMWFrbVNLYTZsekIwU3E4S0E2dmpxKzEyZjcxdERqdUh4ZUpTWGQvU0t5WnJDcXQvL1hGUlVwR1hMbG1uRmloV0tqSXhVYkd5c09uWHFKSWZEMGF5MzNVdE1URlJpWXFJMmI5NnMxYXRYNjhvcnIxU25UcDBrU1pHUmticjg4c3Y5WEdIejgvdktKN2JkQXdBQXdLbUE4QWtBMEdDV0pCWHErYy8zS3oyZkJ5N0E4V1FVT1BYaGtreDl2akpiMXc2TE82RUhsY2Q2Z0gva3lwWDY1dlA1UEI1bFRyamtwSWZ4Mm13cW5qRmQ3dlIwaFZ3K1VXSFhYaTkzZHJiTWJkdFcyOTdjcnAwaS8rL3ZLbC80blVyK04xUDIyMjlUUUxkdXNvNGNMVTlKc1VwbS92ZUVhM0ZzV0MvSGhzb1Zic0dqUml2aTdudFZWRlQwUjYzMS9KNGQrZlBTa0Q4anZwanI5M09lVHBUSDQ1SEQ0VkJaV1puc2RydThYcThNQm9QTTV1YjdUNmJDd2tKTm5qeFpVVkZSdXYzMjJ5VkpwYVdsQ2dvS2F0YXYyMThDQWdKa01CamtkcnRaK1FRQUFJQm1qMzlSQUFBYVRHeTRSZjA2aE1ycDhpaTN1TUxmNVFDTlhwREZxSjd0UXBRWUY2d1hYbnhSNXQvT282bnBRZjJ4dGtJNzNzUDkybzU1b3ZkcVUwdWRBZ2lEUVdFMzNsVHI1cTU5KzJYNytmQnphZXhMZmxieHpCbVN4NlBJaHg5UjBOQ3pKRW1tdURpWjR1S09PWjcxL0FzVWZQWTVLdnZtYTlsK1dpeFRYSnlDUjQ1U3lJVExqdG12OEtVcHF0aTVReTJtemFoVjNVOCsrV1NOOTN6MTN0UkdRLy84bk1oY05wdE5zMmZQVmtwS1NxM2EvLzR6R1JFUm9UNTkraWd4TVZIOSsvZFhuejU5dEcvZlBtM2R1bFZPcDFNVkZjM3o3eXU3M2E0SEgzeFFtWm1aZXVhWlo3UnYzejdObno5Zml4WXQwbzgvL3FqcnJydE8yN2R2UCs0NGt5Wk4wbDEzM1hYVTJBTUdES2l4ejdIdU5XY3VsMHRlcjFkR28xRUJBUUgrTGdjQUFBQ29WNFJQQUlBRzB5UEJxa2V2Yks5Zjk1ZHAvcHBjTGQ2U0w1dVRiZmVBNm5SUENORVZaN2ZVV2QwaUZCZHBrUlRyNzVJYUY0UGh1RUhQb2R6cGFUSzNQMDNtMDlyOWNTMC9YNEg5K2l2ODVsdFU5dlZYeXB6eXJ6cVZFSEhQZlFxZGVLVkNKMTU1MlBYU2p6K1NPeXRUNFgrK1hRYXI5ZWhhY25May9IV0xMTDE2LzNHeG9rTEYwNmRKQVdhRjMzSmIxVGxTSTBlT3JGTk5wN0tTa2hMOS9QUFBWZUZUZGFIVG9TSG8wS0ZETldyVUtQWHMyVk14TVRFS0N3dVR5V1NTZFBqWlBNMTFlN1NVbEJSdDJyUkpack5aSDMvOHNheFdxM3IwNktHbm5ucXFhdFZUaHc0ZGRNTU5OOVE0UmszaHFNVmkwZE5QUDMzWXRmZmZmMS9idG0yVFZIbUcyM1hYWFhmWS9XZWZmZlprWGs2VFlMZmI1WGE3WlRLWm11MTJqZ0FBQU1EdkNKOEFBQTBxSk5Da0lWM0MxVDh4VkpjUGJhRVg1eDdRdG9ObC9pNExhRFFpUXN6Njg1aldtbkJHQzRVR21kU0lqblJxMGt5dDJ4d1ZWb1ZjZWtSNFpUQW9hdktqeHgzTFUxS2lvbisvVnVQOXdINzlWZkRTQzhxOS8xNUYvdlZCQlhRNy9hZzJ4VE5uS1BhRmx5U3pXZTcwZEJXOE5FV3VQYnNyYS9SNHBOOUNFSnlZMzRPbjM4TW1zOWtzcTlXcXFLZ29YWFRSUlJvM2JweGEvblpXVjNWKzMzYXVPWWRQWGJwMDBhT1BQcXBldlhvcE1URlJ4dDlXVnBhVWxLaTB0RlNTRkJzYnEzSGp4dFU0Um5YaDA3MzMzcXQ3NzcyMzZtdVh5NldubjM1YVhxOVhQWHYybE0xbWs4MW1VMUpTa3U2Nzc3NnFkcU5HamZMVlMydTBIQTZIM0c2M0FnSUNGQlFVNU85eUFBQUFnSHBGK0FRQThBdUwyYWdCSGNQMC9uM2Q5Y1dxTE0xZG5hdTlXVFk1WFExN0RnM1FHQmdOVW54MG9NN3FGcUdiUjhXclRUU2ZpUGNMZzBHQmd3WWZ0NWtuTi9lWTl3TzZkVlBzSzYrcjhOV1hsRGY1RVlYZittZFpMeHI3UndPVFNhN2R1MVU4ODc4eXQyMnI0aG52eVJnU291akhuNUtsWDcrVGZSVlFaZWhrTXBtVWtKQ2c3dDI3cTN2Mzd1clpzNmU2ZHUwcWk4VnkzUDZIcm55eTIrME5VSEhEczFnc3V2VFNTMVZjWEt5bFM1ZHF3NFlOMnJCaGczYnQycVdwVTZmNlpJNzA5SFJObmp4WkJvTkJiNy85dGg1NTVCR1pUQ2E5OU5KTHV2WFdXNVdlbnE3SEhudE1vYUdoUHBtdnNYTTRIUEo0UERJYWpheDhBZ0FBUUxOSCtBUUE4S3ZBQUlPdU9iZVZSdmFPMXBLa1FuMitJbHM3MHNyOVhSYlFZQ0tzSnYxcGFFdGQyRDlHWFZwYldlbFV6MXg3ZHF2b25iY1ZkdTExc3ZUdVUyL3pHTVBERmYzUEoxVTI5d3NGOXUxNzJEMVRpeFlLT3ZzY2xYMCtXNUlVTlBRc1JkeHhsd3hoWWZWV3o2a2tLQ2hJWjU5OXRrYVBIcTN1M2JzcklpSkNJU0VoZFJyalZOaDI3N1BQUHRPY09YT1VuSndzcWZMc3EvNzkrMnY4K1BIcTFxM2JTWSsvWU1FQ1Raa3lSY09IRDlma3laTVBDLzJpbzZNMVk4WU1QZlRRUTdybW1tdjA1Sk5QcXQ4cEVMeit2dTJlMFdoazVSTUFBQUNhUGNJbkFFQ2pFQmRwMGNTaExYWHh3QmpOWFoycmR4ZW1xYURNNWUreTZtekw2NE8xWW51UjduaDdaNzNPcytiRmdkcVJXcTRiWDk5MlF2ME5CbW5jNEZoZE1paFdYZHRZWlEwMHFhRFVwYzM3U2pSN2ViWlc3eW8rcWsrd3hTaHJvRWw1SlJVblhIZmJtRUNsNWpYUEI3bDFGV0EyNnZ5KzBYcGdmSUtpUXN3eW0waWRHb0lySTBNVk8zZkluWmtwSFJrK2VUektuSENKN3lZekdHUzk0Q0k1TnF4WHlVZXpaRGprNFh2WXRkZkxrNWNuMjArTDVYVzU1UFc0eFUvQXlRa01ETlROTjkrc0YxNTRvYzVoVTNWam1jMW1lYjNlWmhzKzJlMTJXYTFXM1hubm5SbzZkS2k2ZGV0MjJKbFlrclJ1M1RvTkdEQ2dUdU9tcEtUb2hSZGUwUGJ0Mi9YWHYvNVZsMTFXL2Rsc2taR1JtanAxcWw1Ly9YWGRkdHR0R2pWcWxPNjk5MTYxYnQzNmhGOVRZL2Y3dG51RVR3QUFBRGdWRUQ0QkFCb05nMEd5QnBwMDdYbHhPcmRIcE41ZG1LYTF5Y1hLS25US3cyNThoOGtycVZEaENZWnpCb1AwNnFUT0d0RTdTbGxGVHEzYVVheGltMHN0SXl3NnQzdVVSdmVKMWx2ZnB1bnQ3OUtxK3ZRK0xWU3YzTkpaVDMyNlYwdVRDdXM4WjdqVnBIZnU2S2IxS1NWNmVmNkJFNnE3dVFnUE5xbHJXNnR1SGQxYWd6dUh5MlFrY3Fnem82SHlYQ1NuVTZyRkZtcUhjdTdZTGtreXQyOS85RTJEUWNhWVdCbkR3aFIyemJWSDNmWldWS2h3eXI5azZkRlR6cVN0TmM3aHpzcVNZOE42T2RhdGxlUFhMWkxMSldORXBJSkhqNjRNdlg2YksrSytCMlJ1ZDVwS1BuaGZPYmYvV1NIakpzaDY0VVV5UmtiVzZUV2hrc1ZpcVhOUVVwUEF3RUNaVEtabXZmTHBoaHR1MEEwMzNIRE1OaDA2ZERobW0wUFBmTnE3ZDYvZWZmZGRmZi85OXhvNGNLQSsvZlJUdFduVDVwamptODFtUGZqZ2d4b3hZb1NlZXVvcGpSOC9Yc09HRGRQTk45K3M3dDI3MSswRk5YSy9CNWtlajBjbWs2bFcyejhDQUFBQVRSbmhFd0NnVVVxSURkVFQxeVpxNDU0U2ZmZEx2cjVlbjZjU1c5TmJDVlZmTG5wcTh3bjNIZEVyU2lONlIrbTdYL0kxK1lQZGNoMlM3TFdNQ05ETSs3cnJqZ3ZhNlB0TitkcWRhWk1rZFcxclZjdUlnQk9lTXpvMFFEM2FoV2g5U3NrSmo5RWNuTlV0UW1NSHhXaDRyMmlGQkJyOVhVNlRaWXFKbFNTVnpwK3IwUEdYMWk2QWNybmszTGxEdHA4V3l4QVVySURFam9mZERyMzZHb1ZlZlkxc1AzeXZvcmZma3UzSEh4UngvMTlsK0cxMWdyZTBWUG5QUFMxWkxMS2VmNEdpbjMzK3FDbHNQLzZnc3JsZnlKV2FXbGxucTFZS0dYdXhnb2FjcVlDdTNTU2pVZm1QUHlZWi9uanZReTY5VElFREJxcGs1Z3lWZnZxeFNqLy9USUc5KzhoNjBkaGFuVCtGK21Fd0dOU3laVXZ0M0xsVFJVVkZjanFkcDJSWUVCc2JxM0hqeHRWNC85RHdxYkN3VUh2Mzd0V0xMNzZvNGNPSDEybWVmdjM2YWZiczJmcnl5eS8xMldlZktUZzQrSVJyYnF6Y2JyY0tDeXMvdk5HY1YzY0JBQUFBdnlOOEFnQTBhdjBTdzlROUlWUlhueGVuMTc0OHFLVkpoWEs1V1FaMU12cDJxRHhYNXRQbFdZY0ZUNUtVWFZTaGFZdlM5ZVRWSFhSZXo4aXE4QWtuNTdRV1FmcmJoSGJxbHhpcXNHQXo1enFkSk91SVVTci85aHVWenZwUXBiTStySFAvc0J0dmxzeG11ZmJ2bHlzdDliQjdCcXRWMXRIbnk3NTJ0UnhyVmtzQmxhR3JPeXRMRlR0M0ttVDhCTWxzbG4zbGlzUDZtZVBqWmJCYXBRQ0xRcSsrVmtGRGhzaDhXbnVWeloyamtsa2Z5dFM2dGJ6bDVYSnUzaVJMbjhQUGdESzNhNmVvZno2aGlwUmsyUmIvS01lbWpUSW5KTlQ1ZGNHM1RqLzlkQzFidGt3WkdSbXkyV3luWFBqMDRZZkgvMjlydzRZTlZYL3UxNitmUHZua2t4T2V6MncyNjdMTExxdHhtNzZtenVGd0tDTWpRNUxVbzBjUFAxY0RBQUFBMUQvQ0p3QkFveGNZWUZEN0ZrRjY2ZVpPV3I2dFNPOHZ6dEN1OUhLVjJOeitMcTFXMnJjTTB1MFh0TkdRTGhFS3Q1cVVWZVRVNHMwRmVtZGhtb3FQZUEzZEUwSjAxMFZ0MUtkOW1Fd21hZFdPWXIzMWJhcm1QTkpMN3kvT3JOcXk3c2d6bnlhTml0ZjlseVRvaWlsYmRlT0llSjNaTFVLaFFTYnR6YkpwNXVJTUxWaWZWelZIUVdubG1VMW5ueDZwRGJ1UFhvbTBZSDJ1Vm00dlV2NXY3YWJjMkVrWDlJK1dKTDM1NXk2U3BJRVBycFBUNVZWWXNFazNqNHpYc0o1UmFoTVRLSlBSb0l3Q2gzN2NYS0MzdmsyVjArWFZ4TE5hNnJFcktyYzR1M0ZFSzkwNG9wWHVlSHVuVm13dnF2R01yTHZIdHRXZng3VFdWUzhsYWR2Qk1rblNHVjNDZGV2bzF1cmMycXJRSUpQUzhoeGF0Q2xmMDc5UGs2T2k4UVdTQVdhRDJzVUdhZXpBV0UwOHE0VWlyUHphNVN2bWpoMFYrOHByc2kxZElrOSt2cndlejNIN0dJeEdHY1BERlRoZ1lGWDRZMXZ5azhybWZGRmpuOEpYWHo3cVdrM3RyUmVPVmZoZmJsZlFtVU1QdTI2TWlwSno2Ni9TMWw4bGswbm1EaDBVZnVOTjFZNFIwS216QWpwMVB1NXJRY1BvMHFYeS8zZS9oMDhSRVJGK3JxanBlL1BOTi8xZGd0ODRuYzZxOEttNWJTa0lBQUFBVkllbklBQ0FKc05zTkdoWXowZ042QmltcFVtRm1yOG1SMnVUUytUeE5yN2c0WGQ5T29UcTNUdTdTWkkrWDVtdDFEeUhlcmNQMVhYRFd1bThubEc2L3RVa0ZmeDJkbFAveERDOWMyYzMyWnh1ZmJ3c1UyVjJqOFlPak5IMHUwK3Y5WHp2M3RWTnk3Y1Y2YkZaZTJRMkdYVDdCVzMwL1BVZGxWZGNvZFc3aWlWSjg5Yms2TnBoclhUTDZIZ042UnF1N3pmbmEzMXlpYmFsbHNubDlzcnA4aXFyeUZrMTVvd2YwbFZZNXRKVjU3VFUyOStsYWV1Qk1sVzR2VEtiREpweHorbnFHQitzdWF0eTlNbXlMRmtEVFJyVEwxcVRSc1Vyd0d6UWkzTVBhTm0yUWozOTJUNDlka1Y3L2JpbFFITlg1MmpiZ2JJNmZSOTdueGFxLy95bHExSXliSnEyS0UxMnAwZG5kbzNRWDg1dnJmWXRnL1RRekpRNmpWZmZUbXNScEFsRFdtaDBueWkxYThHaDh2WEIzTDZEd3RwM09La3h3bTY0U1dFM1ZCOEUrVXJ3c09FS0hsYTNMY2pRT1B3ZVBtVm1acXE4dk56UDFhQ3BjenFkeXNyS2tsUzVxZzRBQUFCbzdnaWZBQUJOVGxpd1NSY05pTkU1M1NPMGNtZXgvdjFWcWxMejdQNHVxMXBQWDVPb0FKTkJWNzYwVmNucGxWdllmYncwUzcvc0x0RmpWN1RYWDhlMzAyTWY3WkVrUFhwRmUzbmwxVFV2SnlrMXIvS0ErMWxMTXZYZiswNVhkR2hvcmVaYnNiMUlrei9jWGZYMXZteWI1ay91cmZGRFdsU0ZUL21sTHQzNDJqWk5udGhlWjNXTFVJOTJJWklrUjRWWEcvZVdhT0V2ZVpxM0prZnUzeGFUN0VnclYzSkc1WVBYclFmS3REU3A4c3lLa2IyajFMV05WVzhzU05XMFJlbFZjMzY0SkZQZlBkNVhZd2ZHNnNXNUI1Ulo0TlM2NU1xNVUzTWRWZjNyNHNJQk1iS1lEWHB3UnJMUzhpdS9OMStzeXRHTDZxUzRTSXZNUnNOUld3ajZRN0RGcUt2UGpkT1ZaN2RVaTNDTHpDYjIxd09hcXZqNGVFVkVSS2lvcUVoWldWbEtURXowZDBsb3dqSXpNMVZTVXFMSXlFak9mQUlBQU1BcGdaT3VBUUJOa3NFZ2hWdk51cUJmdEQ3K1d3Lzk1ZnpXYWgxdGtjblllQjcyZDJsdFZmdVdRVnE0TWI4cWVQcmQ3QldWcTZCRzlZMlMwU0IxYkJXc1R2SEIrbnBkWGxYd0pFa1ZicS9lWFpoKzVOQTErdW5YZ3NPKzNwdGxsOXNqeFlZRkhIWTlOYytoTzkvZXFUR1BiOUxqSCsvVmwydHpsVmRTb1NGZHd2WDRWUjMwOGQ5NktqTGsySjlSV2JneFh5TWYyNmovL1pSeDJQWHdZSk9LeWx5eUJ2cnUxNHlNZ3NydnljT1huYWIraVdFeS9UYjBRek5UZE1OcjIvd2VQSVZielJyVE4xb2ZQdEJkOTErU29QaW9RSUlub0lrekdvM3ExcTF5NWVxdVhidjhYQTJhdXFTa0pFbC9yS2dEQUFBQW1qdFdQZ0VBbXJ3SXEwbDNYZFJXRi9TUDBZOWJDdlQxdWx6dHozSEk2K2Z0K0JKaUF5VkpLWm5WYjllMEo5T21jM3RFS2pMVXJQWXRLN2RtMjV0dE82cmQ3b3lqcjlXa29LemlxR3R1ajdmR1VDNnJ5S201cTNNMGQzV09KS2x6NjJEZGYwbUN6dWtlcVljdlBlMndWVlRWS2JHNWRjbWdXUFZMREZOQ2JKRGF4Z1FxTnJ3eTZISzZmUGY5LzNSNWxnWjFEdGZ3WHBFYTNpdFMvOC9lZmNkSFZhWnRITCttSnBuMFhrZ0lKYUgzSmgxQkFZV2xpQTFGUlJGUjF3THFpbTNkZGUwTnhOZDExOHFpV0ZFUkZSVUJSVkdLVkFFQnBZWVFVa2xDZXBuTXpQdEhOQkNUUUlJRGs4RHYreGM1NXpuUHVjOGtIeFBubXZ0NWlzb2NXcis3UU4vK25Lc3ZObVNyMUg3aVBYOU9oUUFmczg3dEhLUlJQVVBWSzhGZlZqT2Y2d0hPSkIwNmROQ1BQLzZvOWV2WDY1cHJycEhCUUtpTWhuTzVYRnF6Wm8wa3FXM2J0aDZ1QmdBQUFEZzlDSjhBQUdlTTFsRStpZy8zMWw5Nmhlbjk3ek0wLzdzMFZUZzhWOC92NzFIV2xZRVpmeHRncjNESll2NzkzelZERkpmcUgrS2NLRy96c1JyMWo0a3RsWEs0VkM5K2NhakcrZDJwSlpyKzJtNHRmN2k3Qm5RSVBPNWNVY0ZXemJ1OWc2S0NyZHFXVktpZEtjWDZmTU5oYlUwcTFQMlh0RkQ3T045NjEvMUg1aitFWldWMmwyNTdaWmRhUmZwb1NLY2duZE1tUU9lMENkQzVuWUkwNWJ3WVhUbjdaK1VYbjk1dmR2ZFdmcG94cHJuYXhkcmtZeVYwQXM1RWd3Y1Axdno1ODdWeDQwWmxaV1VwSWlMQzB5V2hDY3JNek5TNmRldGtOcHZWdDI5ZlQ1Y0RBQUFBbkJhRVR3Q0FNNHJaWkZCTWlGVjNqSXZUaFQxRDllS1hLZHE4citDMEJ4T1NkUEJ3NVZKeENWRzJXcyszalBKV1lhbERCU1VPSGNpczNMT3FaYVJQalhIeDRUV1BuYXlTY3FjR3RnK1VRVUdhdXp4TkplVTF3NjRLaDB1bDVjNFRMaHQzeDlnNHhZUllkZmU4UGZwcWMwNjFjOEYrbGpxdXFzN2hsTHdzTllPYmlFQnJ0YS9qd3J3VUVXalZ4cjBGMnBkUm92OTluU2FyMmFDWkUrSjEyWUFJamU0WnBuZS96NmpYUGY4TXE5bWdoR2licmhnY3FYRjl3azc1L1FCNFZseGNuT0xpNHJSLy8zNTk4ODAzbWpoeG9xZExRaE8wY3VWS1ZWUlVxSFhyMW9xUGovZDBPUUFBQU1CcHdjZDBBUUJuckhheE5qMTVUV3M5ZkVVcmplZ2U0dFk5aU9walYycXhEbVNWNm9JZUlVcUlyaDRnalQ4blhNMUN2TFI4UzJWb3N6T2xXRW1acGJxd1I2Z2lBbzhHTjBhRE5PWDhhTGZXdGVDSFRBWFlUSm96TmJIYXZhVEticTJwd3l2M3ovcDZ5OUZBeWZuYm5rcVdZd0twM3dPbUxVbUYxZVlZMEQ1UXpjTzlxaTMxNS95dEpldjNEcS9mWmVXVkt6SEdwMXJuVUdTZ1ZZTTdCbFViZC9kRjhYcnQxdmFLRGZXcU9sWmU0ZExPZzBXU2RNcjNmRElacFM0dC9IVEgyRGpOdVQ2UjRBazRTOWhzTm5YczJGR1N0R1RKRWprY0hteW5SWlBrY0RpMFlzVUtTVkxIamgwVkZCUjBnaXNBQUFDQU13T2RUd0NBTTVxdmwwbkR1Z1NyZDJLQU51NHQwRXRmSHRLT2xLTFRjbStYUzNybzNmMzY3ODF0OWRZZEhmWCtEeGxLeVM1VGwzZy9qZTBUcGtNNVpacno2Y0dxOFk4czJLK1hiMjZuQlhkMzFvSlZHU29vZFdoazl4QWxSbGQyVGpWaytiM2orZStTUTJvZjY2dUJIUUsxNUtGdTJySy9VS2s1WmZLMkd0VWwzaytSUVZidFRDbldDNStuVkYyVFhWQzVsOVF0bzJMVkp6RkFjejQ3cUJYYmN0VzNUWUJtVDBuVWU5OW5xTXp1VksrRUFGM2NMMXlsZHFlOExVYjVXSTBxS1hjcXA2QkNMcGMwcW1lb0RBWnAwZG9zN1V3cDFpZnJEdXZHa1RHYWYwY0hmYkVoV3dHK1pvMC9KMXlwdVdVS3NCM3RHSHR0YWFyNnR3dlUvMjV2cnc5WFp5b3p6Njc0Q0c5TkhCaXA5Tnh5ZmJVcDJ5MnZUVzM4ZlV5YU5yS1pSbllMVm1TUWxUMWZnTE9JbDVlWE9uWHFwR1hMbGlrbEpVWEp5Y2xxMmJLbHA4dENFNUtVbEtUazVHUlpMQloxNnRSSlBqN3U2MllHQUFBQUdqUENKd0RBV2NIZng2UnpPd1ZwU01jZ2ZicitzTjc1TGwxNzBrcGtkNXphanBtTmV3dDA1YXp0dW1sa000M3ZHeTQvYjVQU2M4czE3NXMwdmJZc1ZRVWxSejlGdjM1M2dhYisreGZkTWlwV2s0ZEZ5K2x5NlljZGVmcmY4alE5ZDMyaXlpdmNVMnVGdzZXL3Z2eXJSdmNNMVlVOVE5VXUxbGRkV3ZpcHROeXAvWmtsZXVPYmRMMzNRNFlxam5sdGZ0aVpweTgyWm10bzUyQkZoNFRwd3pXWmVuZGxoc3hHZ3k0ZEVLRUhMMnVwb2xLSERoNHUxYi9lMnk4dmkxRi92NnlGQnJZUDBySXRPU29zZFdqT1p3ZDE3WG5SbXRBM1FudlNTclF6cFZndkx6a2t5YVcvOUE3VExhTmpkU2k3VFAvOU1rVjV4UlY2ZW5KQzFmMjNIaWpVbEJkMjZvWVJNYnBzWUtTQ2ZjM0tMckRyOHcySDlmSlhoNVJmNHQ1dUJJTkJpZ3F5YWtUM0VFMGIwVXorUGlhM3pnK2c2Zmk5V3lVM04xYzdkdXdnZkVLRDdOaXhRMGVPSEpHdnI2ODZkT2pnNlhJQUFBQ0EwOGJnY3Axb2EzTEFmVFpzMktENzc3OWZaV1ZsbWpWcmxucjE2dVhwa2dDY3BkSnp5N1gwcHh3dDJaeXRuUWVMNVRqRnk3YlZSMlNnVlJsNTVUV085MjhYcUpkdWJxc25Qanh3V3ZZMU90dUZCMWcwb251b1J2Y0tWYnRtdGhQdWZRWGd6R2EzMnpWMTZsVDkvUFBQR2p0MnJPNisrMjdaYkxYdjVRY2NxNnlzVEk4Ly9yZ1dMMTZzVnExYTZiMzMzcFBKeEljWkFBQUFjSFpnenljQXdGa3BLdGlxcTRaRTZ0bHJFM1RIMkRnRitYcStHZmpUdjNmUjIzZDJySEY4N0cvN0MyMUpLampkSloxVnpDYURSdlVNMWY5TmE2TTd4c2FxVTNOZmdpY0FzbGdzR2pWcWxDUnA1Y3FWMnIxN3Q0Y3JRbE9Sbkp5czc3Ly9YcEkwZnZ4NGdpY0FBQUNjVlR6L1Roc0FBQjVpTkJvVUUrS2xhNFpHYVhTdlVEMjc2S0MrMzNGRUJTV1YreE9kYm92V1p1bUt3WkY2NmVhMittNzdFUmtrRFdnZnFFRWRndlR4Mml6dE9GaDgrb3M2Qy9oWWpXb2Q1YU1aWStQVUp6SEEwK1VBYUlUR2pCbWpOOTk4VStucDZWcXdZSUc2ZHUzcTZaTFFCTHo1NXB2S3k4dFRURXlNTHJyb0lrK1hBd0FBQUp4V2hFOEFBRWdLOWJmb2tVa3R0UzJwVUY5c3pOYXluM0tWVTJnL3JUVTh0ZkNBOW1XVTZLSytFYnB0ZEt5aDJLWFdBQUFnQUVsRVFWU01Cb1AyWjVUb2tRVkorbUJWNW1tdDVXeGdNUm5VdjEyZ0x1d1pxc0VkZytUbnpTZlNBZFRPWnJQcHIzLzlxeDU2NkNFdFdiSkVreWRQVnBzMmJUeGRGaHF4WGJ0MjZZc3Z2cERSYU5TMTExN0xVbzBBQUFBNDZ4QStBUUR3RzdQUm9PNnQvTlV1MWxjWDk0dlFxOHNPYWNXMkk2cHduSjQyS0tkTGV2K0hUTDMvQTBIVHFkWWh6cWFiUnNhcVd5dS9SckhrSW9ER2IrREFnV3JmdnIyMmI5K3U1NTkvWHJObno1YVhsNWVueTBJalZGcGFxcGRmZmxtUzFLRkRCdzBhTk1qREZRRUFBQUNuSDNzK0FRRHdCejVXbzlyRjJ2VHN0WW42djZsdDFMYVpUVDVXZm1VMmRSYVRRZUdCRnMwWUU2ZTV0M1hRdVoyRENKNEExRnRBUUlDR0RSc21pOFdpYmR1MmFmUG16WjR1Q1kzVXBrMmJ0R1hMRnBuTlpnMGJOa3hoWVdHZUxna0FBQUE0N1hqSEJRQ0FPaGdNMHNBT2dlcmUyazlmYmNyUmtrM1pXcjhuWHc2bnB5dERROFdIZTJsa2oxQ043Uk9tNW1IZW5pNEhRQk5rTUJnMGRPaFFmZmJaWjBwS1N0TENoUXZWdm4xN0JRWUdlcm8wTkNMRnhjVmF0R2lSY25OekZSVVZwV0hEaHNsbzVBTXNBQUFBT1B2d1Z6QUFBQ2ZnNjJYU1JYM0Q5ZWhWcmZTdksxc3BNZHJIMHlXaG5nSjhUSm84TEZwenByYlJqU09hRVR3QitGUGk0K04xN2JYWHltZzBhdVhLbFZxOGVMR25TMElqczNqeFlxMWN1VkpHbzFIWFgzKzk0dUxpUEYwU0FBQUE0QkYwUGdFQVVBOEdneFFSYU5YWTNtRWExamxZYjMyYnJ2ZC95RlJlY2NWcDJ4TUs5V013U1A3ZVp2Vks5TlB0bytQVUtvcXdFSUQ3WEhqaGhkcTRjYU0rKyt3enZmTEtLMnJmdnIxNjlPamg2YkxRQ0d6ZHVsVXZ2dmlpN0hhN1JvMGFwVEZqeG5pNkpBQUFBTUJqNkh3Q0FLQ0IvTHhOdXVtQ1pwbzN2YjBtRFk1VWJCZ2J6amNXL2o0bWplZ1dvcWNtdDlic0tXMEluZ0M0bmRsczFxMjMzcXJZMkZnVkZoYnFnUWNlMElFREIrUnk4VUdFczVYTDVWSnljckllZXVnaEZSWVdLajQrWGpmZWVLTXNGb3VuU3dNQUFBQThodkFKQUlDVEZCL3VyVnRIeDJyTzlZbWFQQ3hLZnQ3OFd2VVU0Mi83YzgyYWtxZ0hMMnVoQWUwRFpUUjR1aW9BWjZxUWtCRGRkdHR0Q2dvS1VsWldsbWJQbnEyMHREUlBsd1VQT1h6NHNKNTU1aGtsSnlmTDE5ZFh0OTU2cTJKaVlqeGRGZ0FBQU9CUnZFc0dBTUNmNEdVeHFrMk1UWGVOYTY3NWQzUlU3NFFBV2MzOGVqMWR6Q2FEb2tPc2V2YTZSTDF3UXh2MWJST2dBQnVyQ2dNNHRZeEdvNFlNR2FJcFU2Ykk1WEpwelpvMWV1Q0JCNVNYbCtmcDBuQ2E1ZWJtNnI3Nzd0UGF0V3ZsY3JrMGJkbzBEUjQ4V0VZamZ3c0FBQURnN01aZnhBQUF1RW5yS0IrOTlOZTJtblZkYTQzc0hpSi9INU9uU3pwaldjd0dkVy9scDcrTmI2NzM3dXFvODdzR3kwU3JFNERUeUdLeGFOS2tTWm8yYlpyTVpyTzJidDJxbTI2NlNTa3BLWEk2blo0dUQ2ZVkwK2xVY25LeXBrK2ZyczJiTjh0aXNlakdHMi9VVlZkZEpiT1pEMEVBQUFBQS9GVU1BSUFiV1V3R0Rla1VyTzZ0QTdUdFFLSG1mWjJtSDNmbGU3cXNNMHFZdjBVM2pJelIwRTdCaWd5eXlrRG1CTUNEcnJ2dU9sa3NGczJiTjArN2R1M1MzLzcyTjAyY09GR2pSbzJTMVdyMWRIazRCY3JMeS9YbGwxL3FuWGZlMGQ2OWUrWHQ3YTBiYnJoQkV5ZE85SFJwQUFBQVFLTkIrQVFBd0NrUTRHUFNnSGFCNnRjMlVGOXR5dGFMWHg3U29ld3lPWnhzU0greS9IMU1HdDB6VExmK3Baa0NmUGdUQmtEallMVmFkZVdWVnlvOFBGeVBQLzY0ZHUvZXJWbXpabW41OHVXYU5tMmFPblhxeEJKc1p3aW4wNmx0MjdacDd0eTUyclJwazRxTGkrWHQ3YTE3N3JsSHc0Y1BsN2UzdDZkTEJBQUFBQm9OM3JrQkFPQVVNaHFrQzN1R3FuZGlnQmFzeXRUWFczTzFQNk5FRlE1Q3FQcUtDTFNvWDl0QVhUSWdRcDNqZldXazFRbEFJK1B0N2EweFk4YW9iZHUyZXZEQkI3VnYzejZ0V2JORzY5ZXYxOENCQTNYRkZWZW9kZXZXOHZIeElhQm9Zc3JLeWxSY1hLeTllL2Rxd1lJRit2YmJiK1Z3T0dRd0dOU21UUnM5OE1BRDZ0U3BrNmZMQkFBQUFCb2RnOHZsNHQwdm5EWWJObXpRL2ZmZnI3S3lNczJhTlV1OWV2WHlkRWtBY0ZydFRTL1I4aTI1bXI4aVRma2xEaytYMDZnWkRkS29ucUVhZjA2NHVyWHlsOVZNNkFTZzhUdDQ4S0FXTFZxazc3NzdUdnYzNzVja0dZMUdKU1FrS0NFaFFmSHg4WXFNakpUTlpwUE5acFBGWXZGd3hUaVczVzVYU1VtSmlvcUtsSm1acVFNSERtalhybDNhdDIrZkhJN0szOXZ4OGZFYU1tU0lMcjc0WXNYR3hucTRZZ0FBQUtCeEluekNhVVg0QkFDVlN1MU9QZmZKUVgyMi9yQUtTd21oam1VeEdkU3RwWi91dTZTRkVxSjlQRjBPQURSWWVYbTVNakl5dEhyMWFuMzY2YWY2NVpkZnFwMzM4ZkdSMld5VzJXeG1TYjVHeHVsMHFxS2lRaFVWRlNvdExkV3gvN3VjbUppb0NSTW1xRy9mdm9xS2ltSlBMd0FBQU9BNFdIWVBBQUFQOExZWU5YTkNjNDNvSHFJUFYyZHEvZTU4WmViWlBWMldSOW04VE9vYzc2ZS85QXJWaU80aDhySHloaXlBcHNscXRTb3VMazZYWDM2NUxyLzhjdTNldlZ0TGxpelJsaTFibEpxYUtydmRMcWZUS1lmRElidjk3UDV2ZjJOak5CcGxNcGxrc1ZnVUVCQ2c2T2hvZGUvZVhjT0hEMWZidG0wOVhSNEFBQURRWkJBK0FRRGdJU2FqUVQxYis2dFRjMTl0U1NyVW9yVlpXcndoMjlObGVVUzdXSnV1UGpkYS9kb0ZLTXlmSmFnQW5Ga1NFeE9WbUpnb1NTb3FLbEoyZHJaS1NrcFVXbHBLK05USVdDd1dlWHQ3eTJhektUZzRXSDUrZnA0dUNRQUFBR2lTQ0o4QUFQQXdMNHRSZlJJRDFDY3hRRmVkRzZWL3ZMTlB1MUpMUEYzV2FlSHJaZEswa2MxMDlkQkltWTNzNlFUZ3pPZnI2eXRmWDE5UGx3RUFBQUFBcHhUaEV3QUFqVWlIT0YrOU1iMkRsdjZVbzhVYkRtdHJVcEhLN0U1UGwrVldCb1BVTXRKSFF6c0ZhVUwvQ01XRmVubTZKQUFBQUFBQUFMZ1I0Uk1BQUkyTXI3ZEpGL1VOVi85MmdWcTFNMC92ck16UXJ0UmlUNWZsRnNGK0ZsM2NMMXdYOUFoUnEwZ2ZtVTEwT3dFQUFBQUFBSnhwQ0o4QUFHaWtJb09zbXRBdlhLTjdoZXF0N3pMMDBwSVVsZGxkbmk3cnBBM3BHS1Q3TG0yaG1HQ3JwMHNCQUFBQUFBREFLVVQ0QkFCQUkrZGxNZXI2ODZNMXZGdUkzdmdtVGF0MzV1bFFUcG1ueTZvWFAyK1RlaWI0NjhwQmtlclhMdERUNVFBQUFBQUFBT0EwSUh3Q0FLQ0phQjdtcFhzbU5OZU9nOFg2YW5PT3Z0eVlyWnhDdTZmTHFwWFZiRkRmdGdHNnFHK0VlcmIyVjVBdmYzSUFBQUFBQUFDY0xYZ25DQUNBSnNScU5xcGJTejkxYSttbnE4Nk4xSk1mSHRCMzI0OTR1cXhxd3Z3dCtzY1ZMVFdrUTVBTWJPa0VBQUFBQUFCdzFpRjhBZ0NnaVdvVzRxVVhwclhSMTF0ejllSHFUUDIwdjFCRnBRNlAxR0l5R3RRbXhxWVIzVU4wNWVBbytWaEpuUUFBQUFBQUFNNVdoRThBQURSeDUzVUpWdmRXL3Rxd0oxOEwxMlpwM2EvNXFuQzZUdHY5VzBSNDYrSis0UnJjS1ZqTnc3eGtNaEk4QVFBQUFBQUFuTTBJbndBQU9BT0UrSmsxb2x1SUJuVUkwcktmY2pUcmsyVGxGbGFjMG51YWpOSVZneUoxL2ZBWUJmdWFaU1IwQWdBQUFBQUFnQWlmQUFBNG8vaFlqUnJiSjB4RE9nVnAvcmZwV3JvNVI4bFpwWEpuSTFSWWdGVzlXdnRyeXZCb3RXdG1jOS9FQUFBQUFBQUFPQ01RUGdFQWNBWUt0Sm4xMXd0ak5icG5xTDdabHF1UFZtY3BKYnZzVDgxcDh6THBnaDRoR3RzblRCM2pmT1ZsTWJxcFdnQUFBQUFBQUp4SkNKOEFBRGhER1ExU3kwZ2ZYUmZobzNGOXdqWDM2elI5dUNwVHBYWm5nK1l4R0tTdUxmMTA3OFh4U295MnlXSmllVDBBQUFBQUFBRFVqZkFKQUlBem5ORWdoUVZZTlBPaTVoclpQVVN2TFUzVjFxUkM1UllkZjA4b0g2dFJMU045TkhGUWhDN3NFU1l2QzZFVEFBQUFBQUFBVG96d0NRQ0FzMGpYRm41NmFuSnIvYmlyUUo5dlBLd1YyM0pscjZpNUlWVEhPRitOUFNkTVF6c0hLeXJJNm9GS0FRQUFBQUFBMEZRUlBnRUFjSmF4ZVprMHRIT1FCcllQMUo3MEVqMnlZTCsySnhmTDVYSXBMTUNpR1dQaU5MeGJzTHd0Smhsb2RnSUFBQUFBQUVBREVUNEJBSENXc3BnTmFoOXIwNnUzdE5NWEc3TzFMNzFVVncySlZMTlFMMCtYQmdBQUFBQUFnQ2JNNk9rQ0FBQ0FaL2w2bVhScC93aTkvVjI2M3Y0dXc5UGxBQUFBQUFBQW9Ja2pmQUlBQUFBQUFBQUFBSURiRUQ0QkFBQUFBQUFBQUFEQWJRaWZBQUFBQUFBQUFBQUE0RGFFVHdBQUFBQUFBQUFBQUhBYndpY0FBQUFBQUFBQUFBQzREZUVUQUFBQUFBQUFBQUFBM0lid0NRQUFBQUFBQUFBQUFHNUQrQVFBQUFBQUFBQUFBQUMzSVh3Q0FBQUFBQUFBQUFDQTJ4QStBUUFBQUFBQUFBQUF3RzBJbndBQUFBQUFBQUFBQU9BMmhFOEFBQUFBQUFBQUFBQndHOEluQUFBQUFBQUFBQUFBdUEzaEV3QUFBQUFBQUFBQUFOeUc4QWtBQUFBQUFBQUFBQUJ1US9nRUFBQUFBQUFBQUFBQXR5RjhBZ0FBQUFBQUFBQUFnTnNRUGdFQUFBQUFBQUFBQU1CdENKOEFBQUFBQUFBQUFBRGdOb1JQQUFBQUFBQUFBQUFBY0J2Q0p3QUFBQUFBQUFBQUFMZ040Uk1BQUFBQUFBQUFBQURjaHZBSkFBQUFBQUFBQUFBQWJrUDRCQUFBQUFBQUFBQUFBTGNoZkFJQUFBQUFBQUFBQUlEYkVENEJBQUFBQUFBQUFBREFiUWlmQUFBQUFBQUFBQUFBNERhRVR3QUFBQUFBQUFBQUFIQWJ3aWNBQUFBQUFBQUFBQUM0RGVFVEFBQUFBQUFBQUFBQTNJYndDUUFBQUFBQUFBQUFBRzVEK0FRQUFBQUFBQUFBQUFDM0lYd0NBQUFBQUFBQUFBQ0EyeEErQVFBQUFBQUFBQUFBd0cwSW53QUFBQUFBQUFBQUFPQTJoRThBQUFBQUFBQUFBQUJ3RzhJbkFBQUFBQUFBQUFBQXVBM2hFd0FBQUFBQUFBQUFBTnpHN09rQ0FBQkE0N0QxK1Q2ZUxnRUFBQUFBQUFCbkFEcWZBQUFBQUFBQUFBQUE0RGFFVHdBQUFBQUFBQUFBQUhBYndpY0FBQUFBQUFBQUFBQzREZUVUQUFCTlZQYTlNNVY5NzB5M3psbjQvbnM2OHVUalZWKzdTa3RWOE1iL2xQdjRvMUpGaFZ2dkJRQUFBQUFBZ0RPVDJkTUZBQUNBMCtQSVUwK29kTTNxT3M5SHZ2MmVERDdlS2wyN1J2YmR1MVZ4SUVrRjc3d2xWMm1wL0srNlJqTFcvTXhLeWJjcmxEZG5kb05yc1YwNFdnRTMzdFRnNndBQUFBQUFBTkQ0RVQ0QkFIQ1c4QjEva2J3SERhNStzS0pDZWY5NVVRWmZtd3hlWHJLTnVFQkZIeTlVOW4wenBZb0srWngzdnZ5dm5peGpVRkN0YzNwMTZxemdleDlvVUIxNS8zbmhaQjhCQUFBQUFBQUFUUURoRXdBQWpWVFpwbzNLZmZpaEU0NUxIeittem5PQk0rNlV6N2xESmFkVFJaOHNrczk1NTh1clo2K3E4d1Z2enBPcnRFVEI5OTRubWMweW1NMEt1SGFLamp3M1M3NFhYeXIvcTYrUkpGWHMyNnZDRHorUUpBWGRkYmRrTWttU2pHRmg4Z29MYTlCekdWNS9wVUhqQVFBQUFBQUEwTFFRUGdFQTBFaVpZMlBsZisxMWRaNHYvdUp6U1pKdDFPZzZ4MWhhSjFUK3cyaVUwZDlmdVU4K3JwQi9QQ1JyNXk0cTI3QmVSWXMrbHUvWThiSjI2MTUxamZlUWMrVzljWU9LUHZsWXhzQkFsYTM3VWVVL2I1TTVMazUrbDE0dUdRelY3cEUrWVp6a2RQNkpKd1VBQUFBQUFNQ1poUEFKQUlCR3loUVJLZC94RStvOFg3cDJyU1FkZDh5eEFtNjhXWTZjSE9VKzlvajhyNTZzL0RmbXlidi9nRm9EcnFCYmIxZE9UbzRLNXI0bVkxaVlndTk5UUY3bm5GTWplSktra0ljZmsrU3EzME5KT3ZMTTAvVWVDd0FBQUFBQWdLYUg4QWtBZ0xPRjBhamd1MmNxYThidHluLzFaWG4xN1N0TDY0VEt6cVZhaEQ3NWpJbysrVmlsYTFhclpPVzNNcmRxSlZORWhDVEprWmFxaWdQSkoxZUh5eWxIWm9iS2ZndlBUSkVSTXJkc2RYSnpBUUFBQUFBQW9ORWhmQUlBNEN6aEtpbFIvdHpYNUVoTmxlOGxsOHAvMHRWeVpHYktIQnRiNjNoejgrWUt1dWMrRlgrMVJBVnZ6bFBwVFRmSTBxNmRiT2NObDdNZ1h3WHovbmZTdFpSdDNLQ3lqUnNrU1Q3bkQxZmdyYmVmOUZ3QUFBQUFBQUJvWEFpZkFBQm9oSW8rL1VRRmMxK3IxOWowOFdPT2U5NS95bFNaQWdPVlAyK3U1SFFxYU9hOTh1NC9RSkpraW95VUtUTHl1TmZiUmw0Z240R0RWUFRGWXBXcytFYW15RWo1bkhmK0NaZjdPL0xzMDdMLytvdkNYNTFicitjQUFBQUFBQURBbVlId0NRQ0FSc2lyWXllcGxyMllmbGU2NmdmWmQrK1dKRms3ZHBKWDc5N0huYXRzNnhaNWRlK2hnT3V1VjlIaXo1VCs5Sk1OcWlmd3R1bnl1L1J5K1YxNmViWGpoZSsrSTBkR3VnS20zU1NEelZiak9rZFdsc3EzYlpXMWM1ZWpCKzEyNWIvMnFtUXhLK0Q2RzJyZFJ3b0FBQUFBQUFCTkYrRVRBQUNOa0xsMWE1bGJ0NjcxWE9ucVZhcElTNU14TEZ5U1pFOCtJTDlKVjhuYW9lTng1NnZHWUZEdy9YOC9ZUjNPZ2dMbC9kK2NPczk3ZGUraDNHZWYwdUVadHl2b3pydGthZGUreHBqOGVYTVY5dFN6a3Rrc1IycXFjcDk5V2hYNzlsWjJUam1ka3NsMHdqb0FBQUFBQUFEUWRCQStBUURRaEpTdVhxVzgvNXVqNFB2K3JvSjMzNVlrK1k0ZHA5d25IbFBvUTQvVUdWalZZRERJcTNlZkV3NXpIajU4M1BPV2R1MFVOdnQ1SFhudVdXWGZmNjhDcGs2VGJkVG9vd05NSmxYczNhdjhlZitUT1RaVytYTmZsOUhYVnlIL2ZGalc3dDNyVnlzQUFBQUFBQUNhRk1JbkFBQ2FpS0pGQzFYdzlsc0t1dU11V2J0MmxYNExuN3o3RDVBak5WWFo5OStqb0wvTnJGZW81RTdHZ0FDRi9PTmZLdnI0STNsMTYxYnRuQ2s4WE40REI2bm93dytxYWcyOCtSWVovUDFQYTQwQUFBQUFBQUE0ZlFpZkFBQm81Sno1K2NyL3o3OVZ0bm1UUXU1L3NOYU9JZDlMTHBVc0Z1VSs4Wmg4eDE4ay80bFhTbGJyY1NaMUtuMzhHUGNWYVRESWRzRW9sVzNjb0lKMzNwYmhtSHY3VDdwYXp1eHNsYXo0UnE2S0NybWNEckhMRXdBQUFBQUF3Sm1MOEFrQWdFYXNkUFVxNWIveWtneStmZ3A5ZXBiTThmRjFqdlVkTjE2bThIRGx2ZmlDU3RldVVjRFVhZkxxMGJQMndRYURqS0ZoTXZyN3kvL0tTVFZPdSt4MkhYbjZTVms3ZGxMNTlwL3J2S2NqSTBObEd6ZW9iUDA2bFczYktsVlV5QmdZSkovaHcrVklUNis2VitEME8yUnVIcStDK1c4bzY2WnA4aDA3WHJZTFI4a1lGTlNnMXdNQUFBQUFBQUNOSCtFVEFBQ05rSDN2SHVXLy9xcnNPM2JJWjloNUNwaDJvd3plUGllOHpydi9BRmtTRXBUMy9CemxQdnlReksxYUsrRHF5ZFc2cGZ5dXVGSitWMXlwa3VYTGxQZlNmMVR5OVhJRnpyaFRCbTl2U1pLcnNGQTVqejhpV2EyeWpieEFJWTg5VWVNK0pWOHZWOUhISDZraUpVV1NaSXFLa3Uvb3Y4aTdiejlaMnJhVGpFYmwvUE5CeVdDc3VzYjNvZ255NnRsTEJmUG1xdkQ5ZDFYNDRRSjVkZWtxMjZqUnAzMnBRQUFBQUFBQUFKdzZoRThBQURSR2RydGNwV1VLZWZoUldidDBiZENscG9oSWhUejJoRXBYL2FEQ0R4ZklHQlNraWdNSFZIRW9wZG80ZzgwbTIvQ1JLbDIzVm1VL3JwVXNGa21WM1V6MlgzK1Y3N2p4a3RtczB0V3JxbDFuam82V3dXYVRMRmI1WFRGSjNuMzd5aHpmUWtVZlYrNUpaWXFKa2F1NFdPVmJmcEsxYS9VOW9Nek5teXY0SHcvSnZtZTNTcjc1V21VL2JaWTVMdTRrWGlBQUFBQUFBQUEwVm9SUEFBQTBRcFoyN1JVMmU4NmZtc043d0VCNUR4Z29TU3A0YzU2S0ZuNVU1OWdqejgycWNheXU4YllMUnl2Z3hwdmszYTkvdGVQRzRHQ1YvN3hOK25tYlpETEozTEtsQWlaZlcrc2Nsb1JFV1JJUzYvc29BQUFBQUFBQWFFSUlud0FBT0F2NFgzT3QvSytwUFFoeUY1OXpoOHJuM0tHbjlCNEFBQUFBQUFCby9BaWZBQUJvb2tLZmZOclRKUUFBQUFBQUFBQTFHRTg4QkFBQUFBQUFBQUFBQUtnZndpY0FBQUFBQUFBQUFBQzREZUVUQUFDUUpIV1p2azVQTDB6MmRCa0FBQUFBQUFCbzRnaWZBQUFBQUFBQUFBQUE0RGFFVHdBQUFBQUFBQUFBQUhBYndpY0FBQUFBQUFBQUFBQzREZUVUQUFBQUFBQUFBQUFBM0lid0NRQUFBQUFBQUFBQUFHNUQrQVFBQUFBQUFBQUFBQUMzSVh3Q0FBQUFBQUFBQUFDQTJ4QStBUUFBQUFBQUFBQUF3RzBJbndBQUFBQUFBQUFBQU9BMmhFOEFBQUFBQUFBQUFBQndHOEluQUFBQUFBQUFBQUFBdUEzaEV3QUFBQUFBQUFBQUFOeUc4QWtBQUFBQUFBQUFBQUJ1US9nRUFBQUFBQUFBQUFBQXR5RjhBZ0FBQUFBQUFBQUFnTnNRUGdFQUFBQUFBQUFBQU1CdENKOEFBQUFBQUFBQUFBRGdOb1JQQUFBQUFBQUFBQUFBY0J2Q0p3QUFBQUFBQUFBQUFMZ040Uk1BQUFBQUFBQUFBQURjaHZBSkFBQUFBQUFBQUFBQWJrUDRCQUFBQUFBQUFBQUFBTGNoZkFJQUFBQUFBQUFBQUlEYkVENEJBQUFBQUFBQUFBREFiUWlmQUFBQUFBQUFBQUFBNERhRVR3QUFBQUFBQUFBQUFIQWJ3aWNBQUFBQUFBQUFBQUM0RGVFVEFBQUFBQUFBQUFBQTNJYndDUUNBTTVERDZWS1ozWGxLNytGeXVWUmVjV3J2QVFBQUFBQUFnS2FIOEFrQWdET00weVY5c0NwTE05L1lvOXpDaWxOMm4yMEhpdlhnMi91VmxsdCt5dTRCQUFBQUFBQ0Fwb2Z3Q1FDQU00MnJzdXRwMWM1OGZiQTZVL1pUMEoyVW1XZlhreDhkVUVwMnFRd0d0MDhQQUFBQUFBQ0FKb3p3Q1FDQU00elJhTkRrWVZFYTBpbEliMyticmtNNTd1OU1ldWJqQTlxYlhxd3JCMGNxS3NqcTl2a0JBQUFBQUFEUWRCRStBUUJ3aHJwcmZITkZCbG4xci9mM0s4ZE55Kzg1bkM0dFhuOVlxM2JtYVV5Zk1BM3ZGdXFXZVFFQUFBQUFBSERtSUh3Q0FPQU1GUjFrMVMyalk3VW5yVVJQZnBpazhnclhuNTR6TGJkY0x5MDVwTjZKL3JwalRKeXNadGJjQXdBQUFBQUFRSFdFVHdBQW5LRU1CbWxJeHlBTjdSU2tiN2JsNnFNMW1YOTZ6bnZlMktOU3UwdDNqV3N1WDIrVEc2b0VBQUFBQUFEQW1ZYndDUUNBTTl3RGw3WlVwM2cvdmJzeVEzdlNTazVxRG51RlM3TVdKV3RYYW9tbW5CK3QyRkF2TjFjSkFBQUFBQUNBTXdYaEV3QUFaemd2aTBFUFhCSXZHUXg2NGZNVWxka2J0dnlleXlXdDJaV25SZXNPYTFpWFlJM3JFeWFqa2VYMkFBQUFBQUFBVUR2Q0p3QUF6Z0tKTVRaTkd4NnQxYi9rNmNtUGtocDBiVzVSaGVaOGVsQkJOck9ldXFZMXkrMEJBQUFBQUFEZ3VBaWZBQUE0UzV6ZkxVVER1NGJvcTgwNVdybzVSODU2TkVBVmx6bjB3dUlVNVJjNzlQalZyVTU5a1FBQUFBQUFBR2p5Q0o4QUFEaExlRnVNdXYwdnNZcVA4TmJyWDZjcEs2LzhoTmU4KzMybXZ0eDBXSmNPaUZDN1pyNm5vVW9BQUFBQUFBQTBkWVJQQUFDY1JhS0NyWHJ3c2hZNmxGMnEvM3g1Nkxoak4rOHIwTnZmcGF0VmxJOG1EWW1VeGN3K1R3QUFBQUFBQURneHdpY0FBTTR5YldKc21qbzhSb3MzSE5iN1AyVElXY3Y2ZTNsRkZacTdQRTFtazFIUFhwc2dQL1o1QWdBQUFBQUFRRDBSUGdFQWNKWXhtd3k2Nkp4dzlVNEkwSCsvUEtTMXUvSnJqSGwxV2FxMkpoWHE3NWZHS3liRXl3TlZBZ0FBQUFBQW9La2lmQUlBNEN3VTZHdlc0MWUzVnFuZHFWZVdwaXE3d0Y1MTd1TzFXWHBuWllaRzlnaFZ2M2FCSHF3U0FBQUFBQUFBVFJIaEV3QUFaNmtRUDdObVg1ZW8zYW5GV3JnbVN5NUorek5MOU5LU1Eyb1RZOVAxNTBmTFltS2ZKd0FBQUFBQUFEUU00Uk1BQUdleFhva0J1blJBaE9aOWt5YTVwSFc3QzJSM3VIVC9KZkdLRExKNnVqd0FBQUFBQUFBMFFZUlBBQUNjeGF4bWc2NDdMMXB4WWQ1Vnh4NjRORjVkV3ZoNXNDb0FBQUFBQUFBMFpXWlBGd0FBWjZvdTA5ZDV1Z1NnUVF3R3lWN2gxQjJ2Ny9GMEtVQzlqT29acGlldmFlWHBNZ0FBQUFBQXdCL1ErUVFBQUFBQUFBQUFBQUMzSVh3Q0FBQUFBQUFBQUFDQTJ4QStBUUFBQUFBQUFBQUF3RzBJbndBQUFBQUFBQUFBQU9BMmhFOEFBQUFBQUFBQUFBQndHOEluQUFBQUFBQUFBQUFBdUEzaEV3QUFBQUFBQUFBQUFOeUc4QWtBQUFBQUFBQUFBQUJ1US9nRUFBQUFBQUFBQUFBQXR5RjhBZ0FBQUFBQUFBQUFnTnNRUGdFQUFBQUFBQUFBQU1CdENKOEFBQUFBQUFBQUFBRGdOb1JQQUFBQUFBQUFBQUFBY0J2Q0p3QUFBQUFBQUFBQUFMZ040Uk1BQUFBQUFBQUFBQURjaHZBSkFBQUFBQUFBQUFBQWJrUDRCQUFBQUFBQUFBQUFBTGNoZkFJQUFBQUFBQUFBQUlEYkVENEJBQUFBQUFBQUFBREFiUWlmQUFBZWRmbkFDRDEyVmFzYXg3MHRSajA5T1VFanU0ZlVldDAxUTZQMHdLVXQ1TzlqT3RVbFZybjdvdVo2NmVhMk1ocHFucnZwZ21iNngrVXRUbHN0dGZHeEdqVnZlbnNON1J6a3Rqa1gzdHRaajB5cStmMlJKSnVYVWQ4OTNrTVRCMFc0N1g0QUFBQUFBQUJvK2dpZkFBQnUwU0hPcHUrZjZLR0wrb1pYSFlzTjlkS0g5M1RTWlFNaVpLcmpONDYvajFsamVvZHAwcERJYXNmTEs1eUtDTExvWDFlMFVueTRkN1Z6TVNGVzNUSXFWZ1BhQjhwb3FKa0V6Wi9SUVRlT2pQbnpEM1VNZzBHNm9FZW9uRTdKNmFwNTNtU1VMdTRYb2ZheE5yZmV0eUdtajRsVGoxYis4cmFjZkNBM29WKzQ1bHlmV0d2QUZ1cHYwVnQzZE5EQTlvR1NwTGJOYkFyMk5ldHd2djJrN25YcjZGaHRmYjZQUXYwdEoxMXZVM1RqeUJqTm5wSlk5YldQMWFnWlkrUDAvTlJFbVUyMXZQQUFBQUFBQUFCTmpOblRCUUFBbXA1cEkySTB0SE93N3B5N1cybTU1WktreEdpYkFtMW1wZVdVVlkxTHpTblRKejhlMWgzajRuVFZ1VkY2L3JPRCtucHJiclc1WGwrZXFuNXRBM1hudU9iYXRMZEFPMU9LSlZVR1BQZlAzNnVQNyt1aXB5WW42S3JudHF2QzRaTEpLRDE1VFlJY1RwZHVlMldYOG9vcnFzMFhIbUJSMTVaKyt2akhyR3JIeC9VSnE3T0RwemIzemQrcnp6ZGtWMzNkbzVXL3dnTXNlbTdUNFZySHovczZYWmNQakZTL2RvRlZ6MUNidm0wQ2RPdGZZblhYM0QzS09GSmU3VnhNaUZWTC90bE5UeTlNMWx2ZnBWY2QvL2UwTm1vWjZhUFJqMnlwYzk0UjNVTjA1ZUJJZmJ3MlMxOXVxcXg3Mm9nWTNUbzY5b1RQdW1SVGptYStzVWVTbEhLNFRFTTZCZXVlaStQMXhJY0hxc2I0ZVp2MDM1dmJLdGpYclAwWnBaS2s5ckcrY3Jta1RYc0xUbmdQZDNsa1VpdU42eE5XNjdtSnoyN1hqb05GbWpFbVRoUDZoV3Z3L1p2cVBlOFRWN2ZXNkY2aERhcmxrM1dIOWVEYis2b2RtelVsUWNPNzF0NnRKMGtEN3QybzRqS256dThhckk3TmZaVVliZE10bzV2SlpqWHBoYzhQeWxGTHNqbTZWNmlldUxwMWcycVRwSGUvejZqMlBRUUFBQUFBQURoZENKOEFBQTFpOHpMcTZxRlIycHRlVWhVOFNWS0h1TW9nNHVma29xcGpUcGMwLzl0MGZiVTVXL2RlM0VJOVd2dlhDSjljTHVuQmQ0NkdUSmMvODdOS3lwMlNwTlNjY3MzNTdLQmFoSHRYZGVMTUdOTmNuWnI3NnE4di9hcTk2U1UxNnV2ZnJySXJaL1V2ZWRXT2I5cFhVQ01vT0o0dCt3dXJmWDNKZ0FqbEZ6djAwNzVDYlgyK1Q1M1h6UmdUcHhsajRtb2MvejNnT1ZKVW9jUm9tMTY2dWEwbVA3OUQrY1dPZXRkVWwrNnQvUFRJbGEyMGNXK0JIbG1RVkhYOHg5MzVxdmpzNEFtdjMzZk02N2h1ZDc3Ky9jVkJSUVo2VmV0K2lncTJxdHp1MVBYLzNxbER2d1dNbFVGYmtYSUtLLzQ0WlpWWGJtbW52bTBDam52L0ZZOTJyL1BjWFhQM2FObVduR3JIRHVXVTZjMXZqb1p6VWNGV1hYZGU5SEh2SVVrZG0vdnF3Y3RhYXY2S05IMitNYnZHK2NKU2g1Nzc5TVN2bHlUOWJYenpXbysvOFhXNmxteXNYcS9GYk5DRGw3ZFFZWWxESmVWT2ZiZzZVOWVlRjYwM3BuZVF4WUcvZmNJQUFDQUFTVVJCVkdUUUordXlOT2V6ZzhvcHFQMTEzTEM3UU5OZjIxMnZ1bjczejRrdEd6UWVBQUFBQUFEQW5RaWZBQUFOTW5GZ3BBSnRaczMrcFBxYjlOMWErU3NwczFTRnBUWERsTXc4dSs2Y1cvZWI1Nms1NVhwaGNZcGFSL3RJcXIyNzVZckIxWmZsZStXV2R0V3V2K0JmUDBtU0JuV28zTzlvNlVQZHFvMmY4OWxCelYyZWRxTEhxMVd3cjFranVvWG8zWlVaeXNvdmIxQ0k5YnVVN01yQTVwZER4YnIzelQxNmZtb2J2VGl0cmFhK3VGTmw5bHJXOGF1bjdxMzg5T0tOYlhVZ3ExVFRYOXVsQ3NmUnViYnNMNndSb3RYSDY4dHF2azU3MGtwMDFYTTdxcjQybXd6cWt4Z2dINnV4MWpEdTJLNmd3bEtIWGx1V1dtTk0vM2FCNnBNWW9GZVdwcXE0clByUFRjdEluem83bkxJTDdIcjMrNHlxcnp2RStSNDNmTEtZREpvNklrWTNqSWpSTHluRnRZYVdrbFJtZCtxRFZabDF6bk9zMjJycEtETWFLdmNpVzdRdVN6L3NPQnAremhnVEo1dlZwRHRlMzYwS2gwc1ZEcGRtTDByV0U5ZTAxbXZMVXZWL2kxTWtTZTJhMlRSMWVPVnlrZmU4dVVlT3lneFdHWG5seXRoV1h1Tit4M1BQaFBnR2pRY0FBQUFBQUhBbndpY0FRSVAwYU8wdlNYcnJqZzYxbmo5ZVY5Q3g1aTVQMDV4anVuS09YV1p1NFpwTWJkaWRYMjM4b0k1Qkd0RXRSQSsvbnlSN2hiUGF1ZUt5eXE4RGZFdzZ0M093UGx0L1dDYWpRVU03Qit1ZjcxWUdJTDhlcW5zcHZCTzVabWkwTENhRFZtekxWWm5kcFUvVzFiNzBYbjJ0MkhaRS8vczZUVWFEUVU2bjlPQmxMWFRwZ0lpcTh6TW5OTmZNQ1RVN2EzNS9iVGZzS2RDVUYzWnFRUHRBUFQrMWpmYWtsZWpHLy95aS9HS0hyaDRhcGRoUUw4MWFsS3p5aW9hRldrTTdCK3Y1cVlrMWppZEVWdytDSG54N240ckxuUEsyR1BYQVcvdFUrbHVuV3JOUUw5MDVMazd2ck16UXA4ZThSa1ZsamxxRFA1dVhTWDBTQS9UdXlneGxGMVRmTjJwd3g2QTZ3NmZmclh5OGg5NzZObDAvN015cmM4eVFqa0dhT1NGZS9qNG1QZlhSQVMxWWxTblh5V2Q5eCtWMFNYbkZGWHB1U2h2OTllVmZ0SDUzZ1FaMUNOTGtZZEdhLzIyNjF2NTY5R2Y2ODQzWkd0Z3hTTmNNalZaT1FZV0dkZzVXNzBSLzdVMHYwU3RmcGRiWVYyenpjMzNxM0RjTkFBQUFBQUNnc1NGOEFnQTB5TUsxV1ZxL3Azb3cxTFdGdjg3dkdxejN2cy9Vb1p6U2VzMnpMYW1vem5PYjl4VnE4NzdxSFR0aGdSYU42QmFpenpjY3JscVc3NDlHOXdxVDFXelFxMHRUTmF4THNBWjFDTktTVFVlWFFMdjV3bWE2K1lKbUo2eHQyb3UvYU8ydXltY005alhyeWlHVlhWZk8zMUlMcTltZ0RiTjZuM0NlMy8xM3lTSDk5OHREMVk0ZHU3emI1eHV5OWN1aFlnWDVtblhiNkZoOXVTbGJHL1ljM1VkcDRzQkloUVpZOU9JWGxSMHlXWG1WWFRDSHNzdjB3NDRqdW0vK1hwV1VPeFhrYTlaTkk1dHBYM3BKZzRNblNkcVNWS0JiWDlrbFNmSXlHM1hUaGMyVUdPMmp0YnZ5OWVtNnJLb2xBbjlOS2RiRGsxcktZSkNXYjhtcCtuNE1iRis1NU9FM1czTzE0MkRkMzkvVEpkalhySnN1YUtabFczTDAydExVV3J2eWpoWHFiNmwzZUZxWHh6NUlVbGlBVlMvYzBGYlBmM1pRTThiR2FlbFAyWnIxU1hLTnNmOThaNThpQXF5YU9hRzUwblBMTmYyMTNWcXhMYmVXV2FXcC85NHBnNkhXVTdWNjV0cUVrMzBFQUFBQUFBQ0FQNDN3Q1FEUUlOOXNyZm5tK010L0RkUytqQkk5OFZGU2c3cEtab3lKMDVUemp5NlhkdFhzSGRwNm9QWmw0Z3lxZk9mOWVQTmJMUVo5dC8ySWtqTHJEc0NLeWh6NjEzdjdhejBYSG1qVjNYL1l5K2ZtQzJQbFk2M2VjbUozdUhUWDNEMTFGL0lIZFMzejlydE4rd3EwYVYrQm1vVjQ2YmJSc2RxOHI2RGE4bTlET2diSjIycXNzU1JjVW1hcFpyeCtkRG5ETzhmRnljZkxxSWNYMVA1OEo1SlRVS0dWMjQrb1hUT2JIcis2dFl4RzZYQytYVzJiMmZTMzhmRzY1NDA5K25GWHZ0bzJzNmx2bThxZ0tTYkVxK3I1b29LdGtxVFUzL2FFOHJUY29ncGRNV3Q3dmNlN1k4OG5wMHVhK2NadWZUQ3pzKzY3SkY1ZmI4M1Z6b1BGMmpLbjlsRHJxdWQyYVBLd0tBM3ZHcUxSUFVQMVMwcFIxVjVxY1dGZVNvaTIxYnYrWXhrTUJzV0dlbWxvNTJCSmxkK1RQOVA5QndBQUFBQUEwQkNFVHdDQVB5VTIxRXQ5MndUS1lGQ2RiN0FmNithWGZ0V3EzNVpKKzJaYnJqS09sS3QxdEk4dU8yYlp1ZHFZVFpYaGsvTTQ2ZE1iMzZUcmpXL1M2end2U2ZZS1Y3VnVxR08xaVBDdUZqNTFiTzZyeXdaR2FQM3VBdlZPOUs4NjduSkp5N2JVUHNmeC9IRjV2Y25QNzZqVzRmVjdaOHZKTEFzM3NFT2d4cDhUcm5uZnBHbDNhb2tlbXRoU0UvcUYxL3Y2RFhzSzlNQmJlM1hMcUZpTjdoV21oV3N5OWN6SHlYcm5ybzdhbFZxczdBSzdYcnE1bmVaOGxxeStiUUsxZGxlZStyVU5WRUswVDFYNGxCQnRVNm5kcWJUYzZ1RlRaS0QxdUIxRkt4N3QzdkFIL3MyeEw1WFphS2gybitQZDg0L0xQdDQzZjIrRDdsdlgzbEEyTDZQdXZpaGVMU0s4OWVyU1ZMM3dlWXFhaFhocFgwYnRBZVRldEJMZE5YZVBMdWtmcmhsam11dUxmM1RUVC9zTHRHaHRsb0w4ekxwclhPMGhWMzBNNmhCVXRRZmF3alZaZXFpTzBCVUFBQUFBQU1EZENKOEFBSC9LMWVkR3FiRFVvYnppQ21YbWxldTk3ek5xSFhkSi93ajFTUXhRNXBIeXFtTmJrd3ExTmFsUWd6c0dWWVZQbzN1RjZvbXJXOWQ1djdxV3U1djV4aDVkTmlCU3ZSTDhxeDMvUFlCWXV5dGZtL2NWMUhacG5TWU9pbFRLNFRLOStFV0s1azF2WDNYOFpKZmRXL1pUanBJUGx5byszRnVYOUs4WnRwbU1KKzd1cWsxNGdFVVBYOUZLa2pUdjY4cTlsWlp2cWJ4WGJjYjFDVmRzbUZmVk1uNlNsSjVicmdIdGd4UVpaTldrMlQ5cng4R2pYVEoyaDB2UGZKeXNMVW1GdW54QXBMWWZMTlR5bjNMVkt0SkhYZUw5OU5YbXlpQ3VYYXhOT3c4V3kvR0hWUkh6aXgyYS9Xbk5aZWVHZFE3VzRJNUJlbVpSc29yK3NDUmVteGlicmh3Y2Vkem5OaGlrQ3NmUkY4dmhjdW1KRHcvbzNNNUI2dGJTWDNNK1BhaDJzVGFOUHlkY3ozeWNMTWN4R3lsdFAxaWtXVk1TTkx4cnlISHZVVjhydHVWcTZlWWMzVG0rdVV3R2crNmN1MXZMdDFSMkNSN0tLZE9oRTNTRGZiZzZTMHMyNWVpS3daRWEwenRNaDNMSzlNbTZ3eWNNVTUrZW5LQXVMZngwd2I5K2NzdHpBQUFBQUFBQXVBUGhFd0RncExXTTlOYWxBeVAwMHBlSFZGYmgxRTBYTk5PYVgvS1ZWMXhSYlZ4WWdFVVBUV3lsbGR1UGFIZmE4WmVnMjdLL1VBKyt2YS9HOGNuRG91VnZNK25maTFOcXVhcHlENm1jZ2tNSzhhLzgxVGE2VjVnNngvdnB5WStTSkZVdUg5YzdNVUJCdnVaNjcrdnoxZVpzZmJ3bVM2WDI2bW5LeVM2N3QzWlh2dGJ1eWxmZk5nRlY0ZE90bzJNMWJVUk10ZkYvdjZ5Ri9uNVppeHJ6SEZ2M0swdFQ5ZS9QVTJRMUcvVDhEVzBVRm1DcHFrMlNmdGlacHg5KzZ6RDdveDZ0L0JVVmJOWGM1V2sxem4yNHVyS2p4Mnd5NlAyL2RkTDhiOVAxOGRvc1NkTFN6VGxhdXZsb3g5ZFArd3ZWdjMyZ3RLaXk0NmR6dkovZS9xNW1XRkppZDJqaG1xd2F4Mk5DdkRTNFk1QysySkN0N0FKN3RYT0RPd2FkTUh5eW1vMHFQV2IvTDVkTGV2ZjdERVVHV2RVKzFsZnZmcCtobUJDckx1b2JycDBwUmRxNHQzcjR1SEJObGpic1BucHNSUGVReXREcXMyU1YyeHVXQUI3TUxsVkNsRTJyZCticG1VVUhOR2xJbEdaUFNXelFIQSsrdlUrdkxrM1ZxMHRUcXgyLytjSm1pZzMxMHVNZkhGQlJXYzE5cTJKQ3JPcWQ2Sy8xeHp5THhXVFFQUmZIeTE3aDBsTUxEelNvRGdBQUFBQUFnRCtMOEFrQWNOSm1YaFN2M01JS3pmODJYU2FqUVZQT2o5RjlsOFRyM2plUExtRm1NRWlQVG1vbGcwRjY4cU1UdndtZWtsMm1sT3pxWFNJQlBpYmRlMG04SEE2cHBOeXBwVC9WdnVUZHNkMGx3enFIS0MybnJOb1NlNzBUQXhxMDU5TVBPeXJEbXc1eHZ0WEduZXl5ZTdWWjhkdlNnMUpsS0RTNlY2aGVYNWFtMUdPV3JwczRNRktoQVpacW5VbzdEaGJKYWpab3p0UTI2aGpucS8wWnBXb1o2ZTJXbWlScFJMY1FKY2I0SEhmL3BqVy81bWxrOXhDMWlQQldteGliTENaRHJYdUNuUXBHZytSbE1TcW4wSDdjY2FrNTVVckpMdFBBOWtFMXdxZFZPL08wU3BYZjR3QWZrMjRaSGF2RjYwL2NiVlNYMzM5ZWZ1ZDBTYmUvdXV1RTF3WDVtdlhvcEZaMW5sKzFNMC9QWHB1Z0QrN3BwUHZtNzlXVy9UWDNSYnRyWEhOZE5YdUhLcHd1TlEvMzB0T1RFOVUrMXFaNTM2VEpaRlNOYmpRQUFBQUFBSUJUaWZBSkFIQlNyaG9TcFFIdEEzWHJLN3RVOGx2M3lmT2ZIZFJERTF2cVFGYXAvdnZsSVVuUzN5OXRvZjd0QXZYZ08vdHFoRXIxWVRKS2oweHFKWnZWcEowcHhYcjJ1Z1Q5c0NOUGozMlFkTnlsekpxSGV5czB3S3lQN3VtczZhL3RVa3AybWY3NzVTSFpLMXpxbFJDZ1J4Y2tWUnZ2WlRIb2pla2Q5T0RiKzdSMlYvNEo2L3BnWmllMWJXYXIxelBjK3NvdXJkeCtwTlp6MjVPTHREMjVTSkxVdFlXZjdBNlhYdm9xUldYSGRONE02UmdrYjZ1eHhqNUR0LzhsVmdQYkIrclJCVWxxRWVtdGxwRlI5YXFuTGpQR3hHbksrZEhWanIxNlM3dHFYeWRsbG1yc1kxc2xWUzd0OThDbExUUnhVS1JhUi9rb0k2OWNQOVVTakp3S29mNFdHUTJxMTgvVTV4c082OUlCa1hwbDZhR3FuOVUvNmhEbnF3QWZrOGFkRTZaeDU0VFZxNGFTY3FmT3VYdERuZWRkTHRYNWZUOVdaS0QxdU9lM0poWHFzbWQrMWhOWHQ5YTgyenZvcVlWSmV1LzdvejhMRlE2WE9zVDU2czd4Y2RxZlVhcS9qVyt1Z2hLSGJ2cnZyMXJ6YSszZGJ3QUFBQUFBQUtjUzRSTUFvTUg2SkFib3p2RngrbWhOVnJVMzF4ZXV5VkxmTm9HNitZSm1DZyt3eXR0aTFGOTZoK28vWHg3U0p6OGVidkI5bW9WNDZWOVh0bFNmeEFEOTMrSVV2YllzVmFON2h1cXU4YzIxOEw3T2VubkpJYjI1SWwwVnp1cExwSVg0bWRVdTFxYjN2cy9RaFQxRE5mdjZSRTJhdFYxMmgwdEJ2bVpkM0M5Qzg3NU9xeFpjak9rZFZobEErTmIvVitQUHlVWDZYeTFMMS8wdU5zeExkNHlOcTlkY0VZRVdqZXdlcWg5MjVGVUxubzduMjIxSFZGanEwSUpWbVpvNW9mbUpMemlCUlQ5bWFkTytBbzN0SGFaaFhZUDFqM2YyS2IvNDZESnZEMTdXUWltSGo3NW0rY1VPTGZzcFJ4ZjNpNUNYeGFEWm54eXNkZDdJUU90eGx6cGM4V2ozZXRmNCs1S00vZHNGU3BMdXY2U0Y3cCsvVjEybXI2dnptcmUveTlBMVE2TjF6ZEFvdmZ4VmFxMWo5bVdVNkpFL0JKTEhNM2xvZExVOXBFNjFJMFVWdXZtbFh6WGx2R2l0K2FWNk9KcVdXNjRsbTdKMXcyL0xOeTc5S1VjUHY3Ky8ydmNPQUFBQUFBRGdkQ0o4QWdBMFNNL1cvcHA5ZmFLMjdDL1VZeC9VZkxQK2diZjJ5dGZicUV2NmgwdVMzdnMrVXk4dE9kU2dlN1J0WnRObEF5STA3cHh3SFNtcTBGMXo5MVF0Yy9mNXhteDl0LzJJN2hnYnArbGo0alM2ZDVqKzllNStiVDF3dE9ObVdKY1FHUTNTSno5bTZjZGQrWHArYXFKbWpJblRNNHVTOWVhS05GMHhPRkkzaklqUlA5ODl1dnplbFlPamxKWmJydmRXWnRTN3pxeTg4dU11di9mSDVmcnFZallhOU9oVnJXVTFHL1Q2OHRyRGtkcHNQVkJZN2JuL3JLVE1VdGtyWEJyVU1VaGZiYzdSNHZYWlZlZEc5UXhWWkpCVk05K292dGZWL0cvVE5hcG5xQnhPYWVIYXpEOU9LVWtxTEhYb3RXVTFuNnQvdTBEMVNRelFLMHRUVlZ6TFhrYVNsRjFnMTd0M2RkU0xYNlJVMjhOcVNLY2dyZHVkcjVnUUw3MzAxN2E2K3JrZE9weGYreEo4UjRvcTlPYUtkRTBiMlV6cmR1ZHI4NzZhcjFsbW5yMUdaOW54WERzcytyaExFa3FWWFh2MTNWK3N2dDcvSVZPRE9nYnFsbEd4S2p0bUw3SVhQazlSUkpCVjQvcUV5V0l5eUd3MHVQVytBQUFBQUFBQURVSDRCQUNvdDJGZGd2WDA1QVR0eXlqUjlOZDJxY0pSdmZQRGFKQ0dkZ2xXZkxpUFhDN0pKZW1TQWVIS0s3YnI5V1ZwS3JYWHZ1UlpxMGdmU1pMRlhQbUcrY2p1SWVyU3drK3pQa25XeDJ1eWFseFhXT3JRSXd1U3RIakRZYzI4S0Y0RzQ5RnpacE5CVTg2UDF2YmtJdTFNS2RiT2xHSjl2aUc3YW83TVBMdVcvcFNqTWIzRDlQSlhoNVNhVTY1aFhZS1ZFTzJqQjk3YUo3dmoxSGV6OVAydGE4ZmZ4eXgvSDVPZW45cEd2Ukw4OWRxeVZHMU5PajNMMXRYRllKQyszMzVFbzNxRUt0VFBvaGMrUDZnS2gwc1BYdDVDbjZ3N1hDTzR1V0pRcEtUS29PWC8yYnZ2NktpcXZZM2ozK21UM2hOQ0NMMVhxU0tDZXFXSW9vaUt2V05GeGQ3THRXQXYxNDZOaTFpd0t6YnMwcnNnMG5zUElZWFVTU1l6bWZiK01XUmdTQUxCTzc2QVBwKzFYQ2JuN0xQUFBpV0JOUSsvdmNjTXk2NHprS3gwKzVoUVI0Vll0TTFFbnpieGZEZ3pueUpIM2NGUm56YnhkR29hUTNhYUhYYUhUNDJUclp6Uk40MGIzbGpIcm5JUGsyN3J5TGhyMjNIcEM2dnFuVmJ2OVI5eTZOTW1uaGV1Yk12VnI2NWg3UTduUWQyWHZjWFlURFJPdGpGcjFmNm4xUE1ISUwrMG10SktMK08reTJIZk44dG1OdkxzNWExWnZORkJyOVp4OWZhVGxXeGpRS2NFanV1VXhORnQ0N0dZREJRNVBId3hyNURzMUQzcmZEMHdhUk1iZDFaeDAyblpmUHRBUE85TnorUGoyZmtVTzd4LytscEZSRVJFUkVSRVJQNE1oVThpSXRKZ1paVmVGcTR2NTQ2M04xQzVWNlZLWnBLVlUzcWxNTEpmT2xuSk5oWnZkSERYdXh2dytRTGNlV1l6cmprcGk3T09TZWZkYVhsOHVhQ1Ewc285SDRaZk1UaVRHNGRsVSs3MGNlZVp6YmpxMWRXODlHME9MMzJiYzhEeExObFV3Zm5QclF6YmR1bUpqV2lTWXVPSno3YUd0dDN6M3Nhd05oL015Q00xem9MVkhFeXRyaDZTeGRvZFRyNWRkUEJUQXg0TW04WEFJeGUwWkdEWFpHYXVMT1dCYzV0enkvajFyTi9wWk1rbUJ5OVBPZkExUjBKU3JBVi9vTzZRTGFmSXplMFROOUNxVVJTalQ4NWkwcTJkcUtyMlUxam1ZZXpIbThQYWpobldoT0Y5VW5sNVNnNWRtc1Z5YnY5MFZtNnI1TXNGaGFFMlY3KzZwdDV4MUZRN2RjaU9admFxMm1zVHhVZVpPS2QvT2dDTE56Z0FpSXN5OGZ3VmJabTZySVNGNjRQVHo5M3o3a1pldkxJdHoxM2VodXZmWEV2Qzdxa1RtNlRZR05rdm5hUllNdzkrdUprN0pxNW4vQTBkbUhScko1NzhmQ3VmelcxNHBWTU5nd0d1R3RJWWt4RVdyS3QvUGFYWHZ0L0JhOS92WU1UUmFUeHdibk5PUHpxTis5N2ZHQXJINHFOTXZIaFZXOXhlUDUvT0tXRFV5NnRyOVhGNm4xUXVINVFaQ21lMzczTHp3WXg4ZmwxV3pOSXRGUVFDOE1aMTdjS2U1Y1NwTzVtMXFwVGJUbS9LNktGWlhEVzRNZlBYbGZQUnJQd0dyVDhsSWlJaUlpSWlJaElKQ3A5RVJLVEJGbTkwc0hqaldnQ1M0OHljMlRlZEV6b24wcVZaTEY1L2dLbkxTcmo3M1kwczNieW5PbWJVeTZzWjJEV0o2MDlwd3Eyblp6UG0xQ1lzWEZmTytKOXo2ZFlpbHB0T3plYTk2WG04T3pXUGorL3N6T2QzZDJIQ0x6dVp0YktVM0dJM0I3T3N6b0NPaVl3WmxzMVhDM2JWcWtxcGEvcXpyKy9yR3ZiOTBoZjJ0UGwwVHNFQjF3RDZWNWVrZzVwVzdiYlRtM0ZTOXhSdWYzczkwNWVYOHZ5VmJYai8xazc4dnRIQnF1MlZYRG00TVI2Zkg2OHZFUHJQYURRd2QwMFppelk0dUdwSVl5d21BMWF6a2VWYksvaDFXY2tCejJtekdIajVxblpVdW4xVXVueWtKVmpvMGl5R2RibjFWLzVFV1kzMGFoMUgrNndZL0FIWXNMT0tMczFpR0hkdE8xNzZOb2RsV3lxNGZVUlRMdmxYSTk2Wm1zZGJQK1VTWlRYeS9pMmRlUEM4RnNSSG0zaDNXdDRCeHpaalJTbWpoelpoM0RYdDl0dHUzdG95MXVVNmFacG00L2xSYmNFQUQzKzBKd2lidnFLVXQzN09wYUxLUjBLMG1VSGRrb2lQTWpQbGdXNlVWM2xEMCtrVmxIbTQ2UG1WUEhOWmEvSkxxL2Q3em1acGRpYmYyd1dQTjBDMTEwOXBwWmR5cDQrTVJDdnBDUmIrMkZ6QnJKWGg0VlByekNoYXBFZUZiYXQwK2Zoc2JnRW5ka25peEM1SlZIdURMM1JXaW8xdXpXT0RhNWI1QWd6dWxoeDIzTFpkTGlwY1B0eWVBSzkrbDhQVVpTV3MzMW5GWlNkbU1tWllObHNMcTRpMW0rbmJOb0g1KzRSZ0cvT3F1TzZOdFhUTWp1SDBQcWtjMHo2QlRYbFYrNzFlRVJFUkVSRVJFWkZJVXZna0lpSi9Tcm5UUjdjV3NWUjdBenorMlJaK1hGSWNWdEcwdDErWGxmRHJzaEo2dDRuajNQNFpSTnRNTE45YWdkUHRJejNCeWpPVHR3Rncvck1yK1BlNUxiajd6R2JjYzFZekFIeCs4UGtEdTZmeDI1TkVHVEJnTUFTbitqTVlERHorMlJhMjczSXhmWGtKait4VG9RUEJLY2tPeHVZQzF3SGJyTmhXeWR0MVRDZFhvMG1xalZ1R1o0ZSsvK2EzUW5LS1hQeXlOQmdhalhsekhVTjdKSE55anhUNmQwd2dJZHFNeFdURVlqWUUxKzB4N1ZtM3A2YTRwZVlPM1BMZmRRMjZEcmNuUUt2TUtOTGlMVUJ3S3JndEJhNnd5ckFhcC9WT1pYaWZWSHEwaXNOaU1qQnpaU2wzVEZ6UDZod25SN1dJNVpiaFRXbmJPSXByVDhyaTJBNEp2UEZqTHE5K0Y2eldxcXIyTS9yMU5ieHlUVHR1SDlHVXJIMnF6K3F5TWErSzB4NWJTdjhPaVNURm10bDNsU0t2TDhDMlhTNm1yd2dHaWJGMkUyVk9MN2RQWEY5cmVyMVg5cW9hKzIyOUEzOGd3TmNMZHpGM2RSbmV2UkxNY3FlUGE4YXRQZUI5MjFyb1l2cnlVZ0lFUThCb200bFl1NG5WT1pWOE1OUEJoelB6dy9vRk9MVlhLcU1HWmRiYjV4T1h0S3ExcmI3Mkg4N0s1NG5QdHRZS0dBdkxxK25kSm83ZWJlTHcrZ0tzelhYeS9GZmI2K3hqMWZaS1ZtMnZQTkNsaW9pSWlJaUlpSWhFbkNFUXFHZmVIWkcvd0tKRmk3ajMzbnR4dTkwODk5eHo5T3JWNjFBUFNlUXYwL1dtaFlkNkNFZXNqRVFyN2JPaVNZcTFVT0h5VXViMFV1bnk0M1Q3Y0huOFZIdjlWSHNDK1B6QllNRG5EeHhVaGRUQjZwZ2R3MGUzZCtMU0YxZUYxano2OU03TzVCYTd1V244K2dNZWQ4T2I2dzc1bEdjR0F4Z0lobGYxL2NrL3NsOGE1L1RQWVByeUVyNWV1SXVjSW5ldE5tbnhGcDYrckRYdlR0dkp0T1cxcnluS2FtVHNoUzM1Y240aHMxZlhQeTJkU0NTYzBqT1ZKeTlwZWFpSElTSWlJaUlpSWlMN1VQZ2svNjhVUHNrL2ljSW5FWkcvbHNJbkVSRVJFUkVSa2NPVDhWQVBRRVJFUkVSRVJFUkVSRVJFUlA0K0ZENkppSWlJaUlpSWlJaUlpSWhJeENoOEVoRVJFUkVSRVJFUkVSRVJrWWhSK0NRaUlpSWlJaUlpSWlJaUlpSVJvL0JKUkVSRVJFUkVSRVJFUkVSRUlrYmhrNGlJaUlpSWlJaUlpSWlJaUVTTXdpY1JrY1BVcUVHWkxIdXhEOTFieGthMDMxZXVic3V5Ri90ZzBwOEEvNU9PMlRFc2U3RVBOd3hyY3FpSEFzQ2xKelppMll0OTZOczIvaTg3eDJ2WHRtUEo4MzMrc3Y3MzUzQzczL3VUbVdRTisva2EzQzJaWlMvMjRlYlRzZy9abUJZODA0dDNidXI0cDQ1OTdkcDJMSHV4RDQyVHJmVzJ1V2Rrc3dhL2Y3MWF4N0hzeFQ2TUdwVDVwOFlqSWlJaUlpSWlJb2MvZmZRb0l2SVBVKzcwVWVUd0VBZ2M2cEVjMmJ5K0FFVU9EMDZYNzFBUEJZQXF0NThpaDRkcTc5L3p3UjV1OTdzK0kvdWw4ZlY5M2JDYUQ2Ky9ZaFU1UEpSV2VnLzFNRVJFUkVSRVJFVGtIOEo4cUFjZ0lpTC92KzU5ZitPaEhzTGZ3cnBjSi8rNmY4bWhIa2JJSjNNSytHUk93YUVleGwvbWNMdmY5ZW5USmdHYnhYQ29oMUhMS1k4c1BkUkRFQkVSRVJFUkVaRi9rTVBybitXS2lJaUlpSWlJaUlpSWlJaklFVTJWVHlJaWg3bVVPQXRQWE5LSzR6c2xZalFZK0gyVGczSGY1YkJpVzJWWXUrYnBkcTRZMUpqZWJlSkpTN0RnOVFYWW5GL0Z4N01MbUR5L01OVHVsYXZiY2x5blJMcmZzcEF4cDJZemFtQW1GLzVuSmN1Mzd1bnZ0V3ZiY1d5SEJHNGF2NTVweTB0QzJ4Ky9xQlVuOVVobXdEMkxjYnI5eEVXWnVIeGdKaWQwVGlJcnhZYkphR0JuaVp0Zmw1WXc3dnVjMEJSd293Wmxjdk5wMlp6ejlBb3VQVEdUWTlvbkVHczNzVG0vaW9sVGR6SmxVVkhZdFhUTWp1SDZVN0xvMWp3T2t3bm1yU2xuM1BjNWZIRjNGOTZabXNkelgyM2I3ejA3YjBBNkk0NU9vMW02SFFNR051UTUrWFIyQVY4dDNOV2dlejY4VHlybkRjaWdkV1lVZmorczNGYkpoRjl6bWJPNkxHeU1IOTNlaVRkL3l1V1ZLVGtBTEhxdU41L1BLMkQxZGljWEhwOUI4L1Fvbk5VK1pxMHM1WVZ2dHJPcjNFTlNqSmxmeDNabjhVWUhWNzI2SnV5OFJnUDg4a2gzU2lxOG5QWFVjZ0Rpb2t4Y05hUXhnN29sMHlqUlNubVZqNFhyeW5udGh4dzI1N3RDeDE1NllpTnVPNzBwVjcrNmh2bnJ5a1BiUi9aTDQ2eGowbW5aS0lxcWFqOHJ0MVV3N3ZzZHJOenIvYkZiakl3YWxNbkpQVk5vbkd5andoVTh4NnZmNWJDbFlNODU5cjcyTzg1b1N1ZW1zVlM2Zk14WVdjSXJVM0lvTFBlRXRldmJMcDZMam05RTUyYXh4RWViY0xyOHJOaFd3WnMvNXZMN0prZW9YWk1VR3plZGxrM1g1ckdreGxzb2RuaVl0N2FNY2QvdklLK2t1dDc3RGRDblRUeVhEY3lrUzdNWXpDWURtL0pjdkRkOUp6LzhYbnpBNTN3dzcxbTNGckZjTXlTTHJpMWlzVnVNYkMxdzhmbThBajZjbFIrYXduTGFvOTFKaWJNQXdUV1dsbTJ0NEtML3JEcmdPUGJWUE4zT3RVT3o2TnMyZ2Zob0UvbGwxVXhkV3NJYlArNmd2Q3A4MnNHVHVpZHo2WW1adEdvVVJhWEx4M2VMaTFpMnRZSm5MMnZORFcrdVkrYkswdEI0MXVRNHVmVEY0SGhldTdZZEdZbFdIdmw0TTllZjBvVE96V0l3R2d6OHNkbkJ5OS9XL3YzeVo3eDVmWHVTWXN4TStHVW5kNTdabEdpYmlYZW41YkZnWGRtQkR4WVJFUkVSRVJHUkk1ckNKeEdSdzl5akY3WmkreTRYci8yd2cvZ29FK2NmMTRpSk4zWGtxbGRYczJSVEJRRFpxVFkrdUswVEhsK0F6K1lVc0xPa212UUVDMmNjazhiRDU3ZWd0TkxEdE9XbHRmcWV1cXlFVVFNejZkYytNUlErV1V3R2VyYU9BNkJ2Mi9oUStHUTBRUCtPQ2N4Zlc0YlQ3Y2RzTWpCaFRBZGFaVVl4ZVY0aEg4M0tKOXBtWWtqM1pFWU55c1JpTnZETTVQQ1E2TTNyMnpON1ZSa1BUTnFFMldUZzJxRlpQSEZ4SzRyS1BhSEFwRWZMT042NHJqMVYxVDQrbkpWSHBjdlBzRjRwakwraFE0UHUxOFVuTk9LT001cnl5OUlTUHB0YmlNVmtZSGlmVk1aZTJCS2J4WGpBcWVudU9yTVpGeDZmd2FJTkRsNzhaanRXczVHVGU2WXc3cHAyUFBicGxnTWVmM0tQRkU3c21zVDRuM0xabEY5Rjc5YnhYSDFTRnRtcGRpNTljUlVsbFY2bXJ5amx4SzVKWkNSWXlTK3JEaDNicjBNQ3FmRVdKdnl5RTRDa0dEUHYzTnlSNXVsMnZsdGN4SHRiS3NoS3RuSDJzZWtjM3ptUmExOWJFM29INnZMSUJTMFljWFFhU3paVjhNcVVIRXhHQXhjY2w4SGJOM1pnMUV1cldiR3RFcXZad1BneDdlbmNOSmJ2RmhYeDdyUTgwaE1zbkgxc0JoL2QzcGxSTDY5bTFmWTlRWVRSQUcvZjJJRUY2OHA1N3F1dHRHMGN6Wm5IcE5PM1hRTG5QTDJDTW1kd1hhR2hQWko1NnBMV2JNeXI0dDJwTzNHNGZMUnVGTVdJdm1tOGNWMTdoajc4QjBVT0QzRlJKdjQ3cGdNV2s0R1BadVZUV082aFZhTW96aHVRUWU4MjhZeDRmQmx1VDkzcldBM3ZrOHJZQzFxU1Yxck5lOVB5S0szMGNscnZWSjYrdERWSnNWdjVjR1ordmZmbVlONnpJVWNsOCtTbHJjZ3JxV2Jpcnp1cGRQbm8yeTZCdTg5cVJyY1dzZHoxVG5BcXkzdmUzY2cxUTdQbzJTcU8yeVpzb0xDOHVsWmZCOUt0UlN4dlh0Y2VnTS9tRnBCVDVLWnI4MWd1T3FFUngzZE80dUxuVjFLeWUrMm1tc0J4Zlc0VnIzMi9neGk3a2JPUHplRFUzcWtOT2xkbXNwVlhyMm5IQnpQekdmOXpMbzJUYmR3eXhGNXQzd0FBSUFCSlJFRlVQSnZ4TjNSZ3lJTkxhZ1ZkZjBabWtvMS9uOWVjS1l1S3NKb05MTjNpT1BCQklpSWlJaUlpSW5MRVUvZ2tJbktZMjFybzRwSVhWb1krZ1A5K2NURWYzOUdadTg5cXpyblByQURnMGhNemliV2J1T1NGVmZ5eGVVOFk4ZE1meFh4eGR4ZUc5VXl0TTN4YXZyV0NJb2VIL2gwU2VPUEhIUUQwYkJXSDNXSWtyNlNhbzl2Rmg5cDJheEZMWW95Wlg1Y0Z3NmlCWFpOb2x4WE55MU55ZU91bjNGQzc5MmZrOGNPRFJ6R3NWMnF0OEduTzZyS3dOYWUyRkZUeDFiMWRPYjF2V2loOHV2K2M1Z1FJY01Geks4a3BjZ013YVVZZWI5L1VnZVRZMkFQZXI5T1BUbVZuU1RXM1RsZ2Yyalo1ZmlHVGJ1dEU2OHpvL1I3YnMxVWNGeDZmd2JlL0ZZV044NzNwZWJ4MWZYdnVPS01adnl3cnB0amhyYmVQK0dnekl4NWZGcW9ZK20yOWd4WVpVWnpVUFptbWFUYTJGYnI1WW40Qmc3b2xNYXhYQ2hOKzNibG43SDNTOFBnQ2ZMc29XS0UxNXRRbU5FKzM4K2duNGFIWFZ3c0wrZmoyem95OW9CWERIMXVLdjQ1c3BrZkxPRVljbmNhUFM0cTU4NTBOb2VxY1g1WVc4L1g5WGJsbWFCWmozbHpINVFNYjA3VlpMQTkrdURtc1F1NlQyUVY4Y1U4WEhqeXZSZWc5QXpBWTRKdmZkdkhvSjF0QzI1WnVxV0RzQlMyNWVraGpudmt5K014SEQyMUNtZFBMSlMrc29zSzFKOFRZVXVEaW5wSE5HTlF0aVk5bkY5QzdUVHlaU1ZZZStHQVRYeTNZVTVtV1gxck42VWVuMGlJOWlqVTduTFd1TDhwcTVPNnptckY5bDV2em5sMFJPc2ZrK1lWOGVsZG5SZy9ONHRNNUJYaDlkUWRYRFgzUFltd20vbjFlQzdZWEJzOVRWZTBINE1OWitkeDhXamFqQm1YeS9lSWlwcThvWmY2NmNzNDhKaDJBMmF0TFEyMFB4dGdMV21JeEdUajMyUldzejYwS25tdG1Qcjl2ZFBEQU9jMjU5ZlNtUFBEQkp0SVRMSXdabHMzYUhVNHVlbjdQNzRmUDV4WHl4ZDFkR25TdUdKdUpoejdhekJmejlqeDNpOG5BL2VjMFovQlJ5WHkrMS9ZL0t6N2FWT3Y5N2JVNzNCWVJFUkVSRVJHUnZ5K3QrU1FpY3BqNzc4KzVZWlVmbS9Lcm1MNmloQTVOb21tY2JBWGdpYysyTVBUaFA4S0NKeUQwd1h1MHpWUm4zNEVBVEY5Ukdwd1dMU3JZNXBqMkNSUTd2SHd4djVDV0dWR2t4UWVuRVR1K2N4TCtBRXpmWFFuMTQ1SmlCajZ3aEhlbjdRenJNejdLUkZtbGwyaGI3VDlpOXA3Q0QyQnp2Z3VmSDFKM1QxWFdxbEVVclRPaitQYTNvbEFnQU9EeEJYanp4MXdhWW1kSk5ZMFNyZHg4V2phdEdrVUI0UEw0T2V2SjVUeisyWmI5SG50eXp4UUF2bHhRU0dLTU9mUmZyTjNFVDB1S3NWa01ET2lRdU44K051ZFgxWnFxYnNQT1lJaVFHaGQ4WG5OWGw1RmZWaDFXb1JKck4zRkM1eVNtcnlpaGRIZGx5K0Nqa3NrcnFlYlR1ZUhWVnV0enE1aXl1SWltYVRZNlpzZlVPWTZCWFpNQWVQdlhuYUhnQ1NDbnlNMzV6NjdrNFk4MkEzQkt6eFFxWEQ1bXJDZ0p1MmFQTDhEY05XVmg3MW1OY2QvbGhIMy8xWUpkN0NyM01MQmJjbWpiT2M4czU2d25sNGNGVHlZanVMM0JRS2JtbmN3ckNUN255MDdNNUY5ZGtrTHZ6WHZUOHhqNTFJbzZneWVBbzl2R0UyczM4ZW5jL0xCemVId0J4cnk1amd2L3N4SmZYYWtjQi9lZTllK1lRSHlVaWU4Vzc4Sm1NWWJkb3g5K0QwNFh1ZmQxL3kvYU5vNm1lYnFkSDVjVWg0S25HcC9PQ1ZaQkRUb3FDYU1CVHV5YWhOVnM0TzFmZDRiOWZzZ3JxZWJ6dVEwUGphWXRDLytaM0ppMysxM2QvWE4vc09xNjQ5TlhsTlN4VlVSRVJFUkVSRVQremxUNUpDSnltRnUvcy9hSDd4dDJPb09WTktsMmNvdXI4Zm5CNHcxdzFaREd0RzhTVFZheWpleFVPM0c3QXlXRG9mNytweTB2NGF4ajB1amJMb0dmL2lqbTJBNEp6RjlYeG0vcnkrSGtMUHEwaldmS29pSk82SnpJa2swT2lpdjJWUDA0cW55YzFqdVY3aTNqeUU2MTB5VEZGdnJRdW1hOXA3MlZWSHBxYmZQNUE1aU13UUUyVDdjRHNMbWdxbGE3alR0cmI2dkxNNU8zMGpUVnpxaEJtWXdhbEVsQldYRDlvSi8vS0E2dGYxT2Ztdk9QdjZGOXZXMGFwOWoyMjBkTmNMUTNqeThZdUJoMzUzSCtBSHl6Y0JkWERtNU0rNnhvMXV4d01yUkhNamFMSVZSOUZCOXRJaUhhek1wdFpXSGhVWTBOdTkrTHJCUmJuZXZ6Wk8wZTUrYjgydmR0N1Y2QlR0TTBPeVlqVEgrc1I3M1gxRGpaUm01eGNBcTVZb2MzN0Iyb3NUR3ZpcVBieG1NMkd2RDZBN2c5QVZMU0xWenlyMHhhWk5ocG5HeWphWm9kcXpuNHJHdmV5VlhibmJ6K3d3NnVHcExGaTFlMndlc0xzR3hyQmJOV2xmTDFnbDIxMXBIYTkvbzI1ZFZlazJyN0xuZXRiWHM3bVBlc2VYb3d3THorbENaY2YwcVR1c2VTdlA5M29xR3lVNFA5Yk1pck8zRGJsRmZGY1owU1NZdzFoOFpWMS9PdDcvaTZsT3p6dm5wMi85d2FqWHQrYWJnOXdmZlhhcTcvM3l6VjdITjV3cXU5QWdIcWZZWWlJaUlpSWlJaTh2ZWw4RWxFNURCWFhjZDZOelZoalhkM1pVZS85Z204ZEZWYmZQNEFpemM2V0xDdW5Fa3o4bG02eGNHMzkzZmJiLy96MTVaUlZlMm5YL3NFRm0wc3AwMW1OTzlQejJmcDVncWNiajk5Mnlhd2RITUZMVE9pZUhyT25tbjBHaVZabVhoalJ4b2xXVm0rcFlMVk9VNm1MTnJGc2kwVjNEdXlPUjNxcU1pcEswVFptMlYzTU9IeDFwNnVMRkJuVFVWdDJ3cmRqSGhpR1QxYXh0Ry9ReUo5MnNaemFxOVVUdStUeWk5TFM4S200OXVYY1hjaWN1TmI2M0RWTTJYYWp1TDlCeHNIdXNZYWsrY1hjc1dneHB6V081VTFPN1p4V3U4MENzbzh6RjFkQm9BQnczNzdxeGxyWFNFZmdObTAvK01oR0FBWkRjRjc5dWdubSt0dHQzY1ZqcnVPWjFOelBuOEFmTHRQZU8zUUxLNDdPWXNpaDRmRkd4Mzh2TFNZdFR1Y21FMEducjJzZGRpeDQ3N2Z3Y2V6Q3ppK2N5TEh0RXVnZCt0NGVwd2F4OVZEc3JqcWxUVXMyMXA3WGF2UTlUWHd2ZGpid2J4bk5ZSGhxOS9sc0hSejNldHJPVnovKzlwSXNDZVFPOUF6OTNnRFdFejdlZjRIZjB2MnEyWWRyNFNZK3YvYW1Cd2JESjNMbmVGaGxqL1E4SjhKRVJFUkVSRVJFZm43VVBna0luS1l5MGkwMWdvOHNsT0RsUnRiZDAvdjl1aUZMZkg1QTV6MTVQS3dhY1RTRXc0OGRWYTFOOENjMVdVYzJ5R0JoZXZMTVJoZy9yb3l2UDRBaXplV2MzVGJlTmJzQ0ZiV1RGMWVIRHJ1bHVIWk5FNjJjc2ZFRGZ5NHBEaXN6NlRZUHpkbFY4MzF0TWlJcXJXdldWcnRiZnN5R3FCTjQyZ0NBVmk4MGNIaWpRNEFrbVBOdkh4MU93WjFTNkoxWmxSb0dyeDk3U2h5MDZ0MUhJNHFYK2pZUGVlMzB5emRqdE45OE92NDFHWDdMamUvYjNJd3BFY3lIODdLcDN2TFdNYi9uQnRhdjZuTTZhVzh5a2ZMUm5WZmQ4MzJtbW5yNnJvV0NGYjU3RHQxM1hVblo1RVFZK2FKejdhU1crSW1QZEhDNzVzY3RZS003aTFqc1ZtTXVEeDd3cFhrV0V1b3VtbHZUVkp0YkN0MEVRZ0V6M25keVZtczJsN0o1Uyt0RGx2N2FOanVxUTFEL2NXWmFaTVp6WkpORHI2WVZ4aGFmK2kwM3FrOGRsRkxMaDNZaU5zbWJLajMrbHFrUnpGN1ZWbll2aUZISlRPZ1V5TGp2c3RoWjBsMXJXTVA1ajNiRWZwNU1vVFdKYXNSWXpOeFRQdDQ4a3BybitQUHFLbllhdDJvN3JYSldqU3lVK0h5NGFqeXNhVXdlQTB0TTZKQ1UrWFZhTGE3c2l0U2FpcmxlcmFLcXpPQU14bWhXL05Zbkc0LzJ3cHJWNktKaUlpSWlJaUl5RCtQMW53U0VUbk1uZG83L01QNjFIZ0xKM1pONHZkTkRnckxQUmdOd1lxRUlvY25MSGdDT0g5QUl3Qk1wdjNNdTBkdzZyMk1SQ3ZuRGNoZ2E2R0x2TjBmMk05YlUwNmpKQ3ZuRDJqRTZoeG5hT28xMkJNd0xkMFMvbUgwc1IwU2FKcG1DMVZuSFl6Vk9VNjJGTGc0dVVkS1dIQm1OTUNvUVprSFBONW9NUERXOWUxNTVyTFdvY29ZZ09JS0w5dDJCVDhVcjFrSHF5NC8vUkVNMFc0WTFpVHNlTFBSd05nTFcvTEsxVzFKam8zY3Y5djRZbDRoR1FsV2JodlJGQWl1TmJXM1gvNG9KalBKeXNoK2FXSGJXMlRZT2FWbkNqbEZibGJuMUQzRjJ0VGQ2MnRkZUVLanNPMk5rNjFjZW1JbXpkS0NBY1hQZnhSanR4Z1pQVFI4U3JtTUJDc3ZYOTJPeHk1cWhXK3Z2TTFtTVRENHFQQTFqdjdWSlpHTUJHc29oRXphZlkvVzVUckRnaWV6MGNESVk5TkRYd01NNjVYS1c5ZTM1NlR1NGUvNTBpM0I4TTlYVDFIUmduWGxPTjErenVxWFJwUjF6MTluekVZRFZ3NXB6TUN1U2V5cVo3cTNnM25QWnE0c3hlWHhjK0h4R2FIMXoycGNNN1F4L3huVmhtUGFKNFMyMVZSKzFWUlhIWXgxdVU2MkZyb1kyaU9aMXBuaElkaUlvOVBJU3JieHk5TGdQZjc1ajJLOC9nQVhISjhSOXE0bXhwZ1oyUy85b00rOVA5TlhsRkR0RFRCcVlHTTZab2NIWTBZRDNIeGFVNUxqelB6MFIxSFl1eUlpSWlJaUlpSWkvMXlxZkJJUk9jd043NU5HdWRQSGQ0dUx5RXF4Y3N2d3BuaDlBUjc5WkFzUW5OWnF4b3BTQm5WTDRzbExXakYxZVFsUkZpT0RqMHFtZjhkRVBMNEE4YnZYZnFyUGpKVWwrUHh3Vkl0WVBwNWRFTm8rYjIyd29xUnBtbzFYdjhzSk8yYmE4aEw2dG8zblA2UGE4TkdzZk53ZVA3MWF4M1BXTVdtNFBIN3NGaU5SVm1OWStOQVFZei9aekJ1ajIvUEpIVjM0WkU0K0RwZVBrN29uMHlZeitLSDMzdE9pZFdvYXd3dFh0dUczZFE3dWZYOGpYbitBdDM3SzVZNHptdkxPVFIzNWZuRVJMbytQbzFyRU1heG5Dak5XbHJKbGQ5WEx2c2NDekZwVnlwUkZSUXpybGNKSHQzZGl5cUlpWE5WK2h2Vk9vV3V6V042ZGxzZjZCcTQ5MVJBLy8xSE1QU09iTWJCckVvczNPdGhXR0I0ZXZ2VHRkdnEwamVlQmMxclF2V1VjZjJ5dUlDdlp4am45MC9INUF6d3dhVk85ZlM5WVY4NDN2KzNpOUQ2cFpDUmFtYmE4aEdpYmtmUDZaK0FQQkhqMnkrQVVpbS8rbU11QWpvbGNNVGlUMW8yam1MTzZsRmk3bVhQN3B4TmpNL0h2RHphRkJYWmVYNEQ3ejJsT2xNM0k4cTBWSE5VaWpsdFB6MmJ0RGljVGZza0ZZUFYySi9tbDFaemFLNVg4VWc5cmQxU1NsbUJsNURIcFpLY0YxeldLaXdyK0ZlU3JCWVdjUHlDRCs4OXBUb2ZzYURic3JDSXgyc3pJWTlQeCtBSk1tcGxYNS9VNXFudzhQWGtyRDU3YmdvL3Y2TXlYQ3dxcGNnZWZWZnVzYU81N2Z4T2UzZU4rNnRKVzlHZ1Z4NWczMW9XcXdCcjZucFZXZW5ucTg2MzgrOXdXZkhaM0Z6NlpYVUIrcVpzK2JSSVkyaU9aSlpzcStHTGVucCtaNHQyQjE5T1h0bWJ4Umdkdi9aUWIydGV2UTBKb0hiWjlUVmxVeE8rYkhEejA0V1plRzkyTzkyL3B4TWV6ODhrcGN0TzFXU3pEKzZTeW85ak5DMTl2QnlDdnBKclh2dC9CbUdGTitPQzJUbnkzcUFpYnhjaklmbW5ZTE1Fd0xsTFQzZVVXVi9QTTVLM2NNN0k1SDl6V21UODJPOWhSNU1adU5kSzFlU3daQ1ZiVzUxYngvRmZiSTNOQ0VSRVJFUkVSRVRuaUtYd1NFVG5NM1RwaFBSY2QzNGdManMvQTZ3c3diMjBaWTk3TVlldGUwMXM5K09FbUNzdWI4Sy9PU1F6cWxreXh3OE82WENlWHY3U0tDNDVyeE1CdVNhVEVXU2h5MUYwSlV1NzBzV1NUZzE2dDQ1aS9kczhVWmh2enFpZ284NUNlWU9IWFpTVmh4M3c0TXgrejBjRFp4NmJ6d0RrdHFIVDUyTDdMeGNNZmJjWm1NWEwvT2MzcDN5R1JuNWNXNzN1Ni9mcHR2WU1yWDFuRDlhYzA0ZElUTS9FSEFzeGVWY2Jidit6aytTdmFoRTBOWnpVYnlFaXdoaXB0QU42Ym5rZHhoWWZ6QjJSd3pkREdSRmxOYk4vbDRwVXBPVXljdW5PL3h3TGM4OTVHbG14eWNPWXhhWXcrT1F1UE44RFdRaGNQVE5yRVZ3dDNIZFMxSElqTDQrZUgzNHNZMlMrZEwrY1gxdHBmWE9IbC9HZFhjczNReHB6WUpabVRlNlJRVXVsbCt2SlMzdnhwUnloSXE4LzlremF4WWxzbEk0OUo1N2JUbTFMdTlMSmtzNE5YcHVTd09UOTRiSVhMeDhYUHIrTEt3WTBaMUMyWmZ1MFRLSGQ2V2IzZHlWM3ZiT1QzVGVIVEQrNHNxZWJGYjdaenpVbFpOTSt3VTFycFpmTDhRbDZkc2lNVU5MbzhmcTU2ZFEyM0RHL0syY2VtRTJVMVVsam1ZZkhHY201NGN5MlRidTFFdnc0SlBQZFY4TjBiOWZKcXJoNlN4UW1ka3pqbjJBeWM3dUQ3ZU9mRURhellWbG52OVgweHI1QzhrbXF1R05TWXE0ZGs0Zk1IV0wvVHlYV3ZyMlgyNmozdmNWS3NoWXdFSzFiem5ncXBnM25QUHA5WHlJNGlONWNOek9TQzR6S3dtbzNrRnJzWjkvME8zcG02RS9kZTY3Sk5tcGxIMStheDlHNFRUL1AwcUxEd3FYMVdOTzJ6NnA1U2I4ME9KNzl2Q2s0VmVjRnpLN24ycEN4RzlFMGoxbTRpcjZTYWlWTjNNdjduWEJ4VmUwckIzdm9wbHlLSGh3dVBhOFFOdzVwUTd2VHl6Vys3Y0xwOVhIOUtrenJYdFBxelBwNWR3Tm9kVHM0YmtNRlJMZUxvbEIyTDIrTW5wOGpOQnpQeStXaFcva0VIelNJaUlpSWlJaUx5OTJVSUJMUU10UHovV2JSb0VmZmVleTl1dDV2bm5udU9YcjE2SGVvaGlmeGx1dDYwOEZBUDRZaVVrV0FsdjZ6MkdqcjkyaWZ3K3VoMlBQSFpWajZjbFg4SVJpWi9KMGY2ZXhabE5XSTFHeWx6ZW12dHUrblViSzRZbk1tWlR5NnZkMzJ6djR0VGVxYnk1Q1V0RC9Vd1JFUkVSRVJFUkdRZld2TkpSRVFPSzEvZjM1Vkp0M2FxdFgxNG4xUmd6MXBBSXYrTEkvMDlhOWtvaWxsUDlPQ1c0ZGxoMisyN3A5d3NkL3JZa3IvL3lqZ1JFUkVSRVJFUmtiK0twdDBURVpIRHlwZnpDem4vdUF4ZUg5Mk9HU3RMTVFESGRraGdRTWRFSnM4dlpOVjI1NkVlb3Z3TkhPbnYyZXJ0bGF6ZDRlU1NmMlVTSDIxbTFmWks0cUpNRE91VlNuYXFqUWMrMklUWHIrSjJFUkVSRVJFUkVUazBGRDZKaU1oaDVha3Z0cklwdjRveitxWXpabGdUakFZRG0vT3JHUHZKRmo2ZFUzQ29oeWQvRTBmNmUrWVB3Qld2ckdiVXdNYWMyRFdKVTN1bFVsWHRZK1cyU3A3NVlpdnoxNVVmNmlHS2lJaUlpSWlJeUQrWXdpY1JFVG1zK0FQdzhld0NQcDU5K0FjQWN1VDZPN3huNVU0ZkwzeXpuUmUrMlg2b2h5SWlJaUlpSWlJaUVrWnJQb21JaUlpSWlJaUlpSWlJaUVqRUtId1NFUkVSRVJFUkVSRVJFUkdSaUZINEpDSWlJaUlpSWlJaUlpSWlJaEdqOEVsRVJFUkVSRVJFUkVSRVJFUWlSdUdUaUlpSWlJaUlpSWlJaUlpSVJJekNKeEVSRVJFUkVSRVJFUkVSRVlrWWhVOGlJaUlpSWlJaUlpSWlJaUlTTVFxZlJFUkVSRVJFUkVSRVJFUkVKR0lVUG9tSWlJaUlpSWlJaUlpSWlFakVLSHdTRVJFUkVSRVJFUkVSRVJHUmlGSDRKQ0lpSWlJaUlpSWlJaUlpSWhHajhFbEVSRVJFUkVSRVJFUkVSRVFpUnVHVGlJaUlpSWlJaUlpSWlJaUlSSXpDSnhFUkVSRVJFUkVSRVJFUkVZa1loVThpSWlJaUlpSWlJaUlpSWlJU01RcWZSRVJFUkVSRVJFUkVSRVJFSkdJVVBvbUlpSWlJaUlpSWlJaUlpRWpFS0h3U0VSRVJFUkVSRVJFUkVSR1JpRkg0SkNJaUlpSWlJaUlpSWlJaUloRmpQdFFERUJINXU1cDRZNGREUFFRUmtiKzE1RGpMb1I2Q2lJaUlpSWlJaU5SQjRaT0l5RitrUjZ1NFF6MEVrWVBTOWFhRlhIUjhJKzQ4cyttaEhvcUlpSWlJaUlpSWlCekJOTzJlaUlpSWlJaUlpSWlJaUlpSVJJekNKeEVSRVJFUkVSRVJFUkVSRVlrWWhVOGlJaUlpSWlJaUlpSWlJaUlTTVFxZlJFUkVSRVJFUkVSRVJFUkVKR0lVUG9tSWlJaUlpSWlJaUlpSWlFakVLSHdTRVJFUkVSRVJFUkVSRVJHUmlGSDRKQ0lpSWlJaUlpSWlJaUlpSWhHajhFbEVSRVJFUkVSRVJFUkVSRVFpUnVHVGlJaUlpSWlJaUlpSWlJaUlSSXpDSnhFUkVSRVJFUkVSRVJFUkVZa1loVThpSWlJaUlpSWlJaUlpSWlJU01RcWZSRVJFUkVSRVJFUkVSRVJFSkdJVVBvbUlpSWlJaUlpSWlJaUlpRWpFS0h3U0VSRVJFUkVSRVJFUkVSR1JpRkg0SkNJaUlpSWlJaUlpSWlJaUloR2o4RWxFUkVSRVJFUkVSRVJFUkVRaVJ1R1RpSWlJaUlpSWlJaUlpSWlJUkl6Q0p4RVJFUkVSRVJFUkVSRVJFWWtZaFU4aUlpSWlJaUlpSWlJaUlpSVNNUXFmUkVSRVJFUkVSRVJFUkVSRUpHSVVQb21JaUlpSWlJaUlpSWlJaUVqRUtId1NFUkVSRVJFUkVSRVJFUkdSaUZINEpDSWlJaUlpSWlJaUlpSWlJaEdqOEVsRVJFUkVSRVJFUkVSRVJFUWlSdUdUaUlpSWlJaUlpSWlJaUlpSVJJekNKeEVSRVJFUkVSRVJFUkVSRVlrWWhVOGlJaUlpSWlJaUlpSWlJaUlTTVFxZlJFUkVSRVJFUkVSRVJFUkVKR0lVUG9tSWlJaUlpSWlJaUlpSWlFakVLSHdTRVJFUkVSRVJFUkVSRVJHUmlGSDRKQ0lpSWlJaUlpSWlJaUlpSWhHajhFbEVSRVJFUkVSRVJFUkVSRVFpUnVHVGlJaUlpSWlJaUlpSWlJaUlSSXpDSnhFUkVSRVJFUkVSRVJFUkVZa1loVThpSWlJaUlpSWlJaUlpSWlJU01RcWZSRVJFUkVSRVJFUkVSRVJFSkdJVVBvbUlpSWlJaUlpSWlJaUlpRWpFS0h3U0VSRVJFUkVSRVJFUkVSR1JpRkg0SkNJaUlpSWlJaUlpSWlJaUloR2o4RWxFUkVSRVJFUkVSRVJFUkVRaVJ1R1RpSWlJaUlpSWlJaUlpSWlJUkl6Q0p4RVJFUkVSRVJFUkVSRVJFWWtZaFU4aUlpSWlJaUlpSWlJaUlpSVNNUXFmUkVSRVJFUkVSRVJFUkVSRUpHSVVQb21JaUlpSWlJaUlpSWlJaUVqRUtId1NFUkVSRVJFUkVSRVJFUkdSaUZINEpDSWlJaUlpSWlJaUlpSWlJaEZqUHRRRGtIK1dYcjE2OGROUFB4M3FZWWlJaUlpSWlJaUlpSWlJeUY5RWxVOGlJaUlpSWlJaUlpSWlJaUlTTVFxZlJFUkVSRVJFUkVSRVJFUkVKR0lVUHNuL0pPQnlVWFRQWGJnWHpEL1VRNUY2bEl4OW1KTEhIMjF3ZTlmc1daUzk4Sjg2OTNsV3JXTFhqZGRUdlhKRnBJWW5JaUlpSWlJaUlpSWlJbjh6ZjV2d3FlTGpqeWg5OHZIUTl3R1hDOGM3YndjL2RQZDZEOW00UEd2V3NPdTJtNmxlRWZrUDZ3dXV1SXlTaHg4RW9QTHJMeWtaK3pDKzNOeUluMmQvSE8rOWcyZjFLZ0p1OTE5Nm5zUGwrYnJtemlGdnhHbDRWcTJxdFM5UVdVbmVpTk9vK09COXFLNm1aT3pEVkM5WmN0RG5LSDdnUG9vZnZEOFN3LzFUdk51M1VUVjlHaFdmZmhLK0l4Q2cvTzN4ZUxkdng1U1NlbWdHSnlJaUlpSWlJaUlpSWlLSFBmT2hIa0JEbEQ3MUJLNTVjK3ZkbnpIcEl3eFJkbHp6NStGWnZ4N3YxaTA0UG5pZmdNdEYzRVdYZ0xGMnhsWTFmVnE5MVIzN0UzM3lNT0t2dWJiQjdVMFpHZmgzRlZFMjdoWFNYbm9GekpHNzVRYWJuWURmSHh6WGlZUHdiTmhBNFkzWEV6UGlET0l1dkJnTUJnQ3FsLzZCWTlKN0pOMTVOOGJVdExBK2ZBWDVGRjU5SlhHanJpUm0rT21oN1NWakg4YTdJNGUwMTkrcTkveXUyYk53VHZtV3FJR0RzQjkzUEFBVm4zd2NERjhPd041L0FJbTMzd2tjMmM5M2I0R2FFTXhneEZkV2htZnJGb3JIUGtUQzlXT0lHamlvNGYyNFhSZ1RFaHZXMWxWRi9ubm5OS2h0M29qVDlycy83YlUzTUdVMkp2YmM4NmxldDVhS0Q5N0gwcW9WdGg0OUFYRE5tb2xuL1hwc3ZmdGdhdFNvUWVjVUVSRVJFUkVSRVJFUmtYK2VJeUo4aWhseEJ2WUJ4NFZ2OUhvcEcvY3FocGhvRERZYjBVT0dVam41QzRydXVSTzhYcUlHRGlMdTRrc3hKdGI5SWI2dGN4ZVM3cjd2b01aUk51N2xPcmZublhrNjdBNkI2ais0bEx5Ulo5Uy8zMmlrMFJkZkhkUjRESFo3cU9ySEVCdEw0cTIzNHo2MlAvNnlzbER3QkdDTWk4TzdkU3ZGRHo5SXl1TlBZWWlMTzZqejFNV3phaFdsTDcySXBXTkhFa1pmSDlwdTY5b1ZnK21TQXg1dnptNGErdnB3Zjc0TjV2TUYvMjgwWWtwTEkrWFJKeWgrNEY3S1huNFJRM1EwOW1QNk5heWJnZ0lzTFZvMXFLM0JhcXYzT3F2bXpzWTFleGFHbUJqdyt3azRuVVFOSG9LOVI2ODYyeHVUa2tQalQ3ejVObmJkZUQybHp6MUQyb3N2ZzlWRytjUUpBTGgvVzNqQUlPdlB2TThpSWlJaUlpSWlJaUlpOHZkdytJZFBmaitWWDMxSjFNQkIySHJ1K2REYzhlNUVBcTRxa3U2K0I4eG1ER1l6OFplTm92VDU1NGc1NjJ6aUxnNEdJTjVORzZuNDdGTUFFbSs3QTB3bUFJeXBxZGhTRDI3cU1NTi8zNngzbjZWOWU2SVBvcnBsYjg2cFUvR3NYUk8ycmZUWnAzSE5udFdnNCtzS0Fzckd2VUxzdWVjVGUvNEZtRnUySXZIVzJ5bDU0akdLSDMyRWxMR1BndFgycDhZS3dlQ3BlT3hEbUxNYWszelAvV0hWWEpiMkhiQzA3OUR3emc3ejUrc3ZLYUgwbWFlSVBta285dU5QMk8veEFhOG4ySS9GQW9DcFVTT1NIM3VTc25HdllPdmFMZFN1SVdHbDg4ZnZjZjc0ZmYwTmFzSWRveEZiMzc1aHUzd0ZCVGplblVqMW1qVWtQL0lZbFpNL0I1T0ptRk9HVWZyS1MxRHRJZmJDaXpDbHBkWFRPUmdURWtnWWZRT3V4YjloakUrZytMRkg4QmNYWSs4L0FHdm5MdnNkdTJ2bUREd2JOK3kzallpSWlJaUlpSWlJaUlqOGZSMys0WlBSaURFdWpwSW5IeWY1M3c5aDdkSVY5NkxmcVB4eU1qSERSMkE5cW51b3FmMzRFN0F2WGtUbFY1TXhKaVRnWHJpQTZoWExNV2RuRTN2MnVXSFZRTkRBaXFVR01tYzJKbXJ3U1gvcTJPcTFhMnVGVHdBR2V4U3g1NTFYNzNGVnYveU12NktDbUJGMVYxUlo5d3FCYkVmM0pXYkVtUkR3ZzhGSStXdXY0dnp4aDlCK3g0VHhPQ2FNcjlWSFRiQmw3ZFNaNU1lZXdQMzdZa29lZnhSejAyYWtQUHdJaHJnNEtyLzZFbDllSHZHWGp3S3J0Y0hYRFJ6Mno5ZVltRWdnRUtEc2pkZXdkdW02LzhiZVlPVlRUZmdFWUVwUEovbWhSOEthSlZ4M1EvQTUxS0ZxeGd5cVY2OENuNCtvd1VPd3RtMWI5N2tNdGFjYTlHN2Zqdk83YjZtYU9ZUG9JU2VSZHNNWURQYW9ZUGdFV0kvcVR0b3JyMUg1K1dmc3V2Vm1vdnIxSTNyb3laaGJ0S3p6RkxhK2ZiSDE3WXZqM1hlb1hyb1VXNCtlSk41NmU1M1RITzdOczNFRG5tMWI5OXRHUkVSRVJFUkVSRVJFUlA2K0R2L3dDWWkvWmpTKzRtSktIaHRMM01XWFV2N09ST3o5amlYdXNzdHJ0VTI4NFVhS2k0dHhUQmlQTVRXVnBMdnZ3M2IwMGJXQ0NZRGtSeDREQWcwZVIra3pULzh2bDNIUUREWmJNRENxaDJmREJqeHIxK3kzemQ3MnZsLzI0MC9BM0tJbGZrYzVGWlBlcjFYUjR2eCtDdjZTRW1JdnVBZ0FVM0p3U2paelJnYTJucjFJdk9WV0RQWW8vT1hsVkh6OFlYQWF2YjFDbDROeFdEOWZnNEdFcTY1bTE2MDM0M2ovWFd5OWVnUGdMeSt2ZCtxNTh2KytSZmwvYTYrVmxYVGZBOWg2OXlGcTBPQTZqL051MzBiNStMZUlIWGtPQnB1VmlrOCtKcXIvY1ZpN2RhdXpQWUMvckF6WHZMbkI5WmcyYnlKNjBCRFNYbm9WWTBwS25lME5kanV4RjE1RXpQRGhWUDd3UGNXUFBZb3hMZzc3MFgyeEg5c2ZjM1oycldPTWlZbllldllpNmE2N0R4ZzhBZUR4aGdWd0lpSWlJaUlpSWlJaUl2TFBja1NFVHhpTkpOMXhKNFUzMzBqNVcyOWc2OXNYUzZ2V3djcVdPcVE4K1F5VlgwM0dOVzh1VlRPblkyN1pFbE42T2dDK25ibDR0Mjc3YytNSStQRVY1T09lUHg4QVUwWTY1aFl0UTJ2YkZELzhiNnFYTERub2JodDk4amtKTjl4NDBNY1pvcVB4T3lyQ3RybG16c0Q1MDQvRVh6TzZ6aUNoaHJWako2d2RPK0hMejZkaTB2dFlPM1lpZXVqSm9mM3UzeFlTY0x2RHRnR1lzcHFRZE0rZU5ZWWM3N3hOd09VaVlmUjFkUVpBRFhLWVAxOXp5MVpFL2V0RURGRlJFQWlHV1FhN0xUVDFYdzN2enAxVS9mSXoxbzZkc1BYc1dhdjcvVDBQNzViTkZELzhFSmJXYllnZGVUWllMQVM4UG9vZmVaRG9rNGNSZDlGRkdPeFJ0WTd6YkZpUDg5dXZpVDdwWkFKK1A1VmZmMG5sMTEvV2VZNjZ3akpUZWdiV2R1Mm9tdm9MdHFPNlUvTDRvN2dYTGdqdFR4Ly9OakhEVHlkbStPbVVqMzhMNTdkZjE5bDM5RWxEaWQrOTlsZkE2MUg0SkNJaUlpSWlJaUlpSXZJUGRrU0VUNEdxS3NvbmpNZVhtMHQ0UWd1N0FBQWdBRWxFUVZUTXlMT0p1L0JpZkFVRm1KczBxYk85dVdsVEV1KzZCK2VQUCtCNGR5S3VhNi9hdlNiVFlQeU9jaHdUMy83VFkzRXZYb1I3OFNJQW9nWU5EZ3VOWWs4L0ExLy80dzYrVTNQZGo4RmZWbHBuWUJCN3pybkVYbkFScG9SRUFxNHFBcTZxWUREaDkxUHh5VWY0eThzeDdWN3ZhTi9wOVZJZWZ3cEx4NDU3T3RzZHB2QW5jaVAzNGtWVS9mb0xNU1BPd055OEJXV3Z2RVRWTHo4MytQaWFxZnlPaE9lYmNOTXRBTGptemdIQVlMVVJjOWJaWWNkV1RaOFd2SDZqc2RhK2V2bDhWSDc3RFk1SjcwRjFOWllUVGdpRmVMSG5uSXUxZlh0S24vOFBybGt6aVQ3cEpLS0hub0p4ZHhVYWdLMW5yOUJhV2E3ZkYyRnFuRVhjK1JjMDZOUVZYM3lPd1dJbS90cnJRdHVpVHo0Rlc0K2VWSzlhaVd2bWpGckhHSk9TaWIvcTZyQnRqb2tUd3I0UGVEMWdPY2pwRjBWRVJFUkVSRVJFUkVUa2IrT3dENTljTTZaVFBuRUMrUDBrM25rMzluN0hBbURLeU1DVWtiSGZZNk5QR2twVS93RlVmdmN0VmRPbVlzcklJR3Jnb0FOT1UxZjY3Tk40MXE0aDdhMEorMjIzcjczWEovcGZCYXFxTU1UR0JxdGdhclpWZTZqNDRIME1WaHNBcHZRMEFIeUZoWml6bStLYU93ZHZUZzd4VjE0ZHJOSUI3UDJPeFpTWmlUYzNsNnFmZnF4OUlyOXY5eGNIbHo3NWk0c3BlL2xGQUdMT0NONVArekg5TUdkbTF0bmVPWFVxdnZ5OHNHREVsSlorUkQxZmdFQjFkYjM3dkRuYkFhaGVzNXFBMDRraE9ycitmdHh1WERPbVUvSEY1L2dLQzRnOWF5VEdsRlFjNzcrTGErRkNFcTRkamJWTFY2eGR1NUgyMmhzNHYvdVdpc2xmVVBIWnAxamF0c1hXN1NpaUJnM0JsSllXMXE4eFBoNzdnSVlGb0ZYVHArRjNsSWR0czNYdkVmcTZydkRKRUJVVmVrWTFLajc1T0x5Ung0dkJxc29uRVJFUkVSRVJFUkVSa1grcXd6NTg4aFVYWSt2ZWcvakxyNkR5MjIvSWUvckpnem8rWWN4TnhKNTlMckZubnh1MnZlTEREL0RsNXhGLzliVjFoZ1Mrd2tLcWx5L0QycVhybm8wZUQrWGozd0tMbWZncnJ2cnowOHcxUUtDcUNsTjZSbGlRNGk4cENZWlA5dDNoVTZOZzBPUGR1aFZUVWpMbEU4Wmp5c2dJbXlyUDJ1MG9yTjJPb25ycEg2SHdxV0xTZTFSOCtrblkrY3JmZUkzeU4xNnJOWTY5SzY5aXp6NkgyQXN2aHVwcVNoNS9GSDlwS1FBR2N6Qm8yTHNLWjEvVnExYmgzMVZZcXlLb2N2SVhSOHp6OVc3ZWpHUEMrSHJINGxtekJsUGpMSHdGK2JnV3pDZnFYeWZXYXVQZHVKSEs3NmZnbWp1SGdNdUZmY0J4SkQvMENLWkdqUUNJNm5jczVmOGRUOVhNbWFHeEdleDJZczRjU2ZRcHArSmV1SUNxbVRPb1hyR0MyTE5HMXU1L3h3NUtuMjNZMm1TZVRac3dwYVUycUcwTlgrNk9PcXZ4ck8zYWhiNE9lRFR0bm9pSWlJaUlpSWlJaU1nLzJXRWZQdFZVMVlRWURDVGRlLzhCai9NN0hKUzk5RUs5KzIzZGUxRHk3RlBzdXZsR0VtKzlEVXY3RHJYYWxFK2NRT3BUejRMWmpDODNsNUpubjhhN2FXTXdFUEw3d1dUQ3R6T1h3dEhYSFBSMTFTWGxxV2V3dEdzZkhIOTVHYWEwOUxEOUFiY0xBRU5VTUV5eHRHd0ZnR2ZkV2x6ejUrRXZLU0g1b2JIMVR1Tlh3OWFuTDhhVVlPaFFNNzFhekpralErc21BVGkvbjRLL3BJVFlDeTRLYmJPMGFoME1ucDU0RE0rRzlaaXltdURia2ZNL1hmUGgvbnhyZU5hdnAvaWhCNExiNnhCd2xGTzlhaVd4NTU2UForTUduRC8vV0dmNFpJaU9vbnJWS21LR25VcjBTVU14cG9aWExobmk0a2k0K1pZNnoyR3cyN0VmZHp6MjQ0NnY5N29oQUQ3ZmZ2YnYzYlR1YTlrZlkwb0tDWHROMHdkUS90YWI0ZDFXVjRlcTgwUkVSRVJFUkVSRVJFVGtuK2V3RDU5cU1SaXc5ZTV6d0diK1hidjJ1OS9TdmoycC8zbVIwdWVmcGVqZXU0bS84bXFpVHhtMnA0SEpoSGZqUnNvbnZvMjVTUlBLSi93WFkwd015UTgrZ3JYN251bjFqQW1KSkZ4L1E2MytLejcvREh3K1lzL1pVNUZUK2NQMytISnppUjkxUloxanFxbGtvcm9hYjI0dTFpN2R3cStwb2dJZ1ZNbGppSW5CM0tJRnpwOStJdUNxSXZiYzg3RjJDeittem10djB3WkxtelpBc0ZvSHM1bTQ4ODZEdlFJRDkyOExDYmpkWVZWVUFJNzMzc1c5NUhmaXJ4bU5kOGNPblA5aitGVExZZlo4QWFxWC9rSEpFNDloYnQ2QzZNRkRRdE1ON3MwNWJScjQvZGo3SG9PNVNSTktuM2tLejdwMVdOcTJEV3RueW14TTJyalg2eDIzOC9zcHVPYlBJMkgwRGFGcXFOQTRsaTNGOGY1N0pONTJSNzFURXBxem1wQjQxejM3dlRjMVNzWStYR3ZhdlFNeDJPeTFubzloMHZ0aDN3ZXFxekh1bnZaUlJFUkVSRVJFUkVSRVJQNTVqcnp3S1lLTThmRWsvL3RoS2lkL2p1Mm9vOEwybWRMU3NQY2ZRT1ZubndMQnRaTVNSbCtQSVM0dXJKMGhPcHFvd1NmVjZ0dnh3UWRZV3JZTTIrZisvWGY4dTRycWJMODN6NWJONFBkajdSQmVyZU12S3d1T095NCt0TTNlNTJncVB2NElhK2N1eEo1N1htaDcyY3N2WWt4SUpPNlNTK3M5ajcrb2lLbzVzNExyL0RTd1VzWGVwdy9HNkNpaVR6NGxPRVhkWVN3U3o5YzFaemFsenorSHRYMEhrdTcvTis3ZkY5YytVWFUxbFY5L2hhMUhUOHpObW1IT3lzTFVxQkdPZHllUy9PampkWTZ0OUptbk1OanRKSXk1aWRML1BJdG45U3JTM3BxQXBWa0xLaWQvUWVHTk54Qi84U1ZFbnpaOHovVWtKT0RkdVpPaXUrOGcrYUZITURkclhxdGZ6NXJWZFU2TFY1OTl3N0ZJQ0xqZFlMVkd2RjhSRVJFUkVSRVJFUkVST1RJY2VlR1QzMzlRSDY0ZmtNRkE5TkJUY0M5ZWhPT0RTUmoyK3RBODdzS0xnd0hOdEtrRXZGNENmaDhOV2VXcGVza1MvQ1hGV0x1ZGVlREdCRU9sNG4vZlI4d1paeEoxd29sVXpab0pCZ1BXVHAxeHpaaU91V1VyVE9ucFZNMmNBWUM1U1JNZ09OMWU1WlJ2QVFqNHc2ZGFxMTYxQ3ZNK2xUTmh2RjVLWDN3ZVBCNWk5MW1IYVg4czdkcUhwZ2I4U3h4bXo5ZVlrSWl0ZXcrUzdyaXozb0N1NHJOUDhPOHFKUGFlZTRNYnpHYmlMcmlJMHY4OFM5V3Z2eEExY0ZCWWUrK1d6YmptekNiMi9BdHE5V1hwMkpIVTUxK2k5T1VYd0dnRW9HcjZORnp6NTVKNC9SaFNIbjJNb3Z2dm8ramV1MGwrNE1GYTB3bWFHbWNSVjBlL2RZNzdpODhiMU81Z0JkeHVERFpOdXljaUlpSWlJaUlpSWlMeVQzWGtoVThHQThhVVZJeHhjY1JkY0dHdDNRR1BoOUtubjhUYXFUUFZLMWZVMjQwdlB4LzM0a1c0ZjF1SWUva3k4SG94SmlRU05YZ3d2cnk4MExrU2Jyb0ZjOU5tT041N2g4SnJyeVptK0FpaVR6NEZZMkppbmYzNmk0b29HL2N5eHNSRW9nY1BhZEFsK2N2SzhHN2RpbmZUWmdKOW5MaG1UTWZXdXcvR2xCVGNTNVpRK3Z4em9iYjJmc2RpVEV6RS9kdENTcDk3Qm1OU010Wit4MUwxMDQrVXZUNk9oR3RHRTNBNjhlWHRKS3AvLzlCeDdqK1dCTTlWV1VHZ3NwS1N4eCtsZXVVS1lzNDZHMHY3dnpCTU9saUgyZk8xZHU2TXRYUG5lczlUdldJRkZaOTlTdlNwdzROcll1MW1IM0FjMWgrK3AveXRON0MwYklXNVJZdmdEcitmc3RkZnc1aVFRTXlwdyt2czB4QVRROUxkOTRXKzkyN2RnbnZCQXJqNVZzek5tcFB5NkdPVXZmcHluUUdQTVQ0ZSs0RGo2aDN2M3FxbVQydlF0SHZPNzZlRXF1MTh1VHZxREFldDdkb0Z2d2dFQ0ZRNE1OanREUnFEaUlpSWlJaUlpSWlJaVB6OUhGSGhVK3o1RnhCNy9nVlUvZkl6WmErUG8rclhYMGk0K2RiUUI5MkJpZ3FLSHg4TFZpdlJKdzBsK2JFbmF2VlI5ZXN2VkU3K0hHOU9jSzBpVTZOR3hBdzdGWHZmWTRJVlBVWWp4UTgrQUFaajZKaVlNODdFMXJNWGpva1RxUGo0UXlvKyt3UmIxMjVFbnpJc2JQMGIxOXc1bEwvNU9nRzNtK1FISDhHd3o3bzNocWdvL0k1eXZGdTM3Smt5emV2Rk5XOHVBT2JzYkJ6dlRNVHZjQkI3NWtnQTRxOGRqYjN2TVhoemN6Q2xaMkRyMVp2eXQ5N0FPZVZickoyN2tIVFhQUmhpWWdnNG5WVDk5Q1BWeTVZR3Ezc0NBYXhkdWtLMW05S1hYc1ExZng2Mm5yMG9lKzFWa3U2K0QzUFRabGc2ZENEdXdvc2o5NEQydzE5ZUZuWlA2M0s0UDk5OWVUZHZwdVNKUjdHMGFrWDhaWmVIN3pRWVNMempUbmJkZkJQRkQvODdPRTFlOHhiNEN2TEI3eVB1MHNzeHhNUUVtMXF0K0IwVitBb0xNYVdsaFhYakt5akFOWDgrNXV4c0RQYmcrMlJ1MXB5VXA1OWpYOGtQUHJMZis3dXZwQWNlckhkZndGVUZRTW5UVCtCWnQ0NkVNVGNCWUV4S0p2NnFxMnUxcjZteXExNjFrb0RMaGJseDQ0TWFpNGlJaUlpSWlJaUlpSWo4ZlJ6MjRaTjM2MWE4TzNMQ3RobWlvNGtlZkJLdWhmTnhMNWdQRmdzUXJIYnhyRjFMek9randHekdOWGRPMkhIbXpFd00wZEZnc1JKNy9vWFkrL2JGM0t3NWxaTy93REhwZlV5Tkd4TndPcWxlK2dmV2J1RnJCSm1iTmlYcDN3L2gyYkNlcXFtLzR2NWpDZWJzYkh3N2NxaWFPWk9xbVRQdzdjekYwcjQ5Q2RmZmlEazd1OWExMkkvcFI5VzBxZXk2YVV5dGZZYVlHR3k5ZW1HSWpjV1ltQkNxUmpMWTdkajY5cVdteHNWZlVvSm4weWJpTHJ1Y21PRWpRbE96SmQ1K0o4NHVYYWo4Nml1OGVYbllqenNlYTVldWxMLzVPcTQ1czBtODR5N3NmWTZtNU1uSEticnJkcXdkTzJGcDFacUt6ejdGWURGak1KbkJiTUpnTWhQdys3RjE3NDYxY3hjcVB2MFl2RjRDSGcrV05tMnhIOVB2d0ErdDJrM3hZMk14UkVWaHRFZmpLeW5HczM1OW5Xc1VIZTdQdHo3dTVVdXAvUG9yVEVsSkpOMTdQNWhyL3lnWms1Skp1dWRlaWg5NWlLSzc3eVRoeHB1eDl6dTJWbkJrNzkySHFsOStwdkNxVVhXZnpHQWc4ZVpiNjl4Vk1lazlLajc5cE41eEhvellzODhoOXNLTElSREFOWDgrQVA1eUI4a1BQb0sxZTNlaWdQZ3Jyd283cHZUcEo4RnN4aGdUUzhEN0hhNDVzOEZrd3Q2bmIwVEdKQ0lpSWlJaUlpSWlJaUpIbnNNK2ZLcWFNWTNLL2F4TnMvZVVkRFhxYXg5OThqRGlyN20yVm9CaVRFcWllc1Z5V0xFY1RDYk1MVm9RZitsbGRmWmhhZDBHUytzMm9lOTloWVZVelp5QnBYVnIvbys5KzQ2T3Fzei9PUDZaeVdUU2U2K0UwRUZRdWdvdUM0c1ZFUmNSRzRvaXVMSS9GU3U2S3V2dTRxcXJpOG9xaXIwM3JLZ0kwbFFFUVVDUVhoSUNwUGZlMi96K0dFZ1kwdUZTRXQ2dmN6aG03bjN1dmMrZE96bHc1dVAzKy9qY1ByMUJxSEVrbDhGREZQaS9GMVcxWjQ5c0ZSWDJqU2FUVE81dWNqbTd2OHgrZnZhNU5SUHdtUDM4RlBEa2Z4cS92NHN2bGZ2Rmx6cHNjeHM1U2s0aG9YSTlmNWdreWUrUldTcGYvYlBLZmw2bGlrMGJWVnRVTEZ0MWxUMWdxcTZXYW1vYW50aGtYd25KNzZHSG01eVhBNnVMcWhNVFZadVhWM2U4VTNpNHZLZjlwY0hRMC8zNU5zWHM0eXZuMkM3eXZmOEJtWDBhYjhFb1NjNDlleW5nMzArcTROVlhaTzNldmRFeExrUFBWZEM4bDFVVkh5OWJaWVhEUHBPTHE1eTdkWk5UV09PVlJDNUR6cFU1SUxERitiWkdYZHRBazBuT1hidksycU9IdlRMdWlIV3lHakNiN1VGVlZhVmtNc2tTSGk3UEcyNlVFNVZQQUFBQUFBQUFBSERHTXRsc050dXBuZ1E2cU5yYStwL056YmZjQXdDY2V2MW1yTmVrRWFHYU9UNzZWRThGQUFBQUFBQUE3ZGhwWC9tRWRvekFDUUFBQUFBQUFBQ0FNdzdwQUFBQUFBQUFBQUFBQUF4RCtBUUFBQUFBQUFBQUFBRERFRDdocE5xNGNhTXV1dWdpalJneFFoczNianpWMHdFQUFBQUFBQUFBQUFZamZBSUFBQUFBQUFBQUFJQmhDSjhBQUFBQUFBQUFBQUJnR01JbkFBQUFBQUFBQUFBQUdJYndDUUFBQUFBQUFBQUFBSVloZkFJQUFBQUFBQUFBQUlCaENKOEFBQUFBQUFBQUFBQmdHTUluQUFBQUFBQUFBQUFBR0lid0NRQUFBQUFBQUFBQUFJWWhmQUlBQUFBQUFBQUFBSUJoQ0o4QUFBQUFBQUFBQUFCZ0dNSW5BQUFBQUFBQUFBQUFHSWJ3Q1FBQUFBQUFBQUFBQUlZaGZBSUFBQUFBQUFBQUFJQmhDSjhBQUFBQUFBQUFBQUJnR01JbkFBQUFBQUFBQUFBQUdJYndDUUFBQUFBQUFBQUFBSVloZkFJQUFBQUFBQUFBQUlCaENKOEFBQUFBQUFBQUFBQmdHTUluQUFBQUFBQUFBQUFBR0lid0NRQ0FEcWltMXFhS3F0b1RlZzJiemFiSzZoTjdEUUFBQUFBQUFMUS9oRThBQUhRd3RUYnAwelZabXZsT3ZQS0txMC9ZZGJZZExOV3NEL1lyTGEveWhGMERBQUFBQUFBQTdRL2hFd0FBSFkzTlh2VzBabGVoUHYwbFUxVW5vRG9wczZCS1QzMStVTWs1NVRLWkREODlBQUFBQUFBQTJqSENKd0FBT2hpejJhVEpvMEkxNGl4ZmZmQmp1bEp5amE5TWV1YkxnOXFYWHFyci94Q2lVRityNGVjSEFBQUFBQUJBKzBYNEJBQkFCM1hmbGRFSzhiWHFuNS9zVjY1QjdmZHFhbTM2ZGtPMjF1d3EwTmdoZ2Jyd25BQkR6Z3NBQUFBQUFJQ09nL0FKQUlBT0tzelhxdjhiRTZuNHRESTk5ZGtCVlZiYmp2dWNhWG1WbXI4a1JZTzdlZW1lc1ZHeVd1aTVCd0FBQUFBQUFFZUVUd0FBZEZBbWt6U2lqNjlHbnVXcmxkdnk5UG5hek9NKzU0UHZ4S3U4eXFiN3hrWEx3OVhKZ0ZrQ0FBQUFBQUNnb3lGOEFnQ2dnM3ZrNnM0NnE1T25QbHFWb2ZpMHNtTTZSMVcxVFhPK1N0VGUxREpOR1IybXlBQVhnMmNKQUFBQUFBQ0Fqb0x3Q1FDQURzN0YyYVJISm5TU1RDYTlzQ2haRlZWdGE3OW5zMGxyOXhib3EvWFpHdFhQVCtPR0JNcHNwdDBlQUFBQUFBQUFHa2Y0QkFEQUdhQmJ1THR1dXpCTXYrd3UwRk9mSDJqVHNYa2wxWHIrNnlUNXVsdjBuNXU2MEc0UEFBQUFBQUFBelNKOEFnRGdEREg2SEg5ZGVMYS92dCtjcTZXYmMxWGJpZ0tvMG9vYXZmQnRzZ3BMYS9URWpiRW5mcElBQUFBQUFBQm85d2lmQUFBNFE3ZzZtM1hYNVpIcUZPeXFOMWFrS2F1Z3NzVmpQdm81VTRzM1pldnFZY0hxR2VGeEVtWUpBQUFBQUFDQTlvN3dDUUNBTTBpb24xV3pKc1lvSmFkY0x5MU9hWGJzNW9RaWZmQlR1bUpEM1hURGlCQTVXMWpuQ1FBQUFBQUFBQzBqZkFJQTRBelRQZHhkVXk4TTE3Y2JzL1hKNmd6Vk50Si9yNkNrV204dVQ1UEZ5YXovM3R4Vm5xenpCQUFBQUFBQWdGWWlmQUlBNEF4amNUTHB6ME9ETkxpcnQxNWVuS0oxZXdzYmpIbHRXYXEySGlqV28xZDNVcmkveXltWUpRQUFBQUFBQU5vcndpY0FBTTVBUGg0V1BYRmpGNVZYMWVyVnBhbktLYXFxMi9mbHVpeDl1Q3BERnc4STBIazlmVTdoTEFFQUFBQUFBTkFlRVQ0QkFIQ0c4dmUwNk5sYnVpa3V0VlJmck0yU1RkTCt6RExOWDVLaTd1SHV1blYwbUp5ZFdPY0pBQUFBQUFBQWJVUDRCQURBR1d4UU4yOWRQU3hZYjY5TWsyelMrcmdpVmRYWTlQQ0VUZ3J4dFo3cTZRRUFBQUFBQUtBZElud0NBT0FNWnJXWWRNdWZ3aFFWNkZxMzdaR3JPNmxmak9jcG5CVUFBQUFBQUFEYU04dXBuZ0FBZEZUOVpxdy8xVk1BMnNSa2txcXFhM1hQRy9HbmVpcEFxMXcyTUZCUDNSUjdxcWNCQUFBQUFBQ09RdVVUQUFBQUFBQUFBQUFBREVQNEJBQUFBQUFBQUFBQUFNTVFQZ0VBQUFBQUFBQUFBTUF3aEU4QUFBQUFBQUFBQUFBd0RPRVRBQUFBQUFBQUFBQUFERVA0QkFBQUFBQUFBQUFBQU1NUVBnRUFBQUFBQUFBQUFNQXdoRThBQUFBQUFBQUFBQUF3RE9FVEFBQUFBQUFBQUFBQURFUDRCQUFBQUFBQUFBQUFBTU1RUGdFQUFBQUFBQUFBQU1Bd2hFOEFBQUFBQUFBQUFBQXdET0VUQUFBQUFBQUFBQUFBREVQNEJBQUFBQUFBQUFBQUFNTVFQZ0VBQUFBQUFBQUFBTUF3aEU4QUFBQUFBQUFBQUFBd0RPRVRBQUFBQUFBQUFBQUFERVA0QkFBQUFBQUFBQUFBQU1NUVBnRUFBQUFBQUFBQUFNQXdoRThBQUFBQUFBQUFBQUF3RE9FVEFBQUFBQUFBQUFBQURFUDRCQUFBQUFBQUFBQUFBTU1RUGdFQTJxVTM3K3lsVi8rdnA4TzJPOGRFNm8wN2VzblQxZWtVemVyRWVPRFAwWm8vdllmTXBvYjdicjhrUW4rL0p1YmtUK29NWnRUekdOblhWMTgvMGsrUkFTNTEyNmFNRHROenQzWnJNTFpQdEllKy84YzVHaERyZGN6ekJnQUFBQUFBT0ZrSW53QUFIY2FsQXdQazYyRlJjWG5OQ2IvV20zZjIwcExIem5IWTl0N2R2ZldYaThNTnZZN0pKRjB5SUVDMXRWS3RyZUYrSjdOMDFYbkI2aFhwYnVoMVc2dC9yS2UyemgyaUM4LzJQeVhYYjg3cC9qek83dXlsaUFBWFplUlgxbTJ6MmFRUlovazJDRkQ3ZC9aU21KOVZ5VG5selo1ejgzTkROSGxVYUpQN3cvMnQrdmorUGpxM2gzZUw4d01BQUFBQUFEaFdsbE05QVFEQXNYbnp6bDRhMVBYNHFpQTJKeFJyOHR5ZDhuSnowcHFuQmhveXJ6R3p0eWdwdTZMdTljengwWm8wb3Vrdnd4dnovay9wZXZxTHhEWWRNN0NMbHlJRFhEUm5ZY3ZIRGVycXBUZnY3TldxODVaVjFtcm9BeHRiSEJmazdheXpPM3ZxeTErekhMYVBHeEtvMlRmRXR1cGFrdlMzOS9acDBjYWN1dGNEWXIwVTVPMnM1elpsTnpyKzdSWHB1bVo0aU03cjZhTmR5YVd0dnM2SmROKzQ2R1lEa0NPdDIxdW8yK2J0TnZUekxMV1A1ekV3MWt1N2trdFVWVk9mWXYyeXUwRDNYQkdsWWIxODlQM20zTHJ0NThSNktqR3JRcGtGVmEyZWUyTlNjeXRWWEY2amh5ZkU2TW9udGpZYW9FblN1ZDI5ZGNmbGticnZ6WGlIY0V5eUIxaExIanRIVDMrUnFQZC9TcS9iL3VKdDNkVTV4RTFqWm04NXJqa0NBQUFBQUlEMmovQUpBTnFwSlp0eXRDT3hwTzUxLzFoUDlZdngxQ2VyTTFWZVdkdGcvTmdoZ2FxcHRlbTdJNzVJVDhtMVYxR1VsTmRvMHJNN0d4d1Q0bXZWbkNsZDllVG5CN1hqb1AxYVhjTGM5TS9yT3V2aDkvY3BNYk9pd1RIcGVaVU50a25TckE4U1duVmZUUVVEYzZaMFZYU2dxNjUrZW51ais2OFpIcUthV2prRUJVMUp5cTV3Q0trbWpRaFZnTGV6WGxtU292SXF4L2V1cXRyKzdmem01NGJvaTdXWm1yM2dRS1BuUEwrbmp5UjdlSENrVFFsRnJiNTNTZHF5djlqaDlZUmh3U29zcmRIdkNjWGFPbmRJazhmZFBUWktkNCtOYXJCOXlhWmN6WHdudnRYWE44THFYZmtxS3F0dXNEMHEwRlhqaGdacStaWTg3VTYyZjU1U2Npb096ZE80ejdOMCtqOFBiemNubmRYSlV4LzluTzZ3ZjA5S3FmSktxalc4bDY5MkpwVm8wYXl6SGZZZmZjM3A4L2RvelM3SGV6elNxaWNHeU5lajhYL3UvZjU4dy9sZjhzL2ZsWnBicWZ5U2FuVUxjOWY4NlQwMGVlNU9GWmFlK0dwQ0FBQUFBQURRY1JBK0FVQTd0V0JOcHNQck84WkVxbCtNcCtZdlNWRk9VY1BxaUhON2VLdWl1cmJSeXFCYW03VDFZSEdEN1ZFbDlyVm85cWVYTmRnZmwxcW1QU210cjdSWnVMN3hTcEdqdGFVcTViQUlmeGVOUHNkUFRtWnA1ZXorelk1OThyT0QrdWpuREwyejB2NmwvOGkrdmdyeHRXcmVkeWw2NWZ2VU5sLzdzQXQ2KzBxU2x2N0RzUlhmODk4azZjM2xhY2QwVGo4UGl5NDZ4MThmcmNwUVZtRmxtMEtUdzVKekdnYUV4MnZTaUZETkhCL3RzRzNPbEs1MVAwOTVZWmRlWGRyd3ZUeTN1N2ZHRFEzVVQ5dnpHbndlalB3OFM2Zi84N2lnajYrY3pQYjM4bkJsNE02a0VsMzczeDNhdks5STUvYncxcE9mSDlDc0R4TFVJOUpkazBhRTZxWEZLVXJMZFh5ZWNhbWxtandxVlBlTnEzOGU5NDJMMW4zam9yVnFSNzRlZm0rZm5DMnQ3N0tjVzJRUERYZW5sT3FoZCtNMWQycDN6YnV0aDZiTzI2V0txaWJLcEFBQUFBQUFBSTVDK0FRQWtDUlpMU1p0bkRPNDBYMnYvbC9QQnRzK25YbFdnMjBqSDkzY2FGQndvdDE2WWJnc1pwT1diOG5UbGdORkR2c0dkZlhXaUQ2K2VubEppa29yYXJRcG9YNi9uNGRGc3laMjFxYUVJcjIyTkVXU0ZPcG4xWnhidXVuRlJjbGF1NmZwaXBJamViczU2WTk5L2ZUTmhtdzVtVTBhMmRkUGozMWtEeWJhRXRBZDdhYVJZWEoyTXVtSGJYbXFxTEsxT3NBNzBYN2ZYNlFYRnlWTGtrTDlYRFRoL0NBdDNwU2pmV2xsa3Vxcm1VNlY5dkE4eGc0T1ZGcGVwVjc2THJsdVcxNkpQZmo1TmE1UXJsYXpiRFo3YVB0b1RJeXlDcXUwK0xjY2ZmTm9QOTAyYjdmVzdTMnNPMjd0N2tMTnJyQlg1RDF5ZFl4V2JNM1Z1ajJGU3N1dDBPcGRCWEoyTXVtL3QzVFZ5cTBOUTc5QlhiMTAxK1ZSbXIxZ3YrSlN5eHoyL2JBdFgyK3RTSlBaWkZKdHJUUnJZb3l1SGhaY3QzL20rT2dHSWFSVVg1MjFNYjVJVTE3WWRjenZFUUFBQUFBQWFMOElud0FBRHVZc1RLeHI0eFhxYTlWTHQvZlFQejdlcjYwSDdKVlAzY1BkOWRSTlhYVHZtM0U2a0dsdmMzWk9aeS85L1pxWVpzL2JYSXV5NHhFVDdLb3J6dzJVSk8xTEw2dXJhRHJNMzlOWnczdjU2cFVsS1E3cjIzaTdPK25Gdi9TUVRkTDliOFhYN1V2UHE5VG1oQ0xOdmlGVzQ1L2Nxc0t5bHR1TmpSa1VLS3ZGcE5lV3BtcFVQejlkME50WFN6YlZyOWN6L2RJSVRiOGtvc1h6SEJrcStIbFlkUDJJRUVsU3JjMCt1ZVlDd3NhOHZDUkZMeTlPYWZYNDF0cWVXS0x0aDFyazlZLzExSVR6ZzdUODl6d3QyNUxid3BFbngrbitQQ0lEWERTMHU0LysrOVhCUmdPc2oxWmw2S05WR1pJa2k5bWtpODd4MTlmcnMrdXVlN1M5cWFYYW0yb1AxUjZlRUtPdEI0cjE2UkdWWkZVMU5oV1cxbWpXTloyVmtGR21iWWRhYUhxN08rbUpTVjFVWGxXcjdDYldrbnJ1NjZTNm54ZHR6Tkh1bEZMNWVsaDA1NWhJTGQ2VW80M3g5V0h1dGNOREZPRHRySG1IQXJXc2dzWmJjQUlBQUFBQWdJNlA4QWtBNENBanYxTHhoeXBZS2c2dGY1U2FVMUczemQzcUpNbStidExoYlNHKzFoYlBlN3hyUGpYbC9pdWpWVmxsVTFKK2hUb0h1emJZSCs3dm9zeUNTb2ZnU1pJK3VMZVBPZ1c1YW50aWlSNjVPa1krN2hiN0h3LzdmMTJjVFpwMVRXYzk4SGJMNnlWWm5VMzZhVWQrWFJqWG1KS0tHdjN6NC8yTjdndnlzZXFCS3gwclNLWmZHaWszcTJPN3RLb2FtKzU3cy9Yck4rMUxMMnQ1VUFkMHVqK1BpY09EbFZ0Y3BRZkhkOUtENHp2VjdiLzY2ZTBOS3JNdTZPTWpYdytMdnQxd2ZGVnZUM3gyUUJFQkx2TDFjSzdiOXZnTlhWUnJrNmE5dUx1dTZxbzVteEtLdENtaFNCSCtMcnB6VEtRMkp4UTVoRndqK3ZqSzFXcDIyQVlBQUFBQUFNNU1oRThBQUFkUFQrNnFweWM3Ym10dDI3MUd6L2RGb3A3K292RjFlUnJUMWxabTYvWVU2c2Z0ZVFyM2Q5SFZ3NEpsTnNraGFEb24xbFBiRDFWNkhHblY5bnlOR3hva1QxY25WWGhZbEZOVXBYM3BaY290cmxKdVVaVThYSjEwOTlnby9iZ3RRSXQreTJsMkR1K3NURzlRY1hXMHFtcWJRL1hOa1dLQ1hSM0NqajdSSHBvNFBGZ2I0b28wdUp0WDNYYWJUYWROZFZGamduMmNkY09JVUJXWDEraTFSdFo4T2xsTzkrZXhmRXVlOXFTVXl0L0xXUTljR2ExM2YwaFhYR3FwdW9TNjFmMWVyZHFScnp0ZTNhc3hBd08xTDcxTXUxTktGUlhvMHFicnpKM2FUU1A3K2psc0c5VFZxOEc0WmYrcVh4ZnJjSEIwWkh1OXlYTjNhbk5DL1pwdkpwUDl2MDBVWWdFQUFBQUFBQkErQVVCNzlJOXJPMnY4ZVVHTjd2dmg4ZjdOSG50MCs3c3YxbWJwSDBkVWdCelpkcSsxbW1xNzkrU05YVFJtVUVDYnpuWFlrazI1bXZsT3kxVWw3LzlrRHhrR3hIcHA2b1hoR3R6Tlc3OGVhcFhXTmN4TklUNVd2YkczWVJEeXpGZUpldWFyNWtPeDgzcjR5R1J1ZG9nazZjMDdlelg0VXYvdys3eHViNkUySnhRMWRsaVRycjBnUk1uWkZacjNYYkxlbnRHcmJ2dnAwbmF2TWJkZUdLWnU0VjFrczBuUEg5R3FyVFdNL2p4SEI3bWUxczlqNjRGaWJUMVFyS2hBRnoxd1piVFc3aW5RbWwwRkN2RzFhdmFDQTdwMmVFamRNZDBqM0JVVDdPcHduNGZENE1wcW13YmR0NkZ1KytGd2FzTDV3YnBtZUlnV2JjeldWNysyTGN4TnlhbVF2NmRGaWRubDZoVGtxZ25uQnpjWTQyUzJwMCtFVHdBQUFBQUFvQ21FVHdEUUR2Mnl1MEJGUjYxRk5FWmQrdG9BQUNBQVNVUkJWS0NMbC9wMjh0QkhxekpVV2Qzd1crR3hRd0pWVTJ2VGR4c2RxM2kySGJSWE5GUlcyOVJ2eHZwam1rOThXcGsrKzZYeFZsdWxGYlY2OHJNRGJUcmZnMWQxYW5HTWk3TloxUlgxNzhHbWhDSWw1MVRvbGorRjFZVlBFNGVGcUxyV3BoKzI1YmZwK29kTm03ZTdWZVBtTDBtUnY1ZjlyOVF4Z3dMVnQ1T25udnJjZnMvWmhWVWEzTTFidmg2V1ZxOTc5ZjNtSEgyNU5rdmxoOW9lSG5ZNnRkMEw4N1BxeitjRzZjcWg5dEFvd050WnJ5eEowV2UvWkNxM3VPVVdia2N5K3ZQODNXODU3Zko1Wk9SWDZ0TTFtUnJSeDdkdTIvUGZKTW5MMWQ3cTB0L0xXZmRjRWFXM1ZxUXBJYjFNTllmU243OWNIS0ViL3hncWIzZjd1QkJmcTdZZkxORlAyL1ByMXVhU3BINHhubnI4aGxnOS8wMlNWbTdOYTNZdTYvWVc2dHp1M25YaDB4MWpJblhiUmVFT1l4NmRHS05ISnpZTW5SMkNzcVdwZW5GUmNyUFhBZ0FBQUFBQUhRL2hFd0MwUTB0L3o5WFMzeDNiZlQxMFZTZjE3ZVNoWjc1TVZQWFJDeHhKT3JlSHR5cXFhelZuWWRQVlBxMzlNcjRwbC96emQ2WG1WanBzcTZ5dWJiU1YzbytQRDlER2ZZVzYvNjJHWDk3ZmZVVlVrOWZ3Y25QUzdPdGoxYmVUaDlZZENwa09lMk5acWg2N3RyT0c5L2JSdnJReWpSc2FxQlZiOHBTUlg5bkUyWTY0NXRnb1RSa2Rwa0gzYldnMDdHak8rcmo2ZVl6cTY2KzAzQXFIbG02RHUzbTNhWTJoMVR2dGxXZTlvendjeHAwdWJmZnV1anhTVTBiYmc0aGRTU1VLOWJQcTZjOFRqM2x1SityekxKMmV6K1BvaXNDWGIrOGhTVnF6cTBEVDUrOXhHSHRrU0JRVjZLSjdyb2pTMnQwRkRwOTlxOFdrcE94eWJUMVlyR3VHaDJqZWQ4bDZaMlY2b3hWNWt2VDhyZDJhbk51Y2hZbU50aXo4WVZ2OTc5R0FXQytOR1JTZ041YWxLVFd2b203TXRjTkRGT0R0ckhuZjFZZE5PNU1hdHJ3RUFBQUFBQUFkSCtFVEFIUVFvYjVXRlpSV04vcEZmV3ROZW5ibmNjMGhxNkNxMVdPdHppWlZWclYrcmk0V3N3SzhuTFZnNWxteTJhVGtuSW9HWTc1Y2w2V3JoNFZvOXZXeE9wQlpMb3VUcWRHMmMrSCtWaTE1N0p3RzJ5VTFhS1BXMXRaMTBVR3VDdkMyNlBNSCsyckc2M3VWbkZPaGx4ZW5xS3JhcGtGZHZmWDRBc2NxTUJkbms5NlowVnV6UGtob0VLWTE1dE9aWjZsSGhIdXI1bkxIcTN1MWFzZXhWWDAxSnlPL1V0K3N6OVlieTFQbDUyblJPek42RzM0Tkl6N1AwdW41UEQ1ZGs2bDFld3JxS3BrT3IvbVVVZEJ5U05xWUZ4WWw2NFZEMVVVVGg0VWNzVDFKdmg3T2txUjd4MFhKMVdyV1U1OGRyRnNUeldTUy9qNnhzOUx6Sy9YSzkvYlBlSHhhYWFQWDJKRllvaDJIcXFqT2p2RlVWWTFOODc5UFZzVVJ2OE1qK3ZqSzFXcXVXemNLQUFBQUFBQ2N1UWlmQUtDRDZCM2xvZmkwWTJ1emR2V3dZTTFxcEgzV3NYaHplWnFlLzZiNU5YKzgzSnprNmVyVXFvcWt3K1A3eFhqSzE4T2k1VnZ5OU5oSENabzd0WHVEY2JVMjZjRjM0dlhsdzMwMXNJdVg1bjJYcklTTWh1OUpRVWxOZzRxWkMzcjdha2czYnozL1RaSnFqZ2c4ZnQ5ZjNLbzVTcEsvcDBVOUk5MzE4YzhadW5SZ2dKNjl0WnR1bUxORFZUVTIrWHBZZE5WNXdYcDdSWnBEY0RaMmNLQjZSM25JMjZQMWZ5VnZUeXpSVzh2VG10d2ZlYWhDNWtUNVpIV21QcEU5WVBEejlEd2gxemllei9OaHArdnoySlJRcEUwSlJmV1ZUSWZXZkRyYTVGR2h1bTljZElQdGg5ZDhrcG9QUnpjbjJEKzdrMGFFcWxPUXE2YSt1TnVoU3UveXdRSHk5N0xvb2ZmaXRXNVB5MEdiSkFYN09PdmkvZ0ZhdmJQQUlYZ0NBQUFBQUFBNEV1RVRBSFFBNS9Yd1VhaWZWUi8vbkhGTXg2L1lrcXM5eVkxWFBCdzIvcndnalJzYXBNblBOMThkMVpycWpjc0cybHVPOVl2eDFQQmVQdnBsZDRHYUszQ3BxcllwTWJ0Y1gvMWFwR2NYTmgxcytYcFlOSE44dEN4bWsydzJhZXpnSVAyNnQ3QkJnRlJTVWRPZ3RaaWZoN09HZFBQVyt6K210N250M21Hait2bkxiSklXL3BxbFgvY1dhdTdVYnJwN2JKU2UrU3BSNy82UXB1ditFS0pwRjRYcnNZL3EyNzFkLzRkUXBlVlY2dU5Wclg5MldRV1Z6Ylo3TzdvOVhIdHp2Si9udzlyVDgzQXlTeFBPRDlZbnErdXJobGJ2TEZCK2NVTGQ2NlBYZkpLazNTbk4vOTVLOXVxdnNzcGFQWFp0WjMyOVBrc0wxMmVyVTVDclprM3NyRzgzNUxRNmVMS1lUWHA4VWhkWkxTYTlzVHkxVmNjQUFBQUFBSUF6RStFVEFMUnpJVDVXL2ZPNnpzb3RydFpuYTQrdDNWVnVjYlZ5aStzRG11RzlmWFRYNVZGNi91c2svYkxiWHBFeHJMZVBKR25yUWZ1NC8wM3JydHlpS3IzelE1cjJaNVEzZXQ2L3ZiZXZ3YlkvbnVXcmU4ZEZLNmVvU21IK1ZyMTBldy9sRkZWcDhhWWNmYnNoV3p1VFNqWHkwYzBPeDVSWDFlcTJlYnRWV2xIYjVEMWNNU1JROTQ2TGxwZWJrNTVkbUtUMWNZVjZlbkpYdlh0M2J5M2ZrcWMzbHFmV3RRMDdGdjN2V2Qvc2ZvdVRTVk5HaDJsSFlvbDJKWmRxVjNLcEZtM01VWG1WZmM2WkJWVmErbnV1eGc0TzFDdmZweWcxdDFLait2bXBhNWliSG5rL1FWVTFKNitLWlBtLytxdXFwbGFYL25QTFNidW1KTW5VOGhBalBzOVMrM29la2pSNVZKajZ4M3JwazlXWnNqalozNmg5NldYYWwxNWYvZFhVbWs4dGVlS3pBNXI3VFpLdUdCcW9hNGVINksrWFJxcW0xcWIwL0VyOTY1UEcxNzJTcEhONzJuL252ZHdzOG5KejB0eXAzVFdvcTVkZVg1YXFyUWRhWHhFSUFBQUFBQURPUElSUEFOQ09EZXppcGFjbWQ1RzNtMFYzdmJaWGhhVTF4M1crQWJGZXV2MlNDSjNidzF1LzdpMVVjVm45K1V5U2JMSi9JVzl4TW1sRGZLRnVHUldtUDU4YnBGVTc4L1hHc3RRbVc5UzVPSnMwdkpldnJqby9XTU43K1NnOXIxTC85OG9leGFXVjZlek9ucnBzWUlBdUh4U29TU05DRlpkYXBzL1hadXJiamRrTzk5TlU4RFNxbjU5dXZ5UkNQU1BjdFhaUGdaNzYvR0JkR0RiK3FhMjY1VS9odXZsUG9ScDl0cDkySkpibzNSL1N0WGhUVHYxOW1TUi9UMmY1ZWRyL1NwdzBJbFFodmxaRkJMZ29Jc0JGQmFYVnVubnVyZ2JYTlIwVnBFd2VGYXJJQUJjOStkbkJ1bTFIaDI4Zi9wU3VRQzluV1MxbVNkSnRGMFZvVDBxcHZ0MlkzZWk5blFnUi9pNEs5bkhXZXora3R6eTRGUTZ2ZDFSZDIzUXdLTmtyZTg3cllROHptbnFXUm42ZTI4dnprS1J1WWU2NjdvSVFUWHB1cC9yRmVHcG9keCtaVE5MUTd2YmZReU80dVpqbFpETEp5V3lTVFZKY1dwbDZSYnJycTRmNzZaUFZHZnA4YldiZCsrM2liTksvcm8vVm4vcjVhOVdPZk0yNkprYjN2QjZudUxSU2JVNG9xbHRmQ2dBQUFBQUFvQ21FVHdEUURnVjVPMnZHMkNpTkhSeW81SndLVFhsOTEzRlY5UXpwNXEyN0xvOVV2eGhQYlU0bzFwUVhkbWxqZkZIZGZqZXJXUU83ZUt1Z3BGcVNWRjFqMDNzL3BPdVRuek0wNGZ4Z1Ric29YTy9lM1Z1LzdTdlMzejlNVUUydFRlZjM5RkhuRURlZEZlMnBzenA1eU5uSnBJTlo1WHIrNnlSOXVDcWpyZ0pseS81aWJkbGZyR2UrVE5RZit2aHEvTGxCZXVEUG5YVHZ1R2d0MzVLck41ZW5hVzlxMDYzRmVrUzRxN2lzUnJmTjI5MmdHcVN5MnFaWHZrL1JSeituNjlyaElicDhjS0FPWkpicDJndUNkZG5BUUlYNFdoWGs3VnhYYVNKSmQxOFJwY3BxbTFKeks1U2NYVkZYNlhXa0VCK3JPb2U0S2ErNFNwSjl2YWc3eDBScDRhL1orbmxudnNQWXJYT0hORGorNjBmNk9iemU4bno5bUUvWFpHcjJnZ05OM3E4a2plenIxK2g1VytPY1dQc2FUU3UyNWgzVDhaSVU2TzJzbGJQNzE3MnVyckZwZHlOdEcvODNyYnYrZUphdnc3YnlxbHB0T1ZEa3NNM296M043ZVI2K2g5YVZtbjVwaEdhOHRsY0ZKZFY2L1k2ZSttVjN2aExTeS9YaWJUMDAvL3RrZmJjeFIrbjVsVXJLcmxDL0dmVVZlR2FUUFFoMk1wdFVYV05UWktDTG5NeFNSVld0L0R3c0duR1duM3BHdW10QUZ5OTFEM2RYZVdXdGxtekswWXpYMDdVdnZVeXhJVzY2WVVTSWJyOGtRdE12amRDM0czTDB5dmNwdW5WMHVDN3VINkQ3MzRyVGo5dnk5ZHpVYm5yLzNqN2F0SzlJTzVOS05QWENjRlhWMUtxNnhsYjN4MncyNlpmZEJkb1lYNlJwRjRYTDJja2txOFdzYlFlTGordXpCZ0FBQUFBQTJpZkNKd0JvaDBvcmFoWG01NkkzbHFmcXRhV3BLcXRzdnVxa0pkVTFOcGxNSnYxMS9oNnQzbVZ2cytkbU5XdnQwNE5rUHFMQzUraHFtY3BxbXo1Y2xhRXYxMlhwaGhHaEd0YkxSMmw1bGZMMXNPZ3ZGMGNvdjZSYSs5TEw5UDNtSEcySUsxUmNXcG1hVWwxajA4cXRlVnE1TlUvQlBzNGFmMTZ3TGgwUW9MTEt4cXRmcHJ4UVg0MzBzbEthdmIvQzBocTl1alJWcnk2MXIxUFRJOEpEa1FFdVNzNnAwRy94UlVySkxWZHlkb1dTYyt5QlUyUHJWajN3NTJqZCtNZFFoMjNmYjdaWFVGWFYxT3JIYlhtTnRqQ2I5VUZDZzIzTjJaL1plQXZESTIxUExORmJ5OU9hM0I5NXFEMWJZL3JIZWltM3VGcWI5eGMxdXI4MXNndXI5TkxpRkZrdEpsVlcyN1I2Wjc3UzhocStaMnQyNWN2TmFsWnBSYTBxcW1xVlZWaXBiemRrSzdPZ3ltR2MwWi9uOXZJOHpqL1UxdTZkbFdsYXQ3ZFFmNXZRU2NFK1ZrMmJ0MXNaK1pVcUxxL1JiUmRGYU1ibFViTFpwSXJxV3RrT2RRTjBkakxKNG1UU3ZPOVNWRmhXcmI5ZDFhbnV2RnNQbEtpOHFsWlRSb2Vwc0xSYUcrTUw5Y0szeWRvUVYxZ1gra3BTUWthWlppODRvQmNXSmV1NlA0Um9SQjlmbFpUWDZKc05XVXJPS2RmeUxmYlE2TTVYOStxU0FmNjZkRUNBaHZmMmtZKzdSYzVPWmpsYlRIWHpPT3p3L0E0M0xiem5qYjB0dm44QUFBQUFBS0RqSVh3Q2dIYW9wS0pHdDc3WXNCVmNjNjUrZW51VCt6WWxGT21HWjNjNGJDdXJyTlVqNysrVGg0dVRKQ2t4dTF6cjlqVGVBcXlzc2xhdkwwdlY2OHZzNFU1MllaVXVmT3ozTnMzdlNKa0ZWWnEvSkVYemx6UWZLaDJycjM3TjBsZS9aclhwbUkzeGhlb2M3S2JpOGhxVlZ0UW9McTFVbjY2eHIwbTBiazloaysvTnd2WEd0M0RMS3FqVXNpMjVUZTd2SGVYUjVMNytuYjMwNDdhOHVwRGdXTFhtMlh5eU9sT2ZyRzU1M1NhalA4L3Q1WG44dXJkUXczb1Y2K1ZENytXYVhRVkt6cTVRK3FFZzc1WHZVL1RocW5TZEhlT3BFRityWEsxbVdTMW1tYzMya01kbWs3N2RrQzFQTnllOXZpeFZOYlhTYi9HRjJwbGtyeHE3NHQ5Yld6WC8vSkpxdmJ3NFJTOHZ0czlqMjhFU2JUdm9XSG0yWkZPdWxteHEraDRCQUFBQUFBQ09aTExaanZmcko2RDFObTdjcUljZmZsZ1ZGUldhTTJlT0JnMGFkS3FuQkp3d1I3YkhBazRYUFNQY2xaRmZxYnhETFJSeGFyazZteDJxa2RBMmx3ME0xRk0zeFo3cWFRQUFBQUFBZ0tOUStZUlRvcWFtUm52MjdEblYwd0JPR0pQSjFQSWc0QlRZbmRMMCtsazQrUWllQUFBQUFBQkFSMFQ0aEpQS1lySElaREtwdkx4Y3I3Lyt1cHlkblUvMWxJQVRwOWZqcDNvR0FBQUFBQUFBQUhEU0VUN2hwT3JldmJ0R2poeXAxYXRYdDJyOGtWMGhXNm9rYVVzSHliWjJtendWNTI3c2ZrL2t2RS9sK0pOOXI2ZlR1UUVBQUFBQUFBQ2dveUY4d2tubDd1NnVoeDU2cU5YanE2c2JYNVBreUMvNFcvUHo4UjUzc28rMTJXeDFnVXhqWTQ3MXVOWWNleXpIU1dyVnNhZmIrMnpFc2MzdHYrWGRta2F2QlFBQUFBQUFBQUFkR2VFVFRtc1dDeDlSdEdQdnJqL1ZNemlqdVZuTmVuUmlqQ3FxYkpxOVlMOG9TanQ5dUZuTmVubDZENzJ6TWswL2JNcy8xZE1CQUFBQUFBQ0F3Y3luZWdJQUFKd0lGVlcxeWltcTBvVHpnM1R2RmRHbmVqbzR3b3l4VVJvUTZ5VlhaNmNUZXAyL1hCeXVaNmQwcTN2dFpqWHI3aXVpTkhkcU4xbWNtbS9sQ2dBQUFBQUFnR05IV1FrQW9FT3F0VW5QTGt5U3U0dVRKbzhLMWRvOUJmcGxkOEdwbnBZa2FXUmZQODJkMnEzbGdhM3dqNC8zeThsczBxeUpNWWFjYjlZSENWcTRQbHZuZHZmV0haZEg2cjQzNDVXUlgra3dKdHpmcWlXUG5hT252MGpVK3orbDEyMS84YmJ1Nmh6aXBqR3p0elI1L292NisrdjZQNFRveTNWWldyd3BSNUowMjBYaHVtTk1aSXR6VzdJcFZ6UGZpWmNrelpuU1ZSZWU3ZC9rMkdFUC9hYlNpbHFOUHR0UGZhSTkxQzNNWGY4M0prTHVWaWU5c0NoSk5iVU5TK0hHREFyUWt6ZDJhWEVlUi92bzV3dzkrZG5CTmg4SEFBQUFBQURRVVJFK0FRQTZ0S2MrUDZqK3NWNTZkR0tNeHYxN3E2cHFXdGQvYjgxVEExVlpYYXVSajI1dWNzd1hEL1ZWMXpBMzliOW52V3BxNjdjdmVld2NoZnRiR3ozbWluOXZWWHhhcWVZc1RHenl2RTVtays0ZUc2VzR0REo5dlQ2cjJYbHVPMUFzazhuVTdQbDZSWHJvc29FQldyd3BSenVUU3BvOTMvWkUrLzc4a21wMUMzUFgvT2s5TkhudVRoV1dIdjhhWnYxalBUWDcrbGo5dHE5SXN4Y2NxTnYrYTF5aHFyOUphdkg0aFBTeXVwL2ZXWkd1SmIvbE91eDN0cGcwNjVvWUZaZlZxS3l5VnAvOWtxbWIveFNtZDJiMGxyT1RTUXZYWituNWI1S1VXOVQ0ZW9JYjQ0bzA0L1c0TnQzVFk5ZDJidE40QUFBQUFBQ0FNd0hoRXdDZ1E2dXVzZW5GUlVtYU83VzdyaDhSb25kV3ByZDgwSEh3ZEhWU3VMOVZ1MU5LdFRtaHFNSCt3ckpxNVJaVk56dVAzbEVlMGxqcDJ3M1pyWjd2M3RUU0p2ZjllMUtzS3Fwc2V1TFRneW9vYlR4NE9kcnVsRkk5OUc2ODVrN3Rybm0zOWREVWVidFVVWFhzQzJmMWovWFV2TC8wME1Hc2NzMTRmYStxandnQnQrd3YxcGI5eGEwK2w5a2szVFF5VkYrdHo5THFuZlhWYkhlUGpaSzcxVW4zdkJHbjZocWJxbXRzZXZhclJEMTVVeGU5dml4Vi8vczJXWkxVTThKZFV5OE1seVE5K0c1OFhYQ1lVVkNwakcyVkRhN1huQWZIZDJyVGVBQUFBQUFBZ0RNQjRSTUFvTVByRk9RbVNab3lPbHdMVm1lcXJMSzJoU09PWGZkd2QwblNGMnN6OWZIUG1jZDBqb0ZkdkNSSks3Ym10akN5Wlc1V3MwYWY3YS9GbTdKYkhUd2Q5c08yZkwyMUlrMW1rMG0xdGRLc2lURzZlbGh3M2Y2WjQ2TTFjM3pEOWJTMnpoMGlTZG9ZWDZRcEwrelNzRjQrbWp1MXUrTFR5dlNYbDNhcnNMUkdONDRNVldTQWkrWjhsYWpLNnJhRldyVTJxYUMwV3M5TjZhNi92ckpiRytLS2RFRnZYMDBlRmFiM2Zrelh1ajJGZFdNWC9aYWo0WDE4ZGRQSU1PVVdWV3RrWHo4Tjd1YWxmZWxsZXZYN1ZCM2RmVy96YzBQa3hJcVlBQUFBQUFBQXg0WHdDUURRNFEzcjVhUFNpbHI1ZVZnMFlWaXczdnZoeEZVLzlZaXdoMDk3VXBxdVJEb3N4TWVxWmY4NnA4bjkzejU2ZHBQN1pyNFRyeVdiNnNPcGNVTUNOZnVHMkNiSFh6azBTRmNPRFdwMlB0UG43OUdhWFk3cllqMzNkWDA3dkVVYmM3UTdwVlMrSGhiZE9TWlNpemZsYUdOOGZYWFh0Y05ERk9EdHJIbmYyU3VNc2dyc1ZVUXBPUlZhdlROZmYzdHZuOG9xYStYcllkSHRGMGNvSWIyc3pjSFRZZi8rOUlBQ3ZhMTZZVm9QemYwbVNYZGZFYVdsditjMDJuN3dzUThURk94dDFjengwVXJQcTlTTTErUDB3N2E4UnM4NzljVmRNcGxhUDQ5bmJ1NTZUUE1IQUFBQUFBRG95QWlmQUFBZFdxQzNzd1oxOWRhQzFSbnFGT3lxbS80WXFvOSt5bEQxMFNVdkJ1a2U0UzZielI0K21VMVNrTGRWZVNWVnpZWXNQKy9NMS9xNHdpYjNIeW5jMzBYWFhSRFM1UDYvZjdoZnVjVlZrcVE3eDBTcXRLSldieXhQZFJoenp4VlI5dFovUDZSSmttS0NYWFgvbFEwcm1JNjJLYUZJbXhLS0ZPSHZvanZIUkdwelFwRStYVk5mM1RXaWo2OWNyV2FIYlpKMElMTmNkNzlSdjViU3ZlT2k1T1ppMXI4VzdHLzVocHRRYTVObXZoT25UMmYyMWQ4bWROS0tyWG5hbFZTcUxjOFBhWFQ4cE9kMmF2S29VRjE0dHIvR0RBelE3dVFTcGVYWnc3R29RQmQxRFhNL3BubVlUQ1pGQnJob1pGOC9TVkpxYmtXcmdrY0FBQUFBQUlDT2pQQUpBTkNoWFRZd1FFNW02ZXNOMmZKeHQyais5QjY2YkZDQXZsNmZmVUt1MXlQQ1hVVmxOZnJiVlRHNmRHQ0FyQmFUcW1wc1d2WjdycDc2L0tEeVN4cTJ2dnR0WDFHcjEzYnFIK3ZaYlBpMFBxNUFxYm4yVUdYU0gwTlZWRmF0VlR2eUhjYmNPanBjbVFXVmRkdnppejBkOWgvZFhtL3kzSjNhbkZDL0p0UGh5aURiTWVSM3czdjc2TXFoUVhwN1pacmlVc3YwajJzN2EveDV6VmRrSGVsd0t6OTNGN01lK0hNbnhRUzc2cldscVhwaFViSWkvRjJVa0ZIVzZISDcwc3AwMzV2eG1uQitrTzRlRzYzdi9uNk9mdDlmcEsvV1pjblgwNkw3eHJVY3ZqWGxndDYrdXFDM3J5VHBpN1ZaK3NmSHh4NnFBUUFBQUFBQWRBU0VUd0NBRHN0c2txNzdRNGoyWjVSclIyS0pKQ2t1dFV4VFJvZnAydzNaRGRiN09WcUFsM1BkK2tXdFlUSkpYY1BjNU9wc1ZvaWZWVTk4ZGtBV3Mwa2orL3Jwc29FQjZobnBydXYrdTZOVmEwN05uZHBOL1dJOE5mTFJ6YTIrdmxHVy9aNnJ4T3h5ZFFweTFZVHpneHZzZHpMYjA2ZTJoazlCM3M3NjEzWDIxb0J2cjdCWFhTM2ZZcjlXWThZTkNWSmtvRXRkR3o5SlNzK3IxSmlCQWJyM3ltZzVtVXk2OTgwNExkOWliNkdYa2x1aGxOeUtadWZ3MlM5WldySXBWOWY5SVVSakJ3Y3FKYmRDQzlkbnR4aitQVDI1cS9yRmVPcVNmLzdlNnZzRkFBQUFBQUE0VXhFK0FRQTZyRXNIQkNqQzMwVlBmMUcvRHRDclMxUDB6TTFkTlhad29CYTJVUDFVWGxXcmI1b1pjM0gvQUhtN085VzlkblUyNiswVmFTb3VyOUc3UjZ3cnRXQk5waDY3dHJPdU9pOUkxNDhJMFJ2TDBvN2pydHJtd3JQOUd3M1FVcHNKYWRidExkUzZ2WVU2dDd0M1hmaDB4NWhJM1haUnVNTzRSeWZHNk5HSk1RMk9QL0o2cnk1TjFZdUxrbVcxbURSM1duY0ZlanRMa3FwcTdNblY2bDBGV24zVU9sT0hEWWoxVXFpZlZXOHVkM3kvYmg0VnBsOTJGZWlacnc3cWhoR2hlblpLdHlidnBUR3pQa2pRYTB0VDlkcFN4M2FFMHkrTlVHU0FpNTc0OUtCS0ttb2FIQmZ1YjlYZ2JsN2FFRmUvenBXemswa1BYdFZKVmRVMi9lZUxnMjJhQndBQUFBQUFRRWRGK0FRQTZKQmNuRTI2OC9Jb0plZFU2T1BWR1hYYnY5K2NxOXN1S3RNZFl5SzE5UGZjWnF1UVNzcHJOSHZCZ1NiMzk0LzFrcmU3VzkzcnNzcGF2YlE0cGRHeGI2MUkxVlhuQldsb2Q1OVdoVTh1em1hVlY3VmNJZFdTMy9ZVk9WUU9TZExmSmpRTWpGcnl3N1k4WmVUYjIva05pUFhTbUVFQmVtTlptbEx6NmtPc2E0ZUhLTURiMmVGNk81TktaTFdZOVB6VTd1b1Q1YUg5R2VYcUhPSjZqSGRqOS9aS3gvZXYxaWJkOWRyZUZvL3o5YkRvOFJ0aW05eS9abGVCL250elYzMzY0Rm42MjN2N3RHVi9jWU14OTQyTDFxUm5kNnE2MXFib0lCYzlQYm1iZWtXNjYrMlZhWEl5U3pYSC84Z0FBQUFBQUFEYVBjSW5BRUNITk8yaUNJWDdXM1hmbS9HcXJuSHNEL2ZmcnhMMXlsOTc2SytYUm1yT3dzUW16bUNzcklJcVNaSzdpN2xWNDRPOHJTcG9aSDJvdHNvdHJ0TEcrQ0tIYmNWbERhdDZXcklqc2FTdWRlSFpNWjZxcXJGcC92ZkpxcWlxZjI5SDlQR1ZxOVdzVDlka09oeDcxK1dSR3Q3TFI0OHZPS0NZRUZkMURnazloanRwbXMybUJ1dGFOU2JFeDlycy9xMEhpalh4bWUxNjhzWXVldnV1M3ZyUEZ3ZjA4Yy8xOTFKZFkxUHZLQS9kZTJXVTltZVU2LzRybzFWVVZxUGJYOTZqdFhzYXI5NENBQUFBQUFBNEV4RStBUUE2blA2eG5ycDFkTGgrMjFla1pWdHlHK3hmdTZkQUs3Ym02Y2FSb2ZweGU1NSsyMWZVeUZuYTd2eWVQcnJuaWloOXVTNUxINjdLY05oM3VOb25NYlA1Tllra3lkdmRTYkdoYnZweVhkWnh6K2xZMnU0MUo5akhXUmYzRDlEcW5RVU93Vk56ZnR5V3IrTHlHaTFZazZtWjQ2T1A2Ym9uUzM1SnRhYlAzNk1wZndyVDJ0MkZEdnZTOGlxMVpGT09waDFxUDdqMDkxejk2NVA5S2l4dGU1Z0hBQUFBQUFEUWtSRStBUUE2bEhCL3ErYmMwazA1UlZXYStYWjhrK01lWDNCQWc3cDY2VCtUdStyNk9kdVZlYWd5NlhnY3lDeFQxekIzM1RBaVZGK3V5NnByNmVka2x1NjRMRXFTOU9Xdm1jMmRRcEowOWJCZ09abWxVRCtyT2dXNTZtQlcrVEhQeWFpMmU1SmtNWnYwK0tRdXNscE1lbU41YXNzSEhMTDFZTEcySG16WXdzNG9UbVkxR3JBZGowOVdaK3FDUGo3NnY4c2lWWEZFKzhNWEZpVXIyTmVxY1VNQzVleGtrc1ZzTXZTNkFBQUFBQUFBSFFIaEV3Q2d3d2oyY2RiODZUM2w3VzdSelhOM0txdXc2VUFwcDZoS2o3NmZvUDlONjY2WHAvZlV0SG03bEZ0MGZHM3VVbk1yOWVyU0ZFMi9KRUlmM2Q5SG42KzFWeTVkTmlCQWZhSTk5TzRQNmRvUVYxOWxsVkZRcVg0ejFqdWNvMjhuRDkxMlVZU3lDNnQwZG95bkZqN1NUeXUyNXVyTjVXbmFrVmlpelFuRkRZNXB6dkcwM1R1M3A0OGt5Y3ZOSWk4M0o4MmQybDJEdW5ycDlXV3AybnJneElWSmJWVnJrekx5SzVWZlVxMlh2a3ZXMGZWWUxoYXovbnRMVi8yMnIwaUR1bm8xZVo0SWZ4ZGQwTWRIZitqanA2SGR2ZVhzWkZKT1VaVytXSnVscU1ENmRhcG1mWkNnZldsbG1qRTJTdC9POHRaN1A2YnJrOVVaeC8zNUFRQUFBQUFBNkNnSW53QUFIVUpzaUp0ZXVyMkhnbjJkOWNoN0NkcCthSDJpNXZ5MEkxOHZmcGVzTzhkRTZyMjcrK2ordCtLMEs3bjB1T2J4OHVJVUhjd3MxL1YvQ05HZFl5SmxzMG54YVdWNjVQMEVmYk1odThualRDWnAvTGxCdXYvUDBhcXB0ZW12OC9jb01idGNFODRQMW8walEvWFJmWDIwUHE1UTg1ZWtOQWlUak9iaWJOSy9yby9Wbi9yNWE5V09mTTI2SmtiM3ZCNm51TFJTYlU0bzBndUxrbHMraVFIOFBKMVZhMnUrdGQvTGkxUDA4dUlVWFRrMFNMT3VpZEc0b1VGNjVQMTlkVlZuM201T21qdXR1eXFxYS9YcG1reE5lV0ZYZzNPTUd4S29XMGFIS1RiRVRaS1VsRjJoRDMvSzBJcXR1ZHB5b0ZnMm0vVEtYM3M0ek9YdGxXbjZlV2UrN2hzWHJlbVhSR2phaGVGYXQ3ZFFILytjMGFyMXB3QUFBQUFBQURveWs4M1d3cmM2QUlCajBwYnFGQnlmMFdmNzZkK1R1cWltMXFiNzM0clhMN3NMMm5UOG5XTWlOZTJpY0ZYWDJ2VHZCUWZxS3BaT2hqQS9xeTQ4eDEvWERBOVJWS0NMZGlhVjZ1SDM5aWtobzZ4dWpMT1RTWDgrTjBpM1hoaXVNRCtyZnRsZG9QOTltNlNkU2ZWQjJiZ2hnWnA5USt4eHpXWDYvRDFhczZ0QUQwK0kwY1Rod2JyL3JUajl1QzFmejAzdHBndDYrMnJUdmlMdFRDcFJma20xcW1wcVZWMWpxL3RqTnB2azdHU1MxV0tXczZYKzUyMEhpN1ZpYTE3ZE5XYU9qOWFrRWFFYTl0QnZLanFpQXN2RjJhUVhwdlZRU1VXTlNzcHJGT1RqclBONitHaHZhcWttL0dlN3d6eTdocm1wYzdCYmcva1A2dWFsVVgzOTlQelhTYXFzdHYvekppTEFSWGRkSHFsM2Ywalhqa1lDeWNUc2NrVUd1T2kyaXlPMGNtdXVWbTdOVTF4YW1XNGVGYVlMZXZ2cVlGYVpQRjB0dXJpL3Y5YnRMZEJmWHRyVDRCeTlvencwYmtpZ3p1dnBvNy9PMzZQa25HTmJUd3R0ZDluQVFEMTEwL0Y5N2dFQUFBQUFnUEdvZkFJQXRIdTdra3ExTzdsVXN4ZnNWM3hhV2NzSEhPV0ZSY2xLekNyWDJDR0JXcndwNXdUTTBGRy9UcDRhTXloQUE3dDZxWHU0dXlScGUyS0pYbm8zV2Q5dHl0SFIvMXRJVlkxTkM5Wms2b3QxV1pvNExGalRMZ3JYUi9lZHBXVmJjdlhFWndjYzJyMzkvY1A5eWkxdTIvcFZNY0d1dXYvSzZMclgzMnpJVW5KT3VaWnZzWWRHZDc2NlY1Y004TmVsQXdJMHZMZVBmTnd0Y25hcUQ1a3NUdlhySGgyZSsrRmJ1T2VOdmEyYVEwV1ZUVjNDM0JUazdTekoza3J2UUdhNW52enNZSU94bHc4SzFKVFJZVTJlNjhtYnVqVFkxdFQ0ajM3TzBKT2ZIWFFJeUNRcHE3QlNnN3Q1YVhBM0wxWFgyTFFuWEk0OVpRQUFJQUJKUkVGVXRWVFBMVXhxOUJ3N2swcTBNNm5sU2pzQUFBQUFBSUF6QlpWUEFIQ0NVUG1FcG9UNFd2WDJqRjQ2a0ZHdTlYR0ZXckUxVjRsWnJhK1djYk9hTmZYQ2NQV0s4dEJkcis1VmRXM0grYXZjWkpKTXNvZFgvQXNGTGFIeUNRQUFBQUNBMHhPVlR3QUFuR1FaK1pXNjlKOWJqdm40c3NyYWs3YnUwc2xtczlWWFRRRUFBQUFBQUtCOU1wL3FDUUFBQUFBQUFBQUFBS0RqSUh3Q0FBQUFBQUFBQUFDQVlRaWZBQUFBQUFBQUFBQUFZQmpDSndBQUFBQUFBQUFBQUJpRzhBa0FBQUFBQUFBQUFBQ0dJWHdDQUFBQUFBQUFBQUNBWVFpZkFBQUFBQUFBQUFBQVlCakNKd0FBQUFBQUFBQUFBQmlHOEFrQUFBQUFBQUFBQUFDR0lYd0NBQUFBQUFBQUFBQ0FZUWlmQUFBQUFBQUFBQUFBWUJqQ0p3QUFBQUFBQUFBQUFCaUc4QWtBQUFBQUFBQUFBQUNHSVh3Q0FBQUFBQUFBQUFDQVlRaWZBQUFBQUFBQUFBQUFZQmpDSndBQUFBQUFBQUFBQUJpRzhBa0FBQUFBQUFBQUFBQ0dJWHdDQUFBQUFBQUFBQUNBWVFpZkFBQUFBQUFBQUFBQVlCakNKd0FBQUFBQUFBQUFBQmlHOEFrQUFBQUFBQUFBQUFDR0lYd0NBQUFBQUFBQUFBQ0FZUWlmQUFBQUFBQUFBQUFBWUJqTHFaNEFBSFJVajF3ZGM2cW5BQUFkV3FkZ2wxTTlCUUFBQUFBQTBBaVR6V2F6bmVwSkFBQUFBQUFBQUFBQW9HT2c3UjRBQUFBQUFBQUFBQUFNUS9nRUFBQUFBQUFBQUFBQXd4QStBUUFBQUFBQUFBQUF3RENFVHdBQUFBQUFBQUFBQURBTTRSTUFBQUFBQUFBQUFBQU1RL2dFQUFBQUFBQUFBQUFBd3hBK0FRQUFBQUFBQUFBQXdEQ0VUd0FBQUFBQUFBQUFBREFNNFJNQUFBQUFBQUFBQUFBTVEvZ0VBQUFBQUFBQUFBQUF3eEErQVFBQUFBQUFBQUFBd0RDRVR3QUFBQUFBQUFBQUFEQU00Uk1BQUFBQUFBQUFBQUFNUS9nRUFBQUFBQUFBQUFBQXd4QStBUUFBQUFBQUFBQUF3RENFVHdBQUFBQUFBQUFBQURBTTRSTUFBQUFBQUFBQUFBQU1RL2dFQUFBQUFBQUFBQUFBd3hBK0FRQUFBQUFBQUFBQXdEQ0VUd0FBQUFBQUFBQUFBREFNNFJNQUFBQUFBQUFBQUFBTVEvZ0VBQUFBQUFBQUFBQUF3eEErQVFBQUFBQUFBQUFBd0RDRVR3QUFBQUFBQUFBQUFEQU00Uk1BQUFBQUFBQUFBQUFNUS9nRUFBQUFBQUFBQUFBQXd4QStBUUFBQUFBQUFBQUF3RENFVHdBQUFBQUFBQUFBQURBTTRSTUFBQUFBQUFBQUFBQU1RL2dFQUFBQUFBQUFBQUFBd3hBK0FRQUFBQUFBQUFBQXdEQ0VUd0FBQUFBQUFBQUFBREFNNFJNQUFBQUFBQUFBQUFBTVEvZ0VBQUFBQUFBQUFBQUF3eEErQVFBQUFBQUFBQUFBd0RDRVR3QUFBQUFBQUFBQUFEQU00Uk1BQUFBQUFBQUFBQUFNUS9nRUFBQUFBQUFBQUFBQXd4QStBUUFBQUFBQUFBQUF3RENFVHdBQUFBQUFBQUFBQURBTTRSTUFBQUFBQUFBQUFBQU1RL2dFQUFBQUFBQUFBQUFBd3hBK0FRQUFBQUFBQUFBQXdEQ0VUd0FBQUFBQUFBQUFBREFNNFJNQUFBQUFBQUFBQUFBTVEvZ0VBQUFBQUFBQUFBQUF3eEErQVFBQUFBQUFBQUFBd0RDRVR3QUFBQUFBQUFBQUFEQU00Uk1BQUFBQUFBQUFBQUFNUS9nRUFBQUFBQUFBQUFBQXd4QStBUUFBQUFBQUFBQUF3RENFVHdBQUFBQUFBQUFBQURBTTRSTUFBQUFBQUFBQUFBQU1RL2dFQUFBQUFBQUFBQUFBd3hBK0FRQUFBQUFBQUFBQXdEQ0VUd0FBQUFBQUFBQUFBREFNNFJNQUFBQUFBQUFBQUFBTVEvZ0VBQUFBQUFBQUFBQUF3eEErQVFBQUFBQUFBQUFBd0RDRVR3QUFBQUFBQUFBQUFEQU00Uk1BQUFBQUFBQUFBQUFNUS9nRUFBQUFBQUFBQUFBQXd4QStBUUFBQUFBQUFBQUF3RENFVHdBQUFBQUFBQUFBQURBTTRSTUFBQUFBQUFBQUFBQU1RL2dFQUFBQUFBQUFBQUFBd3hBK0FRQUFBQUFBQUFBQXdEQ0VUd0FBQUFBQUFBQUFBREFNNFJNQUFBQUFBQUFBQUFBTVEvZ0VBQUFBQUFBQUFBQUF3eEErQVFBQUFBQUFBQUFBd0RDRVR3QUFBQUFBQUFBQUFEQU00Uk1BQUFBQUFBQUFBQUFNUS9nRUFBQUFBQUFBQUFBQXd4QStBUUFBQUFBQUFBQUF3RENFVHdBQUFBQUFBQUFBQURBTTRSTUFBQUFBQUFBQUFBQU1RL2dFQUFBQUFBQUFBQUFBd3hBK0FRQUFBQUFBQUFBQXdEQ0VUd0FBQUFBQUFBQUFBREFNNFJNQUFBQUFBQUFBQUFBTVEvZ0VBQUFBQUFBQUFBQUF3eEErQVFBQUFBQUFBQUFBd0RDRVR3QUFBQUFBQUFBQUFEQU00Uk1BQUFBQUFBRCtuNzM3anJLN0x2RC8vNXJlTXVtOUYxcUVBSUtJb0ZJRTdDS0NzS3NpZmhYOUhsUldGM2J0dXZ5Q0NtdmIxWFZkV05GRmRCY1ZBYkdnV0VEcEFoWUVKU0FKNmIxT2t1bHo1LzcrVVBrdHY0QkM4a251bE1makhNNEpNM2MrOXpVd21UL3U4N3cvRndDZ01PSVRBQUFBQUFBQWhSR2ZBQUFBQUFBQUtJejRCQUFBQUFBQVFHSEVKd0FBQUFBQUFBb2pQZ0VBQUFBQUFGQVk4UWtBQUFBQUFJRENpRThBQUFBQUFBQVVSbndDQUFBQUFBQ2dNT0lUQUFBQUFBQUFoUkdmQUFBQUFBQUFLSXo0QkFBQUFBQUFRR0hFSndBQUFBQUFBQW9qUGdFQUFBQUFBRkFZOFFrQUFBQUFBSURDaUU4QUFBQUFBQUFVUm53Q0FBQUFBQUNnTU9JVEFBQUFBQUFBaFJHZkFBQUFBQUFBS0l6NEJBQUFBQUFBUUdIRUp3QUFBQUFBQUFvalBnRUFBQUFBQUZBWThRa0FBQUFBQUlEQ2lFOEFBQUFBQUFBVVJud0NBQUFBQUFDZ01PSVRBQUFBQUFBQWhSR2ZBQUFBQUFBQUtJejRCQUFBQUFBQVFHSEVKd0FBQUFBQUFBb2pQZ0VBQUFBQUFGQVk4UWtBQUFBQUFJRENpRThBQUFBQUFBQVVSbndDQUFBQUFBQ2dNT0lUQUFBQUFBQUFoUkdmQUFBQUFBQUFLSXo0QkFBQUFBQUFRR0hFSndBQUFBQUFBQW9qUGdFQUFBQUFBRkFZOFFrQUFBQUFBSURDaUU4QUFBQUFBQUFVUm53Q0FBQUFBQUNnTU9JVEFBQUFBQUFBaFJHZkFBQUFBQUFBS0l6NEJBQUFBQUFBUUdIRUp3QUFBQUFBQUFvalBnRUFBQUFBQUZBWThRa0FBQUFBQUlEQ2lFOEFBQUFBQUFBVVJud0NBQUFBQUFDZ01PSVRBQUFBQUFBQWhSR2ZBQUFBQUFBQUtJejRCQUFBQUFBQVFHSEVKd0FBQUFBQUFBb2pQZ0VBQUFBQUFGQVk4UWtBQUFBQUFJRENpRThBQUFBQUFBQVVSbndDQUFBQUFBQ2dNT0lUQUFBQUFBQUFoUkdmQUFBQUFBQUFLSXo0QkFBQUFBQUFRR0hFSndBQUFBQUFBQW9qUGdFQUFBQUFBRkFZOFFrQUFBQUFBSURDaUU4QUFBQUFBQUFVUm53Q0FBQUFBQUNnTU9JVEFBQUFBQUFBaFJHZkFBQUFBQUFBS0l6NEJBQUFBQUFBUUdIRUp3QUFBQUFBQUFvalBnRUFBQUFBQUZBWThRa0FBQUFBQUlEQ2lFOEFBQUFBQUFBVVJud0NBQUFBQUFDZ01PSVRBQUFBQUFBQWhSR2ZBQUFBQUFBQUtJejRCQUFBQUFBQVFHSEVKd0FBQUFBQUFBb2pQZ0VBQUFBQUFGQVk4UWtBQUFBQUdMTFdiT25KanM1U3BXY0FEQ3ZpRXdBQUFBQXdaTDEwNGYzNTcxdlhWWG9Hd0xBaVBnRUFBQUFBQUZBWThRa0FBQUFBQUlEQ2lFOEFBQUFBQUFBVVJud0NBQUFBQUFDZ01PSVRBQUFBQUFBQWhSR2ZBQUFBQUFBQUtJejRCQUFBQUFBQVFHSEVKd0FBQUFBQUFBb2pQZ0VBQUFBQUFGQVk4UWtBQUFBQUFJRENpRThBQUFBQUFBQVVSbndDQUFBQUFBQ2dNT0lUQUFBQUFBQUFoUkdmQUFBQUFBQUFLSXo0QkFBQUFBQUFRR0hFSndBQUFBQUFBQW9qUGdFQUFBQUFBRkFZOFFrQUFBQUFBSURDaUU4QUFBQUFBQUFVUm53Q0FBQUFBQUNnTU9JVEFBQUFBQUFBaFJHZkFBQUFBQUFBS0l6NEJBQUFBQUFBUUdIRUp3QUFBQUFBQUFvalBnRUFBQUFBQUZBWThRa0FBQUFBQUlEQ2lFOEFBQUFBQUFBVVJud0NBQUFBQUFDZ01PSVRBQUFBQUFBQWhSR2ZBQUFBQUFBQUtJejRCQUFBQUFBQVFHSEVKd0FBQUFBQUFBb2pQZ0VBQUFBQUFGQVk4UWtBQUFBQUFJRENpRThBQUFBQUFBQVVSbndDQUFBQUFBQ2dNT0lUQUFBQUFBQUFoUkdmQUFBQUFBQUFLSXo0QkFBQUFBQUFRR0hFSndBQUFBQUFBQW9qUGdFQUFBQUFBRkFZOFFrQUFBQUFBSURDaUU4QUFBQUFBQUFVUm53Q0FBQUFBQUNnTU9JVEFBQUFBQUFBaFJHZkFBQUFBQUFBS0l6NEJBQUFBQUFBUUdIRUp3QUFBQUFBQUFvalBnRUFBQUFBQUZBWThRa0FBQUFBQUlEQ2lFOEFBQUFBQUFBVVJud0NBQUFBQUFDZ01PSVRBQUFBQUFBQWhSR2ZBQUFBQUFBQUtJejRCQUFBQUFBQVFHSEVKd0FBQUFBQUFBb2pQZ0VBQUFBQUFGQVk4UWtBQUFBQUFJRENpRThBQUFBQUFBQVVSbndDQUFBQUFBQ2dNT0lUQUFBQUFBQUFoUkdmQUFBQUFBQUFLSXo0QkFBQUFBQUFRR0hFSndBQUFBQUFBQW9qUGdFQUFBQUFBRkFZOFFrQUFBQUFBSURDaUU4QUFBQUFBQUFVUm53Q0FBQUFBQUNnTU9JVEFBQUFBQUFBaFJHZkFBQUFBQUFBS0l6NEJBQUFBQUFBUUdIRUp3QUFBQUFBQUFvalBnRUFBQUFBQUZBWThRa0FBQUFBQUlEQ2lFOEFBQUFBQUFBVVJud0NBQUFBQUFDZ01PSVRBQUFBQUFBQWhSR2ZBQUFBQUFBQUtJejRCQUFBQUFBQVFHSEVKd0FBQUFBQUFBb2pQZ0VBQUFBQWcwS3B2NXp0SFgxNzlUbjZ5K1YwZEpmMjZuTUFESFhpRXdBQUFBQXc0Slg2azIvY3NUNmYrdmFLN09qY2UzRm84ZHF1ZlBMNkZWbTl1WHV2UFFmQVVDYytBUUFBQUFBRFhrMTFzcU9qbEp0K3N5WGZ1V2RqK3N2RlAwZEhkMzgrL3ExbFdiUzZQZFZlT1FYWWJYNkZBZ0FBQUFDRHdwdGVOQ1dIenhtUnI5KytQb3ZYZGhSNjdaNisvbnp1ZXl2enlPcU92T25FS1preXBxSFE2d01NSitJVEFBQUFBREFvTk5WWDU0Tm56azVMUTAwK2M4UEt3bTYvMTk5ZnpvOStzeVUzL21wenpqaG1RazVjTUthUTZ3SU1WK0lUQUFBQUFEQm96SjdRbVA5ejBwUTh1SHhuL3ZtNjVZVmNjK3ZPdmx4KzArck1udGlRODE4eFBVMzFYallGMkJOK2l3SUFBQUFBZzBaVlZYTEs0V056NG9MUnVmbUJMYm54bDV2VHZ3ZHZBTlhWMjU5UDNiQWlmYVZ5UHZJM2M0VW5nQUw0VFFvQUFBQUFEQ3AxTlZXNThOV3pNbjk2Uzc3NDR6Vlp1Ymw3dDY3VFZ5cm5pejlhazVzZjJKSzNuRHcxY3ljMUZyd1VZSGdTbndBQUFBQ0FRV2RjYTIwdSt0czU2ZW9wNVYrL3UzSzNybkhIb3JaY2QvZUdISFBnNkp4MjlQalUxVlFWdkJKZ2VCS2ZBQUFBQUlCQmFjYjRocno1cENtNWMxRmJydmp4bXZTV252N3Q5emEyOWVTL2ZybzJyWTIxdWVodlo2ZWh6a3VsQUVYeEd4VUFBQUFBR0pScXFxdnk4aVBINWZoRFJ1Y3J0NnpOWFErM3BmdzArbE5QWHpuL2RmTzZyTjNhblErZE9UdmpXdXYyL2xpQVlVUjhBZ0FBQUFBR3JaSE50WG5QYTJabWRFdGQvdk9tMWRtNHZlZXZmczAzYmwrZjYrL2VrTE9lUHlsSDdqZGlINndFR0Y3RUp3QUFBQUJnVUpzMHFqNFh2MzVPVm0vcHp2LzhmTjFmdlAzZWI1ZnV6TmQrdmk3elo3VGt6T2RQU0gydGwwZ0JpdVkzS3dBQUFBQXc2QzJZMVpMWEhUY3AxOXk1SWRmL1l1T1RQbVpuVnltWC8yaDE2bXFxOHI3VFoyWjBTKzArWGdrd1BJaFBBQUFBQU1DZ1YxOWJuVGNjTnpuelo3VGs4aCt1em4yTHQrL3ltS3R1V1pzSGx1M01oODZhbmZuVFd5cXdFbUI0RUo4QUFBQUFnQ0dodGFrbUgzcnQ3UFQzbC9QbG42ek4xcDI5U1pMKy9uSnVlV0JycnZqeG1weDI5SVFjT2ErMXdrc0JoamJ4Q1FBQUFBQVlNdVpOYWNxSC8yWk8vckNtSTkrNjY0KzMzL3ZEbXM3OHkzZFg1cURwTFhuOWNaUFNXT2RsVVlDOXFhcGNMai8xdSs4QkFBQUFBQXd5UFgzbGZPNTdLL1B0WDJ6TWpxNVNHbXFyVTF1VGZQR2RCK1hRV1NNcVBROWd5SlA0QVFBQUFJQWhwYjYyS204OGNYSm1UV3hNVlpLYTZ1VDlaOHdXbmdEMkVmRUpBQUFBQUJoeUpvK3V6OStmT2lQald1dnlzaVBINWFSRFIxZDZFc0N3NGJaN0FBQUFBTUNRMUY4dTU5YmZiY3VzaVUyWk82bXgwbk1BaGczeENRQUFBQUFBZ01LNDdSNEFBQUFBQUFDRkVaOEFBQUFBQUFBb2pQZ0VBQUFBQUFCQVljUW5BQUFBQUFBQUNpTStBUUFBQUFBQVVCanhDUUFBQUFBQWdNS0lUd0FBQUFBQUFCUkdmQUlBQUFBQUFLQXc0aE1BQUFBQUFBQ0ZFWjhBQUFBQUFBQW9qUGdFQUFBQUFBQkFZY1FuQUFBQUFBQUFDaU0rQVFBQUFBQUFVQmp4Q1FBQUFBQUFnTUtJVHdBQUFBQUFBQlJHZkFJQUFBQUFBS0F3NGhNQUFBQUFBQUNGRVo4QUFBQUFBQUFvalBnRUFBQUFBQUJBWWNRbkFBQUFBQUFBQ2lNK0FRQUFBQUFBVUJqeENRQUFBQUFBZ01LSVR3QUFBQUFBQUJSR2ZBSUFBQUFBQUtBdzRoTUFBQUFBQUFDRkVaOEFBQUFBQUFBb2pQZ0VBQUFBQUFCQVljUW5BQUFBQUFBQUNpTStBUUFBQUFBQVVCanhDUUFBQUFBQWdNS0lUd0FBQUFBQUFCUkdmQUlBQUFBQUFLQXc0aE1BQUFBQUFBQ0ZFWjhBQUFBQUFBQW9qUGdFQUFBQUFBQkFZY1FuQUFBQUFBQUFDaU0rQVFBQUFBQUFVQmp4Q1FBQUFBQUFnTUtJVHdBQUFBQUFBQlJHZkFJQUFBQUFBS0F3NGhNQUFBQUFBQUNGRVo4QUFBQUFBQUFvalBnRUFBQUFBQUJBWWNRbkFBQUFBQUFBQ2lNK0FRQUFBQUFBVUJqeENRQUFBQUFBZ01LSVR3QUFBQUFBQUJSR2ZBSUFBQUFBQUtBdzRoTUFBQUFBQUFDRkVaOEFBQUFBQUFBb2pQZ0VBQUFBQUFCQVljUW5BQUFBQUFBQUNpTStBUUFBQUFBQVVCanhDUUFBQUFBQWdNS0lUd0FBQUFBQUFCUkdmQUlBQUFBQUFLQXc0aE1BQUFBQUFBQ0ZxYTMwQUFBQUFBQUFZR2haczdVbmpYVlZHVHVpTHIybGN1NWJ2RDJQcmV2TTJpMDkyZERXODRUSHpoamZrSGU5Y3Niai8zN0p0Y3N6YzBKRGtxU211aXF6SmpSbFJHTjFSbytveTh6eERmdjArMkQzaUU4QUFBQUFBTUJmMWROWFRsZFBLU09iLzVnV3RyYjM1YWYzYjgyS1RaMVp0YWs3cTdkMFo5M1dubXhyNzh2SXBwcTg5L1JaT2ZXNTQ5TlhLdWVPMzdmbGg3L2VuUHJhcXRUV1ZPMXkzVDlidWFrN3QvMXVhN3IvOUxGeXl1bnBMYWZVWDA2cFAzbnpTVlB5enBkUFM1TGM4ZEMyL0dicHpzd1kzNWk1azVzeXNxa21qWFhWYWF5dlRuTkRkZXByM2Z5dFVxcks1WEw1cno4TUFBQUFBQUFZVG5aMGxySjBRMmNlV2QyUjlkdDZzbVp6ZDlxN1MvbmNXdzlJa3JSMTlPVU5uL2w5eG95b3k1Z1J0Wms4dWlHaldtb3lxcmsySTV0cmN1anNFWms5c1NuOTVYTFdidTNKcHUyOWFXMnNTWE5EelJPZXA2NjJLdU5hNjVJa3ZYMzlXYjJsSjIwZGZVbVNjcm1jdHZhK2RQZVcwOUZkeXZ3WkxUbHdXblA2KzVOcjd0cVFHMzZ4SVczdGZWbS9yVGV0VFRVWjIxcVg4U1ByY3NDMDVyem50SmxKL2hUTmV2c3pzdW1Kejh2ZUl6NEJBQUFBQUFDUCs5bURXM1BEUFp2eTBNcjJkUGYycDdPbmxMNVNNbkZVWFk3Y3J6V1huRDN2OGNkdTJ0NlQycHFxMUZaWHBhNjJPalhWdTU1czJodks1WEs2ZTh0LzNOWmZUbTlmT1l2WGRtYngyczQ4c0d4SGtxcDg5cTM3SjBrZVc5ZVo4eTUvSk0rYTNwd1hIandtUjh4cnpaeUpqWHQ5NDNBbVBnRUFBQUFBd0REVDMxL085czYrYk5qV204ZldkMlg4eU5vY01iYzExZFZWK2VidDYzUDlQWnN5b2JVMlIrNDNNZ2ZQYU1uKzA1b3lwcVd1MHJOM3k2S1Y3Zm44amF1eXZxMG5iZTE5YWVzb1pkclkranhudjVGNTRjRmpjdmljbG94cTlpNUZSUktmQUFBQUFBQmdtT2pvTHVXM3kzYm12a2UzWi9HNnJqeXlxajFiZHZUbWpTZE95WGt2blpiNjJxcHMzZG1iN3Q1eUpvK3ByL1Rjd3Z6NTFuOXJObmRuK2NhdVBMU3lQWStzN3NpRHk5dHoxYnZuNTlselc1TWtLeloyWmZ6SXVsMXVEY2d6SXo0QkFBQUFBTUF3Y01Ndk51VnJ0NjdMdXEzZDZlcnB6LzVUbTNMS1lXTno0cUZqTW1Ga1hVWTAxcVNxYXUvZk1xL1MvdmN0K3pxNit6TnhWSDNxYXYvNGZiL3VNdytsVk9yUGl3NGRrOU9lTnlHVFJ3K2RBTGN2aVU4QUFBQUFBRERFOUpiNnMyWkxUMnFycXpKdFhFT1M1QnUzcjgrUGZyTWx6enR3WkU1Y01DWUhURzJ1OE1xQjU3SWZyc3E5ais3SXlrMWQyZGxWeWpFSGpzcHB6NXVZT1JNYk1ubE1mZXBycXlzOWNWQVFud0FBQUFBQVlBaTU3OUh0dWYyaHR0ejVjRnZtVEd6TUpXK2NtL3JhNm5UMTlLZlVYMDVMbzF2Sy9TVTdPdnZ5OE9xTy9INTVlMzcrdTYzNTlXTTdjK1M4MXJ6bk5UUHpyQmt0bFo0M0tJaFBBQUFBQUFBd0JEeXdmR2YrK2RybGVYUnRaNnFxa2hmT0g1VjNuem9qTThZMURJdmI2Uld0djF4T1QyODVtM2YyNW82SDJuTGlJYU16Y1hSOTJ0cjdzbWxIYitaTmJxcjB4QUZMZkFJQUFBQUFnRUZzeWJyT2ZQTGJ5L1Bnc3ZhTWE2M0xDdzhlbFRPUG5aalpFeHRGcDczZy9xVTc4bzlYTHNuK1U1cnloaE1tNTVDWkxSbmRVbHZwV1FPSytBUUFBQUFBQUlQWXI1YnN6QmQrc0RJbkh6WTJSKzNYbXYyOWw5TmV0WGxIYjM1OC81Wjg5OTVOV2JhaEs4K1oxNW9YUDN0c1huVG9tTFEwdUtWaElqNEJBQUFBQU1DZzhvZlZIZm40dGN0eStkc1BTbE45ZGNwSnVudjZVMTlYbFdvbm5mYUovbkk1M2IzOXVmMmh0dnpyZDFabVExdFBEcDA5SWhlOGVrWU9uVFdpMHZNcXpqa3dBQUFBQUdESVdyT2xKNjFOTldsdGNocUJ3YTIvbkt6ZTNKMGJmN2twVjkrMlBxMU5OWGxnMmM0Y2ZjRElWQ1ZwcksrdTlNUmhwYnFxS2szMU5Ybng0V056eklFamMvMHZOdWI2dXpibWUvZHV6dnpwTGFtckdkNFIwTWtuQUFBQUFHRElPdlRkOStidEw1dVd0NzkwV3FXbndHN3I2QzdsdXJzMzVycTdObVpyZTIvT09HWmlYdkdjY1prM3VhblMwL2hmVm16c1NtTjlUU2FPcWt0ZnFaemZMTjJaK2ROYk1xSngrSVZCSjU4QUFBQUFBR0NBMnQ1WnlvZSt0aVIzUGR5V21STWFjOFU3RDhyY1NVMnBIZVluYXdhaW1STWFILy96OG8xZFdmaU5wYW1yU1Q1eHpuNDVZTnJ3ZWgrdTRaZmJBQUFBQUFCZ2tQakc3ZXV6ZEVObnpuL0Y5SHo3QXd0eXdOUm00V2tRbURhMklYLzdnb25wNlN2bmJWOTRPTis0ZlVOMmRKWXFQV3VmY2ZJSkFBQUFBQUFHa0swN2V6Tm1SRjJTNU0wblRja0poNHpPM0VsdXNUZVlOTlpYNSt3VEp1ZTVCNHpNTisvWWtDLzhZRlZ1ZTJoYjN2R3lxVGxrNW9oS3o5dnJuSHdDQUFBQUFJQUI0ckYxblRuclU3L0xUMys3TlVsU1YxUGx0Tk1nZHNEVTVyei85Sm01NE5UcHVlZVJ0bHo0WDR0ejh3TmJLejFycjNQeUNRQUFBQUFBS3F5M1ZNNVA3dCtTejMxdlpacnFhMUl1bHlzOWlZTFUxVmJuOUdNbTVzQnBMZm5QSDYxSmUxY3A1WEk1VlZWRE55aUtUd0FBQUFBQVVFRTlwWEwrNHdlcjhyMzdOdVhnR1MxNXg4dW01YURwTFpXZVJjRU9udG1TajU4OUo3VTExYW1xcWtwUFh6bTlmZjFwYWF5cDlMVEN1ZTBlQUFBQUFBQlVTRytwbk05L2YxVytjdlBhSExYZnlGejB0M09FcHlHc3RhazJUZlYvVERNMy9XWnozdjJsUjlQVjAxL2hWY1VUbndBQUFBQUFvRUkrOTcyVnVmYXVEVG56K1JPejhQVnpNcTYxcnRLVDJFZEtmZVdzMk5pVnQxLytTSlp0NkVwLy85QzUxYUw0QkFBQUFBQUFGYkwvMU9hOC9hWFQ4cDdYekV4RHJaZnNoNU5YSGpVdUh6eHpkaDVkMDVHTHZyNDB2MS9aVWVsSmhmR1REQUFBQUFBQUZmTHE1NDdQT1NkT1RyM3dOT3pVMVZibmhFTkc1Ny9lTlQ4UHIyclBwZGN1eTdiMnZrclBLb1NmWmdBQUFBQUEyRWU2ZXZ2enhSK3Z5VFYzYnFqMEZBYUlBNlkyNTdOdlBTQnRIWDE1MXhmL2tMVmJ1aXM5YVkrSlR3QUFBQUFBc0k5Y2RjdTZmUDIyOWRuUldhcjBGQWFRby9acnpmdE9uNVdlVWpudDNmMlZuclBIYWlzOUFBQUFBQUFBaG9PcmIxMlhML3hnVlY3eTdMRTU2L2tUS2oySEFhUzJwaXJISFR3Nnh4MDh1dEpUQ3VIa0V3QUFBQUFBN0dXL1dyd2ovM1BiaGp4NzdvaDg0TFd6MHRya2JBaFBiZFAyM3R6NisyM3BLNVVyUFdXM2lFOEFBQUFBQUxBWGJkblpsMy8vNGFvME5WVG5FK2ZzbDdFajZpbzlpUUh1NXQ5dXpZZSt0aVEzM0xPcDBsTjJpL2dFQUFBQUFBQjcwU2V2VzVaSFYzZmsvSmRQeitReDlaV2V3eUR3a2lQR1p0ekl1bHgrMDZvc1d0VmU2VG5QbVBnRUFBQUFBQUI3MFpuUG41UjN2SHhhamo2Z3RkSlRHQ1JHdDlUbUUrZk1TMVdTcjl5OExoM2RwVXBQZWtiRUp3QUFBQUFBMkl1TzNLODFyejl1Y3BycWF5bzloVUhrb09rdHVlQzBtYm56NFczNXpyMkQ2L1o3NGhNQUFBQUFBQlNzMUYvT3c2czdCdDJKRlFhV0V3NGVuZWZ1UHpLWFhyczhHOXA2S2ozbmFST2ZBQUFBQUFDZ1lJdlhkdWJ0bHoyU20zNjlwZEpUR01TYUcycnk1cE9tWlBLWSt2elByZXNyUGVkcHE2MzBBQUFBQUFBQUdFcTZlL3Z6NlJ1V1o4eUkyaHkxdi9kNVlzODhhMFpMTG4zanZFd2VVMS9wS1UrYmswOEFBQUFBQUZDZ0gvNTZjMzY1ZUVkZWZ1UzR6QmpmV09rNURISTExVlU1Y2w1cnBvMXRxUFNVcDAxOEFnQUFBQUNBZ214cjc4djFkMi9NbERFTmVmVnp4MWQ2RGtOSVQxODVOeit3TmZjOHVyM1NVLzRxOFFrQUFBQUFBQXJ5K3hVNzg5ajZycnp0bEttWk1HcnczQ2FOZ2ErbnJ6L2Z2V2RqUG5IZDhrcFArYXZFSndBQUFBQUFLRUJ2WDM5K2ZQL1dORGRVNXpYSFRLajBISWFZRVkwMU9YYis2S3pjMUowZjM3K2wwblArSXZFSkFBQUFBQUFLVUZWVmxVTm10dVE5cDgycTlCU0dxT2NmTkRJVFJ0WGx2MysrTGpzNit5bzk1eW1KVHdBQUFBQUFVSURhbXFxY2NleUVuSHpZNkVwUFlZaWFQcjR4cnpsNlFwWnQ2TXF2bCt5bzlKeW5KRDRCQUFBQUFNQWVLdldYMDkzYm41VC9lQUlLOXBaVGp4NmZIWjE5K2RXU25la3ZWM3JOa3hPZkFBQUFBQUJnRDkyNXFDM3YrY3FTTEY3WFdla3BESEdUUnRYbmxNUEg1cGVMdDJkSHg4Qzg5VjV0cFFjQUFBQUFBTUJnOTROZmJjNjlqN2FsdVdGR3BhY3dESng3OHRUYysrajJOTlFQekRORzRoTUFBQUFBQU95QlRUdDZzMnhEVjJhT2I4ajBjWTJWbnNNd2NPQzA1aHc0cmJuU001N1N3RXhpQUFBQUFBQXdTRHkwb2oxcnQzYm56T2RQcXZRVUdCREVKd0FBQUFBQTJBTnJ0dmFrcmIwdkx6MWliS1duTUl6OGJubDcvdkhLeFhsNFZVZWxwK3hDZkFJQUFBQUFnTjNVVnlwbnlkck9UQi9mbU5ZbTczVER2dFBWVzhyZGo3VGxOMHQzVkhyS0xzUW5BQUFBQUFEWVRYMzk1ZnhoVFh1T25EZWkwbE1ZWm1aT2FFeERYWFh1V3RSVzZTbTdrR0VCQUFBQUFHQTMxZFZVNVp3VHAyVEN5THBLVDJHWUdkOWFsMWtUR3JOOFkxYzJiZS9OK0FIME0ramtFd0FBQUFBQTdLYWE2cXFjZE9pWUhEcDcrSng4K3ZuUGY1N3p6anN2MjdadEsrUjZtelp0eW5ubm5aY1ZLMWI4eGNmZGZQUE5PZkxJSS9NUC8vQVBoVHp2WUZkZFhaVkRaNDlJVjI4NUc5cDZLajNuQ1p4OEFnQUFBQUFBbnJaTm16Ymx2dnZ1eTdubm5wc3ZmT0VMbVR4NWNxNjg4c3I4KzcvLys5Tyt4b3RlOUtKODZsT2ZTcEpzM3J3NUR6endRQzY0NElKY2RkVlZHVEZpMTVEWDNkMmR6MzcyczZtcHFjbHR0OTJXUllzV1pmNzgrWVY5VDRQVnZNbE42ZXd1WmYyMm5qeHJSa3VsNXp4T2ZBSUFBQUFBZ04xMC9kMGJzNjI5TDJjY015R2pXb2JIUys2dmZlMXJVMTlmbjRVTEYrYmNjOC9ObDcvODVUem5PYy9KK2VlZi80VEhiZGl3SWRkY2MwMU9PdW1rWFVMUjdObXpILy96Z1FjZW1QZS8vLzFadUhCaFB2emhEK2RmLy9WZlUxVlY5WVRIZi9yVG44NjZkZXZ5SC8veEg3bjAwa3V6Y09IQ2ZPV0FtRFFvQUFBYy9FbEVRVlFyWDBsalkrUGUrMFlIZ2Yybk5xVzd0eitiZC9SVmVzb1RESSsvQ1FBQUFBQUFzQmNzV2RlWkI1YnR6RXVQR0R0czRsT1NuSHJxcVdsdmI4K1NKVXN5ZnZ6NFRKNDhPUXNXTEhqQ1l4NTY2S0ZjYzgwMWVjRUxYcEJUVHozMXIxN3YzbnZ2elE5LytNTmNlZVdWZWN0YjN2TDQ1NjYvL3ZwY2YvMzFPZSs4ODNMVVVVZmxveC85YU00OTk5eDg1Q01meVNjLytjbGRRdFZ3TW45NlM4YVByRXVwdjcvU1U1N0FlejRCQUFBQUFNQnUrc09ham94dHJVMXpRMDJscCt4enIzdmQ2L0xoRDM4NHRiVzFlZkRCQjNQMjJXZG42ZEtsZi9GcjFxNWRtN1BQUGp1MzNYYmJMcDk3My92ZWwrYys5N2s1NVpSVEh2L1k5ZGRmbjBzdXVTU3ZmT1VyODdhM3ZTMUpjdkRCQjJmaHdvVzU1Wlpic25EaHd2VDFEYXhUUC92YUQvN3BzUHpOQ3laVmVzWVRpRThBQUFBQUFMQ2J1bnY3VTFOZGxlcmhlL2dtU1RKdDJyUnMzcnc1Zi9kM2Y1Y3RXN1k4NldOMjd0eVpkNy83M1hua2tVZFNWMWUzeStkYlcxdHoyV1dYWmNhTUdTbVZTcm44OHN2ejhZOS9QQzk3MmN2eWtZOTg1QW1QZmNsTFhwSVBmdkNEK2Y3M3Y1L3p6ejgvbXpadDJpdmZGN3RIZkFJQUFBQUFnTjEwLzlLZG1UUzZQaU9iaDhjdDl5Njg4TUljZWVTUmovOXp6ejMzSkVuR2poMmJUMzd5azltNGNXUGUrOTczN25JYXFWUXE1ZjN2ZjMrV0xGbVNEM3pnQXpubW1HT2U4am5XcmwyYnQ3NzFyYm5paWl2eXBqZTlLUmRmZkhGcWEzZjk3M3ZHR1dmazBrc3Z6WU1QUHBnenpqZ2ozLy8rOTR2OVpnZUpiZTE5V2JhaEs3MmxjcVduUEc1NC9HMEFBQUFBQUFEMjJKbG5ucGxqanowMnk1Y3Z6OVZYWC8yRXp5MVlzQ0R2Zk9jNzg5aGpqNlc3dS9zSm4rdnQ3YzNZc1dQenpuZStNNmVmZnZyakg3L3d3Z3R6NjYyM1B2N3ZGMTEwVVk0NzdyalUxTlRrTTUvNVRFNDQ0WVMvdU9lVVUwN0p2SG56Y3ZIRkYyZk9uRGtGZkllRHo3OTlmMldXYmVqT1o4L2RMM1VESklJT2pCVUFBQUFBQU1DQTkrY1RTNy84NVM5M2lVOUpjczQ1NXp6cDF6VTJOdWJpaXkvZTVlT25ubnBxRGovODhMUzF0ZVVyWC9sS2ttVDA2Tkg1MHBlK2xDVDUwcGUrbE1zdXV5dzMzM3h6Um84ZS9ZU3Z2ZnJxcS9Qb280L21vb3N1ZXZ4ckdSakVKd0FBQUFBQVlMZjkyNy85VzY2NjZxcW4vUHpDaFF1emNPSENYVDUreEJGSDVJb3Jya2lTckZ5NThta0hwSFhyMXVWakgvdFk3cjc3N3N5Wk15ZWJOMi9PdUhIamRtODhlNFg0QkFBQUFBQUE3TFpqamprbXpjM051M3g4NDhhTnVmYmFhM1BpaVNmbW9JTU8ydVh6VTZaTWVVYlBzMzM3OWx4MTFWWDUrdGUvbmxLcGxIUE9PU2ZublhkZUdob2FkbnM3ZTRmNEJBQUFBQUFBN0xhampqb3FSeDExMUM0ZmYraWhoM0x0dGRmbXVPT095Nm1ubnJwSHovRzV6MzB1UC9uSlQ5TFoyWm5qano4Kzczclh1eko3OXV3OXVpWjdqL2dFQUFBQUFBQU1hRC80d1E5eTBra241Wnh6em5uU1UxUU1MTldWSGdBQUFBQUFBSVBWNU5IMWFlOHFwYnUzdjlKVEttYk5talc1NElJTDl1cHpYSFBOTmJua2trdWVORHlkZmZiWnVmSEdHL2ZxOHc5a0c5cDYwOXBVazlxYXFrcFBlWnlUVHdBQUFBQUFzSnRlZjl5a2pCNVJsNnFCODdyL1B0SGIyNXNrdWVHR0czTGJiYmVsdnI0KzNkM2RoYnovMHM2ZE8vTXYvL0l2K2FkLytxZkhQelpxMUtnbmZXeGJXMXNXTFZxVVJ4OTlkSStmZDdCNnoya3pVMTlYbGFiNm1rcFBlWnlUVHdBQUFBQUFzSnYrejBsVGN0clI0MU5mTzd4ZWJ2L1p6MzZXSkxubGxsdHl4aGxuNUx2Zi9XNGg0V25wMHFVNTU1eHo4dE9mL2pUbGN2bnhqLy92UC85dmE5YXNTWkxNbWpWcmo1OTdzSm8xc1RGVHhqUU1xQUE2dlA0MkFBQUFBQUFBZTJ5Ly9mYkxzY2NlbTJ1dnZUWVhYbmhoV2x0YjkraDZHelpzU0pKODlhdGZUYWxVeXBWWFhwbXFxcXEwdExRa1NlNjc3NzVkQWxSSFIwZXV2ZmJhSkJtMjd3UFYzZGVmbnI0bkQzT1Y1TFo3QUFBQUFBQ3dtMVp2NmM1UDd0K2Fseng3VEthTTJmT1RQNFBGV1dlZGxiUE9PcXV3Njkxd3d3MUpraU9PT0NLZi92U25INy9OM2pISEhKUGEydHA4NEFNZnlBYys4SUVuL2RvWHZPQUZtVDkvZm1GYkJwT2w2N3J5MFd1VzVhMm5UTW1KQzhaVWVzN2p4Q2NBQUFBQUFOaE5hemIzNUlvZnI4NlI4MFlNcS9qMGREenJXYy9LcjM3MXE2ZjEyTFBPT2l2bGNqa1hYWFJSNnVycUh2LzQ3Tm16OC9XdmZ6Mi8rTVV2MHRIUjhZU3ZhV2hveUx4NTgvSzg1ejJ2ME4yRHlSMkx0bVgxbHU0ME5ReWM5M3RLeENjQUFBQUFBTmh0ODJjMHA2ZXZQK3UzOVdUQjhIM2JvVDIyWU1HQ0xGaXc0RWsvTjNmdTNNeWRPM2NmTHhvY0hsbmRrYWE2Nmt3YVZmZlhIN3dQZWM4bkFBQUFBQURZVGRWVnlmaVI5Vm0yb2F2U1V4aUdGcTFxVDB0VFRXYU1iNnowbENjUW53QUFBQUFBWURmVjFsUmwvNm5OK2ZWak95bzloV0ZtNmZyTzdPd3M1YUJwemFtdHFhcjBuQ2NRbndBQUFBQUFZRGZWVmxmbHdLbk5lV0Raem5UMzlsZDZEc1BJdzZzNzB0SGRuK01PSGwzcEtic1Fud0FBQUFBQVlEZFZWMWRsM3VUR2xFckpiNXgrWWg4cDlaZXplRzFudW5yN2MrSWhZeW85WnhmaUV3QUFBQUFBN0lIWkV4dHo4TXlXTEZuWFdla3BEQlA5NVhJT25OYWNONTR3T1hXMUErdVdlMGxTVytrQkFBQUFBQUF3bU0yZDNKUlB2M20vakc3eGtqdjdSbDFOZFY1OCtOaTgrUEN4bFo3eXBQeE5BQUFBQUFDQVBWQmZXNTM2V2pjYWd6L3p0d0VBQUFBQUFBcnd3TEtkdWZ1UnR2U1Z5cFdld2hEVzA5ZWY5MTYxT0RjL3NEWDkvUVB6WjAxOEFnQUFBQUNBQW56MVordnl1ZSt0ek1idFBaV2V3aEIyNisrMjVkYmZ0V1h6anQ1VVZ3Kzg5M3RLeENjQUFBQUFBQ2pFMlNkTXlpT3JPN0prWFZlbHB6QkVkZmYyNThxYjEyYkNxTHE4WVA2b1NzOTVTdUlUQUFBQUFBQVU0S0RwTFRsaVhtdHUrTVhHU2s5aGlMcnYwZTFadnJFckp4MDZKbFBITmxSNnpsTVNud0FBQUFBQW9BRDFOVlY1MFlLeHVldmh0ankwb3IzU2N4aGlPbnRLdWVrM1cxSlZWWlV6ajUxWTZUbC9rZmdFQUFBQUFBQUZxSzZ1eXJFSGpjeTQxcnA4OUZ0TEt6MkhJV2J0MXA3OC9NR3RlZE9KVXpKOS9NQTk5WlNJVHdBQUFBQUFVSmc1azVyeWd2bWpzbmhOWis1NGFGdWw1ekNFM0xtb0xSTkgxK2YwWThaWGVzcGZWVnZwQVFBQUFBQUFNSlM4OGNUSjJkRlp5dmhSOVpXZXdoRHlvZ1ZqY3Rqc0VSblZQUERUenNCZkNBQUFBQUFBZzhqVXNRMjU2SFZ6VWxkVFZla3BEQ0hUeGpWazJyaUJmYnU5UDNQYlBRQUFBQUFBS0ZoZFRWWDZ5OG15RFYzWjF0NVg2VGtNVXIxOS9mbkovVnZ5ME1yMlNrOTVSc1FuQUFBQUFHREFLNWZMV2JtcE96LzQxZWFVK3N0NzdYbTJkNVJ5NTZLMmRQWDI3N1huWVBoWXQ3VTcvODgzbHVaajF5eExUNStmS1o2NSs1ZnR6TWV1V1phN0g5bGU2U25QaVBnRUFBQUFBQXg0cGY3a3Fsdlc1dVBmV3BiN0Z1OUllUy8wcDU2K2NpNjdhWFV1dVhaWjFtenBLZjRKR0hZbWoybklZYk5iY3N1RFcvT04yOWRYZWc2RHpNNnVVajV4M2ZMTW10aVkwNDRlWCtrNXo0ajRCQUFBQUFBTWVMVTFWWG56eVZNeXFyazJYL3J4Nm16ZTBWdjRjMXgzMTRaOCt4Y2I4NXJuVGN5TThmV0ZYNS9ocDdvcWVmdExwK2VBS1UyNS91Nk5lWEQ1emtwUFlwRFkyVlhLeDY5WmxnMXR2WG5iaTZkbVhHdGRwU2M5SStJVEFBQUFBREFvVEJ2YmtJV3ZuNXRGcXpweXpaMGJDcjM5M2tNcjIzUGxMZXN5YjNKVFRqOW1mT3BxdkhSS01ScnJxM1BwT2ZOU1RsVSs4NTBWNmV4eCt6MytzdTdlL2x4OTIvcjg1TGRiOHZyakp1WG9BMFpWZXRJejVqY29BQUFBQURCb0hEYTdKV2MrZjJLKzlyTzF1ZmJ1allWY2MyZFhLWisvY1ZWcXE1T0xYemNuWTBjTXJoTUdESHh6SmpYbEhTK2Jsa2RXZCthQ0x6OWE2VGtNY0w5K2JFZSsvSk0xT2VYd3NYbnJpNmVtdnJhcTBwT2VNZkVKQUFBQUFCZzA2bXVyYy9ieGs3UC8xT1pjOGFQVitkMks5ajIrNWpkdTM1QUhsN2ZuSDA2Ym1YbFRtZ3BZQ2JzNjZkQXhlZXZKVS9MN0ZlMjU4K0cyU3M5aEFOdXlveThuTGhpVDk1OHhLN1hWZ3k4OEplSVRBQUFBQURESWpCOVpsdytmTlNmdFhmMjU4dWExYWVzbzdkWjF5dVZ5N2xyVWxzL2Z1REl2UDNKY2pqMW84TjNhaXNHanRxWXFyenR1VWhhK2JrNk9tTnRhNlRrTVlLY2NQallmUEhOMlJqWFhWbnJLYmhPZkFBQUFBSUJCNTRDcFRibjREWE56MzZQYjg4MDcxdS9XTmY2d3BqT1hYTGM4ODZlMzVFMG5UazVUdlpkTDJidWFHMnJ5b2tQSFBQNnp0cjF6OThJcFE4L2FyZDM1OVdNNzAxOHVwNzYyS2lPYmFpbzlhWS80YlFvQUFBQUFERXJISHp3Nkp4ODJKbCs1ZVcxdWVYRHJNL3JhanU1Uy91dm10ZG0wdlNjZlBITldwbzFyMkVzcjRZbEsvY20zN3RxWXQxLzJTRTc1cDkva1czZHVTRmRQZjZWblVVR1ByTzdJQlY5ZW5NOS9mMlYyN09aSnpvRkdmQUlBQUFBQUJxWDYycXE4K1VWVE1tVnNmVDc2eldWWnVibjdhWDFkdVp6Yzh1QzIvUFMzVy9JUHI1NlpRMmVOMk10TDRZOTZTK1Y4OWVkcjg0VWJWNmEycGlvbkh6WTJYL2pCcW56dnZrMlZua1lGbFByTHVXUFJ0cnp2cXNYcDdDbmxuYStZbnRaQmZ1THB6OFFuQUFBQUFHRFFtakdoTWU4OWZWYVM1RDl2V3AzdG5YMS85V3Z1ZXJndG43bGhSVjUxMVBpODlJaXhlM3NpSkVuNitzdTU0c2RyOHU4M3JzclJCNHpLUDc5cFhqNzJoams1NFpBeCtlZzF5M0xaVGFzclBaRjk3RmRMZHVSRFgzc3NHOXA2OC9tM0haRG56R3ROZFhWVnBXY1ZRbndDQUFBQUFBYTFvL1pyemQrOWNucCs5dUMyM1BMYnYzejd2ZFdidS9QNUcxZWxvYTQ2NTV3NEphMU50ZnRvSmNOWnFULzUrbTNyODgwNzF1ZmtROGRtNGV2bXBLV2hKbFZWVlRuL0ZkUHo2cVBINTRvZnI4a25yMStlVGR0N0t6Mlh2YXlqdTVScjc5cVlkMTN4aCt3L3RUbi9mZUd6TW5OQ1k2Vm5GY3B2VmdBQUFBQmdVS3V1cXNwTG56MDJkenpVbGs5OGUwVU9tdEdjZzZhMTdQSzQzcjV5cnZyWjJpeGQzNW1MWHo4M2N5Y05yUmQ3R1poNlMrWDg5NjNyY3RVdDYvTGl3OGZtNzE4MUk0MzEvOSs1a1BFajYzTGhxVE16ZTJKVHJycGxiUnJxcS9QdVY4Nm80R0wydG83dS92em5UYXR6L01Hajg0NlhUOCtzSVJhZUV2RUpBQUFBQUJnQ21odHE4bjlmUENWTDEzZm1nMTk3TEo5LzJ3R1pOcTdoQ1kvNTJlKzI1cVpmYjhsYlh6dzFMM20yMisyeGIvU1Z5dm5aQTF0endpR2pjOEdwTTlKVXYrc055Y2FNcU0yNUowL0pRZE9iMDFqbmhtVkQzZmlSZGZucUJmTXpaVXpEWDMvd0lPV25HQUFBQUFBWUVnNmMxcEsvZjlXTVBMYXVNMWZmdGo1ZHZmMlBmMjdKMnM1OC9KcGxPV0p1YTE1N3pJUUtybVM0Nk9uNzQ4OWZVMzExTG4vSFFYbi9HYlBTL0tkYjdUMlY1eDgwS2tmT2EwMlN0SFgwNWZhSHRtWHJUcmZoRyt4MmRQYmx1L2R1eWlldVc1NmV2bktTRE9ud2xJaFBBQUFBQU1BUVVWV1ZISC9JNlB6ZmwwekxkKzdkbUY4dTNwRWthV3Z2eTRldmZpdzFOVlY1ODhsVE1tWkVYWVdYTXRTMWRmVGwwdXVXNTVlTHR5ZEptdXVybi9HSnBrV3JPckx3RzB2ejkxOTZOSGN1YWt0ZmYzbHZUR1V2VzdLdU14KzUrckZjY3UyeXRIV1drZ3lQLzQ5VjVYSjVlSHluQUFBQUFNQ3dzTE9ybFBkL2RVbVdyT3ZNcXMzZEdkTlNtOTYrY3Q1eitzeWMvanlubnRpN2RuYVY4b25yVitSNzkyN00yU2RNemorZU5uTzNyL1hEWDIzTys3NjZKQ01hYTNMK3k2Zm45Y2RQS25BcGUxTmZxWndiZjdrNUYzOXphV3BycXZMdVY4M0kzN3hnWW1xcW4vcmsyMUFpUGdFQUFBQUFRODc5aiszSWU2NWFrblhiZXBJa2IzblJsSnoveXVtcHF4a2VML3hTR1IzZHBYemhoNnZ6dlhzMzVYVXZuSlEzbnp4bGo5L0RhZFhtN256K3hsVzU5WGZiY3NqTTVyemw1S2s1YlBhSXREVFdGTFNhb3YxMjJZNTg4L1lOdWUzM2JkbHZhbFBlL3RKcE9mcUFrWldldFUrSlR3QUFBQURBa1BUTk85Ym5FOWV2eUpIelduUHBHK2RtL01qNlNrOWlDR3ZyNk12SHJsbVcreFp2ejF0UG5wcS9mZUdrMUJZVU96dTZTN25yNGJiOHkzZFdwcjI3bEkrY05Uc25IemEya0d0VHZJOS9hMW51ZW5oNzN2N1NxWG5od1dNeXFubjRoY0xhU2c4QUFBQUFBTmdiWHZPOGlkbThveS9QbmpzaTQxcUZKL2FlblYybGZQcUdGZm5SYjdia2dsTm5GQnFla3FTenB6KzMvWDVidHJiM3BydW5uUFYvT3RISHdORFowNStIVnJUbnlQMWFreVR2ZXRXTS9QMnBTVXZEOEl0T2YrYmtFd0FBQUFBd1pIWDE5S2UycHFyUUVBRC9mei85N1paODVqc3JjL2J4ay9LRzR5Y1hjczJkWGFVOHRxNHp0enk0TGRmZHZTRWpHbXB5eEx6V25IM0M1TXlmM3B3aytkMks5bnoreGxVNWFyL1dISC93Nk15WjFPUm5mUi9wSzVXemVGMUhidnY5dG56bm5rMHA5WmZ6cmZjdVNHdlQ4QTFPLzV2NEJBQUFBQUFBZTZDdHZTOUwxbmZtaUxtdGhWM3p1cnMyNXZJZnJVNjVuTHppT2VOeTRvTFJPV1RtaUNmRXBiVmJ1L1BGSDYzSmQrN2RsSmtUR3ZLOEEwYmwxYytka1Brem1ndmJ3YTRXcld6UHQrL1ptRjg4c2oxYmR2VG1wTVBHNWxWSGpjOWhjMFo0WDdrL0VaOEFBQUFBQVA3Zjl1NDF0dTdDdk9QNDc1emoreVZ4NGpnT1NZaHpJeEFna0VHNWxKVzIweGpWVmdwYnh6b3FkdFdvS25WYUswM2FpN1pycTJwTW5kZzZyUlZJbmRhOW1GRFJZQjFhdFM2b282amNXdHBTd3AxQWdGd2dDVW1JSFR0MjdPUExPV2N2a2xJWVZVakNQeVFrbjg5TFgvNTZiTWx2L05Yei9PRUlqZXlmeVV5OWtkN3U1c0tlT1Q1WlM4ZkJVMjBiZDR6bm9XZjM1ZXFMNTZXN3ZYTElqYVlkZXlkejA1MHY1WUduaHpOZGErU3lzMmJsYzljdXpaSyt0c0ptNDBEcys3di9mQ2svZUhKdmt1VENGZDM1M0xWTGM4YkM5dU04MllsSGZBSUFBQUFBZ0NQd3l0QmsvdmJiV3pNNlVjdS9mV2IxMjNyVzNySHBQTHA1TEhjL05wVE51NnE1Nlk5WEhGVTBxdFViMmJCdFBOOS9iQ2dQYmhqSmtyNjJmT1VQbDZlMXVaenh5VnFhS3FXME5KWGYxcXlubXVwVVBWdGZyZWJNUlFjMnlWNGRtYzVudnJreDV5L3J6a2N1NnMzWnAzY2U1d2xQWE9JVEFBQUFBQUFjcGswN0ovTGwyN2RrNTk3SmZPbzNGK1dhUy9xTzZqbjdxN1hjOC9oUTFxMGZ5aE5ieHJLOHZ6Mi9lMWxmUG5CdVQrWjJ2YjF0cXMyN3FpbVhraVY5YlNtVmt0c2YzSldIWHhqTjVhdG41LzNuOUdUTzIzeit5VzV3ZERyM1BUV2MrNTdlbXkyN3E3bngraFZaTTNBZ05MMjBwNXBGYzF0VEtUdXZkeWhOeDNzQUFBQUFBQUI0TjNobGFES2Z2ZlhGYk5nMm5uLzU4N055eWFwWlIvV2MrNTRlemsxM2JzM0xleWJUMjkyY0wveiswbnhvN2R5VUN3b2F5L3Avc1RsVnF5ZURvek41Nk5tUjNQdmtjQ3JscmJsODllejh6bnY3c25aWmQxcWFTbWsreFRlaTZ2VkdKcWJyZVhiYmVHNzl3YzQ4OU54SVp1cU5kTGRWY3ZVbGZlbWQ5WXVVc21TZVU0YUh3K1lUQUFBQUFBQzhoWitmMnR1MGN5SmZ1bTdaVVllbmlhbDYvdlRyRzlMU1ZNb1Y1OC9OYjE4Nkw3UGFqLzJleVBENFRIN3kzRWdlZUdZa20zZFhzMm5uUkRwYnk3bnVmZjI1NGNxRlNaTHBXaVBOaDNpMzFNbWkzbWhrYUhRbTNlMlZ0RGFYczMzd1FGUjhidnQ0bGk5b3o5bW5kK2FDNVYyNWJIVlA1blRhNFRrYTRoTUFBQUFBQUJ6Qy9zbGFQdldOamRtNWR6Si8vYkdsdWZ6c25zUCszbGRIcHJMdWtjRmNzR0xXYTZmYlhuaGxJck03bTlJMzY1MC9memMxVTgvZXNabHNINXJLVTF2SDB0UFpsS3N2bnBjaytjbkdmYm4xM2xkeTNrQlgxaTdyem5sTHU5TFdjbkpzUmRYcWpUenl3bWdlZm1GZmZ2YkNhQ3JsVXY3eW10Tno5dW1kbVpxcDU4Y2I5MlYyUjFQNmUxclNONnZaV2IyM1NiSURBQUFBQUlCRDZHeXQ1S09YOW1YQm5KWWoybmk2ZWQyMi9Qc0R1N0p2dkphUHZyY3Zhd2FXSlVsV250WityRVo5U3kxTjVmVDN0S1MvcHlVWExPOTZ3K2UyN0o3SStoZkg4dE9ObzVtcDcwaTVsSnczMEpXTFYzWG5QU3RuNTRMbFhTbVhTMmswR3FuWGszSTVLWlZPakVoVFB6aFRyZDVJYS9PQllEWTVYYzh0ZDIzTFk1dkc4dGptc1RSWFNxbVVTMmxwTHVlaWxkMnZmVjFMVXpudlA0S2d5RnV6K1FRQUFBQUFBTC9FNXQzVkxKblhsc29STFArOCtNcEU3bjltT04rNmIyZG02c212TE92S2h5K2FsOHZQN2tscjA0a1JhZzVsWkx5VzUzZU01Nm1YeHZMYzlva003cHZLbnRIcE5GZEsrZm9uVnFXL3B5WEQrMmZ5N1IvdHpwek9wblMyVlRLN295bXpPNXZTMGxSS1QyZHp1dG9xeDNSamFtVC9UUGFNVG1WL3RaN1JpVnFHOTA5bmVQOU10ZzlPWm1oL0xWKytibWxhbThzWm42emxocHVmVFVkckpZdDZXM1Btb282c1d0aVJjd2M2MDlaOGNteDBuYWpFSndBQUFBQUErSDkrL054SXZ2cWRsL09KS3hmbXlyVnpEK3Q3MWoweW1HL2V2U083UjZiendYTjc4dUVMZTNQZTBxNTB0bFdPOGJUSFJxM2V5RmkxbHRIeFdpYW1hMW5lMzU1S3VaUWRRNVA1d3JjMjVkSE5ZeWtsYVc4dHA3TzFra3E1bE02MlNqNzVvVVc1NHZ3NVNaSzcxZy9taVMxajZXZ3RaK0hjMWpTOTdwMVNyYzNsdkc5MVQ3cmFLcWxPMWZQZ2h1SHNuNndsU2Fabkd0aytPSm5xZEQxSjhsc1g5bWJOd0lGTnJYLzh6a3U1NTRtOXFVN1hVNTJxWjN5eWxyYVdTcGJOYjh0Wml6dno2YXNXcDZlektZMUdzbXRrS20zTjVmUjRkOU03eW04YkFBQUFBQUJlNTlGTm8vbmliWnV6YzNncTg3b1AvNzFNNXkvcnlrQmZXLzdwejg3SWtyNjJZempoTzZOU0xoM1lhdXA0WTBwWU9MYzEvL29YcTVNa2UwYW44OHpXL2RtMGF5SzdScWF5ZFhmMURULzcvejQ2bEI4OU81SWtxVGVTMSsvRDlIWTM1NXpGbmVscXEyU3NXc3ZONjdabjI1NXFrZ1BuL0NvSFQvd2x5VUJmKzJ2eGFVbGZXNjVjT3pmOVBhMVpPcjh0Uy90YnM2Q245VTN6bDBySmdwNldBbjhqSEM2YlR3QUFBQUFBY05DR2JlUDUvSzB2cHJXbG5MLy9rNVZaM1B2bXFERXhWY3VMTzZ2NS91TkQrZDc2b2R6K1YrZGtWb2RkajE5bTU5NnBUTTNVVTUydVozQjBKclZhL2JYUHRUU1hzMmFnTSswdGxVelBOUExFMXJGTUhOeDhxbFJLbVQrN0pjMEhONlhtejI0NXBxZjhLSmEvQmdBQUFBQUFTSEwvMDhPNThZNHRXVGkzSlovLzJOSTNoYWVwbVhydWYzbzQvL0hEM2RtOHU1bzBrbXN2bTMrY3BuMTNXRERuOERhUG1wdEt1WEJGOXpHZWhuZUsrQVFBQUFBQXdDbnYwVTJqdWZHT0xSbXIxdktWUDFxUjArYThNVHh0SDVyTWwyN2JsSjgrUDVvaytmUlZpL1B4OS9lbnMvWGQrVDRuT0piRUp3QUFBQUFBVG1tTkpJT2owemxqWVVjK2UrM0FtOExUV0xXV2ovL0RNK250YnNvTnY3RXcxMytnUDcxSDhDNG9PTlY0NXhNQUFBQUFBS2U4bVZvajFlbDZ1dG9xMlRjK2s3dldEK2JDRmJPeThyVDJKTW42VGFQcDdXN080dDdXVk1xbDR6d3RuTmpFSndBQUFBQUFUam1OUmlQM1BEbWM2bFE5Vjcybjk3V1BQL3o4YVA3bWpzM1pzcnVhWDF2VGs2L2RzT280VGdudlRzN3VBUUFBQUFCd1NwbXBOZkxkbnczbWEvLzljbFl0Yk04NVN6cnl3dzBqK2U3RGU3SjVWelZyQnJyeUJ4OWNrSTljTk85NGp3cnZTamFmQUFBQUFBQTRaY3pVR3JudC9sMzU1Ky90eUtWbnpzcktCZTI1NThtOTJiNm5ta3ZQbkozZis5WDVXWGxhUi9wbU5hZmt1aDRjRlp0UEFBQUFBQUNjRWhxTlJ1NStmRzl1V2JjdHF4WjI1TWJybCtmZXAvWm04cEZhYnZua21ibGdSZmZ4SGhGT0NqYWZBQUFBQUFBNDZmMzgxTjVYLyt1bHpOVHErWjh2cnMzY3JxWk0xUnBwcVZoeGdpS1ZqL2NBQUFBQUFBQndySzE3WkRBMzNiazE5VVp5elNYejA5RjY0Ti9qd2hNVXo5azlBQUFBQUFCT2V2Tm50K1RYejUrVEc2NVltSUg1YmNkN0hEaXBPYnNIQUFBQUFBQkFZWnpkQXdBQUFBQUFvRERpRXdBQUFBQUFBSVVSbndBQUFBQUFBQ2lNK0FRQUFBQUFBRUJoeENjQUFBQUFBQUFLSXo0QkFBQUFBQUJRR1BFSkFBQUFBQUNBd29oUEFBQUFBQUFBRkVaOEFnQUFBQUFBb0REaUV3QUFBQUFBQUlVUm53QUFBQUFBQUNpTStBUUFBQUFBQUVCaHhDY0FBQUFBQUFBS0l6NEJBQUFBQUFCUUdQRUpBQUFBQUFDQXdvaFBBQUFBQUFBQUZFWjhBZ0FBQUFBQW9ERGlFd0FBQUFBQUFJVVJud0FBQUFBQUFDaU0rQVFBQUFBQUFFQmh4Q2NBQUFBQUFBQUtJejRCQUFBQUFBQlFHUEVKQUFBQUFBQ0F3b2hQQUFBQUFBQUFGRVo4QWdBQUFBQUFvRERpRXdBQUFBQUFBSVVSbndBQUFBQUFBQ2lNK0FRQUFBQUFBRUJoeENjQUFBQUFBQUFLSXo0QkFBQUFBQUJRR1BFSkFBQUFBQUNBd29oUEFBQUFBQUFBRkVaOEFnQUFBQUFBb0REaUV3QUFBQUFBQUlVUm53QUFBQUFBQUNpTStBUUFBQUFBQUVCaHhDY0FBQUFBQUFBS0l6NEJBQUFBQUFCUUdQRUpBQUFBQUFDQXdvaFBBQUFBQUFBQUZFWjhBZ0FBQUFBQW9ERGlFd0FBQUFBQUFJVVJud0FBQUFBQUFDaU0rQVFBQUFBQUFFQmgvZyt0YVlORVl6Wi9ad0FBQUFCSlJVNUVya0pnZ2c9PSIsCgkiVGhlbWUiIDogIiIsCgkiVHlwZSIgOiAiZmxvdyIsCgkiVmVyc2lvbiIgOiAiIgp9Cg=="/>
    </extobj>
    <extobj name="ECB019B1-382A-4266-B25C-5B523AA43C14-5">
      <extobjdata type="ECB019B1-382A-4266-B25C-5B523AA43C14" data="ewoJIkZpbGVJZCIgOiAiMzA0NjU5NTI4NTI3IiwKCSJHcm91cElkIiA6ICIzMjM0MDQ1MCIsCgkiSW1hZ2UiIDogImlWQk9SdzBLR2dvQUFBQU5TVWhFVWdBQUJvTUFBQVNzQ0FZQUFBQkVuZkhWQUFBQUFYTlNSMElBcnM0YzZRQUFJQUJKUkVGVWVKenMzWGQwbEZYK3gvSDNsRXg2NzQwRUNDR2hkMFNhZ0NBSW9vdUtYWlMxNENxNjlyTHE3bHJXZFYxZFdWRi9pNHBpUlVVc0NDb1dsQ0s5OTVxUTNudFBadWIzeDVDQklRV0NLQm8vcjNNNEovTTg5N25QZlFyaG5Qbnd2ZGRndDl2dGlJaUlpSWlJaUlpSWlJaUlTTHRrUE5NREVCRVJFUkVSRVJFUkVSRVJrWitQd2lBUkVSRVJFUkVSRVJFUkVaRjJUR0dRaUlpSWlJaUlpSWlJaUloSU82WXdTRVJFUkVSRVJFUkVSRVJFcEIxVEdDUWlJaUlpSWlJaUlpSWlJdEtPS1F3U0VSRVJFUkVSRVJFUkVSRnB4eFFHaVlpSWlJaUlpSWlJaUlpSXRHTUtnMFJFUkVSRVJFUkVSRVJFUk5veGhVRWlJaUlpSWlJaUlpSWlJaUx0bU1JZ0VSRVJFUkVSRVJFUkVSR1Jka3hoa0lpSWlJaUlpSWlJaUlpSVNEdW1NRWhFUkVSRVJFUkVSRVJFUktRZFV4Z2tJaUlpSWlJaUlpSWlJaUxTamlrTUVoRVJFUkVSRVJFUkVSRVJhY2NVQm9tSWlJaUlpSWlJaUlpSWlMUmpDb05FUkVSRVJFUkVSRVJFUkVUYU1ZVkJJaUlpSWlJaUlpSWlJaUlpN1pqQ0lCRVJFUkVSRVJFUkVSRVJrWFpNWVpDSWlJaUlpSWlJaUlpSWlFZzdwakJJUkVSRVJFUkVSRVJFUkVTa0hWTVlKQ0lpSWlJaUlpSWlJaUlpMG80cERCSVJFUkVSRVJFUkVSRVJFV25IRkFhSmlJaUlpSWlJaUlpSWlJaTBZd3FEUkVSRVJFUkVSRVJFUkVSRTJqR0ZRU0lpSWlJaUlpSWlJaUlpSXUyWXdpQVJFUkVSRVJFUkVSRVJFWkYyVEdHUWlJaUlpSWlJaUlpSWlJaElPNll3U0VSRVJFUkVSRVJFUkVSRXBCMVRHQ1FpSWlJaUlpSWlJaUlpSXRLT0tRd1NFUkVSRVJFUkVSRVJFUkZweHhRR2lZaUlpSWlJaUlpSWlJaUl0R01LZzBSRVJFUkVSRVJFUkVSRVJOb3hoVUVpSWlJaUlpSWlJaUlpSWlMdG1NSWdFUkVSRVJFUkVSRVJFUkdSZGt4aGtJaUlpSWlJaUlpSWlJaUlTRHVtTUVoRVJFUkVSRVJFUkVSRVJLUWRVeGdrSWlJaUlpSWlJaUlpSWlMU2pwblA5QUJFNUtmcGRjZTZNejBFRWZrZGVYbEdWNFltKzUvcFlZaUlpSWlJaUlpSVNCdW9Na2hFUkVSRVJFUkVSRVJFUktRZFV4Z2tJaUlpSWlJaUlpSWlJaUxTamlrTUVoRVJFUkVSRVJFUkVSRVJhY2NVQm9tSWlJaUlpSWlJaUlpSWlMUmpDb05FUkVSRVJFUkVSRVJFUkVUYU1ZVkJJaUlpSWlJaUlpSWlJaUlpN1pqQ0lCRVJFUkVSRVJFUkVSRVJrWFpNWVpDSWlJaUlpSWlJaUlpSWlFZzdwakJJUkVSRVJFUkVSRVJFUkVTa0hWTVlKQ0lpSWlJaUlpSWlJaUlpMG80cERCSVJFUkVSRVJFUkVSRVJFV25IRkFhSmlJaUlpSWlJaUlpSWlJaTBZd3FEUkVSRVJFUkVSRVJFUkVSRTJqR0ZRU0lpSWlJaUlpSWlJaUlpSXUyWXdpQVJFUkVSRVJFUkVSRVJFWkYyVEdHUWlJaUlpSWlJaUlpSWlJaElPNll3U0VSK05XYmZsTWlzRzdxY2RQdnorZ2J4NU5XZG10M1h0NU1QSHozUWsvNmRmVTk1UEFzZjZNbmpWelhmdjVlN2tSLyswWS9MaDRlZGN2OGlJaUlpSWlJaUlpSWl2d1NGUVNMeW05VTV3cE1MQm9ad3c5aW9KdnZ1dVNpT3poR2U1SmJVblhSL1U0YUU4dndmdTJBME5OMFg3T3ZHMjNkMlkxaXlQd0JkbzcwSTlEWlRVRlovU21PL2JXSU0yMllOSXRqWDdaU09QNTZmbDRsL1g1ZkFYeTZOUHkzOUFjeTVOWW1OencxczB6R1huQjNLMzYvbzJHcWJqdUVlYkpzMWlLbERXdy9TL25CV0tJOWUxbnBmcDJwczd5QzJ6UnBFMzA0K1RmYjVlSmpZTm1zUXQ1NGZqY1ZzNE1XYkV4blMxYi9ONTNqbDFpVG0vQ25wZEF4WFJFUkVSRVJFUkVUa0p6R2Y2UUdJeU8rRHA4WEkybWNHbkZUYmJiTUd0YnAvNHVOYlNTK281ZVV2TStrWjU4TnRFMlBZblZISnF0MmxBSnpmUDVpZWNkNTh2Nk9Fak1MYWt4NWpSa0V0STNzRWN2L0ZjVHkxNExCenU0K0hpWmR2NlVxZ3Q1bVUzQm9Ba21POHNkdGgwOEh5ays3LzUxUldaU1dqc0phcno0bGc1YTRTZnRoWjhwUDdEUFp4STYvMDVNTTBnTmdRRC81d1ZpZzVKWFc4L0VWbXMyMk1Ca2ZhWnJYWlcrMnJWN3dQRnc4SkphT3docm5mWkFQdzdQUUV4dllPYXRPWUhubm5FSit1S3pqcDltNG14L2hzZGdqeWRhTkxwQmN2emtqazcvTlQrSFR0eWZmajZXNmtxTHloVFdNVkVSRVJFUkVSRVJINU9TZ01FcEZmUkcyOWpUdGUzZC9zdm5GOWd4amZONWp5NmdhTUJnTStuaVlXcnM1anhhN1NadHMzVnVQWTdmRFFXd2Y1K01GZVBIMXRBaGMvdlozYWVodDNYaGdMd0RrOUFrNFlMRFhZN1BTN2N6MEE2L2FYTVh0Sk91SCs3aTdWUVJHQkZ1cnFiZnh4OW00eWl4emgwcEFrZjNablZGSlUwZktYL1hOdVRlS3NSTDlXejcvc2liNHQ3cnQ3N2dHKzNscmsvTHpoMllGWXpNMlVMUjNuaFpzU1c5eFhYV2RqOEwwYlR0Z0hRS0NQdVUxaEdzQ3NSZWtreFhoeHkvaG9Vbk5yK0dKVFlaTTJSN0lnR2s0UUJqMzVZU3BkSWoyNVkxSXNLYmsxTE50ZXpHZHJDOWlXV3RHa2JkK092b3p1RmNoclgyZFRVdVZhcmJVanJiSk4xMkJ1RElOc2RuS0s2NWord201ZXZTMlp4NjdvUkVXMWxXKzNGWjlVUDFHQjd1ekpxR3JUdVVWRVJFUkVSRVJFUkg0T0NvTkU1QmRoczhPeTdhNWZva2NHV3ZqejVGajZkUFRsaHRtN3VYNU1KRmFibmZkVzVQTFlGWjJ3bUkzTVhwSkJUbkhMMVNuRmxRMzgvZjBVUm5RUG9MaWludGszZFNYYzM4SVhtd3JaY0tEMXFwM3ord2ZUTGRiYlpkdHJYMmMzYVhjZ3U1cXIvN1BMK2Rsc01qQ29peCtlRm1PellkT242d3A0NUoxREFGVFVXSG4xNjZ3bWJjNU84bWRRRnovbUxNMmlxdGJxc3E5anVDY1hEZ3BwZHN6YlVpdGNBcUsyR05jbm1JUkl6NU5xNisxdUl0alhqVTJIMmxiNVpMUERmVzhjWk1IOVBYanN5azZrNWxXeis3aEFwTEh5NWtTVlFRMVdPM2ZQUGNDQ0IzcncxRFdkbWZyTWRuN1lXY0lQTzV1MnJSdHVaM1N2UUJhdXlTTzlvR21BRmV6cnhyK3ZUMkRCcWp3V2Iyd2FVTG1NNzBqZ1Z0ZmdHRjlHWVMzWC8zY1hmNzI4SSt2Mmx6bmJiZjdQSUV3bm1HeDE2dEN3VnFmRHM5cWc3NTNyV3U5RVJFUkVSRVJFUkVUa0oxSVlKQ0svdUk3aEhsd3hQSUx6QndTejRNYzgvdmJlTnFycmJGdy9KaEtBTlh2THVQQWYyNWgrYmhUdjM5dURiN1lVOGNHcVBQWm1ObDlsc1d4N01jdTJGM1BIcEZqTzZ1ckh5bDJsUFBqbVFVNlFOZEF0MXRzWmpvenFHY2lzRzdvMGFaTVE2UnJNUFBMT0lhcHFiWGk0R2ZuTDI0ZW9xYk1CRUIzc3psMFh4dkx1OGx3K08yWktzc3BhcTNPS3MyTjV1WnNZMU1XUDk1Ym5VbGp1V3NreW9udEFpMkhRM3N3cTVuMlhnNGVia1pFOUF2aHFzMnN3NU9WdVpNMi9CakIvUlI3L1dKRHFzcTlqbU9kSmgwRkpNVjRZREJBVjVINVM3WTlWV3RYQXZXOGM0UG94a2FUbE53MW1HaXR2ck5ZbXU1cklMYTNqcisrbGNFNlBBTEtLMmpabDNiRUt5K3N4R09DaFMrTmRBcDNtTkk2dnJzSG0zSlpkWE1lTWwvZTZ0UHY3L0JTTUxZUkJFL3VIMExlVEQyYVRnWTlXNTdQOWNOTnFKZ0NicmRuTklpSWlJaUlpSWlJaXA1WENJQkg1UlFSNm16bTNUeEFUK2dYVE5kcUxqOWZrTStXcGJlU1YxamZidnJyT3hvdExNbmo3K3h5bURndmp2emNtVWxMWndMTHR4WHkxdWRDNWRzK3hDc3ZyV2I2emhMdGYzMy9DSUFnY0ZTcU4xUjliVTh1NWJjNCtBTnpOUm1aTWlLWkxwQ2RyOXBYeDJicDh5cW9jeWNYZWpDb2V1Nm9qQmdOOHM3V0k2aU5oMExCa2Z3QysyMWJNcnZTMlRVdDJzZ2JjdmQ3NWMvY08zang2V1VldUh4UEZQejlLWlV1S0kyeG9YSS9IWm05NkEvNDJQNFcvelU4NXFYTWx4emdxcHJySGVoUGthMjd6MmpkYlVpcGFuQmJReTkwRVFKRHZ5ZjBUOU4yMllyNDd5YW5aV3ZQUEJZZDUvOTRlM0Q0cGx1VkgxbFFLOEhacmNTckIrNmZFY2YrVXVDYmJiNXV6aitVN1MvaGtiWDZ6eDNVSzkrVCtLWEc4OG5VV3RYVTJiam92bWk4M0ZiSjJYK3NobElpSWlJaUlpSWlJeU05RllaQ0kvQ0s2ZC9EbXFwSGhmTGdxRDZNUnJoMFZ3YldqSXBwdDI5eVg4eG1GdFd4THJlREN3U0g4dUtlVVdUZDBZVlRQUU9mK3NZOXU0ZTBmY25qN2h4enVtOUtCcTBjMjMvZUhxL0o0L0FOSHhZeWIyZUNzL2lncWIyRDV6aEtTb3IzNHh6V2RNUm9kYXhOMWpmYmlub3ZpdUgvZUFkYnVLNk5ydEJkbkpUcUNuNmdnZHc3bVZBT09kWVVBc29yYXRzYk9xZHA0c0p3TC83R05oeTZKWjk0ZDNWandZeDdQZnBxR3lkaTBxdVZVak9nZVFJUE5qdDBPWTNvRjhlR3F2RmJidnp5akswT1BCR0lBVHkwNHpIc3JjcHR0NiszaENJTTZoYmRjcFhUODg3MzBYenVjbFdFV3M0RU56dzdrK1VYcHpWWmR0V1JQWmhXZnJTK2dzdGJxWExlb3VzN0s4NHZTWGRwMUNQRmd5cEJRTmg0c1o4V3VraWI5SERyeXpKdlRKY3FUbDJja3NUT3RrbGVYWmxGdnRXTTJHWGg1UmxmbXI4emxoYzh6bkFHaWlJaUlpSWlJaUlqSUwwVmhrSWo4SWxidUxtWGw3dTBBREVzT0lEV3ZocGUreURpcFk2OGZFMFc5MWNhVEh4NmQ5dXo5bFhtczNGMUt2ODYrVE93ZjNPU1l2Tko2bnY3b3NNdTJ1eTZLZGZsc01SdXBxM2RVMEVRR1dyajEvQmdtRGdoaDRlbzhudms0alhmdjdzNityQ29LeSt2NXYxdVNlSDVSR21jbCtyTm1YeWxEdXZxVEVPbnBESU1TSXIyb3FiZVJYZXdhQm9YN1cxcXNQQUZZOWtUZms3b0hqWHc4VEx4Nld6THI5cGZ5L29vODdwcTduNGtEZ3Jsb2NDaFdtNTBBYjhlOFpaVTFweDQ0K0hpWUdKRGd5OFlENVZUVjJ2akRXYUVuRElQZVdaN0RkOXVMOGZVMDhlY0xZbHR0R3h2aW1IcnUrUFdhanRYNGZKTmp2TGprN0piWDNHbXJ4cldjeHZZT0FxQzIzdFlrVUpvNElKZ3BReHozODJUREpwTVJyaHdad2N5Sk1YaTRHZmw4UXdHTnRWbHpsbWF4SmFXQ2YxelRtUW45SEZNamZyQXlqL3l5NXF2aVJFUkVSRVJFUkVSRVRqZUZRU0p5UmhSWE5QRGxwcUlUTndRbURRZ2h3TWYxMTlXUGUwcWRQemNYQmxYVld2bDZxMnYvTjUwWDVmTFpZalpRZTZTQ1ptaHlBT0VCRnE1NmJnZTcwbyt1VFZSdnRmUE14MmxzVGEzZ3NxSGg3RXl2NEpzdHhYUUs5NlJYbkk5enpaNmtHQzkycDFkaFBTNkRLYXV5OHR4bmFVM0dON3BuSUNPNkIvRE1KMmxVMXJndW5wTVk1Y1dWSThLYnZSYzFkVGJlWDVuTERXT2p1T2FjU0w3Y1hNaWNyekpadktFUWdBQnY4NUh6dG0xYXQyTmRNREFFczhuQVY1dUxxS2hwNEYvVEV1Z1c2K1Z5WDQ2M2NwZmplWVQ3VzA0WUJpVkVlTkZnczVNVTQ0MjN1NG5LMnFhTEJ6VSszN0c5ZzlvVUJpMStwTGZMNTYrM0ZuSDMzQU5OMmxuY0RDMzIwVml4MUtlamI0dmphK1RoWm1UaWdHQ3VIeE5GVkpDRjE3N0pJcmVranRzbnhUS3FSeUJQZkpqQyt2M2xyTnRmeGdWUGJPV0s0ZUZjTnlhU1A0Nk5Zc2ZoU3Ric0xXWGhtbnh5aWs5OVBTUVJFUkVSRVJFUkVaRVRVUmdrSW1kRWZMZ0gvNXFXY0ZKdGsySzh5U2xwMi9ScjhXRWV6VmJrYkV1dGNQN3Naalk2cDFOYjhHTWVDMzUwVkwrWVRRYmV2NmNIYjMyZnc4ZHJIT3ZDTE4xY3hOTE5SOE9sTFNrVm5KM3NENStBbDd1Um5uRSt2UE5EVHBQelZkZGJXYmk2NmRveVVVSHVqT2dld0pJTmhSU1d1MWFJak9nZTBHSVkxR0N6OC9HYWZENWRtOC81QTRLNWJuUWt2aDVIZjVWSEJqcXFibkpLVGkxY01Camc2bk1pcUt5MXNtUmpBWFVOZGdyTDY3bjV2Qmp1ZUhYZktmVjV2TUdKZml6ZVVNaW9Ib0VNNitidkROUk9oOWUrenFhazZ1ajlURzFtYmFuRUtDL3UvVVBUdFlBYTllbm9TMnBlRGRIQjdvenVGY2lpOVFWTjJpVEhlSEhac0hERzlnbkMwOTNJbHh1TG1QRnlCaG1GanZkMDZaWWk3dnRESEJQNmhiQitmem5nV0FkcjdyZlp2TGNpbDFFOUE1blFQNWdCQ1g2ODlrM1dUNzFzRVJFUkVSRVJFUkdSVmlrTUVwRXp3Z0NZVENmWDF0aHlFVWVMY2t2cW5Hc0ROWHJnWXRjQXdOMXNwTGJPenZIRzlRbWlTNVJucSt2L3JONWJ5bmw5ZzRnUDh5QXh5Z3MzazRIdnRoVzNmYUNueUdhSHo5Y1g4dm42UXBmdDNUczRwbDQ3bU5OeUZVOXJMaHdVU215SU8vTyt5NkdxMWhHVXpWK1J5NjNueDlDdmt5K2JEcFgvcEhGM2kvVW1JdERDc3UzRm1Bd0d6dThmY2xyRG9JVnI4a2d2YVBtNWRlL2d6Zjl1U2NKb2JINi92NWVadnAxOStOK1htWFNMOVdiS2tOQm13NkNLR2l2OU92dnkzb3BjUGx5VlIrNXg0VnRabFpXSGoweEpkN3pxT2h0TE5oYXlaR05ocy90RlJFUkVSRVJFUkVST040VkJJbkpHcE9UV05EdDlWM05tMzVUWVpKcTRFNm11czdGOFo0bkx0cGtUWTF3K3U3c1pxYXgxVkpIOCtZSllwcDhiNmJML2xWdVRYRDZuNXRVdytjbHRBSHl6dFlpL1hCclA1Y1BENlJ6aFNXNXBIVnRTS3ZpNWpPMGR4TFBUVDY2U0N1RHpoM3UzdU8vWlQ5T1k5MTNUS3FaQWJ6TjNYeFJMZWJXVlY3OCtXcTN5MXZjNVhERWlncjllM3BGTG50NU92YlZwZ05ZU041T0JSeS9yeU4vbUg4SnFnOHVIaDFGUlkyWDFubElNd0xQVHU5QWgxSjIwL0JOWGZ2bDVtaGpWTTVBdk5wMWFpSEpXb2gvUDM1REkzc3dxRnE3SjQvRXJPelZwYzhIQUVNeEdBOTl1S3lZbHQ0Wi9YNTlBanc3ZTdFaXJkR21YWGxEcmZCZWFjOW13TU1iMEN1S3g5MU9jMVVLTkJuWHg0L1pKTWR3Lzd5Q1pyUVNPSWlJaUlpSWlJaUlpcDR2Q0lCRTVJL3AyOG1sMkdyZVdiRHQ4K29NV1Q0dVJ1bnBIOWNzbmEvUFpkS2ljeVFOREdOMDdrRWZmUFVSWjFkRzFZaDZaR2svR01SVW5aVlZXdnQ1U3hNVkR3bkIzTS9EY3Arbk5uaVBjMzlMcWRTNTdvdTlKalhWZlZoWFBmdHAwN2FGamplc1RUTTg0YnhadkxHUlBSbVdMN1JxbkxUdVcwUUJQWE4wSmZ5OHpmNStmUXVreGF3NVYxZHI0ejJkcFBINWxKeDY5ckNPUHZOdDh4Y3Z4L0wzTXpMcXhDOTFpdlpuMWVUcStuaVltRFF6aGYxOW1VVjFuWTluMllqSUthdm5UaEJnZWVQUGdDZnQ3OVBLT0dBMkdVd3FEeHZVSjRxbHJPN1BsVUFXM3pkbkxzT1NBSm0wc1pnUFhqSXBnNWE1U0RtUlhrNXBiUTNwQkxYK2VITXNOcy9jMDIrOHoxeVZRWFdmbDBYZFRlT3FhenZUdDVNdjR2MjloWDFZVjE0Mko1S01IZXZMZno5TjU1NGRjNXpIRkZmWEVobnJ3NXAzZG1QSFNIdlpuVjdmNWVrUkVSRVJFUkVSRVJOcENZWkNJbkJHcGVUVzg5RVhHU2JXOWZrelV6eklHRDR1UjZpTmhVR3BlRGZVTmRvWjNEK0NyelVVdTA2K2QzeitZOEFBTDk4MXpyV1I2Ni9zY3p1OGZqTlhtbUo2c09SVTFybFUyamM1TzhtZFFGei9tTE0yaXF0YmF6SkZRV0Y3UGUzZDM1OFVsR2F6Y1hkcHNOVStqaTRlRTBpM1dNVVZjUklDRkpSc0tXYkdycE1YMng3dHZTaHpEdXdXd2JIc3hIeld6eHRHbmF3c1kyenVJQ3dlSGtGNVF3NXlscmE5ekV4Zm13VHQzZGNmSDA4UU5MK3locUx5ZVo2NUxvTHpheWx2Zlp3T09xZTVlV1pySjQxZDFZdEg2QWxidExtMnh2eXVHaDNOV1YzK3VmbTduU1YvVHNRckw2MW01cTVUNzV1Mm50cjc1eXFZYngwVVJHV2poenRjY2F5TTEyT3pNWHB6QjA5TTZjK0dnRUQ1ZDV6cGRYSmNvVDhiMUNlS2xMektiOUxYNVVBV1hQcjJEeDYvcWhNM3hpakZ4UUREbjlnN2liKytsY01NTHUzbDFaakt2Mzk2TlcrZnNaZXZQV0ZVbUlpSWlJaUlpSWlLaU1FaEV6b2ppaWdhKzNIUnlhOFZNR2hCeVV0UEVYVFlzak9KS1IwVkxmSmhIc3hVNTIxS1BmdW51NzJXbStwZ2d4bUNBRlR0TE9MOWZNTUUrYnJ5d09KMEdxNTFITG92bjAzVUZiRDdrK29YOUZjUERBVEFaWWViRVdKNzgwSFdOSW9ES1dpdHp2OGx1c3QzTDNjU2dMbjY4dHp5WHd2TDZacTluVUJjL3VuZndKamJVQTFvSVN1TERQTGh6Y2dkRzlReGc0OEZ5Rm04bzVQTGhZYng0Y3lJcHVUVzh1U3liUmVzTHFHdG9QZ0F4R0J4cktWMHhQSnk5bVZXdFZ1Zzg5TlpCM3IyN0I3ZE5qTUhidzhUemk5S3hIOWV0djdmak9WMDVJcHlVM0JxdWZtNG5HWVcxM0gxaEIvcDI4dVcyT1h1ZGF4RUJmTDZoZ011R2gvUFBhenR6NWJNN202ejMwL2pjSnc4S1ljYkxlMG5OcThGaWJ2c2lVaHNQbHJQeFlNdnJIZlh2N01zTlk2TjUrNGNjZHFVZlhXL3BpMDJGVEIwV3hvT1h4TE03bzRwOVdZNTlCZ004ZkdsSGlpc2FlT2VINWtPNmlob3JkNzYyMy9tNVM1UVhvM29HOHRCYkI5bWZYYzBOTCt6bXIxZDBwS2JPMXV6eElpSWlJaUlpSWlJaXA0dkNJQkg1eGQzeWYzdmIxUDYyT2Z0YTNPZmxiZ1RnMlQ4bTBDdk9oMGZlY1V4aGxsZGF6OU1mSFc3U1ByMmdCbkI4K2UvbGJ1UndmbzF6WDBaaExmZThjWURPRVo3Y01pR2FkKzdxVG5XZGpmelNlaDUvUDhXbG41a1RZNWc4S0lRWEZtZlFNODZIeTRhRnNUT3Rray9XSHEycXVlbkY1cWNXQTV6VlFNbXhYcXpjMVRUbzhmTTBNWFZZR0FBYkQ3aUdHRjd1UmtaMkQrU0NnU0djbmV4UFdWVUR6MzJhenB2THNySFpZY0dQZVF4TzlPT2FjeUo0OUxLT3pKd1V5L3dWdWJ5L0l0Y1psb0ZqamFESHJ1ckV5TzRCN00yczRzWVg5MURkU2pCUlZtM2xwcGQyTTNkbU42NGZFMG5QT0I4ZWZmZVF5NW80NC9zRkFiRGhRRGwvZm5VZlpkVldab3lQWnRyb0NGNVluTkhrV3EwMnVPZjEvWHh3YjA5ZXY3MGJNMTdldzRGanBrMGJtdVFQd0Q4V0hHYmQvcklXeC9aVEpFWjVNZXVHUkhhbFZ6WTczZCs5Ynh6Z3cvdDY4SCszZE9YbWwvZXdQNnVhNkNCM1RDWjQ3ck0wS21vY3o3SzIzb2EvdDRtSVFBczV4WFV1ZlVRR1doalRLNUNET2RYT2U3dy91NXFybjl2MXMxeVRpSWlJaUlpSWlJaklzUXgyKy9IL3IxdEVma3Q2M2JIdVRBL2hwTncyTVlhYnhwMmU2ZDdtTE0xaTltTEhGSFB6N3VoRzMwNCtwT1hYOHVTSHFhemUyM3dGemIrdlM2RGVacWVzcWdHTDJjaTRQa0Y0V294YzlOUTIwdktQaGhtZUZpT1RCNFZ3elRtUnhJUzRzek90a3A1eDNxemJYOFovUDg5Z1cyb0Y5MXpVZ1d0SFJURHZ1eHllL1RRTlQ0dVJ0Ky9zVHFjSVQvN3pXUnB2TG10NU9yZEduU004bVg5UEQ5emRXcTl5V2IyM2xKdGYya3UzV0MvRzlRbW1ieWRmZXNaN1l6WWEySnRaeGFMMUJTejRNYytsMnVaWThXRWVURDgza29rRFFyRGE3Q3hhVjhCL1A4K2daNXczLzdpbU13SGVacjdkVnN4ZjNqN1lZaC9IQy9OMzQva2JFdW5Sd1pzR3E1Mi96VS9oc3lOVHFIVUlkZWYrS1hIY1BmY0FkdXc4ZWxsSExoZ1l3bXRmWnpQcjgrYlhWUUlZbk9qSHJCc1NNUmpnc2ZrcExON29tS1p2MHNCZ2VzYjU4TlNDdzh5ZG1jeUFCTitUR3VPeGxtMHY1bzVYOTd0c0c5czdpR2VuSi9EaWtreXVHUlZCUVZrZE44emVRMEZaODFWYXZUdjY4TkxOWFRFWkRUenl6aUcrM3RxMHFtMVV6d0NlLzZQakdwcGpzOE5mM2pyb3ZMYmZxcGRuZEdWb3N2K1pIb2FJaUlpSWlJaUlpTFNCd2lDUjM3amZTaGpVdllPM2MwMmJuMnBYZWlVNzB5b0J1SDlLSEExV095OHNUbTl4S2pTQXA2ZDE1cHdlZ2JpN0diSFo3YVRsMS9EQzV4bDh1NjBZZ0FzR2hqQjVVQWo5T3Z2aVpqS3dmR2NKTHk3SllIZEdGWDA2K25EbjVBNHNXcC9QNko1QkRFMzJaODdTTEY1Y2NuVE5vekIvTjJiZjNKV2thQy9lVzVITFV3dWFWaVVkTHlMUXdyRGtBQUo5ekJ5Zkh6Ulk3YVFWMVBEOWpoSWFySGFpZ2l6TW5kbU4vZGxWck45ZnhzcGRwUnpLclc2MjMrYUUrYnN4YlZRa1hhSzl1T1hsUFFUNU9BS2RqMWJuc2JDWk5ZSk94TTFrNEtiem91bmV3WnU3WHR0UFRYM1RJTW5UWXVTZjF5YXdZbGN4QzM0ODhUbTZSbnZ4bDB2amVmRE5nMlFXMVRiWmYxN2ZJQ0lDTFcwZWExcCtEY3UydTY2ZjFCZ0dQZjVCS3VQNkJISC92QU1VVlRTMDBNUFI4VDE0U1J6M3p6dElia2xkczIzaXd6em9IdXVOdThYb3NyMm16c2Iyd3hWTnBzSDdMVklZSkNJaUlpSWlJaUx5MjZNd1NPUTM3cmNTQnYzYVhYSjJLRk9IaGZQOTltSStXMWZnTXZWWm8xQS9OLzUxWFFKdkxzdHVFaTZBSS94NC9LcE9mTEltbjVVdHJQRWo4bHVuTUVoRVJFUkVSRVJFNUxkSFlaREliNXpDSUJINUpTa01FaEVSRVJFUkVSSDU3VEdldUltSWlJaUlpSWlJaUlpSWlJajhWaWtNRWhFUkVSRVJFUkVSRVJFUmFjY1VCb21JaUlpSWlJaUlpSWlJaUxSakNvTkVSRVJFUkVSRVJFUkVSRVRhTVlWQklpSWlJaUlpSWlJaUlpSWk3WmpDSUJFUkVSRVJFUkVSRVJFUmtYWk1ZWkRJTHl5enNKWU5COHJPOURCTzZPVVpYZG44bjBHbnZkKzF6d3hnM2gzZFRudS92emV6YjBwazI2eEJtSDRsdjhWL2llZTY0ZG1CekxrMTZXYzlSMHVtalk1ZzI2eEJuSlhvZDBiTzN4WXh3ZTVuZWdnaUlpSWlJaUlpSXZJcjh5djVHbEhrOTJOUFpoVXpYdDdMK0w5dllmYmlERElLYWlpcmFxREJhai9UUS90RkZKYlhVMUxaY0thSDhadFhWbVdsc0x3ZSs2L2t0V252ejdXNjFrWmhlVDExRGIrU0c5NE1QeThUNzkzZG5jdUdoWi9wb1lpSWlJaUlpSWlJeUsrTStVd1BRT1QzS3F1b2pqbExzNWkzTElmZThUNzA2ZWhEOXc0K0pFWjdFUkhnaHNsb09OTkQvRm1jLzlqV016MkVkdUdodHcrZTZTRzRhTy9QOVlOVmVYeXdLdTlNRDZOVlFUNXVkTy9nellZRDVXZDZLQ0lpSWlJaUlpSWk4aXVqTUVqa0RHbXM2S2lwczdGdWZ4bnI5cGZoNDJIQzM5dE1jb3czNS9VTlltU1BBRHpjVk1BbklpSWlJaUlpSWlJaUlxZE9ZWkRJbVhKTTRZLzlTREpVWHQxQWViV1Z6TUphdnRsYWhKK1htWWtEZ3BrNElJVFlZSGU4M0kyNC84TGhVTGRZYis3OVF3ZDZkUENoc3NiS0R6dUxtYjA0Zy95eStxT1hZb0JMenc1ajBzQVFFaUk5OFhBelVselp3TnE5WmJ5d09KM3M0anBuMjdYUERHQlBSaFhUWnUzaW5idTYweW5DZytFUGJLTEI1cmdIWnFPQkZmL3NoNmZGeElpSE5sSldaWFVldS9SdmZjZ3RxZU9hNTNjQmNGWlhQNjRlR1VHUE9CLzh2RXhVMWRqWWtWYkJuSyt5MkhUb2FIWEV5ek82RWg1ZzRiSDNVN2oxL0JoNnhIbGpOQmpZa2xMT0M1OW5zQ090MHVXYXorc2J4TFRSa1hTTzhLU3l4c3FTallWc08xekJ2NjlMNExZNSsxaStzNlRGKytYaFptVG14QmlHZHc4Z010Q2Rtbm9yVzFNcWVQWHJMTGFrVkp6d2ZudTRHWmwrYmlRVCtnY1RGZVJPUlkyVmRmdktlSEZKQnFsNU5jNTJzMjlLWkVUM0FQcmV1UTZyRGFhZkc4bWZMNGhsNnI5Mk1HMTBKRU9TL1BIeE1KR1NXODBiMzJXemVFTWhBS042QmpEcmhrUmVYSkxCLzc3S2NqbDM1d2hQUG42d0orOHV6K1dmSHgwR0lEN01neG5qb3prcjBSOC9MeE81cFhWOHQ3V1kvMzJWU1ZuMTBXZHo3SE50RkJQc3pzM2pveG5TMVI5L0x6UFp4YlVzV2wvQXZPK3lYYVpiNjkzUmg1dkhSZE9yb3c4ZWJrWU81OVh3MGVvODNsdVIyK3cwZUJQN0IzUGplVkhFaG5pUVcxTEhaK3NLZU8zckxPcVBtV3JSMTlQRTlXTWlPYWRISU5IQjdwaU1CcktMYS9sMmF6RXZmWkhoY3Y3QmlYN2NNRGFLTGxGZStIaVl5Q3lzWmVtV0lsNzlPcFBhZWtlN2FhTWp1UHZDRHR6MDRoN1c3RHU2NXRjbFo0ZHk4WkF3T2tWNFVsMW5ZMmRhQlM5OWtjbk80OTZwNXJUbFBaczhLSVRMaDRlVEVPbUp6UVk3MHlxWisyMFdxM2FYQW5EcDBEQWVtUnJ2SE91MDBSSGM4bjk3bmZ0RlJFUkVSRVJFUk9UM1RXSFFHV2F6MlRtWVUwTktidldaSG9yOFFuYWtWN3A4d1cwQU1CaXdZd2M3Z1AzSWZnTmxWUTI4dHp5WDk1Ym4waTNXbXg1eDNuUjZGQlVEQUFBZ0FFbEVRVlFNODJCZ0Z6L2l3enl3bUgvZVlNaG9nTmR2VDJidHZqS2UvZlF3aVZGZVRCa1N4bGxkL1puNnJ4MlVWam5XaUhub2tuZ3VHeGJHeWwybHpGNmNnUjNvMzltWFNRT0RTWWp5Wk9xL2RqVGIvM2ZiaStnWkYwdnZqajVzUE9nSWIzcDM5TUhiM1FUQW9DNStmTE8xR0lERUtDOGlBaTI4dXp3WGdQSDlnbmo2MmdRTzVsVHo1bmZabE5kWVNZanc1S0t6UXZuZm41SVkvL2N0RkpZZkRhd2lneXk4ZUhOWDNsMmV5NnRmWnhFVjVNNmRrMk41OWJaa3h2MTFzelBZYVB6U2YzOVdOUzkva1ltM2g1RkxoNFl6YVdESVNkMnpwNmNsTUx5YlArK3R5T1ZBZGpYQnZtNWNNU0tjdVRPVHVlemZPOWlmMWZMZmRZdlp3S3N6aytqUndZY2xHd3A1YzFrT1lmNXVYRG8wblBuMzlHRDZDN3ZabGQ1NnlERG4xaVJXN2lybGtYY09ZVFlabURFK21xZXU2VXhoV1QxcjlwV3hmR2NKaGVYMVRCb1kwaVFNbWp6SWNZMGZyOGwzUG9zNWYwb0NZTUdQZVdRVTF0SXIzb2VyejRsZ1pJOUFydm5QVG9wYldDY29JZEtUTi8vY0RaUFJ3SWVyOGtqTnE2Wi9aejltVG93aE9jYWJ1K2J1QjJCY255RCtPYTB6T2NWMXZQRnROcFUxVnM3cTZzOERGOGZSdTZNUDk4OXpuUTZ2VjV3UEF4SjgrWEJWSHZOWDVES3lleUIvbWhCTmp3N2UzRFpuSHdCbWs0RzVNNVBwSE9uSng2dnptYjhpRnk5M0UrUDZCakg5M0VqY3pBYWUrVGpOMmQrTE4zZmxRSFkxcnl6TnBLYk94cEN1L3R4OFhoVHhZUjdjKzhhQkZ1LzFZMWQyNUtMQm9XdytWTUhzeFJtWWpBYXVIQkhPNjdjbk0vMi91NXVFak1kcXkzdDIvNVE0cmhvWnpvWUQ1Y3hhbEk3RmJHUkMvMkJldXJrclQzNll5Z2VyOGxpeHE0VEhQMGpsa2FueGZMdXRtSS9YNUxQckpBSXBFUkVSRVJFUkVSSDVmVkFZZElabEZOYnh4SWVwN01uUWwzYS9GMVk3TGhVTWpRd1l3TUF4b1ZCanhaQ2poR2hYZWlXNzBpc3hHQ0RNMzBKOG1BY1QrZ2RqdDlzeEdINmU5WVVNQmxpMHZvQW5Qa2gxYnR1YVdzSGpWM2JpcG5GUlBQTkpHaUYrYmt3ZEdzYnF2YVg4Nlg5N25lM2VXNTdMczlNVEdOczdpRTdobmh4cUp2QmN0cTJFT3liRk1qVFozeGtHRFVueXA3U3FBWXZaeU9CRWYyY1lkRTZQQUFDKzNWWUV3QzNqWXlpdGF1RGE1M2RSVVhPMFFpVTFyNFlITDRuajNONkJ2TC95NkJvdjN1NG0valkvaFlXcjg1M2IzRXdHSHA0YXo5ZytRWHkwT3A4d2Z6ZG1Ub3hsYjJZVlYvOW5wN01xNUtQVitTeDhvT2NKNzVlZnA0bFJQUVA0YkYyQk0yd0FXTGV2akNldTdrVDNXSjlXdzZEcngwVFJLODZIdjc2WDRneGtBRDVZbWNmQ0IzdnkxOHM3Y3RrenpRZHJqVmJ0TG5WWlR5ZzFyNXBQSCtyRmhXZUZzbVpmR1ZZYmZMYXVnT3ZIUk5JenpwdnRoeDIvZXd3R21EZ2doTjBaVmV6TnJBTGc4U3M3NFdZeXVJUlk3eTNQWmRQQmNoNlpHczlkRjNiZ2tYY1BOVHVPKzZmRTRlRm01TXBuZDdMblNIOExmc3luM21yam9zR2hkSXYxNG5CZUxZOWUzcEgwL0ZvdS8vY09xdXRzam5Pc3lPWFBGOFF5L2R4SXZ0aFl5UGM3amxiSWVMa2J1ZmVOQTN5MTJmRWV6RitSeCtOWGRlTENRU0djMHlPQTczZVVNS1pYSUYyanZYaGhjUWF2TEQwYWVMMzlRdzVmL3JVUEV3ZUVPSi9QaFA3QldNd0c3cDY3bjh5aVdzRHh2SjhoZ2ZBQUMyYWp3Vm0xZHF4K25YeTVhSEFvWDIwdTRyNTVCNXdCN3pkYmkvanM0VjdjUEQ2YW1VZkNxZU8xNVQzcjM5bVhxMGFHOC9uNlFwZm4rdGIzT2J4eWF4TDMvaUdPYjdZVmtWTmN4L3I5am9xbGpJTGFWcXZYUkVSRVJFUkVSRVRrOTBkaDBCbFdYRmxQYmtrZDFYVTIvRHpOdUpsL25pLzE1ZGVqcnNGT1hiMnQ5VVlHY0NaQ0hBMkV3Rkd0VTF0dm83TEdSazNkQ2ZvNURWNWFrdUh5K2RPMUJkd3hLWll4dllONDVwTTBDc3JxR2Y3Z3hpYUJsS2ZGU01XUmFoc3Y5K1lybUE3bFZwT1dYOHZaU1FIODkzUEhlYzVPOG1mdDNqSUNmTXdNVHZSenRoM1pJNUQ5MmRXa0Z6aStzSi82ekhiOFBNMHVRWkRKQ0xVTnRpUG5ORFU1MzdKdHhTNmZEK1k0QW80UVB6Y0FSdmNLeEdJMjhQcTMyYzR2NkFGeWl1djQ2TWQ4cG8yT2FPazJBVkJaYTZXc3lzbzVQUU9aT2pTTVpkdUx5UytyWjl2aENpWS91YTNWWXdITzd4OU1SWTJWSDNZVUUrQjk5TmR6dmRYT2ozdEttZEF2bUtnZ0MxbEZkUzMyc1d5NzZ6V201TlpndFVHSXI1dHoyOGRyOHJsK1RDU1RCb1k0dzZBaFhmMEo4M2ZqdGE4ZDRVbGlsQmZ4WVI0czNsRFlKTUQ2Y0ZVZTE0K0o1TncrZ2Z6MVBUZytLL0h6TkRHd2l4OHJkNVU0ZzZCR3ozK1d6bHZMY2tqTnEyRjByMEQ4UEUyOHRTd2JkemZYS1JDLzNGVEk5SE1qR2RNN3lDVU1PcGhUN1F5Q0dzMzlKb3NMQjRVNDIzNjF1WWhOQnpkVFZ1MWF0ZVRuYWFLMHNvSFlVSGZudHV4aXgvdDAzNVE0NW4yWHpkYlVjcXcyV3EwSUFoalRLeENBMTcvTmRxbjB5eWlzNVlwLzczU3BTanRlVzk2ekNmMkRBZmhrYmI3TE93R3dkSE1SL1R2N01qdzVnRS9YRmJRNlhoRVJFUkVSRVJFUitYMVRHUFFyNFdZMmNQdWtHTTdxNm5maXh2S2J0bnB2R2YvNitMRExtaVZ3cENMb09JWmpRcUQ0TUE4U0lyM29FdW5Kc0c3K2RJMzJ4bUkyT05kMitUa1VsVGRRVk5GMEdyQ0RPZFVNVHZSelZrMlVWVnNaMlQyQTRkMERpQXYxSURyWW5hZ2dkNHhIaG05c3BYSnAyZlppcmgwVlFaQ1BtUWFiblc2eDNpeGNuVWV3cjRWYno0OG0zTjlDdmMxR2p3N2V6Rm1hNlR5dXR0NU9jSmdiMTQ2S3BHTzRCMUZCN25RSTljQnlKRkJ0N3BUSFQybFdmK1FaR0k4TU5EN01FNkRaYVJzUDVGUTEyWFk4cXcwZWZ1Y2dUMXpWbVllbnh2UHcxSGdPWkZmejQ1NVNQbDlmMENRWU9WNkhVQTlNUnZqK3lYNHR0b2tLY204MURDcXViQnBDV0cxMlRNYWpOeVExcjRhdEtSVk02QmZNTXd2VGFMRFptVHdvaExvR080czNPa0tGMkJCSFlOTFNkUi9LcVdaRTl3QUNmTXdVbGJ2ZTE0aEF4N052cmhxc3FPTG9POVY0djI4OVA0WmJ6NDlwOWp6UlFlNHVudzlrTisyek1mRHFFT0xoM0ZaZWJlV0NnU0gwN2VSTGJJZ0hNY0h1enREdjJMOTc3Ni9NWldBWFAwYjFER0JVendBcWE2MnMzMS9POXp1S1diS2hrSm9XZ3R2b1lQY2o1MjQ2bnIwbmVNNXRlYy9pd3h6WDlPcHRTUzMyRnhYczN1SStFUkVSRVJFUkVSRVJVQmowcTJFQWd2M2M2QkRxY2NLMjh0dTJQN3VhWTNNS3h6SkI5bU9LZjQ1R1FINWVac2IyRG1SYzMyRGl3enp3OXpJMVcvSHljMm1zc2ptZTJXVEFaZ2VyM1k2YnljQ3NHeE1abHV4UFNtNE4ydzVYc0dwM0tidlNLeG5lTGVDRTFUVEx0aGN6YlhRRVE1TDhxYmZhTVJwZ3pkNHlnbnpkdVBYOGFBWjM5Y05vTUdBdzRKd3lEbURHK0dqK05DR2F3dko2Tmg0czUrdXRSZXpOck1Kc012RHY2eEpPNlhyZFRJNDdmM3hRQjlCTVZ0ZXM3M2VVY082am14bWE3TS9aU2Y0TVN2VGoybEVSWEhOT0JFOHZQT3hjOCtoNEJvT2o2aXN0djVZblBraHBzZi9XcHBrRFhLcFVXck53VFQ1L3Y2SWp3N3I1czM1L09hTjdCZkxkdG1MS3Fxek84YlRXWDJQQVY5L012VElmdVk4bkdvdnhTQ0hRaTBzeTJKcFMwV3liOG1NcXY4QlJGWGM4MDVGK3JFZEtsQ0lDTGJ4eGV6Y2lBaTFzVDYxZ2QwWVZpemNVc0MyMWdvY3VpU2M1MXZ1WS91ek1uTE9QVHVHZWpPd1J3T0JFUHdZbituRk9qd0NtajRuaXl1ZDJPTy9KcVZ4amM5cnlualhlNTl0ZjJkZGlKV0RqOUhZaUlpSWlJaUlpSWlJdFVSZ2tja1k1dnZrMUdBd1lEQWJjelFhOFBVd2tSbmx5d2NCUXh2UU94TlBTL0JScnY0UWdIN2RtMTB5SkNYRW5MYjhHdXgwdUhCektzR1IvUGxpVjU3SzJFQnlkNHFvMW0xUEtLYXBvWUdoU0FEWDFOaklLYThrb3JDV3JxSmJ5YWl1REUvM3dkamVSV1ZUcnJMaUlEL1BnVHhPaTJaVmV5ZlgvM2UxY2F3Wmc0a21jc3lXcCtUVUFkQXIzZEU0aDF5Z3U3TVJCcmFmRlNKY29MM0tMNi9oMld6SGZIcG1Xcm11MEY2L05UR2JHK09nV3d5QzdIYktLYXdrTGNHUFRvZkltUVVIZlRqNjR1eG1wcVc4YVRKeUtMemNWOHNERmNaelhMeGgvTHpNZWJrYVhkWW9hcCtOTGlQQnE5dmlPRVI1VTFGZ3ByMjQ2bnF3ajRVUmpCY3l4SE04dWhvVnI4c2dzYkF3eERLelpWK2JTenR2ZHhKQWtQM0pLWEt1Z3dnTXNUZnFNQ25MSFpIU3Nqd1J3NStSWW9vSXNMbXNMTlFyMGNYUDVIQnZpVHBpL2hZMEh5em1VVzgzcjMyWmpNUnU0YjBvY1U0ZUdNYkYvQ08rdGFQck1Hc2NlSCtiUnBPTHJUeE9pOGZjMjg5U0M1cXYyMnZLZVpSYldNaURCbC9KcXEzTmRMV2ZiVUEvaXdqeW9xdjM1cDRzVUVSRVJFUkVSRVpIZnRqUDNMYlBJNzV3QlJ3MlF4V3lpVzZ3M1U4NEs0YjRwSFhqMXRpUmVtcEhFcElIQlp6UUlBbkIzTXpDMlQ1REx0bEU5QXdqM3R6aS9aQS95Y1dUS3gxZDJoUHRiR0gxa1hSVlRLOFZNZGpzczMxbk1rQ1JIUmNhYXZZNVF3R2FIRFFmS0dOTFZueUZKL254M1RGVlE0SkZ6N3N1cWNnbUN6RVlEbHd3TmMvN2NWbDl2S2FMQlp1ZktrZUhPeWcrQUFHOHpsNXdkZHNMajQ4TThlUHZPYnR3Nk1kcGwrNEhzS2lxcXJjN0tsZGJPNytGbTVKYnhybE9taGZ0YmVPR21yang1ZFdlc3ArbDcvK282RzE5dExtUkV0d0FtRFF3aHA3aU9OZnRLbmZ2M1pWVnhPTCtHOGYyQ1NJaDBEWFV1R2h4S2RKQTczMnd0T3I1YkFFb3FHOWgwcUp5aHlmNTBESGNOTjY0Y0VjSDRma0ZVMWRwWXZyT0Vtbm9iVjQwTUo5VFBOYVM1ZVh3VXowM3Z3cEFrZjVmdC9UdjdFaEhvR2doZFBqd2N3UGxPTmdZK1cxTmQzOG1oeWY1MENIVjNtVEx2M2ovRThlcHR5Y1FjTTlWYVhZT2QzZW1PdFpTT0QwSWJmWGRrYmFhcnpuR3RmSXNLc2pCdGRDUnhyVlI1dHVVOVc3ckZjVTIzVFl4eGFXczJHbmo4cWs3TXZpblIrWGZRZHFSTVNXdlBpWWlJaUlpSWlJakk4VlFaSkhLR2hQbGJPS2RIQU9QN0JSTWU0RWFZdndWM3QxOVhQdHRndGZQdzFIZzgzWTFzUDF4Qm40NiszSFZoTEhzenE1ajdUUllBSzNhVk1HTkNOSCtlSEl1dnA0bTgwam82UjNoeHhZaHdaNWpsNjluNnI1cGwyNHU1YUhBb3diNHc2L09qZ2NUcXZhV002dWtJbEJxcmJBQjJwMWVSVzFMSHBBRWg1SmJVc3plemtsQi9DNWNNQ1NNMjFQMmt6dG1jbk9JNlh2NGlrNWtUWTNqMzd1NHMyVkNJdTV1UlM4NE9kVDZiWTZjRmUzcGFaL3AxOW1YbS8vYXhKN09LM1JsVkxOdGV3a1dEUS9HMG1GaTN2d3l6MGNDNHZrRkVCVm40OXlkcHptT3ZIQkhPOWVkRzh1clNMTjVmbVFmQW5LK3lHTjR0Z0QrT2pTUWh5cE5WdTB2dzhUQnoyYkF3dk4xTlBQcnVJUnFzcHpBdldRcytYcFBQUllOREdaem94LysreW5TNU5yc2QvdlplQ2kvZjBwVzM3K3pPK3l0enlTaXNwVmVjRDVNSGhaQlpWTXZ6bjZXMzJQZFRDdzd6eGgzSnZITlhkK2F2eUNXcnFJNkJYWHlaMEMrWVQ5Ym1zKzFJVVBQMFI0ZDU5TEtPTEhpZ0p4K3N6Q08zcEpaQlhmd1ozeStJelljcVdMZzZ6NlZmTy9DL1c1SjQ1cFBERkpYWGMxN2ZZSzRlR2NIQzFmbXNQVkpkdEd4N01XY2wrdkhjOUM3TVg1RkxiYjJOQVFsK1hEd2tsSnA2R3g1dVJqd3RScXJyYkx5Nk5JdXprL3g1L2Zaa0Z2eVlSMTVwUFhGaEhsdytMSnljNGpxKzJsVFk3UFd0M1ZmR292VUZYRGdvaFBBQUM4dTJGK1BsYnVUeVllSFk3SGFYWi8zbFgvdGd0ZG1aK1BoV29HM3YyWXBkSlN6ZVVNakVBY0hNdjZjN2l6Y1VVbE5uWStMQVlIckYrZkRtc2h6MkgxbEhxYWk4QWJzZHp1OGZqTUVBbjZ6SlozZkdpZGU2RWhFUkVSRVJFUkdSOWs5aGtNZ3ZMREhTa3hkdVRHeFM4ZkJybEYxY3g2eEY2ZHg4WGpUeDRSNlVWRGJ3OFpwOFhseWM2YXpJMloxUnhlMXo5akZqZkRReko4Vmdzem0rN1A1Z1pTN2Y3eWhtL2owOUdKcnN6L0tkSlMyZTU4YzlwVlRYT2I2a1g3djM2SFJocS9jNGZpNHFiMkJ6eXRFcHNtcnFiZHo0NGg3dW5OeUJTNGVHNFdreGtsOWF6OGFEWmR3Mlp5L3YzTldkczVQOWVmYlR0bC96SzB1ektDeXY1Nm9SRWR3Mk1ZYXlxZ1lXclMrZ3F0YktyZWZIVUgvTU9rcUJQbTZFKzF1d21JK0dlUGZQTzhDMDBSR003eGZNOEc0QkdBeXdON09LQjk0OHlKS05SNE1GSHc4VDRmNFd2RDJPbGsxVjFGaTU1ais3dUdGc0ZPZjJEdUxzSkgvS3FoclluVjdGL2ZNT3N1bVE2elJoUDlYbVF4V2s1dFVRRityQnAyc0xtdXpmZUxDY0s1L2R5WXp6b3Jub3JGQjhQRXprRk5meHhuZlp2UHAxVnJOVHhEWGFtMW5GRmYvZXlaOG14SER4Mlk1bmxKNWZ5MU1mSGVhRGxVZW5YZnRvZFQ2WmhiVmNOeWFTSzBlRVl6RWJ5U3FxNWFVdk1wbjNYVGExOWE3aDE1SU5oV1FXMWZMbzFJNkUrTG1SWGxEYlpDMm05NWJuWWpZYXVIUm9HSTlNN1VobGpaWDBnaHIrUGo4RmR6Y2pEMCtOWjFoeUFGOXZMV0xiNFFxbXY3Q2JHOGRGTVhWWU9JSGVaZ3JMNjFtOG9ZRC9mWlZKV1N2WCtQQTdoOWlSVnNrbFE4SzQrOElPbEZVNTN0UFppek5JeWExeHRnc1BzRFNwQ212TGUvYmdXd2ZaZktpY0tVTkN1V1ZDTlBVTmRnN24xL0RJTzRmNGROM1I1MVpSWStYNVJlbGNOeWFTS1dlRmNTQzdXbUdRaUlpSWlJaUlpSWdBWUxEYlQyWDVhemxkdHFaV2NQKzhneFNVMWZIMHRBVEdISmxXUytSazlicGozWmtlUXJ2aGFURmlNUnNwcldwb3N1K09TYkg4Y1d3a1UvNjVuUVBaMWMwY0xYSnlmdXZ2MmNzenVqSTArZGNmWm91SWlJaUlpSWlJeUZHL3JqbXBSRVRPb0U0Um5xeDRxaDkzVG81MTJlN2habVJzbnlES3FxeWtIbFB4SVhJcTlKNkppSWlJaUlpSWlNZ3ZUZFBFaVlnY3NUdTlrcjJaVlZ3N0toSS9Mek83MGl2eDlUUXhjVUFJc1NIdVBQTHVJUnBzS3FhVW4wYnZtWWlJaUlpSWlJaUkvTklVQm9tSUhHR3p3eDluNzJiNm1DaEc5d3BrMG9BUXF1dXM3RXlyNUptRmgxbXpyK3pFbllpY2dONHpFUkVSRVJFUkVSSDVwU2tNRWhFNVJsbVZsZWNYcGZQOG92UXpQUlJweC9TZWlZaUlpSWlJaUlqSUwwbHJCb21JaUlpSWlJaUlpSWlJaUxSakNvTkVSRVJFUkVSRVJFUkVSRVRhTVlWQklpSWlJaUlpSWlJaUlpSWk3WmpDSUJFUkVSRVJFUkVSRVJFUmtYWk1ZWkNJaUlpSWlJaUlpSWlJaUVnN1pqN1RBeEFSK1MwSTlYUGo0clBER05VemtPaGdkenpjakdRVzFySnNlekd2ZjV0TmFWWER6M0plVDRzUkwzY1RoZVgxQUV3YkhjSGRGM2JncGhmM3NHWmZHUUFHQTl3eEtaYUxCb2ZpN1dGaXhhNFM3cHE3LzZUNmYzbEdWNFltK3pmWmJyTkRSWTJWek1KYWxtNHBaTjUzT1RSWTdhZnZ3bjZDQVFtK3pKMlp6UE9MMHBuN1RiWnplMlNnaGJ6U09xeTJNemc0RVJFUkVSRVJFUkdSWHlHRlFTSWlKekNxWndDUFg5VVpQMDhUR3crV3MyUkRJWGJzOUlyellmcTVrVXdjRU16MS85MU5SbUh0YVQxdnJ6Z2ZudnRqRng1N1A0WGxPMHNBcUs2MVVWaGVUMTNEMFdCbWZOOWdwcDhieWNHY2FqNWJuOC9CN09vMm4rdnRIM0lvcjdZNlB4c05CaUlDTFl6dUdjZ2RrMkxwRk83Slg5NCs5Tk12Nm1keXlkbWgzRDhsbmhFUGJhUzZUbW1RaUlpSWlJaUlpSWpJc1JRR2lZaTBvbnNIYjU2OXZndWxWUTFjK2V3ZWRxUlZ1dXlmTWlTVXYxN1drZis3SllrTC83SDF0RmFsZEkzeElzemZ6V1hiQjZ2eStHQlZYcE4yQUkrOW44TG1ReFduZEs2M3Y4OGhxNml1eWZiLytKcjU4TDZlWERBd2hGZS96aUlsdCthVSt2KzVEZXJpajd1YjRVd1BRMFJFUkVSRVJFUkU1RmRKYXdhSmlMVGkwY3M2WWpZWitQTnIrNXNFUVFBTFYrZXpaR01oSFVMZEdkOHYrQXlNRUN4bVJ3aFNYSEg2cDZvckttL2dpNDJGQVBTSzl6bnQvWXVJaUlpSWlJaUlpTWpQVDVWQklpSXRTSWowSkRuR2kwMkh5dG1hMG5MRnpYOCtTMlB1TjFrY3lIR2RubTN5b0JBdUh4NU9RcVFuTmh2c1RLdGs3cmRack5wZDZtelR0NU1QOCs3b3hpUHZIR0pjM3lBR0ovcVRYMWJIdnN3cVJ2VU1CR0QyVFlrQURMaDdQVmVNQ0hldUdiUXp2WkpWLyt6djdPdXp2L1FDNEszdmM3am1uQWp1ZWVNQVN6Y1h1WXhwYk84Z25wMmV3S1B2cHZESjJ2eVR1Zy9HSS85dG9PYTQ2ZGNpQWkzY01qNmFZZDBDQ1BRMmsxZGF6N2RiaS9pL3J6SmRwcHlMQ1hibmpndGk2Ulh2UTRpZkcwWGw5YXplVzhwTFgyU1NVK3lvUm1wcEhTQ0FlWGQwSXluR2k4SDNibWgyZk11ZTZFdXdyNk9DYXUwekE5aDJ1SUtybjl0MVV0Y21JaUlpSWlJaUlpTHllNkF3U0VTa0JUM2pISlV3Ni9lWHQ5b3VyN1Nldk5KNmwyMzNUNG5qcXBIaGJEaFF6cXhGNlZqTVJpYjBEK2FsbTd2eTVJZXBUYVo2dTNOeUI3S0xhM25uaHh5Q2ZkMTQrL3NjY2t2cXVYeDRHUC8zWlNZNzBpcXB0OXBkanFtcXRYTGJuSDFjUENUTXNhN1JCNm5rbHRTUm1sZk5WU01qdUdCZ1NKTXc2SUpCSVZUWDJWaTZwZkNrN2tGTXNEdVRCb1JRVzI5bnl6RlQwTVdGZXZEbW5kMndtQTE4dUNxUHRQeGF1a1o3Y2NXSWNJWjFDK0RxLyt5a3ZOcUtyNmVKMTJZbTQyWXlNSDlGTHZsbDlYU084T1R5NGVFTTdPTEhSZi9ZUm0yOXZaVVJuTmlEYng3azV2SFI5Ty9zeTkxekQ1QmYxblM2T3hFUkVSRVJFUkVSa2Q4emhVRWlJaTFvWEs4bnI3UnQ0VUwvenI1Y05US2N6OWNYOHREYkI1M2IzL28raDFkdVRlTGVQOFR4emJZaWlzcVBUdXRXMjJEajJ1ZDN1UVErKzdPckFOaVJWc255blNWTnptTzF3ZktkSlp6VjFRK0E5ZnZMU00xenJPbXpkbDhwUTVQOUNmUTJVMXpwT0UrUWo1bGgzZnhadktHUXFsclhLcC9wNTBaUmNVdzFqNXZKUUVTUWhXSEpBWGhhalB6em84UGtIbk1mSHJrc0hrK0xrYXVlM2NuKzdLTVZVZC92S09ibEdWMlpjVjQwejN5U3hzQXVma1FHV25qazNVTjh1cmJBMlM2M3BJNExCNGZRTWN5VFBabFZiYmk3VGEzWlY4YVVJV0VBck54ZFFuWGRhVnk0U1VSRVJFUkVSRVJFcEIxUUdDUWkwb0lHbXlPWU1Sc05iVHB1UW4vSDJrR2ZyTTBud052MTErelN6VVgwNyt6TDhPUUFQbDEzTkJ6NWNVOXBrOHFmbitMak5ma002ZXJQaFA3QnZMczhGNER6KzRkZ05ocjRaRTNUNmVHbURnMXJzcTIwcW9GdnR4YnowZW84Tmg0OFdoMFY1R3RtVUJjL1Z1MHVKYitzM3VVYWQ2WlZrbE5jeDVqZVFUenpTUm81eGJVQVhEYzZrcklxSzJ2M2xWSlZhK090NzNONDYvdWMwM2E5SWlJaUlpSWlJaUlpMGpLRlFTSWlMY2dyY1V6OUZ1WnZhZE54OFdFZUFMeDZXMUtMYmFLQzNWM1AxY2Jxb3hQNWRtc3haVlZXSmc4S2NZWkJrd2VIa0ZGWTZ4THNOQnIvOXkxa0ZkVmhNRUJDaENkM1g5U0J3WW4rNUpYV05XbmZNY3dUZ0tISi9pei9SNzltejIrM2c4RUF1OUtyK0w4dk03bHhYRFN6YnVoQ2c5WE90c01Wck5oVndtZHJDOGd2cTIvMmVCRVJFUkVSRVJFUkVUbDlGQWFKaUxSZ3c0RXlBQVoyOFcyMVhZOE8zangxYldjK1hwM1AzRyt6TVJvY2xVUzN2N0tQbWhhbUxNc3Nxblg1YkQyTlZVRUE5Vlk3aXpjVWNNV0ljRHFHZTJBMkdraUs5dUxGSlJtdEhtZTN3LzdzYW1iTzJjZnJ0eWN6L2R4SXJEWTdMeXcrZXR5UnkrUHJyVVY4dURLdmhaNk9ldW1MVE41Zm1jZklIZ0VNNmVyUHdBUS8razN5NWFaeDBkdzRldy9iRGxlMGVyekpkT0xyRlJFUkVSRVJFUkVSa1pZWnovUUFSRVIrcmJLTDY5aWFVa0d2ZUIvNmR2SnBzZDFWSXlPSUMvVndUdk9XV2VnSWVzcXJyYXpaVitieUo3dTREb3Vic2NtYVBUK0hoVWVtZ3h2WEo1aHhmWU93MjNHWm1xNDE5Vlk3OTd4eGdQSnFLemVNamVLc1JEL252c2JyOC9jeU43bStOZnZLOEhRM1VWMXZ3MjUzVENrM09OR1A4dW9HRnE3TzU5NDNEbkRPdzV2NHk5dUg4TFFZbVRZbUFnRHJrU241M04yYS9yTVUzc2JLTEJFUkVSRVJFUkVSRVhHbE1FaEVwQlZQTHp5TXpRN1BYTmVGSGgyOFhmWVpEWERUdUNnbURnZ21zNmlXQlQ4NnFtU1diaWtDNExhSk1aaE5SOWNiTWhzTlBINVZKMmJmbEVpUXo0a0xNMjFIQWhJM1U5dldMR3EwTjdPSzNSbFZqT2tkeUtpZWdhemRWMFpPOGNsUFI1ZFRYTWZUQ3c5ak1NRGZydWlFcDhYeFQwWjJjUjA3MHlvWjFNV1BvY24rTHNjTTd4YkFyQnU2TUcxVUpBQVRCNFR3eXExSm5OYzMyS1hkMWxUSDFITldxK056ZnFsanVyamU4YTZoMi9CdUFZUUhuRGdNc3RxUDNDdnpxZDByRVJFUkVSRVJFUkdSOWt6VHhJbUl0R0pIV2lWL2Vmc2dqMTNaaVhmdjdzNm1RK1hzemF6Q3kyS2lieWRmT29TNmsxOVd6KzF6OWxGOVpFcTRGYnRLV0x5aGtJa0RncGwvVDNjV2J5aWtwczdHeElIQjlJcno0YzFsT2V6UHJqN2h1UXZMSFFISnJlZkhNS2lMSDg4dlNtL3orRDlaazgrRGw4UUI4TUNiQjl0OC9HZnJDaGpmTDVoaHlmN2NkV0VIbnZ3d0ZZREgzazloN3UzSnZIQmpJZ3ZYNUxNbm81TDRNRSttRGd1anNMeWU1eGVsQWZEcDJueXVHQjdPdzFQalNZNzE0a0IyTlFGZVppNFpHa2E5MWM0N3kzTUF5Q2lzWmRPaGNzNU84dWUvTnlheThXQVpIY004bWRBL21QM1oxY1FjdDhiUzhZcU9yRDMwcjJrSmJEeFl6aXRMczlwOHJTSWlJaUlpSXYvUDNwMkhSMVVlYmgrL3o4d2tNOWwzQ0pBUUVBZ0lWSlRGcFM3WXFoVlVjTUZhYTYxTEY2dXRWbW0xV3RTNmRORzYrL3FyMklwTHBWU3JWc0NLV3FIWWFOUUNDckluRUFpRUJBalpJWm5NWkdiT2VmK0lSSkFFRWlDY3pPSDd1UzZVbkRuTFBaT1F3TG5uZVI0QUFKeUtrVUVBY0FEelBxM1JwWDljcVpjL3JGUnFna2VUVDh6VXhERVpDa1ZNelppL1ZSYy9zR0tmY3VmWE16Zm9kNjl1VWpoaTZZYUovWFRqK1RseUdZYnVuclZSajh3cDY5UjFDOWMyNk8zUGF0UXZ3NnZKSjJVcUozUC9oVWo3MmFzVkRGbmExUnpSZjFiVWR2bDRTYnJ2bFZJMUJTTzY3TlJlR2p1NGRmMmt0ZVYrZmVmaFZYcG5hWTIrK2JVMC9mclNBVHA3VkxyZStheEdWejYyUm1WVnJWUEo3ZlJIOUlPbjFtcmVwelU2YzJTYXBsMDZRTmVjMVVmcnQvcDE5Uk5ydEx6MHkvV0NibjJoUkc4dXJ0YnhBeE4xNDNtNU9pWTdUamY5WlowKzM3anJnQmxuZmJCZHkwc2JOVzVJc3FhYzB1dWduaWNBQUFBQUFBRGdWSVpsV1lkMzFYSjB5ZkpOamJyOXJ4dFV2Yk5GZjd4NnNNNDZMczN1U0lneXg5MjgyTzRJNk1HUzR0eGErTnZSbXJPb3FtMVVEM0FvcGw4L2RKL3BBUUVBQUFBQUFOQ3pNVElJQUJ6c082ZjFsamZHMEtzZlZkb2RCUUFBQUFBQUFJQk5XRE1JQUJ6b0QxY09VbXFpUjZjT1M5SDg1YlZhdi9YQWF4UUJBQUFBQUFBQWNDYktJQUJ3b016a0dCMS9US0wrdTZwTzk3MWNhbmNjQUFBQUFBQUFBRGFpREFJQUI3cnU2U0s3SXdBQUFBQUFBQURvSVZnekNBQUFBQUFBQUFBQXdNRW9nd0FBQUFBQUFBQUFBQnlNTWdnQUFBQUFBQUFBQU1EQktJTUFBQUFBQUFBQUFBQWNqRElJQUFBQUFBQUFBQURBd1NpREFBQUFBQUFBQUFBQUhJd3lDQUFBQUFBQUFBQUF3TUVvZ3dBQUFBQUFBQUFBQUJ5TU1nZ0FBQUFBQUFBQUFNREJLSU1BQUFBQUFBQUFBQUFjakRJSUFBQUFBQUFBQUFEQXdTaURBQUFBQUFBQUFBQUFISXd5Q0FBQUFBQUFBQUFBd01Fb2d3QUFBQUFBQUFBQUFCeU1NZ2dBQUFBQUFBQUFBTURCS0lNQUFBQUFBQUFBQUFBY3pHTjNBQUNIWnNXVEo5b2RBVkdvdU1LdnpPUVlaU1RGMkIwRkFBQUFBQUFBUU1md3RQOEFBQ0FBU1VSQlZEZGpaQkFBSElXKy9kQXF2ZnJSRHJ0akFBQUFBQUFBQURnQ0tJTUFBQUFBQUFBQUFBQWNqRElJQUFBQUFBQUFBQURBd1NpREFBQUFBQUFBQUFBQUhJd3lDQUFBQUFBQUFBQUF3TUVvZ3dBQUFBQUFBQUFBQUJ5TU1nZ0FBQUFBQUFBQUFNREJLSU1BQUFBQUFBQUFBQUFjakRJSUFBQUFBQUFBQUFEQXdTaURBQUFBQUFBQUFBQUFISXd5Q0FBQUFBQUFBQUFBd01Fb2d3QUFBQUFBQUFBQUFCeU1NZ2dBQUFBQUFBQUFBTURCS0lNQUFBQUFBQUFBQUFBY2pESUlBQUFBQUFBQUFBREF3U2lEQUFBQUFBQUFBQUFBSEl3eUNBQUFBQUFBQUFBQXdNRW9nd0FBQUFBQUFBQUFBQnlNTWdnQUFBQUFBQUFBQU1EQktJTUFBQUFBQUFBQUFBQWNqRElJQUFBQUFBQUFBQURBd1NpREFBQUFBQUFBQUFBQUhJd3lDQUFBQUFBQUFBQUF3TUVvZ3dBQUFBQUFBQUFBQUJ5TU1nZ0FBQUFBQUFBQUFNREJLSU1BQUFBQUFBQUFBQUFjakRJSUFBQUFBQUFBQUFEQXdTaURBQUFBQUFBQUFBQUFISXd5Q0FBQUFBQUFBQUFBd01Fb2d3QUFBQUFBQUFBQUFCeU1NZ2dBQUFBQUFBQUFBTURCS0lNQUFBQUFBQUFBQUFBY2pESUlBQUFBQUFBQUFBREF3U2lEQUFBQUFBQUFBQUFBSEl3eUNBQUFBQUFBQUFBQXdNRW9nd0FBQUFBQUFBQUFBQnlNTWdnQUFBQUFBQUFBQU1EQktJTUFBQUFBQUFBQUFBQWNqRElJQUFBQUFBQUFBQURBd1NpREFBQUFBQUFBQUFBQUhJd3lDQUFBQUFBQUFBQUF3TUVvZ3dBQUFBQUFBQUFBQUJ5TU1nZ0FBQUFBQUFBQUFNREJLSU1BQUFBQUFBQUFBQUFjakRJSUFBQUFBQUFBQUFEQXdTaURBQUFBQUFBQUFBQUFISXd5Q0FBQUFBQUFBQUFBd01Fb2d3QUFBQUFBQUFBQUFCeU1NZ2dBQUFBQUFBQUFBTURCS0lNQUFBQUFBQUFBQUFBY2pESUlBQUFBQUFBQUFBREF3U2lEQUFBQUFBQUFBQUFBSEl3eUNBQUFBQUFBQUFBQXdNRW9nd0FBQUFBQUFBQUFBQnlNTWdnQUFBQUFBQUFBQU1EQktJTUFBQUFBQUFBQUFBQWNqRElJQUFBQUFBQUFBQURBd1NpREFBQUFBQUFBQUFBQUhJd3lDQUFBQUFBQUFBQUF3TUVvZ3dBQUFBQUFBQUFBQUJ5TU1nZ0FBQUFBQUFBQUFNREJLSU1BQUFBQUFBQUFBQUFjakRJSUFBQUFBQUFBQUFEQXdTaURBQUFBQUFBQUFBQUFISXd5Q0FBQUFBQUFBQUFBd01Fb2d3QUFBQUFBQUFBQUFCeU1NZ2dBQUFBQUFBQUFBTURCS0lNQUFBQUFBQUFBQUFBY2pESUlBQUFBQUFBQUFBREF3U2lEQUFBQUFBQUFBQUFBSEl3eUNBQUFBQUFBQUFBQXdNRW9nd0FBQUFBQUFBQUFBQnlNTWdnQUFBQUFBQUFBQU1EQktJTUFBQUFBQUFBQUFBQWNqRElJQUFBQUFBQUFBQURBd1NpREFBQUFBQUFBQUFBQUhJd3lDQUFBQUFBQUFBQUF3TUVvZ3dBQUFBQUFBQUFBQUJ5TU1nZ0FBQUFBQUFBQUFNREJLSU1BQUFBQUFBQUFBQUFjakRJSUFBQUFBQUFBQUFEQXdTaURBQUFBQUFBQUFBQUFISXd5Q0FBQUFBQUFBQUFBd01Fb2d3QUFBQUFBQUFBQUFCeU1NZ2dBb2x3Z1pHckR0dVp1dlVZb2JHcHJiWXRNMCtyVzZ3QUFBQUFBQUFBNC9DaURBQ0NLQmNPV2Z2bjhldDN5M0RwdHEydnB0dXQ4c0xaQjMzOTh0VmFYKzd2dEdnQUFBQUFBQUFDNkIyVVFBRVF4cjhmUXBCTXoxZUNQNktYM3Q2a3BHRG5zMTFoVjFxUUhYOStzVVFPVGxKdmhQZXpuQndBQUFBQUFBTkM5UEhZSEFBQWNtbk5HcGF1Mk1heW4zaXJYeVA0Sk9uOXM1bUU3OTdiYW9CNmVYYWFXc0ttZm5OdFhxUW44MkFBQUFBQUFBQUNpRFNPREFDREt1VjJHTGh5WHFiR0RrL1M3MXpacmMxWGdzSnczRkxFMDY0TktyU3ByMUcwWDUybG92L2pEY2w0QUFBQUFBQUFBUnhabEVBQTRRSUxQclIrZTNVZkpjVzc5NXU4YlZiM3owTmNQK3JSa2w5NWFVcTNMVCt1bEM4Wm1ISWFVQUFBQUFBQUFBT3hBR1FRQURuRmNYcUp1bWRSZkt6WTE2aDhmVlNrVXRnNzZYS1dWQWQwOWE2T0c5MC9VdFdmM1BZd3BBUUFBQUFBQUFCeHBsRUVBNEJBdWw2R0pZOUoxMVRmNjZPOEYyL1g1cHNhRE9rOVQwTlFmWHQra2xyQ3BINTNkUjVsSk1ZYzVLUUFBQUFBQUFJQWppVElJQUJ6bWgyZjMwZUErOGZyOXE1dTB0VGJZcFdOREVVdXpDclpyMWVaR2ZXOThiNDBlbE5STktRRUFBQUFBQUFBY0taUkJBT0F3U1hGdTNYaGVQKzFxanVoM3IyNVNRMU80MDhldUxtdlN5eDlVNnNLVHNuVHRXWDI2TVNVQUFBQUFBQUNBSTRVeUNBQWN4akFNalJ1U3JNdFA3NlhGNjNkcDNtYzFzanF4ZkZCZFUxaS8rZnRHOVVtTDFUVm45VkdzaHg4UkFBQUFBQUFBZ0JOd3B3OEFIT3FxYjJicjNOSHBldW45N2ZxMFpPZCs5OTNwRCt1aE56YXJlbWRJTjB6TVVlK1UyQ09VRWdBQUFBQUFBRUIzb3d3Q0FJZnllbHk2NmZ3Y3BTZDY5T0FiWldwdU1kdmR6N0trZDViV2F1R0tPbDB4dnJkT3prK1NZUnpoc0FBQUFBQUFBQUM2RFdVUUFEaFlkbXFzdmpjK1c5dHFnN3J6YnhzVWp1dzdYOXkydXFDZVg3QlZZd1lsNmNiemNoVEQ5SEFBQUFBQUFBQ0FvM0RIRHdBYzd0d1QwdldkMDNycHd6WDFtcjJvU3BFOUJnZzErTU82ODI4YmxlaHo2L1lwQSt3TENRQUFBQUFBQUtEYlVBWUJnTU41M0laK2RFNWZqUjJjckpjV2JsTnBaYk1rS1JTMjlLZTNLN1JtUzVOKy9LMSt5c2xnblNBQUFBQUFBQURBaVNpREFPQW9rT0J6NjdkWEhLTmd5Tkx2WHRza1NYcnY4MXE5dGFSYVh4K1dvZ21qMCtWMnNWQVFBQUFBQUFBQTRFU1VRUUJ3bEVoUDlPaUdpZjIwcnNJdlNTcXJDbWhZVG9MdXYrSVltNU1CQUFBQUFBQUE2RTZVUVFCd2xIQzVESjE3UXJvbWpNNlFKT1ZtZXZXTEMzT1ZGT2UyT1JrQUFBQUFBQUNBN2tRWkJBQkhDY3VTZGpaSEZHd3g1WXQxNlp6ajAzUnNUb0xkc1FBQUFBQUFBQUIwTTQvZEFRQUEzUzhZTXZYdXNsck5LdGl1NGkrbWlTdGN1MU01R1RzMGFWeVd2REdzRndRQUFBQUFBQUE0RldVUUFEaGNlVTFRajg4dDA4ZEZPOVVVakxSdFgxZmgxeU56eWxTd3FsNjNUOGxUVG9iWHhwUUFBQUFBQUFBQXVndGxFQUE0VkRCa2FzWG1KdDMzY3FuS3FnUHQ3dU1QbWlwWVhhL1N5b0R1dUxTL3hnNUtsaStXR1VRQkFBQUFBQUFBSjZFTUFnQ0hzU3hwM1ZhL1hpbXMxTHdsTlFxRXpBTWVVMVlkME5RWkpab3dKbDFYanM5V2Z0OTRHY3djQndBQUFBQUFBRGdDWlJBQU9NeUM1YlY2YWw2NXlxb0NNcTNPSHhjTW0zcHpjYldXbHpicXVuUDc2b0t4bWQwWEVnQUFBQUFBQU1BUlF4a0VBQTVnV1ZKbFE0dW12MTJoMll1cUR1azhtM1lFTkczbVJoV3VhZEF0azNQVk95V1dVVUlBQUFBQUFBQkFGS01NQW9Bb0Z3eVplbmRacldZVmJGZHhoZit3bmZlZHBUWGFXTm1zeTA3dHBVbmpzdVNOb1JFQ0FBQUFBQUFBb2hGbEVBQkVzZkthb0I2Zlc2YVBpM2FxS1JnNXJPZTJMS21vM0s5SDVwU3BZRlc5YnArU3A1d003Mkc5QmdBQUFBQUFBSUR1UnhrRUFGRW9HREsxWW5PVDdudTVWR1hWZ1c2OWxqOW9xbUIxdlVvckE3cmowdjRhT3loWnZsaFh0MTRUQUFBQUFBQUF3T0ZER1FRQVVjU3lwSFZiL1hxbHNGTHpsdFFvRURLUDJMWExxZ09hT3FORUU4YWs2OHJ4MmNydkc4OWFRZ0FBQUFBQUFFQVVvQXdDZ0NpeVlIbXRucHBYcnJLcWdFenJ5RjgvR0RiMTV1SnFMUzl0MUhYbjl0VUZZek9QZkFnQUFBQUFBQUFBWFVJWkJBQTluR1ZKbFEwdG12NTJoV1l2cXJJN2ppeEwyclFqb0drek42cHdUWU51bVp5cjNpbXhqQklDQUFBQUFBQUFlaWpLSUFEb3dZSWhVKzh1cTlXc2d1MHFydkRiSFdjZjd5eXQwY2JLWmwxMmFpOU5HcGNsYnd5TkVBQUFBQUFBQU5EVFVBWUJRQTlWWGhQVTQzUEw5SEhSVGpVRkkzYkhhWmRsU1VYbGZqMHlwMHdGcStwMSs1UTg1V1I0N1k0RkFBQUFBQUFBWUErVVFRRFF3d1JEcGxac2J0SjlMNWVxckRwZ2Q1eE84UWRORmF5dVYybGxRSGRjMmw5akJ5WExGK3V5T3hZQUFBQUFBQUFBVVFZQlFJOWhXZEs2clg2OVVsaXBlVXRxRkFpWmRrZnFzckxxZ0tiT0tOR0VNZW02Y255Mjh2dkdzNVlRQUFBQUFBQUFZRFBLSUFEb0lSWXNyOVZUODhwVlZoV1FhZG1kNXVBRnc2YmVYRnl0NWFXTnV1N2N2cnBnYktiZGtRQUFBQUFBQUlDakdtVVFBTmpJc3FUS2hoWk5mN3RDc3hkVjJSM25zTEVzYWRPT2dLYk4zS2pDTlEyNlpYS3VlcWZFTWtvSUFBQUFBQUFBc0FGbEVBRFlKQmd5OWU2eVdzMHEySzdpQ3IvZGNick5PMHRydExHeVdaZWQya3VUeG1YSkcwTWpCQUFBQUFBQUFCeEpsRUVBWUlQeW1xQWVuMXVtajR0MnFpa1lzVHRPdDdJc3FhamNyMGZtbEtsZ1ZiMXVuNUtubkF5djNiRUFBQUFBQUFDQW93WmxFQUFjUWNHUXFSV2JtM1RmeTZVcXF3N1lIZWVJOGdkTkZheXVWMmxsUUhkYzJsOWpCeVhMRit1eU94YUFLTkhVMUtTYW1obzFOemNyRUFnb0ZBclpIUWw3aUltSmtjL25VM3g4dk5MUzBwU1ltR2gzSkFBQUFBREFIaWlEQU9BSXNDeHAzVmEvWGltczFMd2xOUXFFVExzajJhYXNPcUNwTTBvMFlVeTZyaHlmcmZ5Kzhhd2xCS0JkcGFXbFdyQmdnVmF0V3FXdFc3Y3FHQXdxRW9rb0hBN0xzaXk3NDJFUGhtSEk0L0hJNC9Fb05qWldmZnIwMFhISEhhY3p6enhUZ3djUHRqc2VBQUFBQUJ6MURJdC9TZHRxK2FaRzNmN1hEYXJlMmFJL1hqMVlaeDJYWm5ja0FOMWcvdWUxZW1wZXVjcXFBakw1cml0Sk1nd3BMOHVuNjg3dHF3dkdadG9kQjBBUFlKcW02dXZyVlZoWXFILys4NTlhdFdwVjIyT1dKQmtleVhDMS9oSXRjczlpU1piNXhhL3dYcCtkWWNPRzZidmYvYTVPT2VVVXBhV2x5ZVZpVkNnQUFBQUFIR21VUVRhakRBS2N5N0treW9ZV1RYKzdRck1YVmRrZHAwYzdiMHlHYnBtY3E5NHBzWXdTQW81U1c3ZHUxYi8vL1cvTm56OWZ4Y1hGa2lSTExsbUpPVkpjdHF5NDNySzhhWkxiSzdsOWtvc0I3ajJLR1pZaVFTa1NrTkZTTC9rcjVmSnZrL3dWTXF5SURNTlFmbjYrempyckxKMS8vdm5LenM2Mk96RUFBQUFBSEZYNFZ6UUFkSU5neU5TN3kybzFxMkM3aWl2OGRzZnA4ZDVaV3FPTmxjMjY3TlJlbWpRdVM5NFlHaUhnYUZKV1ZxWjc3NzFYcTFldmJwMEN6cE1nczlkSk1qUEhTTjQweVIwbmVYeDJ4MFFuV1pJVURzaU1ORXZCZXJscWxzbFYrYkdLaTR0VlVsS2kvLzN2ZjdydHR0dVVuNTl2ZDFRQUFBQUFPR293TXNobWpBd0NuS2U4SnFqSDU1YnA0NktkYWdwRzdJNFRWZUs5TG8wYm5LemJwK1FwSjhOcmR4d0EzU3dVQ3Vuamp6L1dYWGZkSmIvZkw4c1ZLeXRwb0NLRHZpUEZaNHVwNEp6Q2twcTJ5YjFwdG95R2RUTE1Gc1hIeCt1ZWUrN1IrUEhqRlJNVFkzZEFBQUFBQUhBODk3MzMzbnV2M1NHT1pwWDFMVnF3dkU3K1lFVG5ISit1WTNySDJSMEp3RUVLaGt3dEsyM1ViUytVYUZscG8wSVJ1dmF1Q2tVc2JhNEs2TVBWRGVyZnk2dGVLYkh5dUxrWkREaFJLQlRTckZtejlOaGpqNm5KNzVlVmtDdHp3RVV5QjE0a3hTYUxJc2hKRENrMlNWYm1HRmx4dmFSQXRVTCtHaFVXRnNycjlTby9QNTlDQ0FBQUFBQzZHZFBFQWNBaHNpeHAzVmEvWGltczFMd2xOUXFFVExzalJiMnk2b0NtemlqUmhESHB1bko4dHZMN3hyT1dFT0F3czJiTjB2UFBQNittcGlaWkNUbUtETDFXaXVzdEdTNjdvNkc3dU55eU1rY3JFdDlYN3ZVekZXamNwQmt6WmlnVUN1bUhQL3loM2VrQUFBQUF3TkVvZ3dEZ0VDMVlYcXVuNXBXcnJDb2drOEZBaDAwd2JPck54ZFZhWHRxbzY4N3Rxd3ZHWnRvZENjQmhFSWxFTkdmT0hEMzExRk95NUpLVk5FaVJFVCtWUFBGMlI4T1JZTGlraEw2S2pMaEpXak5kamJzMjZ1bW5uMVpTVXBLbVRKa2l0OXR0ZDBJQUFBQUFjQ1RlZWdrQUI4R3lwTzMxTGJybjc2WDY1UXNsMnJTRElxZzdXSmEwYVVkQTAyWnUxQjB2YmREMitoYXgwaDBRdlN6TDBnY2ZmS0RwMDZmTGtpRXI4d1JGanYweFJkRFJLQ1pla2VFL2taVjVnaXk1OVBUVFQ2dXdzRkNteWVoYUFBQUFBT2dPakF3Q2dDNEtoa3k5dTZ4V3N3cTJxN2pDYjNlY284WTdTMnUwc2JKWmw1M2FTNVBHWmNrYnc3eHhRTFNwcjYvWG4vLzhaOVhWMWNueVpTa3k0Q0lwSnRudVdMQ0xKMEdSdkl2azltL1hybDBWZXVhWlo1U2ZuNjgrZmZyWW5Rd0FBQUFBSEllUlFRRFFCZVUxUVUyYnVVRVB2cjVaUmVWK1Jxa2NRWllsRlpYNzljaWNNdDM2d25xVjF3VHRqZ1NnQ3lLUmlKNTk5bG10WDc5ZXBzdW55TERySkYrbVdCRHNLR1lZVWx5bUlrT3ZsZW55YWQyNmRYcnh4UmNWaVVUc1RnWUFBQUFBamtNWkJBQ2RFQXlaV2xLeVM5Yy9YYXo1eSt2VUZPUkdsVjM4UVZNRnErdDEvZFBGS2x4YnIwQUxVd29CMGVEdHQ5L1dhNis5SnNzVkkvT1lTNlhFSExzam9hZEk2Q2R6ME9XeURJOW16NTZ0dVhQbjJwMElBQUFBQUJ5SE1nZ0E5c095cE9JS3Z4NThZN04rOWt5eHlxb0Rka2ZDRjhxcUE1bzZvMFMvZjMyVGlpc1lwUVgwWk9YbDVabzVjNlpNMDVTVk5rSld4dkYyUjBJUFkyV01rcFUyUXBGSVJDKzg4SUlxS2lyc2pnUUFBQUFBamtJWkJBRDdzV0I1clc1N3NVU3pQNmxTSU1RSWxKNG1HRGIxNXVKcTNmWmlpZVo5Vm0xM0hBRHRzQ3hMQlFVRjJySmxpeXkzVDVIZXAwb3hDWGJIUWsvajhjbnNmYW9zVDRKMjdOaWhnb0lDV2JUOEFBQUFBSERZVUFZQndGZFlsclM5dmtYMy9MMVV2M3loUkp0MkJHUnlQNnJIc2l4cDA0NkFwczNjcUR0ZTJxRHQ5UzJNRWdKNmtKMDdkK3JmLy82M1dscGFaQ1lObEZLSDJoMEpQWlNWT2xSbThoQ0Z3Mkc5OTk1N3FxNm01QWNBQUFDQXc0VXlDQUQyRUF5WmVuTkp0WDcrN0RyTldWeGxkeHgwMFR0TGEvVHpaOWZwbjUvc1VEQkVJd1QwQklzV0xWSlJVWkVzU1diZVpNa1ZZM2NrOUZUdVdKbjlKOHFTdEhidFdpMWF0TWp1UkFBQUFBRGdHSlJCQVBDRjhwcWdwczNjb0FkZjM2eWljdGFnaVVhV0pSV1YrL1hJbkRMZCtzSjZsZGNFN1k0RUhOVmFXbG8wZmZwMGhTTVJtUm1qcGFRQmRrZENUNWZZWDJiR0dJWENZVDM3N0xOcWFXbXhPeEVBQUFBQU9BSmxFSUNqWGpCa2FrbkpMbDMvZExIbUw2OVRVekJpZHlRY0luL1FWTUhxZWwzL2RMRUsxOVlyME1KNlQ0QWQzbnp6VFpXVmxVbWVSSm45enJZN0RxS0VtVHRCOGlTb3ZMeGNzMmZQdGpzT0FBQUFBRGdDWlJDQW81WmxTY1VWZmozNHhtYjk3SmxpbFZVSDdJNkV3NnlzT3FDcE0wcjArOWMzcWJpQzBWN0FrUlFPaC9YdXUrKzJUZytYUGtKSzZHTjNKRVNMdUY0eTA0WkxrdWJNbWFOSWhEZHBBQUFBQU1DaG9nd0NjTlJhc0x4V3Q3MVlvdG1mVkNrUVl1U0lVd1hEcHQ1Y1hLM2JYaXpSdk05WWpCdzRVa3BLU3JSdDJ6Yko4TWhLR1NhNWZYWkhRclJ3eDhwS0dTYkxGYXVxcWlwdDJMREI3a1FBQUFBQUVQVThkZ2NBZ0NQSnNxVEtoaFpOZjd0Q3N4ZFYyUjBIUjRobFNadDJCRFJ0NWtZVnJtblFMWk56MVRzbFZvWmhkekxBdVZhc1dLRzZ1anJKRXljcmVhRGRjUkJsck9TQlVreWlHaHQzYWNXS0ZjclB6N2M3RWdBQUFBQkVOVVlHQVRocUJFT20zbHhTclo4L3UwNXpGbE1FSGEzZVdWcWpueis3VHYvOFpJZUNJZWFOQTdwRE1CalU2dFdyRlF3R1pmbDZTYjRzdXlNaDJ2aDZ5ZkpsS1JRS2FmWHExV3B1YnJZN0VRQUFBQUJFTlVZR0FUZ3FsTmNFOWZqY01uMWN0Rk5OUWRZZU9KcFpsbFJVN3RjamM4cFVzS3BldDAvSlUwNkcxKzVZZ0tNME5UVnAxYXBWa2lRemM0eGs4UDRqZEpITExUUGplTGthaXJWcTFTclYxZFVwTGk3TzdsUUFBQUFBRUxYNGx6a0FSd3VHVEMwcDJhWHJueTdXL09WMUZFRm80dythS2xoZHIrdWZMbGJoMm5vRldsZzNDamhjU2twS3RHWExGbG1HUjFibWFMdmpJRXBaR2NmTE1qemF2SGt6NndZQkFBQUF3Q0dpREFMZ1NKWWxGVmY0OWVBYm0vV3paNHBWVmgyd094SjZxTExxZ0tiT0tOSHZYOStrNGdxL0xHYU9BdzdaaHg5K3FFZ2tJaXRsaUJTYmJIY2NSS3ZZRkZtcCtZcEVJdnJrazAvc1RnTUFBQUFBVVkxcDRnQTQwb0xsdFhwcVhybktxZ0l5dWJtUEF3aUdUYjI1dUZyTFN4dDEzYmw5ZGNIWVRMc2pBVkZ0OWVyVmtpUXpaYWhrR0RhblFkUXlESm1wdytXcVc2T2lvaUs3MHdBQUFBQkFWS01NQXVBWWxpVlZOclJvK3RzVm1yMm95dTQ0aURLV0pXM2FFZEMwbVJ0VnVLWkJ0MHpPVmUrVVdPNWpBMTBVRG9kVlVsSWlTYklTY214T2cyaG5KZVpKa2paczJDRFROT1Z5TWJFQkFBQUFBQndNeWlBQWpoQU1tWHAzV2ExbUZXeFhjWVhmN2ppSWN1OHNyZEhHeW1aZGRtb3ZUUnFYSlc4TWpSRFFXUlVWRldwcWFwTGw4a25lTkx2aklOcDUwMlc1dkdwc2JGUjVlYm42OSs5dmR5SUFBQUFBaUVxOHRRNUExQ3V2Q1dyYXpBMTY4UFhOS2lwbnpSY2NPc3VTaXNyOWVtUk9tVzU5WWIzS2E0SjJSd0tpeHZyMTZ5VkpsamROY250dFR0TzlCdmVKMCt1M2o5VHhBeE03M09lN3AvZldpaWRQVkc3bXdiOFcwNjhmcXIvZVBQeWdqNDlxcnBqV3J5VkphOWV1dFRrTUFBQUFBRVF2eWlBQVVTc1lNcldrWkpldWY3cFk4NWZYcVNrWXNUc1NITVlmTkZXd3VsN1hQMTJzd3JYMUNyU1lka2NDZXJ6aTR1TFczM2pUSkZlc3ZXRzYyZmZQekZaZVZoeUZjWGR5ZWRwR21GRUdBUUFBQU1EQlk1bzRBRkhIc3FSMVcvMTZwYkJTODViVUtCRGlCbjEzdS9UcldmcGFYcUx1ZWJtMHczMEc5dlpwN3JUajlMdFhOK25WajNaMHVOL0ZKN2VlNi81L2RIeXVucWFzT3FDcE0wbzBZVXk2cmh5ZnJmeSs4YXdsQkhSZzNicDFrbmFQREhKdUdaU1ZIS1B6eDJicUg0V1ZxdDRaT3VqelhQZXR2cnJ4L002dHJiVGl5UlAzKy9oRGI1VHBid1hiRHpwTGorVHl0STBNS2lvcXNqa01BQUFBQUVRdnlpQUFVV2ZCOGxvOU5hOWNaVlVCbVRaT0NYZjNaUVAwN1ZON2RlbVk5MWZXNmVZWjYvZmU5cnNUbEpFVWMwaFphbmFGOUkyN2xrbHFuWkxvMTVmbUhmUzVicDZ4WHUrdnJOdHJXMjZtVHhlZm5LWHQ5UzJhL2s1RnU4ZTV2bWhISWdmNHBCdzNJRkZUVHNsU2VVMUF6eS9ZSmtsNjlBZURkYzZvOUM3bHZIdldSczFkWE4ybFl3NUZNR3pxemNYVldsN2FxT3ZPN2FzTHhtWWVzV3NmcmZ6L2ZsZWhkY1ZLdWVubUR2Y0piOW1pNnB0K3F1U2YzS0Q0aWVkMXVGL3ovUGZVc202ZFVuNTJZM2RFalhxZmIyelVrSDV4U3ZDNkQrazhsbVZweDQ0ZHNpUXBOdFhSSTROK2NIWmZSVXhMejgzZjJyYnRqVHUrcHNGOTR0cmRmOTdkby9iWjlzWW5WWnIxd1haVjFyZnM5MXBYZmJPUFlqMkdacnkzZGIvN3JkemMxSW5rVWNid1NMR3BzaVJ0M2JyLzV3OEFBQUFBNkJobEVJQ29ZRmxTWlVPTHByOWRvZG1McXV5TzA2YkJIOWI5cjJ6cTFMNVRMOHh0ZC90amM3ZklGOXZ4ckoyWG5KeWxFZjBUOU5wSE8xUlU0VzkzbnoybkwxdTZjWmNlblZ2V3FVeDdHdEluWHBOUGJML2dlUEpmV3pRc0oxNDNUT2luVFpVQnZiTzBacDk5ZG8rVUNSK2dEUHI5YTVzMHBFK2NicjRnVjZXVkFiMi9zazV2THFyV2lrMk4rK3g3d3NBa2ZmTzRORDAzZjV2cS9YdS84MzVWMlpHLzZXbFowcVlkQVUyYnVWR0ZheHAweStSYzlVNkpaWlNRSlArOHQ3VHoyVDhmOVBGcGQ5d3A3OGtuNzdVdHNtMmJtdit6UU83TUxDVis5NHIyRC94aWtURER2ZjhTbzJWZHNacm52eWRQZG04bFRQbTJKS24ranc4bzhNbkhYY3FaY3RQTmlqdnI3QzRkRXczKzM3d3QrcnkwVWVlUHpkVDVZek0wcUxkUGlYRnUrV0pjTXJyd0JSNElCQlNKUkNTNVpIbmk1TlEvSE5scHNicjA2NzMwNHNLdHFtME02OUt2OTlKSitjbjYrd2VWK3p6bGNZT1ROV0YwdXY3MGRybHFHOE43UGJaeGU3UFdiMjM5dFQ4VFJtY28zdXMrb2dWNGoyRVlraWRPTXR5S1JDSUtCQUx5K1h4MnB3SUFBQUNBcUVNWkJLREhDNFpNdmJ1c1ZyTUt0cXU0Z3pMRUxvR1FxZm5MYXp1MTd3L1A2ZFB1OW44dGFmL21YbHlzUy9kK2Q2Qkc5RS9RWHhkdTczVEJVMXpoUDZqWDZaeFI2UjJXUWFZbC9lckZEWHI5OXBHNi80cGp0R2xIczlhVzczMk5HSGZuUmdhRkk1WisrWHlKWHI5anBCNzQvaUJkOXZCS0ZheXVWOEhxZmZkdE9kM1NONDlMMHh2LzI2RXQxVDFyVFk1M2x0Wm9ZMld6TGp1MWx5YU55NUkzeHBrM3ZUc3Jkdmh3SlYxemJaZVBDMi9hck9iL0xtejNzYVNycmxhb2RLTWEvL0d5UFAzNnlYZkcrSDEzK3FJTTBnSEtvSlNmM0tEdzVzM2FOZk1sZWZybHludnl5WXI3NWxtS0dUcDBuMzFiMXE1VmNOSC9sSERKcFhJbEorMzFXTXlRL000OXNTZ1VqbGlhdTZoS2N4ZFZLU3NsUnFPUFNkS0kzQVNOSHB5a3dkbHhpdS9FcUtGQUlDRFRORnR2NEx1Yys5Zk1xWk56MVJnSTYva0YyK1F5cEIrYzNVZitZRVMvK210SjI1ZmtiaDZYb1FtajAvWDJaelU5N3Z0WTFIREZTREprbXFaYVdsb29nd0FBQUFEZ0lEajNYK2tBSEtHOEpxakg1NWJwNDZLZGFncEc3STZ6ajk0cHNRZGN3MkZQQjVvS2FMZlRqazNSblpjTlVIYXFWdzMrc0M0WWw2R2xHM2ZxcHhOejlQeUNiWHAzV2MwK054eTdXNE0vck50ZUxORzFaL1ZSV2RXK056UTl1OHVnVG55YUtodGFkTS9McFRwelpLcTIxbmJ1TmVscExFc3FLdmZya1RsbEtsaFZyOXVuNUNrbncydDNMTnQ0Qmg0ano4Qmp1bnhjNE9PUE9peUQ1SElwN2RiYlZIWEx6MVgvMUpQSzdKY2p6NkJCZSs4VC9tS2toYnZqMFhXdEFUMUsrOVVkcXJybEp0VS84YWd5SDN0UzNuRW55anR1M3orL1JzeGJDaTc2bitMUE9VZnVQbjI3L0p5aTJlN3ZLMVVOSWYxN1dhMFdycXhYV29KYnZWTmo5YTBUMGpWeGRJWjZwWFE4OVZzd0dGUTRISlprZkhFRDMzbE9INTZxaWFNejlKdS9sOHEwTEUwNk1WTTVHVjc5NU9uaVEvcStmTXVrWFAzZzdQYmZOTEJiUno5dlh2dG9oMzc3YXVkR3FVWWp5L0JJaGt1V1pTa1lwRkFEQUFBQWdJTkJHUVNnUndxR1RLM1kzS1Q3WGk1VldYWEE3amdkcW04SzY2NVpHenUxNzY4dVB2QTZQcm1aWHQxOFFhNitkVUs2Vm01dTBpMHoxdXVuRS92cHVBR0pXckorbHdyNjErdWV5d2ZxaG9uOTlOejhyWHJyMDJwRnpIM1A4K1NQaHVpTUVXazZZZXJpcmo2bC9mcTh0SEdmTlk5MjJ6MXFJRDJwY3o5YUZxNm8wOElWZFFmZXNZZnpCMDBWcks1WGFXVkFkMXphWDJNSEplOTMyajkwalpHVXJMUmJmNlhHMlcvSTNXZmZHK1ZXcExVTU1sd0hIclhpeXN4VXlvMC9WM0RKWXJsN2RXMjlyNk9GWWFoMXZSL0xrbVZJTFNGVE94b2kydEVRMHNyTlRYcDB6aGFkTURCSjU0MU4xeGtqMHBRVTUxWjhyRXN1VjJzWkhBd0c5eGdaNU16MWdrNDlOa1dTZFA4VkEzWC9GUU1sU1lWckcvUkpjWU9HOW92WGE3OGEyZTV4WDEwenFMNHByRE9tTGQxcld6QmthZHJNRGZzYysrTnorOHJyY2VuLzVwWHY4OWh2TGg5d1VNOGpxcmhpSk1PbFNDU2k1dWI5VDZrSEFBQUFBR2dmWlJDQUhzV3lwSFZiL1hxbHNGTHpsdFFvRUdxbjZlaEJnbUZUSDZ5dTc5UytQNTNZcjhQSCtxVjc5Y056K3VpaWs3UFVIRFQxaDljMzZSK0ZPL1o2bDNsaklLTC9tMWV1dnhkczE0Ky8xVTkzZjJlZ2ZuaE9YejM1cnkzNlR6ZVZLdE92SDlwMjQxT1NIbmg5czE3K3NMTGRmUk44clRmamorbmQvdUxwVW10SjlZMnZwYlY5L08ySFZyVk5hUmZyTWZUcG8rUDB4TCsyNlBrRjJ3NUgvQ09xckRxZ3FUTktEZGFENHdBQUlBQkpSRUZVTkdGTXVxNGNuNjM4dnZINnRHU24yaHNvc0wvUkE5WmVSK3d4OVp6Vi9uWnJ6KzBkN1g2QWEzZDB6VDNQYmV5NWZZLzlUeCtlMnZiN3VqLzhUc0ZQbHlqN2pibnRYL3dneFJ3N1hHbkhEbS8zTWF1NXRTdzJHeG82ZFM3ZnlhZklkL0lwaDV6cHZjOXIxZTRuVjUxN1BYZHZ0em80U2FjK2Y4YUJIMmp2bXUxZHQyWlhlTys5dnJMd2pXVkpoaXpKTUxTc2RKZVdsZTdTay8vYW91TUdKT25ZbkhnTnlvN1g2Y05Udml5RFpFaUdNLythK1dyaERxM2I2bGRkWTFqZi9ub3ZuVElzUlk5OU1ZM245cnFXVG8vUUNiYno4ODIwckhhbkhyM2tsQ3pGZTkzdFB2YXJLZjI3K0F5aWtDdEdrcXR0bWpnQUFBQUFRTmM1ODEvcEFLTFdndVcxZW1wZXVjcXFBanJBMGpNOXdxRk9FemM4TjBIWGZhdXZ6dnhhbWhxYkkzcHUvamJOS3RpdStxWndCMmVRYWh2RCt1TWJtL1gzRDdicjlrdnk5UGdQaCtqejBrWTk5TVptclNwcmF0dlA3ZXA0U3FIT212WEJkaTFjV2Fla09MZHVtWlM3MzMxek03MXR6NmtqL3lqY29jSzFEVG8ySjE2WGZ0MTVJek9DWVZOdkxxN1c4dEpHWFhkdVh6MDZaMHY3Tys1VjJsaDdiOWovN251eE9qVW5WY2ZuYmp1K1U4c2R0YjlUd2U5UDZNekJYVko3MzIvVXNteFoyOGZKUC82SjRzKy9vTjE5emViV01qRmMzc0ZyclM5S3FzV0wyajdPZlB6Skw2ZTBhMm5SOXN1bUtPbjdWeWxoeXJjN25mRytWMG83dmUrWE9pcHBEazZIeFdGbmp2M0s5WU9oZmZNWWUvOW5qMk5iLzcrcjJkVEhSUTM2dUtoQkNWNjNjaks5R3BBYVZHTk1ybVRVeVhJN2M1cTRqWlhOMmxqWnJGRURFM1hLc0JTOS9PRjJsV3hySGEzUzRBL3J0WTkyMkp6UWVTeFhqR1FZVEJNSEFBQUFBSWVBTWdoQWp4S0tXQXFFekk3ZWNOL2pOUGpEdXYrVnpyMExmT3FGKzVZcC9tQkV1VmsrUFRxM1RLOS90RVBOTFowZkNiV2xPcWdiLzdKT1o0eEkxWTNuNTN6MWpmd3lMZW54TjhzNmZiNGhmZUkxK2NUTXZiWVZybWtkYmRFN0pmYUFaZERnN0hpRlRVdkRjaEtVNEhXM3U4YlR4MFd0NXp0blZIcVh5cUN2VHE4MGYzbXRmdmw4U2FlUFA5SUNJVk9oaUtXV2NQdWZUK09ybjZ6ZFgvRWRmdUYzNFU5RVIrZmVuM1ozK2VwRzY0dlRINkIwTUUxdHYyalNnYSs1SHdrWFRKYnZwRk5rTlRWcTE4eVg5cnR2Wkh2cktMSlFTY2RmRC9FVHo1TjM5QmlGTm01UTgzdi9QcVJzdSsxZUkydlBsK21BcjgxZXV2NTU2dHI1TzJhMTgxRkwrQUNMZlJtU1pSbDdweloyNTJvZDBkSVVqS2k1eFpSbGZERmxuM0hncWZ1aVZXcUNSdzlkUFZoMWpTSDlhVjZGSkNuQjYxWWdGR2wzNms0Y0lzTXRHWXdNQWdBQUFJQkRRUmtFb0VlWk9EcERnN0xqb21LYXVOKyt1cWxMQzNhM043M1BwaDBCVFhsdzVYNlA2MmlObnQwK1dGM2Y3bFIxbGlYOWRlSDJUdWZMeS9KcC9UYS9TcmI1TzMzTW5rN0tUOWE4VDJ2MGpaRnBPbTE0aXY2OWJOL25lN0NlbTc5TjlmNVEyOGViS252bU9sSmVqMnV2YWVKeTByMXRqKzE5STk5cWQvdGVNNzUxY04rL3ZkTjA1dHg3YmU5Z0ZNbWV1MXNkYkQ5ZytXRVlTcnI2bW5iUDM1N3dwczFxL3UvQ3ZiWjV4NHlWSkpuVjFRY3NnOEpsWlpMTHBWRHBSbGwrdjR6NCtIMzI4WjR3V3BJVStQaWpMcFZCVlRmOFpLK1BmYWQ4WGFtMy8xcVNOT1BHWVpJNjkxcDJ1TDNEMS9Jd2ZYM3N1VjM3UC84ZEw1Vm81ZWFtdlk2eDl2ek5Ib2Z2dmthaXo2M2pCaVRxYTNrSkdwWVRyN0dEa3JXbHRFaTN6ZHVnWFpJTU14dzF4WDVYZUdNTVBmR2pJZXFURnFzN1h0cWdnYjE5dXVTVUxKMTdRb2JPbVBhWlhybDF4SDVIU083MmwvZTI3ck1HVUZ5c2E3OGpPZzkxdEdlME1xeUlaRmx5dWR5S2lYSG1pRE1BQUFBQTZHNlVRUUI2Rk1PUWh2YUwxMjBYOWRlWkk5UDB4MytXcWJ5bTU5ejRQMmRVdWg3OXdlRERjcTVINTVhMWxUVkpjVzU5OU9DWWd6clBHZE9XN25kYXVjN2FYQlhvVW5tMHArRzVDY3BPaTlYN0srdmtOZ3lkTnlienNKWkJiL3h2aDdaVTkreXBnWEl5ZkpwNllhNitQalM1YmYya2NVT1NiVTVsQThOUXdrV1hkSHIzeU5ZS2VRYmt5Wk4zY091ZUJGY3NWOXo0TXhWWXZFakJwWi9KZDlycEIzV2U5aVJjY3FsY3lVbHRIM3Y2NWJUOWZraWZmVXVuYU9hTmNiWDkzbXI3ajc0Yy9iUEg3MGZtSmVoYng2ZnIxR05UbFpIa1VVcThSMjVYNjRNN3ZGNjVYQzdKTWlYenl3TFhTWWIwaWRmb1k1SVVpbGo2M3ZocytZTVJyZHJjcER2L3RxRnRWTkNHN2MxNjhUOGRyMzMyMis4ZDArNzJZTWpTdEprYjl0cDI3ZGw5TkxKL2E3bTB2TFJSTDcyLzkvZnAzMXcrNEJDZVRaUXdRNUlWa1dGNDVQVjZEN3cvQUFBQUFHQWZsRUVBZXFSNHIxdmpSNlJxWUMrZkhuaDlzejdic0t0SGpCSmFWZGFvdTJkdDNPOCtKK1duNklKeEdYcjh6UzJxM2RYeHpkQTkxL2ZaclhCTmc5NWZWZGVwTEx0SDROZ2h4bTNvTjk4WnFIdGYyYWlJS1YxK2VpODFCaUw2cEtoQmhxUkhmekJFL2JPOEtxczZjSUdUSE9mV043NldwbmVXMW5SLzhHN2dqWEhwdUx3RTNYUDVRUFhQOHRrZEorcTQrL2JyVW5tMHAxREplcG5WMWZLZWRMSXMwMVJ6d1g4UGF4a1VmODQ1Y3ZmcGU5ak9GdzNhbHBINm92anh1QTNGZTEzS1RJclJ4REVadXZDa1RHV25kbnd6M3VmenllUHhTTEljV3dZVlYvaDE3eXVsV3JHcFVSdTJON2U5WmtseGJpVitVUVJYN1F4cDd1THFEcy9SWGhuMHhMKzI2SWwvZmJuMmxjZGw2Sjd2RHBRaGFjWG1Sc1hGdWhYdmRXdEVYb0tlZVBQTC9kb2JkZW80Wm9za1V5NlhTejRmMzJjQkFBQUE0R0JRQmdIbzBmcG4rZlRFajRibzNXVzFtbFd3WGNVVmZoMkdkZGNQMnJhNmxyMXU4UDF0Nm5COVV0eWdQNzFkMGJZdDN1dldCZU15dEdCNWJaZEhzNndwYityMDR1TzlVMk83cFF3YTFpOWVkMzU3Z0o2YVY2N0Y2M2Z1ODNoS3ZFZFAvbmlJaHVjbTZNbTN0aWdwenEwTHhtWHF6Kzl1VlhPTHFmZFgxcW04T3FpZlRzelJIUzl0YU9jS2Uvdk41UVBsTW95b0s0TjJqMks3N05SZW1qUXVTOTZZdzdPZUMvWWpGRkxEOUQ4cDVXYzNTVzYzL08rOExTTXVUdDdqajVjc1MvVVBQYWpJMXExeTl6MXdnV00xTmlxdzZIK0tPLzJNSXhBOGV1d3VnYkpTWWpYNm1FU055RTNRQ1lPU05LUlBuT0s5QjE0RHlOczJNc2k1WlZBb1l1bU5UNnFVSE9mV21TTlROWFpRc3NZT1NkYlFmdkg2OFovV0hwWnI5RTJQMVVOWEQ1WnBTVC8rVTVFZXZtYXdJaEZwNm5QcjlPTE53NVdUN3RVOUw1ZTJ1emFiSTBWQ2t0VmFCakV5Q0FBQUFBQU9EbVVRZ0I3UEcrUFM1SEdaT241Z29wNTVwMEx6UHVzWnBjRVpJMUoxM0lCRXZmeEJaYnVQejd0N1ZJZkhmdU91WmFyWno2Z2hPL1hQOG1uVXdFVGxabnExK0N2TEZlWDE4bW5XTDBZb01jNnRIejFWcE5wZElUMTh6V0R0YW81bzVuOWJwMFF5TGVuWjl5cjAyKzhkbzM4dHFkWkhheHM2dk5aM1QrK3RrNGVtNk1ySFZuZm5VK29XWjQ5SzE4OHZ5RkZ1cGs4dWVxQkRGdDY0UVExL2ZrWkozN3RTc2NmdCsyZkgyclZUdFgvNHZVSWJTcFQwL2F0a05qYXArZjJGU3Z6TzVUSjhjZktkZExMY3ZiTzE2K1ZaU3YzbGJRZThYc1BUL3llWkptWFFIanh1UStlTVN0TTV4MmRvU044NHBTZkdLTkhuN25BZG92YTBsVUV5dnhqTjRUeVhuOTVMVTA3cHBmeSs4VElNcWI0cHJFOUxkbW5PLzZwVVZINXdhNjd0NllKeEdmcjFsQUZhdUtKTzkvK2pWS0hJbCsrQXFHME02L3VQcjlIalB4eWkxMjRmcWJ2K3RsRkxOKzQ2NUd2MmVPYVhaUkFqZ3dBQUFBRGc0RkFHQVlnS2hpSGxaZm4wd0ZXRGRQcUlWRDN4cnkycXJHK3hiWlJRVXB4YmQzMjdkWjJHODhkbDZ1T2lCdFY5WmQyZUIxN2ZyT3FkN1JjK08vMkh2c2JQL3BpVzVIWkpzUjVETGVHdXZVaWpCaVpLa3RadC9mS21aa3BDNjQrTEs4N29yZExLZ0s1OGJMWEthNEw2NVlYOWRjSXhTYnJ4TDhYeUI3K2N4dSt0VDZ2MW5kTjc2OEdyQnVtS1IxZnZNMElxTmJIMWZKTlB6TlQxMDR1MWFVZEFzWjZlMzZnWVJ1dUlyQnNtOXRQRkoyWFpIY2RSd3R1MktWUmNwTWoyN2RKWHlxRHcxZ3BWMzNhckxIK1RNbjc3ZTdsU1VsWC84RU15RWhLVk1QbWkxcDFjTGlWKyt6STFQUFdrZ3QvNHByeWpPMTZEcTJuZVd3b3UvMXdaZjN5a081OVNWUG5waEg0YWxwdlFOczNad2ZKNnZhM1R4RGw0WkpBdnhpMS8wTlQvdlYydWo5YldhODJXZlF1Z2svT1R0ZUxKRTd0MDNzRjk0alR0MGdFYW5wdWdSK1pzMXVzZlY3VzdYNE0vck92K1ZLU3BGK2JxK1o4ZnEvbWYxK3J4Tjh1MHRkYVo1WnNrR1dZTFpSQUFBQUFBSENMS0lBQlJaK0xvREEzS2p0TXJoWldhdDZUbWlLOGxsQlRuMXZUcmh5b2pPVWJQemQrbTc1M1pXL04rTTBwdkxhbFI0ZHA2cFNmRlNKSUsxOWEzTzAyY3k1QmlQUzdGZUl5OUNoUkp5dThicnd0UHpPeFVqdnkrSFM5Z1gxbmZlbFB3Nm0vMjBWOFhidXRVSWVSeEdSbzFNRkdUVDh4VVV6Q2l0WHZjNEp3d09sMlM5R25KTHQweVk1MTJOa2QwL1lSK3V2cWIyWHBxWHJrSzErdzkraWRpU3JlK3NGNnYzdlkxdmZEejRicCtlcEZLdGpXM1BYN3FzTmJwN2Y3dyt1WjJwNkxyaWJ3ZWx5YU1TZGVWNDdQMys5b2YxVnlHWkpwU1M0c1VHOXVsUTF1S1dxZlg4Z3dZMExiTjNOVTY0c0UvN3kyNSsrVW80NkZINWM3TzFxNFhubFBMMmpWS3UrczNNdUxpMnZhUE8vTWI4ci96dHVvZmUwU1pEeis2ejNvLzVzN1dyN1htOXhjcS9aNzc1TW5KYWMwS2pSMlNmRmpPNC9WNjVYYTdKVmt5ekpCc25OV3oyN3k0Y0p0ZVhMaHR2L3RzMk42c0YvL1Q4VDU3cmhrMHNMZFBOMHpJMGJkT1NOZmk5VHMxNWNHVnFxamQveFNqWWRQU3c3UEw5Si9sZGJyM3V3TTE3KzdqdFhCbHJaNmJ2MDFydHV5N0hsMVVheXNXTGJuZGJzVjI4WHNMQUFBQUFLQVZaUkNBcUxON3JaYmJMdXF2TTBlbTZZLy9MRk41VGVDSVhIdnM0Q1RkZS9reDZwVWFvMTg4dDE0RnErczE3N05xL2V5OEhGMzY5U3hkZm5xdnRuM2Z1bXVVSXFiVmRqUFVNRm9MbDkzbUxxclczWC9mdU5mNXp4eVpxak5IcGg1eXpybUxxblRaYWIxMDAvazV1dW44bkM0Zi85amNMUXFiWDk3R25iT29Ta1A3eGV1WHo1ZklrcVhmWDNtTUpvM0wxSFB6dCtuWjk3YTJlNDZ0dFMzNjVRdnI5ZVNQOGpYckZ5TjAveXVsYlZQOExWaFJxOHFHRnIzKzhRNDlmOU94R2pzNHFlMjRXeWJsNnBaSnVYdWRxNzBwOTk1ZldhZWJaNnpmWjN0M3lNbndhZXFGdWZyNjBHUWxIT0xJQ1Nkelo3UVdtWTF6Wnl2eHdvczdWd2lGdzJvcExsTHord3RsK09JVWM4eWd0b2VhQ3orVUpNV09HS20wWDk4cEl6RlJqYSs4ckthNWM1VDR2U3ZsSFRQMkt3SGNTdjNWN2FxZWVyTnFwdjFhNmZmZUwwOWVYdHZEd1dWTEpVbkoxLzJrM2Fub2NPZ013MUN2WHIxVVhGd3NoWm9rTXl5NWpyNi9ibGJ0RE8yMXZ0eFg3VmtHcFNaNE5MQzNUNzk0ZnIwV3JxanIwbldXYnR5bGl4OVlvWXRQenRMbHAvZFdjNHNEMXhDeVRDblVLRU5TMzA2c0J3WUFBQUFBYUo5aFdYWXV4WTdsbXhwMSsxODNxSHBuaS81NDlXQ2RkVnlhM1pHQXFGTldGZEFEcjIvV1p4dDJkZnNvb1F0UHl0VDVZelAxMjMrVTdqUHFKeTdXcFJIOUU5UXJKVmJKOFc3RnVGMHlETW50TW1SSWtxRzkxdDc0NzhwNmJkamVPbG9tS2M2dGp4NGNvNys4dDFYL042KzhVMWx1UEQ5SDEzMnJyODZZdGxUMVRmdE9PemVrYjV6T0g1T3BySlFZdVRxeDZJZHBXYXB2RE92RE5mWDYzN3FPUit2RXhicjA0RldEOWVHYXVnNm5NZHJUMEg3eHV2UGJBL1RybHphMCsyNzNjMDlJVjNaYTE5L3BYVllWMFBzcjY3dDhYRmQ0WTF3NkxpOUI5MXcrVVAyem1Kcm9RTUliTnFqNnRsKzBqZzQ2Q0VsWFg2dUVpeTlwK3ppeWRhdDJQdmVzVW45MWh3eERhbmo2VDJyKzcvdEt1T1JTSlgzL0tuVzBtRTNMOHVXcWUrQjNza3hMcVQrN1ViN3haMHFTbXYrN1VLSGlkVXIreWZXcXZmUFhhbG05cXNzWnZTZWVwTFJwZHgzVTh6dGEvUG5QZjlaZi92SVhSZEtQa3pua0tpa213ZTVJVVcvNjlVTVY3M1hyNmlmWDJCM2x5QXNINUM1K1RxNjZWYnJtbW10MDAwMDMyWjBJQUFBQUFLSVNaWkROS0lPQXd5TVlNdlh1c2xyTkt0aXU0Z3EvYldzSndSbDJqejY3N05SZW1qUXVTOTZZbnIrZVVVOFIzbFNxNWc4S1pOYld5dXBFS1dTNFhISWxKOHM3WnF4aVJ4M2Y0WDVXSUtENlJ4K1dkK3c0eFo4NzRjQTVTamVxNGMvVGxUcjFWcmw3OTk3bjhVRGhoNHBVSDdqTS9DcFBuNzd5bm5SeWw0ODdtcnovL3Z1NjlkWmJaU2JrS0hMc0RaSXYzZTVJaUdhaFhYS3ZmRkl1ZjRVZWV1Z2huWFhXV1hZbkFnQUFBSUNvZFBUTjJ3SEFrYnd4TGswZWw2bmpCeWJxbVhjcTJxWWpBdzdHMmFQUzlmTUxjcFNiNlpPTEhxaExQQU1HS21uQXdNTitYc1BuVTlxZGQzYyt4OEJqbFBIZ3d4MCs3anZ0OU1NUkMrM0l6OCtYSkJtQk9zbmMvOW8zd0FHWllSbkJXa25Tc2NjZWEzTVlBQUFBQUloZWxFRUFITU13cEx3c254NjRhcEJPSDVHcUovNjFSWlgxTFl3U1FxY1lodFE3TlZZM1RPeW5pMC9Lc2pzT0VMWDY5T21qbEpRVTFUYzBTTUU2S2I2UDNaRVF6UUsxTWlMTlNrMU5aYzBnQUFBQUFEZ0VMcnNEQUVCM21EZzZRMC85T0YrWG5KSWxYd3pmNnJCL1hvOUxrMC9NMUZNL3p0ZEZKMUlFQVlmQzVYSnAyTEJoTWlRWmpaMWJBdzNvaU5HNFNkS1hJODRBQUFBQUFBZUhPNlFBSEduM21pKzNYZFJmRDE4N1dEa1pQcnNqb1lmS3lmRHBEMWNOMGgyWDVHbG92M2daVEFzSEhMTGh3NGRMa295R0lqRThFd2ZOc21UVXJaRWtEUjA2MU9Zd0FBQUFBQkRkS0lNQU9GcTgxNjN4STFMMXpBMzVPblZZQ3FPRTBNWWI0OUs0d1VsNjVvWjhuVE1xVFFrK3Q5MlJBTWM0NDR3ejVQRjQ1R3BZTDdYVTJ4MEgwYXFsWHE2R1luazhIcDE4OHNsMnB3RUFBQUNBcU1aZFVRQkhoZjVaUGozeG95RzY4N0lCR3BiRDZJK2ptV0ZJdzNMaWRmc2wvZlgwOWNQVVA0dFJZOERobHB1YnE5emNYQmxXV0ViTk1ydmpJRW9adFN0a1dCSGw1ZVVwTHkvUDdqZ0FBQUFBRU5Vb2d3QWNOYnd4TGswZWw2bUhyeG1zODBabjJCMEhOamw3VkxvZXZtYXdMam1sbDd3eHRJSkFkNGlQajllSUVTTWtTYTRkbjBxV2FYTWlSQjNMbEt2NmMwblNpQkVqbEpxYWFuTWdBQUFBQUlodWxFRUFqaXFHSWVWbCtmVEFWWVAwNEZXRGxKMFd5eWlobzRCaFNObHBzYnJ2aW9GNjlOckJ5c3Z5eWNYbkhlZzJYcTlYSTBlT2xOZnJsUkdza3BvcjdZNkVhT1BmTGlPd1F6RXhNUm81Y3FUaTR1THNUZ1FBQUFBQVVjMWpkd0FBc012RTBSa2FsQjJuVndvck5XOUpqUUloM3JudVJGNlBTeFBHcE92Szhkbks3eHR2ZHh6Z3FMRjdOTWYySGJVeWRtMldGZC9IN2tpSUlrYmpaaW5VcElUa0JBMGZQdHp1T0FBQUFBQVE5UmdaQk9Db1pSalMwSDd4dXUyaS9ucjQyc0hLeVdEdEdLZkp5ZkRwRDFjTjBoMlg1R2xvUDlhS0FvNmtJVU9HS0NzclM0WVZrdEd3VG9vRTdZNkVhR0cyZnMwWVpsRHA2ZW5LejgrM094RUFBQUFBUkQzS0lBQkh2WGl2VytOSHBPcVpHL0oxNnJBVStXTDQxaGp0dkRFdWpSdWNwR2R1eU5jNW85S1U0SFBiSFFrNDZzVEV4T2k4ODg2VEpMbHFWMHFONVRZblF0Um8zdEg2TlNQcG9vc3VrdHZOOTNBQUFBQUFPRlRjOFFTQUwvVFA4dW1KSHczUm5aY04wTEFjUnBGRUk4T1FodVhFNi9aTCt1dnA2NGVwZnhhanZRQTdUWm8wU2RuWjJWSzRVYTV0QlhiSFFaUndsYjhuSTl5a3ZuMzc2dUtMTDdZN0RnQUFBQUE0QW1VUUFPekJHK1BTNUhHWmV2aWF3VHB2ZEliZGNkQkZaNDlLMThQWEROWWxwL1NTTjRZMkQ3QmJmSHk4ZnZyVG44cnRjc2xWdllUUlFUaXd4bks1cWhiTDVYTHBtbXV1VVh3OGE3MEJBQUFBd09GQUdRUUFYMkVZVWw2V1R3OWNOVWdQWGpWSTJXbXhqQkxxd1F4RHlrNkwxWDFYRE5TajF3NVdYcFpQTGo1ZlFJOXgybW1uNmRoamo1VWh5YlhwRGVuL3MzZmYwVkdWK1IvSFAzY21rNWxrMG50SUkwRG9UYVFKSWtWUkVCRkVSRlJXMUZXUkZmdUNiUzJycnFnc0NxdXU1Y2RhVjBVWEt5RFlzSUJLUjBCQVdoSlNDQWxKU08rWitmMFJDY1FraENoa3d2QituY1BSdWZlNXovM2VtWnh3eUNmZjUzRlV1cm9rdEZiVkZUS2xMSkVocVd2WHJob3laSWlyS3dJQUFBQUF0K0hoNmdJQW9EVWIzU2RZN1NPOHRIQlZwcGF1eTFGWnBjUFZKZUVvVmcrVFJwMFpwQ2xESTlTeERiODlEclJHZm41K0dqRmloSGJ0MmlWbllaSWMrYnVsd0s2dUxndXRrSkcvVzZhQ3ZmTHc4TkNJRVNNVUVoTGk2cElBQUFBQXdHM1FHUVFBeDJBWVVxY29iODBjSDZzNTEzWlFkREI3MExRVzBjRTJQWDUxZTkweklVNmRvdGpqQ1dpdERNUFE4T0hERlJVVkphTzZUT1lEcTZUS1lsZVhoZGFtcWt5bXpPOWxWQlVwSkNSRUkwYU1rTW5FUDFVQUFBQUE0RVRoWDFnQWNCeThyV1lON1JhZ0Y2ZDMxT0RPL3JKWitQYnBLbGFMU2YwNitPckY2UjAxc2xlZzdEYXpxMHNDMElTNHVEaGRjODAxTXBsTU1uSzN5cFMxMnRVbG9aVXhzdGJJeU4waWs4bWtQLy81ejRxSmlYRjFTUUFBQUFEZ1Z2aHBKZ0EwUTJ5b1RmT3VUOUQ5azlxcWN6VGRLQzNKTUtUTzBkNjZlMEtzL24xVFo4V0cwcVVGbkVwR2p4NnRNV1BHeUhCV3laU3lWTXJmN2VxUzBGb1VKTXE4NzJNWnptcU5HalZLWThlT2RYVkZBQUFBQU9CMkNJTUFvSm1zRnBNdTdoZWlPZGQwMElWOWdsMWR6bW5qdkY1Qm1uTk5CMDA0SzB4V0N5a2NjS3J4OFBEUWpCa3pGQjBkTGFPNlZPYWRyMGlsbVpMVDZlclM0Q3BPcDFTU0tmT3VOMlJVbHlvdUxrN1RwazJUeFdKeGRXVUFBQUFBNEhZSWd3RGdkekFNS1M3VXB0bFh0OWNUVjdkWFJLQW5YVUluZ1dGSUVZR2UrdnVWOFpwN2JRZkZoZHBrNG4wR1RsbEJRVUc2NVpaYkZCQVFJS01pVCtiRVJWSjVycXZMZ3F0VUZNaWMrSjZNc2l6WjdYYk5tREZEYmRxMGNYVlZBQUFBQU9DV0NJTUE0QThhM1NkWXo5N1FVUlBPQ21Vdm9SUEk2bUhTeGYxRDlPd05IVFcrZjZpcnl3RndBcGhNSmcwZE9sVFhYWGVkREVuR29lMDFIVUtWUmE0dURTMnRva2ptblF0azVPMlFJYWR1dlBGR25YUE9PVEtaK0hzVUFBQUFBRTRHRDFjWEFBQ25Pc09RT2tWNWErYjRXQTNySHFnbjMwOVJXazZacThzNnBVVUgyM1RIdUJnTjZ1UW51ODNzNm5JQW5FQVdpMFZYWFhXVmlvcUs5UHJycjZ1OE1GSDZlWjZxTzArVGJNR1NRUmpnMXB4T3FleWd6RHRmbGFrb1dWYXJWZGRjYzQybVRKbmk2c29BQUFBQXdLMFJCZ0hBQ2VKdE5XdG90d0RGaDlrMGU5RStiZGhicUxKS2g2dkxPcVZZTFNiMWpMUHJvY254aWcyMXVib2NBQ2ZSdGRkZUs0dkZvdGRlZTAxRnhla3k3M2hKampiRDVRenJMNW5ZTThZdE9TcGxaSzJUYWY5WE1rcjJ5MmF6NllZYmJ0RGt5Wk5kWFJrQUFBQUF1RDNDSUFBNHdXSkRiWnAzZllLV2I4clZXOThlME03MEV2WkhiOExoN3FwSmc4TTB0bCtvckJZMkJnTGNuYWVucDY2ODhrcUZob2JxOGNjZlYwVkp1b3lrLzhtWnZWSFZzUmRKdm5GMENia0xwMU5HWWFKTXFjdGxGT3lXVVYwdW04Mm11KysrV3lOSGpwVE5SdmdQQUFBQUFDY2JZUkFBbkFSV2kwa1g5d3RSNzNnZnZiZ3NYVXMzNUxpNnBGYnR2RjVCdXZXaWFNV0UyR1FpQndKT0d6YWJUV1BIamxXblRwMzB3QU1QS0RFeFVZNjg3VEx5ZDhvUjJFM09xSFBsOUc0am1Ud2xzNmVyeTBWek9DcWs2Z3FwZUw5TUdkL0lsTE5aaGh3eURFTUpIVHZxL3Z2dlYvZnUzVjFkSlFBQUFBQ2NOZ3luazk5WGQ2WE55VVc2Ky9XOXlpNm8wSk5UTytqY25vR3VMZ25BU2ZEcGhoek5XNXlxekx3S3VvUitaUmhTZUlDbnBvK08waVVEUWwxZERnQVhTMDFOMVVjZmZhUnZ2LzFXU1VsSmtpU25ERG05b3lSN0d6bTl3dVcwQmtwbXEyUzJTU1orcDZsVmNWUkoxZVZTZFptTWlqd1pwWmt5aXRPa2tnd1p6cG9sVStQaTRqUjA2RkJkZXVtbGlvNk9kbkhCQUFBQUFIQjY0Vi9SQU5BQ1J2Y0pWdnNJTHkxY2xhbWw2M0pPKzcyRXJCNG1qVG96U0ZPR1JxaGpHMjlYbHdPZ0ZZaUppZEcwYWRNMGZ2eDQvZkRERC9ya2swLzB5eSsveUNoSmswclM1SlJxT29RTTg2OS9XRUt1ZFhGSURvZmtySlljRlRKMDVEY2ZFaElTTkdIQ0JBMGNPRkFSRVJIeTlLVExDd0FBQUFCYUdwMUJMa1puRUhCNktTbXYxcm85aFhyeS9SU2w1WlM1dWh5WGlBNjI2WTV4TVJyVXlVOTJtOW5WNVFCb3hYYnYzcTNseTVkcjgrYk4ycjkvdnlvcksrVndPR3Ivb1BVd21VeTFmeXdXaXlJakkzWEdHV2RvNU1pUjZ0U3BrNnZMQXdBQUFJRFRIcDFCQU5DQ3ZLMW1EZTBXb1Bnd20yWXYycWNOZXd0UG15NGhxOFdrbm5GMlBUUTVYckdoYkJZT29Ha0pDUWxLU0VpUUpCVVhGeXNuSjBlbHBhVXFLeXRUWldXbGk2dkQwU3dXaTJ3Mm03eTl2UlVZR0NnZkh4OVhsd1FBQUFBQU9BcGhFQUM0UUd5b1RmT3VUOUR5VGJsNjY5c0QycGxlNHJaN0NSbUcxQ25LVzVNR2gybHN2MUJaTFlhclN3SndDckxiN2JMYjdhNHVBd0FBQUFDQVV4SmhFQUM0aU5WaTBzWDlRdFE3M2tjdkxrdlgwZzA1cmk3cHBEaXZWNUJ1dlNoYU1TRTJtY2lCQUFBQUFBQUFnQlpIR0FRQUxtUVlVbHlvVGJPdmJxOGgzUUkwYjNHcU12TXFUdmt1SWNPUXdnTThOWDEwbEM0WkVPcnFjZ0FBQUFBQUFJRFRHbUVRQUxRU28vc0VxMzJFbHhhdXl0VFNkVG1uN0Y1Q1ZnK1RScDBacENsREk5U3hqYmVyeXdFQUFBQUFBQUJPZTRSQkFOQktITjViWitiNFdBM3JIcWduMzA5UldrNlpxOHRxbHVoZ20rNFlGNk5CbmZ4a3Q1bGRYUTRBQUFBQUFBQUFFUVlCUUt2amJUVnJhTGNBeFlmWk5IdlJQbTNZVzlqcXU0U3NGcE42eHRuMTBPUjR4WWJhWEYwT0FBQUFBQUFBZ0tNUUJnRkFLeFViYXRPODZ4TzBmRk91M3ZyMmdIYW1sN1M2dllRT2R6Tk5HaHltc2YxQ1piVVlyaTRKQUFBQUFBQUF3RzhRQmdGQUsyYTFtSFJ4dnhEMWp2ZlJpOHZTdFhSRGpxdExxdU84WGtHNjlhSm94WVRZWkNJSEFnQUFBQUFBQUZvbHdpQUFhT1VNUTRvTHRXbjIxZTAxcEZ1QTVpMU9WV1plaGN1NmhBeERDZy93MVBUUlVicGtRS2hyaWdBQUFBQUFBQUJ3M0FpREFPQVVNcnBQc05wSGVHbmhxa3d0WFpmVDRuc0pXVDFNR25WbWtLWU1qVkRITnQ0dGVtOEFBQUFBQUFBQXZ3OWhFQUNjUWc3djBUTnpmS3lHZFEvVWsrK25LQzJuckVYdUhSMXMweDNqWWpTb2s1L3NObk9MM0JNQUFBQUFBQURBSDBjWUJBQ25JRytyV1VPN0JTZyt6S2JaaS9acHc5N0NrOVlsWkxXWTFEUE9yb2NteHlzMjFIWlM3Z0VBQUFBQUFBRGc1Q0VNQW9CVFdHeW9UZk91VDlEeVRibDY2OXNEMnBsZWNzTDJFanJjaFRScGNKakc5Z3VWMVdLY21Ja0JBQUFBQUFBQXRDakNJQUE0eFZrdEpsM2NMMFM5NDMzMDRySjBMZDJRYzBMbVBhOVhrRzY5S0ZveElUYVp5SUVBQUFBQUFBQ0FVeFpoRUFDNEFjT1E0a0p0bW4xMWV3M3BGcUI1aTFPVm1WZlI3QzRodzVEQ0F6dzFmWFNVTGhrUWVuS0tCUUFBQUFBQUFOQ2lDSU1Bd00yTTdoT3M5aEZlV3JncVUwdlg1UnozWGtKV0Q1TkduUm1rS1VNajFMR045MG11RWdBQUFBQUFBRUJMSVF3Q0FEZHplSytmbWVORkRMbktBQUFnQUVsRVFWUmpOYXg3b0o1OFAwVnBPV1hIdkNZNjJLWTd4c1ZvVUNjLzJXM21GcW9VQUFBQUFBQUFRRXNnREFJQU4rVnROV3RvdHdERmg5azBlOUUrYmRoYldLOUx5R294cVdlY1hROU5qbGRzcU0xRmxRSUFBQUFBQUFBNG1RaURBTUROeFliYU5PLzZCQzNmbEt1M3ZqMmduZWtsa21xNmh5WU5EdFBZZnFHeVdnd1hWd2tBQUFBQUFBRGdaQ0VNQW9EVGdOVmkwc1g5UXRRNzNrY3ZMa3RYUmJWVHQxNFVyWmdRbTB6a1FBQUFBQUFBQUlCYkl3d0NnTk9FWVVoeG9UYk52cnE5cTBzQkFBQUFBQUFBMElKTXJpNEFBTkR5ZXQ2MlZpOHNUM2QxR1FBQUFBQUFBQUJhQUdFUUFBQUFBQUFBQUFDQUd5TU1BZ0FBQUFBQUFBQUFjR09FUVFBQUFBQUFBQUFBQUc2TU1BZ0FBQUFBQUFBQUFNQ05FUVlCQUFBQUFBQUFBQUM0TWNJZ0FBQUFBQUFBQUFBQU4wWVlCQUFBQUFBQUFBQUE0TVlJZ3dBQUFBQUFBQUFBQU53WVlSQUFBQUFBQUFBQUFJQWJJd3dDQUFBQUFBQUFBQUJ3WTRSQkFBQUFBQUFBQUFBQWJvd3dDQUFBQUFBQUFBQUF3STBSQmdFQUFBQUFBQUFBQUxneHdpQUFBQUFBQUFBQUFBQTNSaGdFQUFBQUFBQUFBQURneGdpREFBQUFBQUFBQUFBQTNCaGhFQUFBQUFBQUFBQUFnQnNqREFJQUFBQUFBQUFBQUhCamhFRUFBQUFBQUFBQUFBQnVqREFJQUFBQUFBQUFBQURBalJFR0FRQUFBQUFBQUFBQXVESENJQUFBQUFBQUFBQUFBRGRHR0FRQUFBQUFBQUFBQU9ER0NJTUFBQUFBQUFBQUFBRGNHR0VRQUFBQUFBQUFBQUNBR3lNTUFnQUFBQUFBQUFBQWNHT0VRUUFBQUFBQUFBQUFBRzZNTUFnQUFBQUFBQUFBQU1DTkVRWUJBQUFBQUFBQUFBQzRNY0lnQUFBQUFBQUFBQUFBTjBZWUJBQUFBQUFBQUFBQTRNWUlnd0FBQUFBQUFBQUFBTndZWVJBQUFBQUFBQUFBQUlBYkl3d0NBQUFBQUFBQUFBQndZNFJCQUFBQUFBQUFBQUFBYm93d0NBQUFBQUFBQUFBQXdJMFJCZ0VBQUFBQUFBQUFBTGd4d2lBQUFBQUFBQUFBQUFBM1JoZ0VBQUFBQUFBQUFBRGd4Z2lEQUFBQUFBQUFBQUFBM0ppSHF3c0FBTFM4TGZQN3U3b0VBQUFBQUFBQUFDMkV6aUFBQUFBQUFBQUFBQUEzUmhnRUFBQUFBQUFBQUFEZ3hnaURBQUFBQUFBQUFBQUEzQmhoRUFDY0luTHVtYVdjZTJZMTY1cVN6NVlyLzluNXh4eFRsWnFxQStQSHFtVFpwOGNjVi9yRjU4cC8vcmxtM1I4QUFBQUFBQUNBNjNtNHVnQUF3TWxUblpHaDBxKytsRGtrVkQ1WFhObndJS2RUa21TWXpjZWNxMkxYVHBWKzhiazhJc0psdi9ReVNWTGVrN05WOXVNUHphckovNWJiNUhYdWVjMjZCZ0FBQUFBQUFNRHZSeGdFQUc3TTkrcXBxa3hLVk5HNzc4Z2pLa3EyYzRiV0gvUnJHS1Ftd2lEL2FkTlZ0VytmQ3Q5OFF4NVJNYklPSENpdkVlZkswcWxUdmJFVk8zYW9mTTFxMlNkTWxNblB0ODQ1UzBMSDMvMDhBQUFBQUFBQUFKcVBNQWdBV29ueWpSdDA2SkdIbXh4M1lQellScy81MzM2bnZJWU5QM0xBWkZMZ1gyZnE0TzIzS3UvWitRcUppcFpIKy9aMUw2cXFxdm12dVltVlF6MDhGRGpySGgyOC9SYmx6WnVya0tmbnk5cXZ2Nno5K3RjYmFsaVdxSHpOYW5tUEhDbHpaSnNtbndrQUFBQUFBQURBeVVNWUJBQ3RoRWQwdEh5dnViYlI4eVdmTHBVa2VWODRwdEV4bHZZZDZoMHpmUDBVK05kWkt2cndBNWtqSSt1ZGQxYlhoRUdHNmRpZFFaSmtDZ21SLzR4YlZiNXVyY3hoWVUyT0J3QUFBQUFBQU9CNmhFRUEwRXFZdzhKbEh6K2gwZk5scTFkTDBqSEhOTWJTcGFzQ3UzUnQ4Snl6dEV5UzVNalBQNjY1YkFQUGttM2dXYzJ1QVFBQUFBQUFBSUJyRUFZQmdCdksvZnVEcXRpMHFmYTEzdzNUNUQzbW9nYkhPa3BMSkVsVmFhbU56bmZvOGNkVXZuWk43ZXVRWitiTEk3NWR6WXVLQ2gyWWRLbDgvM1MxN0pkZWRnS3FCd0FBQUFBQUFIQWlFUVlCZ0J1eVgzU3hiQVBPa3JPNFNJVnZ2bkhNc2RVSE1pUkpsWHYyTkRyR2UvU0Zzdlk1VTVXSmUxWDYrV2NudEZZQUFBQUFBQUFBSnhkaEVBQzBBc1dmZkt6Q1Z4WWMxOWdENDhjZTg3enZkZGZMZnZFNFNaSWpPN3ZKTUtncUpVVXltVlNabENoblNZa01iKzk2WTZ4bjlKRWtsZjN3ZmJQQ29JUFRwOVY1YlR0cmtBTHV2dmU0cndjQUFBQUFBQUR3eHhFR0FVQXJZTzNXWGJybTJrYlBsMzIvU3BXN2QwdVNQTHQxbDdWZnYyUFAxUXpsV3piTGErZ3dsYTFkby9LTkcyUTdlMGl6cmo4Vys0U0pNdm41MXI3MmlJbytZWE1EQUFBQUFBQUFPRDZFUVFEUUNuaTBieStQOXUwYlBGZjJ3L2VxeXNpUUtTUlVrbFNac2s4K1YwMlJaOWR1Zi9pK2xYdDJ5NUdkTGV1QWdYSTZIQ3I5OXBzVEdnWjVqeHdwYzJTYkV6WWZBQUFBQUFBQWdPWXp1Ym9BQUVEanluNzRYdm4vbXFmQW1mZklIQklpYzBpSS9LZmZyRU96LzZHcXZYdWJQMkZscGZML05VK3FycFlrbFN6N1ZJYVhsNnk5ZThzMjhDeVZyMStuNnYzN2oyc3FaMUdSU3IvNnN2azFBQUFBQUFBQUFHaFJoRUVBMEVvVmYvU0I4cDZaSy85YmI1ZG5yMTYxeDIyREJzdG4zQ1hLdWU5dWxhOWJlOXp6T1FzTGxQUGczMVM2YXFVY0JmbXFTazFWNmRjclpCOS9pUXlibDJ3REJzb2NIcUhDZDk0NnJ2bnkvLzFjcys0UEFBQUFBQUFBd0RVSWd3Q2dsWEVVRkNqdmljZFY5TTdiQ3JydkFka0dEYTQzeGo3eE12bGNPVVdIWnY5RGhXKzhKbFZVSEhQT3F2M3B5cDc1VjFXbnB5bjQwWC9JNUIrZ2doZWVsMkgza2YzaThUV0RUQ2I1WERaSlpTdS9VL25HRGNlY3IzanBFcFZ2L2trK1U2NyszYzhKQUFBQUFBQUFvR1VRQmdGQUsxTDJ3L2ZLdnZWbVZhYW1LdmlwdWZJODQ0eEd4OXJIalZmQVgyZXA1TFBsT25qN0xRMEdPSTdDUWtsU3lkSWxrdG1zNEtmbXl0S3Bzd3BmZjFVVk83WXI0UFk3WkhoNTFZNzNHalpjbGc0SnludjZuNnJPcUw5Y25LT2dRSkpVK3ZVS0JkNTlyenlpby8vb0l3TUFBQUFBQUFBNHlRaURBS0FWcU55N1J6bjMzYTI4cDU2UXRjK1pDcG43dER6aTRwcTh6alpvc0VLZW1TOXpZSkFPUGZLd3N1KzhYUldiTnRXZUwxMjFVcExrMmEyN1FwNmNJM05FaElvV3ZxUGlqeitTejVWWHlYcG0zN29UbXMwS21IVzM1SFFxNTc1N1ZiVnZYNTNUNVpzMlNwTDhicHdtejU2OUJBQUFBQUFBQUtEMTgzQjFBUUFBU1pXVmNwYVZLK2lSeDVvZHNwakR3aFgwajlrcSszNlZpaGE5SjFOQVFPMDU3M1BQVTFWeWtnSm0zU1BEa1BMblBhM1NiNzZXZmNKRStVeWMxT2g4Z2JQdTFhSFpqeWw3NWwwS3VIbUdiRU9IU1pKc1o1MGxjMUN3dkM4WXJkejc3MVhGdHA5cnJ5dDg4dzBWdnZsR25ia09UcDlXYjM1ci93RUt2Tzl2elhwR0FBQUFBQUFBQUw4ZllSQUF0QUtXemwwVTh2UzhQelNIYmZEWnNnMCt1ODR4YzVzMkNuemdJVW1TczZ4TWp1SmkrVTIvV2Q0WGpEcm1YSjY5ZWlsNDlwUEtmK2tGV1RwM3FUM3VOV3lFdklhTmtDUjVqNzVRMW43OW1sMm5SMlNiWmw4REFBQUFBQUFBNFBjakRBS0EwNFJoc3ludy9nZU9lN3hIZkRzRlB6R24wZk8yczRlY2lMSUFBQUFBQUFBQW5HU0VRUUJ3aWdoKzRpbFhsd0FBQUFBQUFBRGdGR1J5ZFFFQUFBQUFBQUFBQUFBNGVRaURBQUFBQUFBQUFBQUEzQmhoRUFDY2hucmV0bFl2TEU5M2RSa0FBQUFBQUFBQVdnQmhFQUFBQUFBQUFBQUFnQnNqREFJQUFBQUFBQUFBQUhCamhFRUFBQUFBQUFBQUFBQnVqREFJQUFBQUFBQUFBQURBalJFR0FRQUFBQUFBQUFBQXVESENJQUFBQUFBQUFBQUFBRGRHR0FRQUFBQUFBQUFBQU9ER0NJTUFBQUFBQUFBQUFBRGNHR0VRQUFBQUFBQUFBQUNBR3lNTUFnQUFBQUFBQUFBQWNHT0VRUUFBQUFBQUFBQUFBRzZNTUFnQUFBQUFBQUFBQU1DTkVRWUJBQUFBQUFBQUFBQzRNY0lnQUFBQUFBQUFBQUFBTjBZWUJBQUFBQUFBQUFBQTRNWUlnd0FBQUFBQUFBQUFBTndZWVJBQUFBQUFBQUFBQUlBYkl3d0NnRk5jZG1HbDF1NHFsTk41OHU1Uld1SFF0dFFTVlZRNVR0NU5BQUFBQUFBQUFKd1VoRUVBY0FxcnJIWnE3a2NwdXYrdHZkcXlyMGpPazVBSVZUbWNldVByQS9ycks3dVVuRlYyd3VjSEFBQUFBQUFBY0hJUkJnSEFLY3hpTm5UMThFaVpERU92cjhoUWZrbjFDYi9IaWkySDlPWTNCelNpWjVDaWcyMG5mSDRBQUFBQUFBQUFKeGRoRUFDYzRycEVlK3R2bDdmVmw1c1BhZkc2N0JNNmQxSm1xWjc1T0ZWV0QwUFhuaHNwYnl0L2JRQUFBQUFBQUFDbkduNnFCd0J1b0g4SFgwMGVFcTUvTDB2VFYxdHlUOGljSmVYVit2ZXlkRlZVT2ZUVU5SMFU0bWM1SWZNQ0FBQUFBQUFBYUZtRVFRRGdCcXdXazY0ZUhxR0lBS3ZtTFU3VDd2MGxmM2pPVDlabTY0ZGY4blh6aGRFNnM3M3ZDYWdTQUFBQUFBQUFnQ3NRQmdHQW00Z090dXJSSzl0cFgxYVpGcTdLVWxtRjQzZlA5Zk8rWWoyK2FKOUc5QWpTcUQ1Qko3QktBQUFBQUFBQUFDMk5NQWdBM0VqM09MdnVuUmluenpmbGF0bkduTjgxUjNwdWhSNWZsS3lvWUt1dUhoNHViNnY1QkZjSkFBQUFBQUFBb0NVUkJnR0FteGsvSUZTRHV2aHIvcEkwYlU0cWF0YTFaWlVPTGZnaVhVbFpaYnA3UXF3UzJuaWZwQ29CQUFBQUFBQUF0QlRDSUFCd00xNmVKdDEwUVJ0NVdVeDY0TzFFWlJkVUh2ZTFHL1lXYXZIYWJQMWxkSlNHZFE4OGlWVUNBQUFBQUFBQWFDbUVRUURnaHVMRHZmU1hDNk9VbFYraHQ3L0xWSGxsMC9zSDdkcGZva2NXSm1sUTV3Q042UnZTQWxVQ0FBQUFBQUFBYUFrZXJpNEFBSEJ5akQ0eldNbFpaVnIwUTVhNng5bzFvbWZqblQ0SDh5czA3NU5VbFZRNGROMTVrUXEwczA4UUFBQUFBQUFBNEM3b0RBSUFOK1ZoTWpSMWVJUTZ0ckhya1hlVFZWUlczZUE0cDFQNmFFMjJWdThzME0yam85U3JyWThNdzJqaGFnRUFBQUFBQUFDY0xJUkJBT0RHL0x3OWROMTVFVEticE5zWDdOYWhvdnI3QjIxTUxOUTdLek4xNmFCUVRSNFNMbklnQUFBQUFBQUF3TDBRQmdHQW0rdWY0S2Niem8vU3hzUkNmYmdtVzVYVnp0cHoyUVdWZXZUZFpNV0YyblRkZVcxY1dDVUFBQUFBQUFDQWs0VXdDQURjbk5sazZMTEJvYnJnakNDOXNTSkR1L2FYU3BMS0t4MTY5TDBrWmVWWDZNWUxvaFFaNk9uaVNnRUFBQUFBQUFDY0RJUkJBSEFhTUpzTXpib2tUcUgrbnZyN3dpUkowcWZyYzdSdWQ2SEdEUWpWV1ozOFhGd2hBQUFBQUFBQWdKT0ZNQWdBVGhNQmRnOWRQN0tOOXVlV1NaSU81RldvYjN0ZnpSZ1Q1ZUxLQUFBQUFBQUFBSnhNaEVFQWNKb3dET204WG9HYU9DaGNrcFFRNmFXWkUrSmt0NXBkWEJrQUFBQUFBQUNBazhuRDFRVUErR042M3JiVzFTWGdGTFU3bzFSakh0M3M2akp3aW5uaHBrNGEzTVhmMVdVQUFBQUFBQUNnR2VnTUFnQUFBQUFBQUFBQWNHT0VRUUFBQUFBQUFBQUFBRzZNTUFnQUFBQUFBQUFBQU1DTkVRWUJBQUFBQUFBQUFBQzRNY0lnQUFBQUFBQUFBQUFBTjBZWUJBQUFBQUFBQUFBQTRNWUlnd0FBQUFBQUFBQUFBTndZWVJBQUFBQUFBQUFBQUlBYkl3d0NBQUFBQUFBQUFBQndZNFJCQUFBQUFBQUFBQUFBYm93d0NNQXA2L0t6dy9TUEtlM3FIYmRaVEhwcWFnZGRjRVpRZzlkZFBUeEM5MS9XVnI1ZTVwTmRZcTJabDhUcXhlbWRaRExxbjd0cFZKUWV2THh0aTlVQ0FBQUFBQUFBNFBSQ0dBVEE1YnJHZUd2bDdENjZaR0JvN2JIb1lLc1czZDFka3dhSHlkeklkeXBmTHcrTjdSZWlxNGFHMXpsZVVlVlFXSUJGZjcraW5lSkNiWFhPdFFueTFNMFhSbXR3RjMrWmpQckp6SnUzZDlXMEM5cjg4WWM2aW1GSW8vb0V5K0dRSE03NjU4MG02ZEt6d3RRbDJ2dUUzcmMxOGZNMjY1L1hkTkQ5bDUyNDBPdmxtenRydzlQOW1uWE54RUdoK3ZzVjhjY2NFeDl1MDViNS9UVnBjTmd4eDEweU1GUVBYbjdzdVFBQUFBQUFBSURXd01QVkJRQTR2ZHg0ZmhzTjd4R29PMS9acll4REZaS2toRWh2K1h0N0tDTzN2SGJjL3R4eWZid21XM2VNaTlHVVlSR2F2emhWWDIwNVZHZXUvM3k1WDJkMTh0ZWQ0MksxY1craGRxU1ZTS29KWE81N2M2OCt2TGVubnB6YVFWT2UyYWFxYXFmTUp1bUpxenVvMnVIVUxTL3ZVbjVKVlozNVF2MHM2aFh2b3cvWEhLeHpmRnovRUQxNlZmME9wTWJjKytaZUxWMmZVL3U2VHp0ZmhmcFo5TXpHN0FiSHYvYlZBVjErZHJqTzZ1eGYrd3dOR2RqUlR6TXVpdFpkcit4UlpsNUZuWE50Z2p5MS9LSGVldXFERlAzMzJ3TzF4NSs3c2FQaXc3MDA1dEhOeDEzL3FENUJlbXBxaCtNZS85dDdOcVNncEZwcE9lV2FNaXhDcTdibjZkdHRlY2M5ZjJPQ2ZTekt5cTlvZXVCUllrSnN1bVJncUE3a1ZlaUZaZWtOamprY0VsWTNsTndkcFdkYkgxMTZWcWpTY3NyMHlwY1prcVM1MTNYUXlGNE5kNlExNW9HM0V2WHgyb2EvTmdBQUFBQUFBSUFUZ1RBSVFJdnh0cHIwcCtFUjJudWd0RFlJa3FTdU1YWTVuZExQS2NXMXh4eE82YzF2RHVpelRUbTY1OUsyNnRQZXQxNFk1SFJLRDd4OUpQUzVmTTdQS3Exd1NKTDI1MVpvM3VKVXRRMjExUzdOZHZ2WVdIV1B0ZXN2TCs3VTNnT2w5ZW9iMU5sZmt2VERML2wxam05TUxOUURieVVlOTNOdVRpcXE4M3JpNERBVmxGVHJwOFFpYlpuZnY5SHJiaDhibzl2SHh0UTd2bnhqcm1hOXZrZDV4VlZLaVBUV2k5TTdhZXI4N1Nvb3FUN3VtbjdyZ1VsdGRWa2puUy9Yek45UjczbW5qNDZXajgyc09SL3VxemQrNjc2YXoyMzkzSDd5OUdoZ0hiemZlUGJHam8yZUs2MXdhTURNOVUzT0lVbUJQaDVLeXlsdmV1QlI1aTlPVmVkb2IwMGZGYVhrekRJdDI1aFRiOHpoaHJHcUpzS2dmL3d2V1FtUlhycnRvaGdsWlpicDY2Mkg5TW1hYkcxSkxxbzM5b3g0WDQzb0dhai9mSkdodkpMS091ZU8vcm9IQUFBQUFBQUFUZ2JDSUFBdFp2TFo0ZkwzOXREVEg2ZldPZDY3bmErU3M4cFVWRlkvM01qS3I5U2RyK3h1ZE03OXVSVjZka21hMmtkNlNaSWV2YXFkeHZVUHFUUG1pblBxTGlQMzhzMmQ2MXcvNnU4L1NaS0dkQTJRSkgzK2NPODY0K2N0VHEzdC9HaXVRTHVIenU4ZHBIZSt5OVRCZ29wbWhVcUhIUTQ4ZmtrdjBUMXY3Tkg4Nnp2cStSczc2ZnJuZDZpODh0aUJSV09XcnMvUkwrazFYVWgzWEJ5ajNmdEx0V1I5VFhmS2pyUmliVXdzckIxck1xVDdMbXVyMVRzTG11eGcyWkpjcEM4MjUvNnVtczd2SGF3T3YzNk9UYkZielFyMnRkU3A4M2c0bk5LczEvWnEwZDNkOWNpVjdaU2NWVnF2Rzh0aVByN09vS3BxcCs1NlpZOFczZE5kcy8vVVhwUG1iTlczMi9MMDdiYjZZeXVHT0RXaVo2QStXSjJsMU96bUJWZ0FBQUFBQUFEQUgwVVlCS0RGOUdudkswbjY3eDFkR3p4L3JLNlpvNzN5WllibUxUNFNLQjI5Uk5rSFAyWnAvZTZDT3VPSGRBdlErYjJEOU1pN3lhcXNjdFE1VjFKZTg5clB5NnhoUFFLMWVGMjJ6Q1pEdzNzRTZxRjNhb0tibmVtTkw5M1dsS3VIUjhwaU52VDExa01xcjNUKzRlWEF2dDZhcDFlL3lwREpNT1J3MU8vd21UVWhWck1teE5hNzd2Qjd1MzVQb2E1N2RvYzJKaGJXQmlsL0dSMmxwTXhTL2UvN3JBYnYyVDdDUzE2ZUptM1lXOURnK2FQdFRDL1I2eXNPeUdZeGFXajNBSDIycVc0dzVHMDFhZlZUZmJWd1paWWVYNVJjNTF4OG1OZHhoMEdkbzcxbEdGS2JJT3R4alQ5YWZrbVZacjYyUjllZUc2bVVnL1dER1kvRFlkQnhORjVsNWxmb29YZVNOS3g3Z1Bibk5tL0pPZ0FBQUFBQUFLQ2xFQVlCYURFZnJENm9kWHZxQmdxOTJ2cnF2RjZCV3JneVMrbTVaY2Mxejlia3hwZlYycFJZcEUySmRaZnBDdkczNlB6ZVFWcTZQcnQyR2JuZkd0TTNSSjRlaHY3djgvMGEwVE5RUTdvR2FQbkdJMEhHOU5GUm1qNHFxc25hYm56K0Y2M2VWZk9NZ1hZUFhUbTBwaXZKNGF6cE12SDBNTFIrYnI4bTV6bnNoZVhwOWZhMmVlYVRJMEhZNFE2ZkFMdUhiaGtUcldVYmM3Uit6NUZ1bWNsbmh5dll6NkxuUDAyVEpCMDh6ajEydm5pa3Q4TDlQZXNjKyt2NFdQMTFmTjJnYWU3SEtYcDlSVTBZMS9ldWRiWEh1OFhhOWVEbDhicjIzRFo2NHYxay9mVHIwbm1IOStNNS9INGM3ZUdGU1hwNFlkSngxZGNsMmw1em54aTdnbnc5bEZ0WTFjUVZkZjJVVktUYkZqVGNjZVp0TlV1U2dueVA3Ni9JRlZzT2FjVnZsakFFQUFBQUFBQUFXaFBDSUFBdHBxRWZtTC8wRjM4bFpwWnE5dnZKYWlBZmFOVHRZMk4wM1htUnRhK25QTDFkVy9iVjM2dEZrZ3pWQkJESG10L1RZdWpiYlhsS3ptbzhrQ291cjliZkd3a3JRdjA5TmZNM1FjbjAwZEh5OGpUVk9WYjU2OUppeDZ1aHZZMk9kcmpESnlySXFsdkdSR3RUWW1HZERwK2gzUUprOHpRMTJ2VnpMSnNTaS9UQmp3MWZaL00wNmY3TDJqWjY3WWE5aFJyMytCYmRON0d0WHIrdHF4YjlrS1c1SDZmSS9Pc0dUaFZWRFlkeXgrdWNiZ0dxY2pqbGRFcm45Z3hxOHZsZXVLbVRCbmZ4cjMwOWU5RSt2Yk15czhHeGRsdE5HTlF1dlBFdXBmblhKMmg0ajhEYTE1Yzk5WE50QjluaHdPK1BMQzhJQUFBQUFBQUFuRWlFUVFCY0pqcllxb0VkL1dVWTB1WjVUUzhSTi8zRm5mcCtSNzRrYWNYV1E4ck1xMUQ3U0M5Tk9tcVp0SVljWHZhcm9XNlV3MTVmY2FDMnc2VXhsVlhPT3QxQ1Iyc2JacXNUQm5XTHRXdlMyV0ZhdDd0US9SSjhhNDg3bmZwZGUrcjhkam00cWZPMzErbUErclhocGxtQldsTlNzc3NhWGRiTzE4dmNZQmprWXpOcndZd3VXcnM3WCsrdXpOS2RyK3pXbUw3QkdqOGdWTlVPcHdMc05lRlljZG52RDROOGJHYjE3ZUNyRFhzS1ZWTHUwQ1VEUTVzTWc5NzY3b0JXYkQwa1h5K3piaDhiYzh5eE1TRTFTODkxamJFM091YmRWVmxhdFNOZlhhSzlOWEhRc2IvK0FBQUFBQUFBQUZjakRBTGdNbjhhRnFHaXNtcmxsMVFwSzc5Q0N4dnAxSmc0S0V6OUUveVVsWGRraWJNdHlVWGFrbHlrYzdvRjFJWkJZL29HYS9hZjJqZDZ2OGFXWjV2MStoNU5HaHl1dmgxODZ4dy92TS9PNmwwRjJwUlkyTkNsalpvOEpGeHAyZVY2L3RNMHZYWmJsOXJqdjNlWnVDOSt5bFZLZHBuaVFtME5oZytITzI1T1pCaDB0QnZQYjZNWlk2STFZT2I2UnBmYWs2U3lDb2ZlWFpXcDYwZTIwWitHUldyNXBoeTkvRm02bHE3UGtTUUYyR3YrMmlrb2FkNnlia2NiMnk5RUhtWkRuMjNLVlZGWmxaNmEya0ZkWTd5MVBiWHh2WjFXYmE4SkVjUDlQWnNNZ3pwRWVLdks0VlRuYUx2c1ZyT0t5K3R2SHZUREx6WHpqZXdWMUt3d2FPa0R2ZXE4L21KemJyTTZ4UUFBQUFBQUFJRGZnekFJZ0V2RWg5dDAyZGxoZW5GWnVzcXJITHBwVkpSKy9LVkErYjhKQ1VMOExIcDRjanQ5dHkxUHV6T092V1RhNXFRaVBmQldZcjNqVTBkRXl0ZmJyT2VXcERWNDNkYmtZdVVXcHRmdUVUT21iNGg2eFBub2lmZVRKVW5aQlpYcWwrQ25BTHRIYlVEVWxNODI1ZWpESHcrcXJMSnVjUEo3bDRsYnZhdEFxM2NWYUdCSHY5cndZY2FZYU4xNGZwczY0LzgycWEzK05xbCt4ODdSZGIvOCtYNDl0N1RoOStLUHFuSTQ5ZUhxZy9wNHpVRmQyRGRZMTR5SWxLL3R5Rjgxa1lFMVhUY0g4bzV2NzZMZk1neHB5ckFJRlpkWDY5TU4yYXFvY2lxbnNGTFRMb2pXYlF0Mm5aQm5HTkRSVDB2WDUyaDQ5MENkM2RWZm4yMXFmaWRYWS83elJZYnlTaXByWHlkbkh0OCtXUUFBQUFBQUFNQWZRUmdFd0NWbVhSS25RMFZWZXZPYkF6S2JERjEzWGh2ZE96Rk85N3l4dDNhTVlVaVBYZFZPaGlFOThmNitKdWRNeXlsWFdrNTVuV04rWG1iZE16Rk8xZFZTYVlWRG4vL1U4QS8yMDNPUFhEZWlSNUF5Y3N2ckxBblhMOEd2V1hzR0hlNUUrZTFTWTc5M21iaUdmUDNyVW5tUzFLZWRyOGIwRGRaL3ZzalEva05Ibm1YeTJlRUs5clBvK1UrUGhEL2JVNHViZlMvRGFIcXB2YU01bk5LU2RUbGFzaTZuenZGdXNUWHZ4OTREalhmeEhNdTQvcUdLQ2JIcTlSVUhWRkplRTdRdFhKbXBteStNVnA5MnZ0cll6QTZ1MytvYVkxZEVvS2UrM25wSVpzUFFoV2VHbk5BdzZJUFZXVXJOTG05NklBQUFBQUFBQUhBQ0VRWUJhSEZUaGtab2NCZC96WGg1VisyU1kvTVhwK3JoeWZIYWQ3Qk1MeXhMbHlUOTdiSzJHdFRaWHcrOG5WZ3Y1RGtlWnBQMDZGWHQ1TzFwMW82MEV2M3oyZzVhdFQxZi8vaGZjcDN3NTdkaVEyMEs5dlBRKzNmMzBHMExkaWt0cDF3dkxFdFhaWlZUZlR2NDZiSDNrdXVNdDFvTXZYNWJWejN3VnFKVzd5cG9zcTcvemVxdVRsSGV4L1VNTTE3ZXBlKzI1VFY0Ymx0S3NiYWwxQVE3dmRyNnFMTGFxUmMvUzFONTVaSEFabWkzQU5rOFRVM3VxZE1VUDIrenlpb2RkZVkrMnNoZVFacDdYWWZqbm0vSjMzbzFlbTd1eHlrTjd0OFVhUGZRWGVOalZGaGFyUVZmN0s4OS91WTNCM1RGT1JGNmFISzhKajY1VlpYVng3OVduc1ZzNk1ITDQvWHd3a1JWTzZUSlE4SlVWRmF0SDMvSmx5RnA3blVKaWcyMUt1VmcwMTkvZmw1bURlOFJxR1ViYzVvY0N3QUFBQUFBQUxRa3dpQUFMYXAvZ3AvdUhCK2o5Mzg4V0NmaytPREhneHJZMFYvVFIwVXAxTTlUTm90SkYvVUwxcitYcGV2ak5kbk52azlVa0ZWL3Z6SmUvUlA4OUs4bGFWcnd4WDZOT1ROWWQ0MlAxUWYzOXRCTHk5UDF4dGNIVk9Xb0d4d0UrWGlvYzdTM0ZxN00xT2d6Zy9YMG54TjAxZHh0cXF4MktzRHVvVXZQQ3ROclgyWFVDYWZHOWd0UjF4aTcvT3pIL3kzMTU1Uml2ZnBsUnFQbm8wT3N1dVBpWSs5dGMxaVl2MFVYbkJHc1ZkdnpHdzFyR21NeEd6SU1RNTJpdlBYdzVIaDFpN1hyM1ZYMTkyN3FHbU5YNG9IR2x6VGJ0YjlFY3o5T09lYTl6dThkckI1eGRpM2RrS05mMGhydlRscTN1MzUzajhtUUhwdlNUdjdlSHZyN3dxUTZ5d21XbER2MHpDY3BldlRLZG5ydzhuZzk4SGI5cFFJYjR1L3RvZmszSktocmpGM3psNlRLMTh1c2kvcUY2S1hsKzFWYTRkRFhXdzhwTGJ0Y2Z4a2RYYWRqclRFUFRvNlh5VEFJZ3dBQUFBQUFBTkRxRUFZQmFERm50dmZWMDM5TzBPYWtJdjNqZjhuMXp0Ly8zNzJ5MjB5YU9DaFVrclJ3WlpaZVhKN2VySHQwaXZMV3BNRmhHamNnVkhuRlZicnJsVDIxeTdJdDNaQ2piN2ZsNlk2TFkzVGIyQmlONlJlaXY3K1RwQzM3aW1xdkg5RXpTQ1pEK25qTlFhM1pWYUQ1MXlmbzlyRXhtdk5SaXQ3NE9rTlhuQk91Rzg1dm80ZmVPYkpjM0pYblJDampVSVVXZmxjL1JHbk13ZnlLWXk0WDk5dmw1UnJqWVRMMDJKVDI4dlF3OUo4djl6ZDl3YTltakluVzhPNkJpbyt3eWNOa0tNakhRL0hoWHRxUlZseHZQNStFU0MvMWFlZXJsZHZ6WkxVWURRWk8rdzZXTmRqTmM5aWxaNFhXUGxORWdLYytYWitqbGRzYjduaHF5S3dKY1JyU05VQmZiejJrOTM4OFdPLzh4MnV5TmJKWGtNWU5DRkZxZHBsZS92elk3MFZjbUUxdjNkbE5QbDVtWGYvc0w4b3RyTlNjYXpxb3NMUmFiMzVURTlJNW5OTC9mWjZ1UjY5cXA4WHJzdlg5anZ4RzU3dGlTTGdHZHZMWGxLZTNIZmN6QVFBQUFBQUFBQzJGTUFoQWl4alJNMUJQVGUyZ3hNeFMzYlpnbDZwK3M1U1h5WkNHOXd4VVhLaVhuRTdKS1duaTRGRGxsMVRxUDE5a3FLelMwZUM4N2NLOUpFa1dqNW85YlM0NEkwZzkyL3BvN3NjcCt2REhnL1d1S3lxcjFxUHZKV3ZKK216TnVpUk9odW5JT1Erem9ldk9pOVMybEdMdFNDdlJqclFTTFYyZlV6dEhWbjZsUHY4cFYyUDdoZWlsejlLMVA3ZENJM29HcWtPa2wrNy9iMkt6bGlmN3ZRWjI5cGNrK1hwNXlOZkxyUG5YZDFUZkRyNWE4TVYrYlVrdWF1THFJMndXa3lxckhYci9oNFBhdXE5SVArOHJWbEpXcVE1dkNUVHl3VnQveDhFQUFDQUFTVVJCVko4a1NXMkNQUFgwbnhOVVdlM1U0QzRCK3ZUQjNscncrWDc5NzRjczlieHRiWlAzYVJ0bTB4MFh4MnA0andCdDJGdW9wZXR6TkhsSW1KNmYxbEZKbVdWNjQrc01MVjZYcllxcWh0ODd3NUR1dVRST1Z3d0oxODcwa21OMjZOejM1bDY5ZlZkM3pSZ1RMYnZOckhtTFUvWGJMWTc4ZiszZXV2S2NjQ1ZsbG1uSzA5dVVsbE91dThiRjZveDJ2cHJ4OHM3YXZZZ2thY242YkYwK0pGeFBYTjFlVjg3ZFZtKy9ud0NmbXZrdTdoK2ltMTdZcWVTc01ubisrclVJQUFBQUFBQUF0QmFFUVFCYVJINXhsZGJ1THRETVYvZW91THk2OW5oa29LY3U3QnVzaVlQQ0ZCVmsxWWE5aGJyN2pUMnFyblpxMW9RNFRic2dTcGVlRmFZM3ZqNmdqOVljVkY3eGtlWEIvand5VXJlT2lWRkJTYlZtVFlqVERjL3YwTCtXcE9sZlM5S2FyR2RUWXBHdW1GdTNpMlBxaUFoRkIxczFlOUcrMm1QM3ZsazNmSGo3MndNSzhiWEkwNk1tUmJyeC9DanRUQy9Sa3ZYTlg4cXVPYXdXUTQ5YzJVN245Z3pTZDl2eTlNRGxiWFhIZ3QzYW5WR2lUWW1GZW5acDA4OTh0SDkrZE93bDNTeG1ReE1IaGVubU1kRXlHZEtNbDNicVFGNkZab3lKMWoyWHh1bWFjeU0xNzVQVUJwZEU4N2FhTkxSYm9NYjJDOUdnTHY0cUtLblMweCtuNm8ydk0rUndTb3QreU5LQWpuNzYwN0FJUFhoNXZHNjVLRVlMVjJicTNaV1pPblRVNXh0bzk5QWpWN1hUMEc0QjJwbGVvaHVlLzZWMmo2bUdGSlJXNjhaLzc5QXJ0M1RWdGVkR3FrZWNqeDc4elg1VG8vb0VTWkxXN3luVTdRdDJxYUMwV2plTml0TFVFUkY2ZG1tYVZtMnYyLzFUN1pEKyt1cHV2VGV6aDE2OXRhdHVldUVYN2Nrb3JUMC8rTmR3N3ZGRis3UjJkOVA3UlFFQUFBQUFBQUN1WURpZHYvMjlhYlNremNsRnV2djF2Y291cU5DVFV6dm8zSjZCcmk0SnA1amo2YzVvYllKOFBUUmhZSmlHZFE5UWp6Z2ZWVG1jV3JIbGtQNzc3UUZ0VHFyYjNYSnV6MERkZkdHME9rUjZxYkxhcWJXN0NyVGdpLzNxRmUrajI4Zkc2TTF2RHVpTkZRZjA3cXp1cXF4MjZKVXZNN1J5VzU3MjU1YkwwWXp2YmtPNkJ1alpHenRxOGRyc2Vudk9iSm5mdjFuUDk3L3ZzL1RvZXpYTDRIV05zV3ZoWDd0cDZ2enQycFJZODJ6L205VmRuYUs4ajJ1dUdTL3YwbmZiOG5UZnhMYWFkSGFZL3ZycWJuMnpOVS9QWEorZ0lWMER0SEZ2b2JhbkZpdXZ1RXFWMVE1VlZUdHIvNWhNaGl4bVE1NGVKbGs4anZ6LzFuMUYrbXJMb1FidjF5M1dyZ3ZPQ05MRi9VSVY0T09oTHpmbmF1NUhLY280ZEdUcHVNNVIzcnI3MGppZDJkNVhQeVVWNmRIM2ttUXhHenEvZDdET2FPZXJIbTN0OGpBWjJwbGVvc1hyc3JYb2g2dzYzVFpIYXh0bTAzWG5SV3BNM3hCVk81eGF2RFpiLzFxU3BoNXhkajMrcC9ZS3NIdm9xeTJIZFA5Lzl6WTZ4MitGK1ZzMDcvcU82aDVyVjFXMVV3OHZUTkluYTJ2Q3V0aFFxKzZlRUtlN1h0a2pwNXg2OFBKNGplMFhvdjk4a2FINVMxSWJuWE5BUnovTnY3NmpERU42WkdHU2xtNm9DY0V1Nmhlc0huRSttcjFvbjE2NXBZdjZkdkE5cmhxUDl2WFdRN3B0d2U1bVgrY3FMOXpVU1lPNytMdTZEQUFBQUFBQUFEUURuVUVBV2x4QlNiVjZ4ZnVvb3NxcHh4Y2w2N05OdVhVNmZvNzIxWlpEK21yTElmVkw4TlhsWjRmTDIyclcxbjFGS2ltdlZwaS9wK1o4V05QaGNzVS9mOWFEbDhmcm5nbHh1dmZTT0VrMVhSM1ZEdWV2eTg0ZFNZWU1HVEtNbXFYcERNUFE0NHVTbFpwZHBtKzJIdElqN3liVnErR0J0eExySFR1V3BLeXlKc2Y4bkZLc1Y3L01hUFI4ZEloVmQxd2NVL3Q2OGJxRFNzc3AwNWViYTBLY1cxN2VwVkY5Z2pTNlQ3RE83dW92ZjI4UFdjeEhRaDhQODVHbHlnNUgvb2ZmZ1R2K3M2dlIrM2FKdG10NGowQjl1UHFnUGxpZFZXOVpORW42SmIxRTEvNXJoeTQ4TTFoWEQ0OVVTWmxEVGprMXFrK3dkbWVVYU40bnFWcTFQVitKbWFVTjNLR3U1S3d5UGZoMmtwNWJtcWFwd3lPVkVPV3RvcklxN1V3dlVXcDJ1ZVl0VHRVSERld1JkQ3haK1pXYU9tKzdicndnU3QxaTdmcDgwNUc5bVZJT2x1dm1sMnFlMzh2VEpCK2JoeDU1TjBtTGZqajJQZGJzS3REVStkdDEvMlZ0OWROUmdlV1NkVGxhc3E0bUdIcDNWYWErM2Rad3lIWXNLUWViL25vQkFBQUFBQUFBL2dnNmcxeU16aUQ4VWFkaVo5REpGQjdncWM1UjNncjBzYWlvckVyNUpWVXFMbk9vcEx4YVpaVU9WVlE1VkZIcFZMV2pwbnVtMnVGc1ZnZFJjelhXR2JRL3QveVkzU0NIcnp2Y0dRUzBGblFHQVFBQUFBQUFuSHJvREFMZ1ZqTHpLcFNaVjlIMHdCYXlQYlc0WG1CMzJWTS8vNjdyQUFBQUFBQUFBT0QzTUxtNkFBQUFBQUFBQUFBQUFKdzhoRUVBQUFBQUFBQUFBQUJ1akRBSUFBQUFBQUFBQUFEQWpSRUdBUUFBQUFBQUFBQUF1REhDSUFBQUFBQUFBQUFBQURkR0dBUUFBQUFBQUFBQUFPREdDSU1BQUFBQUFBQUFBQURjR0dFUWdBYTljRk1uYlhxbS93bWZkODJjdm5yOXRxNG5mTjdUelhNM2R0U1crZjFsYmlYZnhWdmljMTAvdDU5ZXZybnpTYjFIWTZhT2lOQ1crZjAxc0tPZlMrN2ZITkhCVmxlWEFBQUFBQUFBZ0ZhbWxmd1lFY0RwSXFld1VubkZWYTR1NDVSWFVGS3RuTUpLT1oydXJxU0d1Myt1cGVVTzVSUldxcUtxbGJ6aERmRHpOdXVkdTdycDhyUERYVjBLQUFBQUFBQUFXaGtQVnhjQTRQUnk0U09iWFYyQ1c3anZ2M3RkWFVJZDd2NjV2dmQ5bHQ3N1BzdlZaUnhUa0k5RjNXTHRXcituME5XbEFBQUFBQUFBb0pXaE13Z0FBQUFBQUFBQUFNQ04wUmtFNEppNnh0ZzE4NUpZZFkvMVVYRlp0YjdkZGtqUExVM1R3WUxLMmpHR0lWMDJLRXdYOVF0UmgwZ3YyU3dtSFNxdTBwcWRCWHAyYWFveURsWFVqbDB6cDY5K1NTdlIxUG5iOWRhZDNkUXV3cVloOTJ4VWxhTm0rUzBQazZHVlQvU1JsNmRaNTl5M1FRVWwxYlhYZnY1d2IyWG1WZWhQODdaTGtnWjI4dE9Vb1JIcUh1Y2pQMit6U3NvYytqbWxTQzkvdGw4YkU0OTBSN3h3VXllRkIzanFrWGVUZFBPRjBlb2VaNWZKTVBSVFVxR2VYWkttbjFPSzZ6enpCV2NFYWVxSVNMV1A4Rkp4V2JVKzNaQ2pMZnVLOU05ck9takd5N3YwM2JhOFJ0OHZtOFdrVzhaRWEwaTNBRVVHV2xWV1dhM05TVVZhOE1WKy9aUlUxT1Q3YmJPWWROMTVrUnA5WnJEYUJGbFZWRmF0dGJzSzlQeW5hVXJPS3FzZDk5eU5IWFZPdHdDZGNjZGFWVHVrNjg2TDFPMWpZelRwcVo4MWRVU2t6dXJzTHgrYldVbVpwWHB0UllhV3JzK1JKQTN2RWFENTEzZlU4NSttNmFYUDl0ZTVkL3NJTDMxNGJ3KzkvVjJtbm5oL255U3BiWmhOTjQySzBzQ08vdkx6TmlzenYwSXJOaC9TUzUrbHE2RDB5R2R6OU9kNldIU3dWZE5HUmVtc1R2N3k5L1pReHFGeUxWNlhyZGRYWk5SWmJxMVh2SSttblIrbG52RStzbGxNMnBkVnB2ZC96Tkk3S3pNYlhBWnZ6Sm5CdXVHQ05vb0pzU2t6cjBLZnJNM1dmNzdZcjhycUk0Tjl2Y3k2OXR4SURlc2VxS2hncTh3bVF4bUh5dlhWNWtQNjk3SzBPdmNmME5GUDE0OXNvNFEyM3ZLeG1aV2VVNjdQZjhyVmdpL1NWVjVaTTI3cWlBamROUzVXTno3L2kxYnZLcWk5ZHVLZ1VGMTZWcGphUlhpcHRNS2hiU2xGK3ZleWRHMzd6ZGRVUTVyemRYWngveEJOSGhLdURwRmVjamlrYlNuRmV1V3IvZnArUjc0azZiTEJZWHBnVXR2YVdxZU9pTkQwRjNmV25nY0FBQUFBQU1EcGpjNGdBSTB5R2RLcnQzWlJZV20xNW42OFR5dTI1bXJjZ0ZEOTk4NXU4dmMra2lYZk43R3QvamFwcllwS3EvWGMwalROK1NoRm14SUxkVkcvWU0yL29XT2o4Ni9ZbWl1NzFheGU4VDYxeDNyRis4aHVOY3RrU1AwVC9HcVBkMnpqclloQVQzMjE1WkFrYVZTZklMMDB2YlBhQkZuMXhvb016VjYwVDB2WFordU1kcjU2NlMrZEZleHJxWE92eUNCUFBUK3RrMzVLS3RMdEMzYnJpZmYzcVV1MFhRdG1kSkdmbDdsMjNOUVJFWnB6VFFkWlBVeDZZVm02M3Y4eFN4ZjFDOUY5RTlzZTEzdjI1TlFPdXVLY2NLM2NucWZIRnlYcjlSVUgxQ1hHcmxkdTZhS0VObDdIdk5iVHc5Q0NXenJyeGd1aXREVzVXRSs4djAvdnJjcFV2d1EvTGZ4cmQzV05zVGQ1LzVkdjdpeW5VM3JnclVUTmZHMlBIRTVwOXAvYWEyREhtdmZ5dTIxNXlpbXMxRVg5UXVwZGUzSC9tbU1mcmo0b3FlYXplSGRtZHczdkVhaWxHN0kxNTZNVS9aUlVwQ25ESXZUMlhkMFZhRy84OXdrNlJIcnB2Vm5kZFg3dklDM2ZtS01uUDBqV3RwUmkzVEltV2s5YzNhRjIzUG05Zy9UcXJWM1VOdHltMTc3SzBOeVBVcFNXVTY1N0xvM1RFMWUzcnpkdnp6Z2ZQVHFsbmRic0t0Q2NEL2RwWDFhWi9qSTZTcy84T2FGMmpJZlowQ3UzZE5FMTUwWnFVMktoNW42VW91ZVdwcW13dEZyWG5SZXAyOGJHMUpuditXbWQ1T3Zsb2YvN1BGMnpGeVZyOS80U1RidWdqUjY3cXY3OWovYklsZkY2OFBKNFZWUTU5ZHpTTkwzMlZZWVNJcjMxNnExZDFEMzIySjlWYzc3TzdwNFFwOGV1YXFleUNvZm1MMDdWUzUrbHk5ZmJySDlQNjZSSmc4TWtTU3UzNStuUjk1SWxTVjl0T2FRWkwrL1M5dU1JcEFBQUFBQUFBSEI2b0RNSVFLTU1RMXE4TGx1UC9mcERaa25hbkZ5a1I2OXNweHZQYjZNNUg2VW94TStpU1lQRDlPUE9mUDNscFoyMTQ5NzVMbE56cit1Z2tiMkMxQzdjUzRtWnBmWG0vM3BMbm02N0tFYUR1L2hydzk2YVRwNnpPdnNydjZSS25oNG1EZWpvcnk4MzE0US93N29IU0pLKzJwSXJTWm8rS2xyNUpWVzZldDUyRlpVZDZWQkp6aXJUdlJQamRGNnZRTDI3NnNnZUwzYXJXUTh2VE5JSFB4NnNQV1l4Ry9yYnBMWWEyVHRJNy85NFVHSCtGdDB5SmtZNzAwczA1Wmx0dFYwaDcvOTRVQi9jMDZQSjk4dlB5NnpoUFFMMHlkcHN6Zmt3cGZiNDJsMEZlbXhLTzNXTDhkSHUvZlhmaDhPdVBiZU5lc2I1NktGM2ttb0RHVWw2YjFXV1ByaTNoeDZhSEsvTDUveDh6QnErMzVGZlp6K2g1S3hTZlh4ZlQ0MGJHS3JWdXdwVTdaQStXWnV0YTgrTlZJODR1N2J1cXdrTURFTWEwemRFTzlKS3RETzlSSkwwNkpYdFpERWJ1dnlmUDlmVy9jNTNtZHE0dDFBUFRHcXJPOGZGNm9HM0V4dXM0KzRKY2JKWlRMcHk3amI5OHV0OGkzNDRxTXBxaDhZUENGWFhHRy90eXlyWGc1UGpsWHF3WEpQLytiTktLeHcxOTFpWnFkdkh4dWk2OHlLMWJFT092dm41U0llTXQ5V2ttYS90MFdlYmFyNE9GcTdNMHFOWHRkTzQvaUVhMWoxQTMveWNwM043QnFwVGxMZWVYWnFtLy92OFNQZlRmNzg5b09VUDlkYVl2aUcxbjgvb000UGw2V0hvcmxkMkt6MjNYRkxONXoxSEhSUWU0Q2tQazFIYnRYYTBQdTE4Tlg1QXFEN2JsS3RacisrcDdXRDZjbk91UHZsYlQwMGJGYVZiWHQ3VjRIdlRuSyt6TTl2NzZxcWg0VnF5THFmTzUvcm1Od2YwZnpkMzFzeEw0dlRsbGx3ZE9GU2hkYnRyT3BiU3NzdVAyYjBHQUFBQUFBQ0EwdytkUVFDTzZkK2ZwdFY1L2ZHYWJHVVhWT3JjWGtHU3BPeUNTZzI1ZDRObXZiYTN6amd2VDVPS2ZsMUd6TnZhOExlYXhNeFNwUndzMTZET0FiWEhCblgyMTVxZEJkcTZyMGdET2g3cERCcmFQVkM3TTBxVm1sM3pBL3RKYzdicTBpZTIxZ21DekNhcHZNcng2ejJQZFBzYzl2V3ZYVVdIN1QxUUUzQ0UrTlYwRVkzb0dTaFBEME92ZnBWUit3TjZTVHB3cUVMdi8zQlEvOC9lZlVkSFZlWi9IUDlNeWN5azkwSkNDeDJVM291b0lJcWk0aXBpbDFYWDlyT3V2VGZzbmJXdHZhOFZGQlhGaWdMU1ZKRGVRd2tKSWIxbit2eitTSUZoWmtLQ0JEUytYK2R3TnJuM3VjOTk3dVF1bkpPUDMrK3pMMVVPajhxclBUcXFkN3dtajB4UmN0MjhLN1pWNnVRSFZ1alR4WTNQY2NMQVJGWGFQZnBwVlluaUlzME5mMXdlbnhhc0sxUFB0aEZLVDdBME9zZWNsZjdQdUdXWFhSNnZsTFJIcFZSOTBMUm5kZER3N3JGS2lRM1RwM1hudXFWSHFHT0tUVjh2S3c0SXNENzZPVjg3aWh3NnBsKzhqSWJBTmNTRW16UzRhNHdXckN0ckNJTHFQZjFadGs1N2VLVTI1dFpvVks5WXhZU2I5T1Z2aGJLR0dmMmVlZmJTMnJaMjllOVp2YzE1TlExQlVMM1h2c3YxRy92MXNtS052WE9aM3Bxek0yQmRaVlZ1di9keFowbnQrM1RUcVIwMG9GTzBUSFduYm54ams4NS9lazNRSUVpU3h2YUpseVM5L3YxT3YxWjJPNG9jT3V2eDFicjMvUzFCcjVPYTk1NGRQekJSa3ZUcDRnSy96eWZLWnRJM3k0cGxEVFBvaUo1eEFnQUFBQUFBQUJwRFpSQ0FrSW9yM0NxdWRBY2MzNXhYbzZIZFlocXFKc3ByUERyeXNEZ2RjVmljT2lUYmxKRm9WWHFDdFNFb01CcUNKQVoxNXF3czBmbEhweWtoeWl5MzE2ZGU3U0kxWTJHK0VxTXR1dUtFREtYR1d1VHllblY0KzBpOTlFMU93M1VPbDArSktXRTYvK2cyeWt5MUtUM0JxdmJKTmxuTXRmY0tkc3VTS3Y5bmNkWHRHMk9zVzJqSGxObzJibHVDVkRGdHlxc09PTFkzajFlNjQ5M051ditjenJwamNtM3J2RTA3YTdSZ1habSsrS1V3SUJqWlcvdGttMHhHNmNjSEJvUWNrNTVnVlc2eE0rVDVraXBYd0RHUDF5ZlRIcW5OMW55N2xtK3AxUEVERXZYWWpPMXllMzA2ZVVpU25HNmZadjFXS0VscWwyU1ZGUHE1cy9KcU5QcXdPTVZGbVZWYzRmKzVwc1hYL3V5RFZZTVZWKzUrcCtvLzd5dE9hS3NyVG1nYjlENFpDVmEvN3pmdERKeXpQdkJxbjJSck9GWlI0OUZKZzVQVXYxTzAyaVhaMURiUjJoRDY3YmxmMEFkMWJmaU83aDJubzN2SHFjcmgwUzhiSy9UanFoSjkrV3VSN0M1djhIVWxXdXZ1SGJpZTlmdjRPVGZuUGV1WVV2dE1yMXpaSStSODZZbldrT2NBQUFBQUFBQUFpVEFJUUNQcXEyejJaallaNVBWSkhwOVBZU2FEcGwzY1RhTjZ4bXJMTHJ0V2JLdlV6MnZMdENhN1NrZjBpdE9VTVdtTjNtUE95aEpOR1pPbTRUMWk1Zkw0WkRSSWk5YVhLeUU2VEZlY2tLR2gzV05rTkJoa01LaWhaWndrWFRZK1EvOTNmSWFLS2x6NmJYT0Z2bDFlclBVNTFUS2JESHI4bjEwYXVXTm9ZYWJhd0dUUHNLQkI4QUtSQUQrdUt0VXhkeTNUeUo2eEd0RWpWa082eGVqOG85TjAzbEZwZW1UR052MXY3cTZnMXhrTXRYczBiUzl3NlA0UFExZVZOTlptVHBKZmxVcGpaaXdxMEwxblpXcFVyMWo5c3JGQ1kvckU2NGNWSlNxdjlqU3NwN0g1NmdNK1Y1RFB5bHozT2U1ckxjYTZLcHpudnR5aDVWc3FnNDZwMktQeVM1SWNRY0taK21vZVQxMFZUMXE4Ulc5YzNVdHA4UmF0M0ZxcHRUdXFOZXZYUXEzWVdxbmJKblZVenozMlhuSzRmTHJxcFEzcWxCcXVJdytQMDlCdU1ScmFMVVpISFI2bkM4ZW02K3duVnpWOEp2dnpqTUUwNXoyci81eXZmbm1EN003Zy8zK3NiMjhIQUFBQUFBQUFoRUlZQkNDa2hLaXdvSHVtdEUyeWFudUJYVDZmTkhGb3NrYjFqTldIUCtmNzdTMGs3VzV4MVpobFd5cFVYT25XeUI1eHNydTgybEhrMEk0aWgzS0xIYXFvOFdob3R4aEZXazNLS1hZMFZGeDBUTEhwLzQ3UDBKcnNLbDN3bjdVTmU4MUkwb1FtM0RPVXJRVjJTVktuMVBDR0ZuTDFPcVRZZ2wzaUo5eGlWTmYwQ08wcWNlcjdGU1g2dnE0dFhmZU1DTDE2VlU5ZE5qNGpaQmprODBtNUpRNmx4SVZwYVZaRlFGRFF2MU9VckdGRzJWMkJ3Y1QrbUwyMFNMZWMxa0hIRFVoVWJJUlp0akNqM3o1RjllMzR1cVJGQkwwK004Mm1TcnRIRlRXQjY4bXRDeWZxSzJEMlZQdXphNnNaaS9LVlUxUWZZaGkwYUVPNTM3aElxMG5EZThRb3I5Uy9DaW8xTHJCTlhucUNWU1pqN2Y1SWt2VHZrOXNwUGNIaXQ3ZFF2ZmlvTUwvdjJ5VlpsUkpyMFcrYks1UzFxMGF2Zjc5VEZyTkJONTNhUVpOSHBtakN3Q1M5Tnkvd1oxYS85bzRwdG9DS3IvODdQa094a1dZOTlQRzJnT3VrNXIxbk9VVU9EZW9TcllvYVQ4TytXZzFqazIzcWtHSlR0U040U0FRQUFBQUFBQURVWTg4Z0FDRlp3d3dhMTg5L3o1YWplOGNwTmRiUzhFdjJoS2phVEhudnlvN1VXSXZHMU8ycllncmN2cWVCenlmTlhWMmk0VDFxS3pJV3JhOE5CYncrNmRkTjVScmVQVmJEZThUcWh6MnFndUxyN3JraHQ5b3ZDREliRFpvME1xWGg2K2I2OXZkaXViMCtuWDFrYWtQbGh5VEZSWm8xYVVUS1BxL3ZtR0xUTy8vdXBTc21aUGdkMzdTeldwVTFub2JLbGNidWJ3c3o2dkx4L2kzVFVtTXRldWFTN25yZzNNN3lIS0RmKzljNHZmcDZXWkZHOTRyVGlZT1RsRmZpMUtJTlpRM25OK1JXYTF1QlhlTUhKS2hMRy85UTU1U2h5Y3BJc09xNzVjVjdUeXRKS3ExeWEybFdoVWIyakZWbXFuKzRjZmJvTkkwZmtLQnFoMWR6VjVmSzd2THFuQ05URy9aWHFuZnArSFE5ZVdGWERlOFI2M2Q4WU9kb3BjWDdCMEpuSHBFcVNRM3ZaSDNnczN5ci96czVzbWVzMmlkYi9Wcm0zZmlQRG5ybHlwNXF1MGVyTmFmYnA3WFpWWklVY3MrZ0grcjJaanJuS1AvS3QvUUVpNmFNYWFNT3lhSER3K2E4WjkvOFh2dE1WMDVvNnpmV2JEUm82am1kOU93bDNScitQK2l0SzFNS016Zi8zUWNBQUFBQUFFRHJSbVVRZ0pEY0hwL3VtTnhSNFZhalZtNnJWTC9NYUYwM3NaM1c1MVRydGU5eUpVbnoxcFRxc3VNemRPM0o3UlFkYmxKK21WT2QweUowMXVoVWhWdHE4K2JvOE1iL3FwbXpza1NuREUxV1lyUTA3WXZkZ2NUQzlXVTZ1bmR0b0ZSZlpTTkphN09ydGF2VXFSTUhKV2xYcVV2cmM2cVVIR3ZScE9FcGFwZHNiZEk5ZzhrcmNlcUZyM0owMVlTMit0LzFoK25MWDR0a0RUTnEwb2hrV2NOcW4yWFB0bUNQVE9tc0FaMmpkZFdMRzdRdXAxcHJkMVJyenNwU25USTBXZUVXazVac0xKZlphTkN4L1JPVW5tRFI0NTl1YjdqMjdOR3B1dUNZTm5ybG0xeDlNRDlma3ZUUzE3azZvbGVjTGhyWFJsM1N3L1h6MmxKRjJjdzZZMVNLSXEwbTNmVy9MTGs5KzlHWExJUlBGaFhvbEtISkd0b3RSaTkrbmVQM2JENmZkTTk3Vy9UQzVkMzF6cjhQMHdmemQybEhrVU45T2tUcDVDRkp5aWwyNk9uUHNrUE8vZERIMi9UR05UMzE3bldINmYxNXU1UmI3TlRncnRFNmZrQ2lQbDFjb0JWMVFjMGowN2ZwcmpNeTlmRXR2ZlhoL0h6dEtuVm9TTmRZalIrUW9HVlpsWnF4TU45dlhwK2tGeS92b2NjKzNhYmlDcGVPNjUrb2M0OU0wNHlGQlZwY1YxMDBaMldKaG5XTDBaTVhkdFg3ODNiSjRmSnFVSmNZblRZOFdYYVhWN1l3bzhJdFJ0VTR2WHJsbTF5TjZCR3IxNi91cVk4WDVDdS96S1VPS1RhZE9TcFZlU1ZPZmIyMEtPanpMZDVRcnM5L0tkVEVJVWxLamJOb3pzb1NSVmlOT25OVXFydytuOS9QZXZiZC9lVHgralJoNm5KSnpYdlA1cTBwMWF4Zml6UmhVS0xlditFd3pmcTFTSGFuVnhNR0o2cFBoeWk5TlNkUEcrdjJVU3F1Y012bmswNFltQ2lEUWZwMFVZSFc3dGozWGxjQUFBQUFBQUJvL1FpREFJUzBzOFNwYVo5bjY5TGpNdFF4MWFiU0tyYytXVlNnNTJibE5GVGtyTjFScmF0ZjJxREx4bWZvcWhQYnl1dXQvV1gzaC9OMzZjZFZKWHIvaHNNMXNtZXM1cTR1RFhtZkJldktWT09zL1NYOTR2VzcyNFV0WEZmN2RYR0ZXOHUyN0c2UlpYZDVkZkZ6Ni9Udms5dnI5SkVwQ3JjWVZWRG0wbStieTNYbFMrdjE3bldIYVVUUFdEMHhzL25QL1BJM3VTcXFjT21jMFdtNmNrSmJsVmU3OWZrdmhhcDJlSFRGQ1czbDJtTWZwZmlvTUtYR1dtUXg3eTZ5dlBuTlRab3lKazNqQnlUcWlGNXhNaGlrOVRuVnV1V3R6ZnJ5dDkzQlFwVE5wTlJZaXlKdHU4dW1LdTBlbmZmVUd2MXJYTHFPNlp1Z0VUMWlWVjd0MXRyc2F0Mzg1bVl0emZKdkUvWkhMY3VxMU5aOHV6b2syelJ6Y1dIQStkODJWK2pzSjFicnN1TXlkTXF3WkVYWlRNb3JjZXFOSDNicWxXOXpnN2FJcTdjK3AxcG5QYjVhLzNkOFc1MDJvdlpubEYzZzBFUFR0K25EK2J2YnJrMWZXS0NjSW9mK09iYU56aDZkS292WnFOeGloNTcvS2tkdi9yQlREcGQvK1BYbHIwWEtLWGJvcnNtWlNvb0pVM2FoSTJBdnB2Zm03cExaYU5EcEkxTjA1K1JNVmRrOXlpNjA2OTczdDhnYVp0UWRrenRxVk04NGZidThXQ3UyVmVyQ1o5YnE0bVBUTlhsVXF1SWp6U3FxY0duV3I0VjY4ZXNjbFRmeWpIZThtNlZWMjZzMGFYaUtycC9ZWHVYVnRlL3BzN04yYU1zdWU4TzQxRGhMUUZWWWM5NnpXOS9lckdWWkZUcDFlTEl1UHo1RExyZFAyd3JzdXZQZExNMWNzdnZuVm1uMzZPblBzL1hQc1cxMDZyQVViZHBaUXhnRUFBQUFBQUFBU1pMQjU5dWY3YTl4b0N6ZldxbWIzOXlzd25LbkhwblNSV1ByMm1vQlRkWG5taVdIZWdtdFJyakZLSXZacUxKcWQ4QzVhMDVzcDR2R3RkR3BENi9VcHAwMVFhNEdtdWF2L3A2OWNGbDNqZXdadSsrQkFBQUFBQUFBK05OZ3p5QUFxTk1wTFZ6ekhocWdmNS9jenUrNExjeW9jZjBTVkY3dDBkWTlLajZBL2NGN0JnQUFBQUFBZ0lPTk5uRUFVR2R0ZHBYVzUxVHIvS1BiS0NiQ3JEWFpWWW9PTjJuQ29DUzFTN0xxenY5bHllMmxtQkovRE84WkFBQUFBQUFBRGpiQ0lBQ280L1ZKRnoyN1ZoZU9UZGVZUHZFNmNWQ1NhcHdlcmQ1ZXBjZG1iTk9pRGVYN25nVFlCOTR6QUFBQUFBQUFIR3lFUVFDd2gvSnFqNTcrUEZ0UGY1NTlxSmVDVm96M0RBQUFBQUFBQUFjVGV3WUJBQUFBQUFBQUFBQzBZb1JCQUFBQUFBQUFBQUFBclJoaEVBQUFBQUFBQUFBQVFDdEdHQVFBQUFBQUFBQUFBTkNLRVFZQkFBQUFBQUFBQUFDMFlvUkJBTkRDYkdGR1RScVJvdGV1NnFrZnB2YlgwaWNINjV0Nyt1bitjenFwYzFwNGk5NjdiYUsxNGV0ZTdTSzFZdG9RWFRtaHJkK1lDUU1UOWNVZGZmVmIzYnJNSmtPVDVyN3dtRFphTVcySUpnNUpDamxtWE4rRW9QY01aY1cwSVhyaHN1NU5HZ3NBQUFBQUFBQ2dhY3lIZWdFQTBKcGxwdHIwNUlWZDFUa3RYRm03YWpSdlRha3FhenpLVEEzWGlZT1RkUHpBUlAzNzFZMmF1N3IwZ040M0pzS2tGeS92b1Y4M1ZlaUptZHNsU1c2UFQwVVZMbFhiUFEzalV1TXNtbnB1SjFYWlBmcGcvaTVWMmIxeWUzd0hkQzBBQUFBQUFBQUFEaTNDSUFCb0lkSGhKcjF3V1ErbHhJWHBydjl0MGFlTEMvek85Mm9Yb1pldTZLa25MK3lxU1krczFOWjgrd0c3ZDBKVW1BNXJINmxmTjFVMEhOdVFXNjJqNzFqbU42NXJtM0NaalFhOVBTZFBMMzJUZThEdUR3QUFBQUFBQU9EUGd6WnhBTkJDTGpzdVEra0pGajMvWlU1QUVDUkphN0tyOWVUTTdiS1lEZnJubURhSFlJVlNtTG4ybjRHU0t2Y2h1VDhBQUFBQUFBQ0Fsa2RsRUFDMEFLTkJPbUZRb3B4dW45NzlLUy9rdU0rWEZHckxyaHF0M2w3bGQ3eHZacFF1UFRaRGZUS2paQXN6YWx1K1hkTVg1dXU5ZWJ2azI2T0wyN0tuaHVpOWVYbHllM3c2WTFTcTdDNnZ2bDVhcERPUFNKVWtUUm1UcGlsajBuVDVmOWVycE5LdDkyODRUQzk5azZ0blorM1FSemNkcnU0WkVaS2tPeWQzMUoyVE8rclZiM04xMGJoMGZUQS9Ydzk4dE5WdlRRblJabjEzWDM5OTlWdVJibjhuYTc4L20wdU9UZGVWRTlycWd2K3MxZTJuZDFUN1pKdVdaVlhvNHVmVzdmZWNBQUFBQUFBQUFFSWpEQUtBRnBDZVlGVmlkSmlXWmxXb3h1a05PYzdsOFdsWlZxWGZzV1A3SmVqaEtaMlZWK0xVRzkvdlZKWGRvMkhkWTNYTGFSM1VOek5LTjcrNTJXLzhDUU9TNVBiNjlNSDhYZXFRYk5QMEJmbmF1TE5HZDA3dXFPOVhsT2lUUlFWYXM3MUtiUktzZnRjOTlQRTJqZWdacTB1T1RkZjc4L0kxZjIycDF1K28xcmgraVJvL0lFR1B6TmptdDMvUWhFRkpNaHNOUWF1YzlzY1RGM1RWc2kwVldyaStUTVdWcmdNeUp3QUFBQUFBQUlCQWhFRUEwQUpTWWkyU3BQelM1b1Vja1ZhVDdqb3pVOWtGRHAzNStLcUdJT205ZWJ0MHdJRVNrZ0FBSUFCSlJFRlU3VW50ZE9FeGJmVFZiMFg2Y1ZWcHd6VUowV2FkOHVCS1plMnFhVGptY05lR09Ec0tIWnE3dW5iczNtSFEwcXdLeFViVy9qT3djV2QxdzdoUEZ4Zm82aFBiYXZSaGNmcGhSVW5EK0lsRGtwUlQ3TkF2R3l0MElQeXlxVnczdnJIcGdNd0ZBQUFBQUFBQUlEVDJEQUtBRnVEMjFvWXhKbFB6cmh2VksxWXg0U1o5K1Z1aHJHRkd4VVdhRy83TVhsb2tTUnJiTjhIdm11MEZEcjhnNkkvNmJFbUJQRjdwcE1GSkRjZTZaMFNvVzNxRVppNHUzSzg1OTJ4dFYrL0hsU1dCQndFQUFBQUFBQUFjY0ZRR0FVQUx5Qzl6U3BKUzZ5cUVtcXBqU3JnazZZb1QydXFLRTlvR0haT3hWNFZQL2IwT2xQd3lseGF1SzlQb3crSVVFMkZTZWJWSEp3OUprczlYR3hUVmM3aHFxNWJDektIL3V3S0wyZUEzZGsrN0R2QzZBUUFBQUFBQUFBUkhHQVFBTFNDdnhLa2RSUTcxYWhlcENLdFIxWTdnK3dhRm1ReWFma3R2cmM2dTBxMXZiWmF4TGxkNTdzc2RXcjZsTXVnMUZYYVAzL2YxVlVnSDBveEYrUnJWSzFiait5ZHErc0o4VFJpWXBDVWJ5NVZidkR2QUthdDJTNUxpSWtQL1U1SVFIU1pKS3E4YnV5ZFBDNndiQUFBQUFBQUFRQ0RheEFGQUM1bTl0RWhtazBIbkhwa1djc3pKUTVMVU1jV21DRXR0UDdtY0lrZmRHWU1XYlNqMys3TnlXNVdpd2sycTJpc01hZ2svcml4VlNaVmJ4L1pQME1ET01VcUlOdXZUeFFWK1k5Ym5WRXVTQm5hT0RqblBnTHB6NjNaVXQ5eGlBUUFBQUFBQUFEU0tNQWdBV3NpcjMrNVVmcGxMbDQ3UDBNU2hTUUhuUi9XTTFjMm5kWkRiNDlQelgrMlFKTTFkWFNxN3k2dHpqa3hWY2t5WTMvaEx4NmZyeVF1N2FuaVAySDNlMjF1M1NVOVlYWnUyNW5KN2ZmcGlTYUVHZG83UlA0WWxxOUx1MGZmTC9mZjQyWmhib3kyNzdCclpNMWFuREUwT21HTnNuM2dkM1R0ZTJ3cnNXcDBkdk1vSkFBQUFBQUFBUU11alRSd0F0SkFxaDBkWHZMaGV6MTNhWFZQUDdxU0xqa25YMHMwVmNudDk2cEVSb1Q0ZG8rVHkrSFRIdTFrTlZUYWxWVzQ5TW4yYjdqb2pVeC9mMGxzZnpzL1hybEtIaG5TTjFmZ0JDVnFXVmFrWkMvUDNlZS9pQ3JkOFB1bUVnWWt5R0tSUEZ4WHM4NXE5elZoVW9QT09UdE9FUVluNmVFR0I3RUgyL2JuejNTdzlmM2wzM1hkMnB2NDVOazNyZGxUTEo2bGJtd2gxVFE5WGViVkh0NytUSlUvd0xua0FBQUFBQUFBQURnTENJQUJvUWV0enFqWHBrWldhTkNKRngvU04xOUY5NGhWdE02bXczS1daaXd2MSt2YzdsYldyeHUrYTZRc0xsRlBrMEQvSHR0SFpvMU5sTVJ1VlcrelE4MS9sNk0wZmRzcmgydmRlTzVWMmo1NytQRnYvSE50R3B3NUwwYWFkTlZxOXZhcFphOStjVjZPVjI2clV1ME5rUUl1NGVpdTJWV3J5b3l0MTdsRnBHdFV6VGtjZEhpK0RRZHBWNnRRN1ArWHBuUi96L1BZWkFnQUFBQUFBQUhEd0dYdytIenQ0SDBMTHQxYnE1amMzcTdEY3FVZW1kTkhZUHZHSGVrbjRpK2x6elpKRHZRUzBZdTljMTB0Uk5wTk9lWERsb1Y0Sy9pUmV1S3k3UnZiY2Q2dENBQUFBQUFBQS9IbXdaeEFBSUtpK21WSHEweUZLSDh6ZmQxczZBQUFBQUFBQUFIOWV0SWtEQVBpNTVOaDBkY3VJMElnZXNjb3JjZXFUaGMzZmJ3Z0FBQUFBQUFEQW53ZVZRUUFBUHlhVFFVZjBpdFAyQW9ldWZHbUQ3Qzd2b1Y0U0FBQUFBQUFBZ0QrQXlpQUFnSjhYdnNyUkMxL2xIT3BsQUFBQUFBQUFBRGhBcUF3Q0FBQUFBQUFBQUFCb3hRaURBQUFBQUFBQUFBQUFXakhDSUFBQUFBQUFBQUFBZ0ZhTU1BZ0FBQUFBQUFBQUFLQVZJd3dDQUFBQUFBQUFBQUJveFFpREFBQUFBQUFBQUFBQVdqSENJQUFBQUFBQUFBQUFnRmFNTUFnQUFBQUFBQUFBQUtBVkl3d0NBQUFBQUFBQUFBQm94UWlEQUFBQUFBQUFBQUFBV2pIem9WNEFnRDhtUGNGeXFKY0E0Ry9FR3NaL1J3SUFBQUFBQVBCWFF4Z0UvTVhOdnJ2Zm9WNEMvb0orM1ZTaDlBUXJZU0lBQUFBQUFBRHdOOEIvM2dzQWYwTVhQck5XTTVjVUhPcGxBQUFBQUFBQUFEZ0lxQXc2eFBwMmpOTHN1L3NlNm1VQUFBQUFBQUFBQUlCV2lzb2dBQUFBQUFBQUFBQ0FWb3d3Q0FBQUFBQUFBQUFBb0JWckZXRlF5ZFI3VmZMZy9VMGViNTgvVDJWUFB4bjBuR3ZOR2hWZWZZV2NxMWNkcU9VQkFBQUFBQUFBQUFBY01xMGlER291ZC9aMjFmdzRSNVVmZmVoL3d1ZFQrZXV2eUoyZExWTmlVclBtclA1NnRzcWVtYmFQKzJZcjc1U1RWUDNWbDQyT3EvbjJHNVU5OTJ5ejd0OVU5Z1UvSysrVWsrUmFzeWJnbksrcVNubW5uS1RLLzcwak9aMHFtWHF2bk11V05mc2V4WGZlcnVLNzd6Z1F5d1VBQUFBQUFBQUFBSCtRK1ZBdllGOTg5aHJ0T25OeWs4Ym1uWEpTbytlVFgzaFJwamJwaWpyakxEazNyRmZsLzk1UldPZk9zZzRZS0VteXo1c3IxOGFOc2c0ZUlsTmFXclBXNmRtNVV6WGZmeWRUVXJLaXpqbzd4TVA0SkVrR2s2blJ1WndiMXF2bTIyOWtUa3RWNUdtblM1SktIM2xJOW9VTG1yV20yS3V1VWZqWVk1bzgzdWQyMTM1aE1NcFRWaWJYdHEwcW5ucVBZcSs0cW5uek9Pd3l4c1kxYTYwQUFBQUFBQUFBQUtCbC9PbkRJSVBGcXZoYmJnOTZybWJCZk5ubno1TWhNbEx5ZXVXcnJsYjR1R05sR3pBbzZIaGpmRUxkRjBiRlhYdTlDcSsrUXFWUFBLYmthYzlJRnF2SzMzaE5rdVQ0WmNrK2d5VVpqVXFiTWJQaDIranpwOGkxSlV1Vkg3d25jMGFHYktPUERMeW1MZ3pTUHNLZzJFc3ZsM3ZiTmxXOC9aYk1HZTFrSFRaTTRXUEdLcXg3OTRDeHpyVnI1Vmk4U0pHblRwSXhKdHJ2WEZqWGJvMC93OTQ4bm9abk15VW5LL0graDFSODUyMHFlMmFhREJFUnNnMGYwYlJwOHZNVmx0bTVlZmNHQUFBQUFBQUFBQUF0NGs4ZkJzbG9sSFhZTUw5RG52eDhWYnoxaHB6cjFpbmh2Z2RVOWNsMHlXUlM1QWtUVlByc2Z5U25TMUhubkN0VGNuTG9hV05qRlh2NWxiTC85b3VNTWJFcWZ1QStlWXVMWlJ0MWhDeUg5MjUwU2ZhNVA4bTFlVlBBT3VOdnVGRUYxMTZ0MG1lbUtTbWpyY3lkOXdwRTZpdHZUUHZvem1jMksvNm1XMVJ3N1ZVcWZmb0pKVDA1VGRiQlEyUWRQQ1JncUNIc0N6a1dMMUxFdUhFeXRVa1BPTzh0S1ZIcFk0OG80cmp4c2gxNVZLTzM5YmxkZFhPRzFTNHpMVTBKRHp5c3N1ZWZsYlZQMzRaeGVhZE9sTHplUnVlcS92b3JWWC85VmVnQmU0VnBBQUFBQUFBQUFBQ2daZno1dzZBOXVMT3pWZjNsRjZxWis1TWlqajFPeVZkZUpZTXR2RFlNa21UcDExL0p6NzZncXVrZnEvQzZheFUrWW9RaXhoOHZjMmFub1BOWmh3MlRkZGd3VmJ6MXBwekxsOHM2WUtEaXJydEJNalllMXJnMmI1SnIrN2FBNDRib0dNWGZjSk1xUDVraFU1czJBZWQ5bnRvd3lHQnN2REpJa294SlNZcTk4bW81ZmxraVUwcktQc2VIbkNjdVRqNmZUMlV2dmlCTDd6Nk5EM2JYVmdiVmgwR1NaRXBKVWNJOTkva05pLzIvS3lWZjhEQ281cWVmNUZ5N1J2SjRGRDd1V0ZtNmhhaE9Ndnd0dDZzQ0FBQUFBQUFBQU9DZys5T0hRZDZ5TXRrWExxamR6MmRMbGlLT09WYkovM2xPeHNURW9PTU5OcHVpempsWGtTZWZyS3JaWDZuNGdmdGxqSTZXYmVndzJVYU9rcmxkdTRCcmpIRnhzZzRjcFBpYmI5bG5FQ1JKY3JuOUFwTTloZlhzcGZpZXZZS2U4OVhZRzU2cEtXekRoc3MyYkhpVHhvWmtNQ2oyNGt0VWVOMjFxbmpuTFZrSERhNWRRM2w1eUZaNDVhKytyUEpYWHc0NEhuLzduYklPSHFMd1k4WUZ2YzZkdlYzbHI3eXNxRW1UWmJCYVZQbmhCd29mTlZxV3ZuMkRqZ2NBQUFBQUFBQUFBQzN2VHg4R3VUWnRWUFVYbnluaXVPUGw4M3BWOWRtbnF2cnMwNkJqZzRVYnBwUlVXYnAzVjgwUDM4bmFyNzlLSHJ4ZmppV0xHODZudlBLNklrK2VxTWlUSjZyOGxaZFYvY1ZuUWVlT09HNjhZaTYvUWxKdE83WDZNS2o0M3J2a1hMYXNZVnpNeFpjcVlzS0pRZWZ3MWxSTGt0dzdza00rNzk3clMzcHEydTdLSnFkVGVaTlBVL1I1NXl2eXROTkR6ckUzYzZmT0NqOTZqQXpoNFEzN0ZobHNWa1dmZDc3Zk9QZk9uYXI1N2x0WmVoMG02OENCZ2ZNRUNkSWFydDI2UmNYMzNxT3dMbDBWTmVsMEtTeE1QcmRIeGZmZHJZampKeWo2M0hObHNJVTNlYzBBQUFBQUFBQUFBT0RBK05PSFFkYUJnMlFkT0VpU1pGLzZxMHpwR1lvKzYrd21YVnM1WTdvTVlXYkZYUFovRGNjaWpqOUIxZ0VENVZ5eld2YTVQd1ZjWTR4UFVNekZsL2dkcTNqak5iL3ZmVzZYRkdhUkpFV2VlTEpzUTRmTFYxV3BpcmZmYW5ROW5yeWRraVRYcGswaHg5U3Z6NVcxV1RYZmZOMzRBelpEN0RYL2xpVFpGL3dzU1RKWXJBR0JVczJQYzFUejNiZVMwZGowc01ualVkVVhuNnZpM2JjbHAxTmhSeDBsR1F5U3BLakpaOGpTbzRkS24zcFM5bmx6RlhIY2NZb1lmNEtNQ1FrSDdMa0FBQUFBQUFBQUFFRGovdlJoME42TU1UR3lIVEc2U1dOcmZwd2piMFc1M3pGci93RU5Yd2NMZ3d6aDRiS05HT2wzclBMREQvd0h1ZHd5V0dvcmcrcURLbTloNFQ3RElQZjI3WkxSS05lV0xQbXFxMldJaUFnWVU3OCsrNEtmbXhVR0ZWeCtxZC8zdHVFakZIZnpyUUhqZkU1bjZQWFZWU3c1MTYwTnViNkdlUndPMlgvNlVaVXpwc3RUa0srbzB5YkptSmlraW5mZWtuM0pFc1ZlZHJrc3ZmdkkwcWV2a2w5NFVkVmZmcUhLVDJhbzh1T1BGTmF0bTZ4OSt5bjhtR05sU2s1dThqTUNBQUFBQUFBQUFJRG0rOHVGUWU2Y0hKVSsvbWlUeHJxeXNtUktUbXJXL0o3Y25LRHQ1aXpkdXpkODdYTzVRdTRaMUJqSGl1VUtQL0lvMlpjc2xtUHBiN0tOT3FMWmM0UVNlZW9rR1dPaUc3NDNaN1FOR09QZXNrVVZyNzBTY2c3WHVuVXlwV2ZJazc5TDlzV0xGSDcwbU1BNU5tOVcxVmV6WkYvd3MzeDJ1MnhIakZiQ1BmZkpsSlltU1FvZk1WTGxyNzZpbXJselplbmRSMUx0UGs2UnAwNVN4QWtueXJGa3NXcm0vaVRucWxXS09tM1NIMzFzQUFBQUFBQUFBQUN3RDMrNU1FanlTUjVQRTRkNm16MjdNVEZSc1h1MGxaT2s4cGRmOHAvVzZaVEJZbTNXdks1TkcrVXRMSlIxNkRENXZGN1YvUFRqQVEyRElzYU5rNmxOZXVqN2I5eW80bnZ1bEx6QlB4TmZSYm1jYTFZcjZveXo1TnE4U2RYZmZoMDBEREpFaE11NVpvMGlKNXlvaU9QR3k1amtYOWxqaUk1VzdMWC9Ebm9QZzgwbTIrZ2paUnQ5WkRPZURBQUFBQUFBQUFBQS9CRi91VERJbk5FMmFQdXpZRXFtM2h2UUptNWZERmFicklPSCtCOTc5eDIvNzMxT3A0emg0WTFQNUhLcDdJWG5GSHZGVlpMSnBPcXZ2cFFoUEZ6V2Z2MGtuMCtsano0c1QyNnVUT21oQTV5RysxVlcxbGJxTkxFOTN0NmN5MzlYeVVNUHlOd3hVeEhqamxYWk05TUN4bFRQbVNONXZiSU5HeTV6MjdZcWZld1J1VFpzVUZpM2JuN2pURzNTbGZ6OGYwUGVxL3FyV2JJdldxall5NjlzcUJacVdNZUs1YXA0NTIzRlhYK2pUS21wKy9Vc0FBQUFBQUFBQUFDZ2VmNXlZWkJyM2RxZ2JkeEMyVHZNT0JCOERvZGtzWVErWDFHdTRnY2ZrR3Z6SmtXZmQ3NjhsVldxbWZPRG9zNDRVd1pidUd4RGg4bVVtcWFLOTk1VjNQVTM3dk4rWmM4L0szbTkreFVHMlgrZXI5S25ucENsUjAvRjMzR1hIRXQvQ3h6a2RLcnFzNW15RGhnb2M0Y09NbWRreUpTV3BvcTMzbERDL1E4R25iZjBzVWRrc05rVWU5VTFLbjN5Y2JuV3JsSHl5NjhwckVPbXFqNlpvWUtycjFUTWVlY3I0cVNURzY0eHhzYkt2WE9uaW02NVVRbjMzQ2R6aDQ3TmZoNEFBQUFBQUFBQUFOQThmN2t3eUpTZW9laXp6bTdTMk1vWjAxdGtEVDZIUXdacjhEWng3dHdjRmQ1NGczelZWVXFjK29DTXNYRXFmZXhSR1NLakZIbnlLYldEakVaRm5UNVpaYzlNaytQb01iSU9HQmp5WGxXenZwQmorZTlLZk9UeC9WcXJNVFpPMXY0REZIL2pUVktJMW5hVkgzOG9iMkdCb202OXJmYUEyYXpvczg5VjZaT1BxK2I3N3hRKzloai9aOXk2UmZhZjV5c3F5TThockZjdkpUMzFINVUrODdSa05FcVNhbjZjSS91aUJZcTc0aW9sM3YrQWl1NjRYVVczM2FLRU8rOVdXSStlKy9WY0FBQUFBQUFBQUFDZ2FmNXlZWkF4SmthMkpsYkkxUHc0cDBsdDRxcS9taVZqZEl3a3laT2JFN1R5eU5LOWUrMFhQcDk4bFJVeTJHeCs1NzBWRmJWenpmcENwb3kyU256MGlkcnFtdGRmbFhQdEdzWGZjWmNNZTdTV0N6L3FhRlYvOWFWS24zeGNTWTg5RWJEZmo3ZThkdDAxYzM1UXd0MzN5dHkycmVSME51bTUvZFo5K09HeUhINTR5UFBPVmF0VStmRkhpamp4WklWMTd0SnczSGJFYUZsbWY2WHlsMTlVV0tmT01tZG0xaTNNcTdML3ZpQmpiS3dpVHp3NTZKeUd5RWpGMzNKN3cvZnViVnZsV0x4WXV2WTZtVHQwVk9MOUQ2anN1V2RDQm1vQUFBQUFBQUFBQU9EQStVdUZRUWwzMzllczhmRjMzaDN5bk05ZUkwa3FlZlFodVRac1VPeFYxMGlTalBFSmlybjRrb0R4NXJyOWI1eHJWc3RudDh1ODExNC9OZlBuU1pJc2h4MnUrRnR2bHlFcVNwWHZ2NmVxbVo4cTZweHpaUjA0eUg5Q2swbHhOOTJzd245Zm82TGJicTFybTlhaDRiUmoyVkpKVXN3bGw4clNwMit6bnJ1cDNGdTJxT1NoK3hYV3ViTmkvbm1CLzBtRFFYRTMzcVRDYTY5UjhiMTMxYTZ2WTZZOCtic2tyMGZSVXk2UUlUS3lkcWpGSW05RnBUd0ZCVElsSi90TjQ4blBsMzNSSXBuYnRaUEJWaHVHbVR0MFZPS2pUN1RJTXdFQUFBQUFBQUFBQUg4R244L25POVNMYUV6bHUyK3I4cU1QRDhoY1VhZFBWdFE1NTBrK240cHV2Vm11ZFd0bFNtdWoyRXN2bDZWLy82RFhsRDc2c0dRMnl4Z1pKWi9iSmZ2UDgrVnpPSlQ4elBNeTdSRUllWEp6VmY3cXk0cTc2UllaREZMWjg4K3A1c2M1aWp4MWtxTFBPMTh5R0lMTzcxeStYQ1VQM1MrZjE2ZTRLNjZVN2NpakpFazFQLzRnMS9vTmlybjBNaFhmZnF1Y3ExYzErM210UTRZcS9yWTcvSTdaRi95czBrY2ZWdFJaWjZ2cXM1a3l4Y2NyWWVvRE1zWW5CSjNEdFc2dGl1KzdSL0o2Rlh2MXRiS05HQmt3eHJGNGtVb2VlaUQwUWd3R3hWMTdYY096QVRqMCtseXpSSmNmbjZITHgyY2M2cVVBQUFBQUFBQUFhR0YvK3NvZzY1QmhNaVltSFpDNUd0cWdHUXdLNjlKRmx1N2RGWDNPZVpMRkV2b2lvMUgyUllza2wxTXlHR1JPVDFmVU9lZjVCVUdTWkVwUGI2aEU4dG50OGxaVktlYnlLeFJ4M1BoRzEyVHAyMWVKRHoyaXNoZGY4TnMvSi95b01Rby9hb3drS2VMNEUyUWRQTGpaejJ2ZXEvV2MzMlBGeGltc1UyZkYzWENqakxGeEljZUY5ZWlweEFjZVV0bExMOHJTclZ2UU1kYWh3NVQ4M0F0eWJkb2tuOVBoZDg1Z3RTbXNhOWVBTm5nQUFBQUFBQUFBQU9EZytOTlhCZ0VBRGp3cWd3QUFBQUFBQUlDL0QrT2hYZ0FBQUFBQUFBQUFBQUJhRG1FUUFBQUFBQUFBQUFCQUswWVlCQUFBQUFBQUFBQUEwSW9SQmgxaXk3ZFdhdnk5eXpYbytsLzAvWXFTUTcwY0FBQUFBQUFBQUFEUXloQUdBUUFBQUFBQUFBQUF0R0tFUVFBQUFBQUFBQUFBQUswWVlSQUFBQUFBQUFBQUFFQXJSaGdFQUFBQUFBQUFBQURRaWhFR0FRQUFBQUFBQUFBQXRHS0VRUUFBQUFBQUFBQUFBSzBZWVJBQUFBQUFBQUFBQUVBclJoZ0VBQUFBQUFBQUFBRFFpaEVHQVFBQUFBQUFBQUFBdEdLRVFRQUFBQUFBQUFBQUFLMFlZUkFBQUFBQUFBQUFBRUFyUmhnRUFBQUFBQUFBQUFEUWloRUdBUUFBQUFBQUFBQUF0R0tFUVFEd0YrZHdlNVZiN0d6UmU3ZzlQaFZWdU9YenRlaHRBQUFBQUFBQUFMUUF3aUFBK0F0enVMMTZkTVoyM2ZiT1psWGEzUzEybjJWYktuWFZ5K3UxY1dkTmk5MERBQUFBQUFBQVFNc2dEQUtBdnpDcjJhaE9xVGF0emE3UzIzTjJ5ZVUrOEtVN2VTVU8zZmx1bHFMRHpVcU1OaC93K1FFQUFBQUFBQUMwTEg2ckJ3Qi9jWk5IcFNxMzJLbVBGdVNyZitkb0Rlc1djOERtTHF0eTYrRVoyMVZaNDlHRlk5c29JU3JzZ00wTkFBQUFBQUFBNE9DZ01nZ0EvdUxDVEFaZGZHeTYyaVhaZFBPYm0xUnA5eHlRZVgwKzZjTUYrWnEzdWxSWFRzalFrSzR4TWhnT3lOUUFBQUFBQUFBQURpTENJQUJvQmVJaXpicm9tRFl5R2d5NjRmVURFd2l0M1ZHbDkrZnUwcGcrOFRyemlGU0NJQUFBQUFBQUFPQXZpakFJQUZxSmtUMWpkY0hZTnZwbFU3bW1MeWlReTdQLyt3Y1ZscnQwMS8reTFEN1pwdXNtdGorQXF3UUFBQUFBQUFCd3NCRUdBVUFyWVRJYWRQYm9WQjNiTDBHdmY1K3JEYmsxK3pXUHcrM1QxQSszS0tmWXFTbGowdFFtM25LQVZ3b0FBQUFBQUFEZ1lDSU1Bb0JXeEd3eTZPWlRPeWcxenFJSFA5cWkvREpuczY3M2VIMmEvbk8rZnR0VXFiT09TTlZSaDhlMzBFb0JBQUFBQUFBQUhDeUVRUURReXNTRW0zVFJ1SFJsRnpyMDVNeHMxVGlidm4vUXRnSzczdmtwVDhPNngramlZOU5iY0pVQUFBQUFBQUFBRGhiQ0lBQm9aWXhHZzhiMmlkZjQvZ242ZmtXSlppOHRidksxdDcyZEpaUFJvQ3NudEZXNGhYOGlBQUFBQUFBQWdOYUEzL1FCUUN0a01ocDAvU2tkTkxSYmpGNy9mcWZXN3FodWRIeU4wNk1IUDk2bUxidHFkTm40ZExWUHNoNmtsUUlBQUFBQUFBQm9hWVJCQU5CS1djTU11dkVmN1NWSlQ4N2NMb2ZMRjNTY3p5ZDl2NkpVczM0dDFQRURFelcyVDRLTVJzUEJYQ29BQUFBQUFBQ0FGa1FZQkFDdFdJZGtteTQ4cG8xV2JLM1VIZTl1RGpxbXVOS2xaMmRscTEyU1RmZWNtU2tiN2VFQUFBQUFBQUNBVm9YZitBRkFLemRoVUpMR0QwalV2RFZsK25wWnNieDdGQWhWT3p4NmVQcDJHV1RRMUhNNkhicEZBZ0FBQUFBQUFHZ3hoRUVBME1xRm1ReTY5cVMyT3J4RHBGNzhPa2RiOCsyU0pKZmJxLy9PenRWUHEwcDAwYmgwWmFiWUR2RktBUUFBQUFBQUFMUUV3aUFBK0J1SWp3clRnK2QyVWttbFcwL1AzQzVKbXJlbVRETVc1V3RnNTJoTkdwRXNzNGw5Z2dBQUFBQUFBSURXaURBSUFQNG1FcVBEZFBHeDZWcXlxVnlTdEQ2bldoMVR3blh2MlptSGVHVUFBQUFBQUFBQVdoSmhFQUQ4VFppTUJwMDBPRkZIOUlxVEpLWEdXWFR0U1cyVkVtczV4Q3NEQUFBQUFBQUEwSkxNaDNvQkFQNllQdGNzT2RSTHdGK00xK2VUUVFidExISG9nditzbGNGQWV6ZzAzUXVYZGRmSW5yR0hlaGtBQUFBQUFBQm9CaXFEQU9CdnhtZ3dTQWFmREJKQkVBQUFBQUFBQVBBM1FHVVFBUHdOR1dTUXlJRUFBQUFBQUFDQXZ3VXFnd0FBQUFBQUFBQUFBRm94d2lBQUFBQUFBQUFBQUlCV2pEQUlBQUFBQUFBQUFBQ2dGU01NQWdBQUFBQUFBQUFBYU1VSWd3QUFBQUFBQUFBQUFGb3h3aUFBQUFBQUFBQUFBSUJXakRBSUFBQUFBQUFBQUFDZ0ZTTU1BZ0FBQUFBQUFBQUFhTVVJZ3dBQUFBQUFBQUFBQUZveHdpQUFBQUFBQUFBQUFJQldqREFJQUFBQUFBQUFBQUNnRlNNTUFnQUFBQUFBQUFBQWFNVUlnd0FBQUFBQUFBQUFBRm94d2lBQUFBQUFBQUFBQUlCV2pEQUlBQUFBQUFBQUFBQ2dGU01NQWdBQUFBQUFBQUFBYU1VSWd3QUFBQUFBQUFBQUFGb3h3aUFBQUFBQUFBQUFBSUJXakRBSUFBQUFBQUFBQUFDZ0ZTTU1BZ0FBQUFBQUFBQUFhTVVJZ3dBZ2hOZXU2cW1YcnVqaGQreXFDVzMxNnBVOUZXVXpIYUpWdFl3Yi85RmUvNzI4dTR5R3dIT1hqYy9RWFdkMFBQaUxPc0I2WkVUb2pXdDZLaTdTSEhMTWpGdDY2L2JULy9yUENnQUFBQUFBQU95Sk1BZ0FtdUg0Z1ltS2l6U3IwdTVwOFh1OWRsVlB6YjY3bjkreHQ2L3RwVXVQU3orZzl6RVlwUEVERXVYMVNsNWY0SG1UVVRwdGVJcDZ0bzFvMG56OU8wVnB4YlFoR3RjMzRZQ3U4NDh5R3FWK21kRzYrYlFPUWM5M3o0aFFsemJoS3F0Mk4ydmVaVThOMFpReGFTSFBweWRZOVA0TmgybFk5NWdtemZmckU0TjE0VEZ0QW80blJKdTFZdG9RblhkVTZIc0JBQUFBQUFBQXdZVCt6Nk1CL08yOWRsVlBEZW9TL1lmbVdKWlZxU25UMWlnNjNLU2ZIeDU0UU5ZMVllcHlaUmM2R3I2LzZkVDJPdmZJNXYyQy9KMmY4dlRvak8zTnVtWmc1MmkxVGJUcWlabjd2bTVRbDJpOWRsWFBKczFiNC9ScTZJMi83bk5jY2t5WSttWkc2WlBGQlg3SEp3NUowdFJ6T2pYcFhwSjA2OXViTmV2WG9vYnZCM1NLVm5KTW1KNWFXaGgwL0J2ZjUrbU1VYWthM2lOV2EzZFVOL2srZTdwK1l2dEdBNU05TGRwUXJrdWVXM2RBM3o5SldwTmRyUmtMOHpWcFJJcSsvTFZJODlhVStvMGRmVmljSk9tNzM0di8wRDMzbGx2c1ZLWGRvOXNtZGRRcEQ2NElHcmcxaGJtdWJNdXp2eE1BQUFBQUFBRGdiNHN3Q0VCSXM1Y1dhZlgycW9idiszZUtVcCtPVWZwZ2ZyN3NUbS9BK0pPR0pNbmo5ZW5MUFlLR25HSzdKS25LN3RHNVQ2NEp1Q1kxenFJbkx1eWloNlp2MCtwdHRmZnEzQ1pjOTU2VnFkdmUyYXp0K1k2QWEvSktuRUhYZStlN1dVMTZybERCeVJNWGRsSDdKSnRPZjNSVjBQTm5qRXFWeHl1L0lDV1U3RUtIWDJoMDdwRnBTb3dKMDR1emMyUjMrWDkyTG5mdEwvZVhQVFZFTXhibWErcUhXNFBPT2FKSHJDUnB3Ym95ditOTHN5cWEvT3lTdEh4THBkLzNrMGFtcUx6YW85K3pLclZpMnBDUTExMTdVanRkZTFLN2dPT3pseGJycGpjM05YclArV3RMVlZFVFdISFRMc21taVVPVDlOM3lFcTNiVWZ2enp5bHkxTTE3NE42L2V0TSszNkZ4L1JKMDF4a2RkY3FES3pYLzRZRXk3VlVqKytGTmh6ZjZMSU91LzBWT2QraEFadTZEQTBLMm92djk2Y0RQZC95OXZ5dTNPUGc3dlNjVFlSQUFBQUFBQUFEMkUyRVFnSkErL0RuZjcvc3JKN1JWbjQ1Uit1L3NIQlZWdUFMR0Qrc2VJNGZiRzdSeXh1dVRWbXlyRERqZXJzb3FTZHFTVnhOd2ZtTnVqZGJuTkwwU1plYVM0SlV0ZTJ0T0ZVMjlqQVNyanVrWEw1TlIrbUZxLzBiSFB2VHhOcjAzYjVmZS9DRlBrblIwN3ppbHhsbjAzSmM1ZXZIcjNHYmZ1OTRSdldvclY3NjV4NzkxM05PZlordTE3M2J1MTV6eGtXWWQyeTlCNzgzZHBZSnlaN05DcFhvN2lodzY5OGcwM1hScWU3L2pUMXpZcGVIckM1OVpxNWUrQ1h6MllkMWlOSEZva241YVZSTHc4enVRNzErOXNtcTNwbjIrUTEzYWhNdmw4ZXF1LzJYSmFKQjZ0WXZVV2FOVDlkNjhYVnF6UndBVmpOdmowNVF4YWJwKzR1N252WDVpZTEwL3NiM21yaTdWYlc5dlZwaTU2VjFZaXl1YTFwYU9NQWdBQUFBQUFBRDdpekFJd0VGak1SdjA2eE9EZzU1NzZZb2VBY2MrQ2xLaGNmUWR5NElHQVMzdG9uSHBNaHNOK201NWlaWnZyZkE3TjZoTGpJNDhMRTR2ek01UnRjT2pwVm03ejhkSG1uWG41RXd0emFyUXk5L2tTSkxTNGkxNjRvS3VlbmJXRGkxYzcxL2xFMHBNdUVsSDlZN1g1NzhVeW1RMDZPamU4YnI3dmRyZ3BqbUIyZDdPUDdxTndrd0d6VmxaSW9mTDErUkFiVzhPbDFmUHp0b2hTVXFMdDJyU2lHUjl0YlJJbTNmV1NOcGQ3Zk5uOFBHQzNTSFQ1Ny9VUHUrNGZna3FxM2JycVpuWnNydThlblJLRnczdUdxMmo3MWdXZEk2RjY4bzExVkZid1hYNzZSMzEvWXBpTFZwZnJwM0ZEczFmVzZZd2swR1BYOUJGUDZ3SURMa0dkWW5XMVNlMjA5UVB0MmhqYnUzbnMzY2J2Zm9xckdWWmxmcDViYW11bk5DMjRkeGRaMlRxcmpNeS9lYjhiWE9GTHZqUDJqL3dxUUFBQUFBQUFLQTFJd3dDY05BOU1YTzdmbDViRzRLa3hWbjAvR1hkZGMvN1c3UmlhMjFsVUxmMENEMThmbWRkOTlwR2JjMnZiZlBWTHpOYWQ1M1JzZEY1RzJ0eDlrZDBUTEhwbEdGSmtxVE5lVFVORlQvMUVxTENOS3BubkY2Y25lTzNIMHhNaEVuUFh0cGRQa2szdkw2cDRWeGVpVlBMc2lvMDlaeE9PdldoRlNxdjhleHpEUk1HSmNsaU51amxiM0kxcGsrOGp1Z1ZwOWxMZCs5dGMvbnhHYnJmM1h6WEFBQWdBRWxFUVZSOGZNWSs1N25rdVhWYXRLRmNVbTFRZGZhUnFaSWtyNjkyY1kwRmRzRzhNRHRITDN5Vm8xWGJxN1NxcnFLbWY2Y29UUnFSck85K0w5RzN5dy9zL2pzdG9XdDZ1RVlmRnFkWHZzME5hT0VYeW9iY2FtM0lyUTNoYnB2VVVTdTJWdXFqUFNxWlhCNmZ5cXM5dXZPTVRHWHRxdEhLdWhhSU1SRW1QWGh1WjlsZFhoV1c3UTQxdi8yOVdOc0xhOS8xV3lkMTBOeFZwZnA1WFprS3k1MHFyWExyMlZrN2xCZ1Rwck9PU05YWHk0cTFNWGQzQUhqNnlCU3FoUUFBQUFBQUFOQW93aUFBQjkydVVxYzIxVldNT09wKytaNWI1R2c0Rm1FeFNhcmRkNmYrV0dxY1paL3ovdEU5ZzBLNTRaVDJjcnA4eWk1MUtEUEZGbkErUGNHcS9ES245djU5L0x2WEhhWU95VGF0Mmw2bDIwL3ZxTmdJYysyZnlOci90WVlaZE9jWm1icnhqY2IzMjVFa1M1aEJQNjB1YlFqSGdxbHllSFR2KzF1Q25rdU90ZWpHVS96YnVGMStmRnVGVy96Ym1iazhQbDMvMnI3WFUyOXpYazJUeHg1SzE1N1VUaGNlMDZiaCszT2ZYTlBRbHZDaVk5TGw5dmowL3J4ZEIvU2VEMzY4VlJtSlZzVkZoalVjdS8rY3p2TDZwSXVmWGFlU3F0M3Q0VlpzcTJ4WXo4Mm5kdENLYmY3aDByS3NTdlhOak5KWlI2VHFpMThLOWRQcTBvWnpvdytQazdkcEdSWUFBQUFBQUFEK3BnaURBQngwajA3cG9rZW4rQjlyYXB1NG9QUE4ySzVIWjRUZUoyWnZ6VzJGdG1oOXVYNWNWYUwwQkt0T0g1a2lvMEYrd1UrL1RsRmF0UzF3bjVtNXEwbzFjV2l5b213bU9TTE5LcXB3YVhOZWpZb3JYU3F1Y0NuU1p0SzFKN1hUanlzVE5ldTNva2JYOE9ZUGVRRVZTWHR6dVgxKzFVSjc2cGhpOHd1RERtc2ZxY21qVXZUTHhnb043aHJkY056bjB3R3Q1a21KRGRNNVI2YXAwdTdSeTBIMkREcFlmbGhab2wybFRuVnVFNjdKSTFNYWpyZE50T3E0L29tYXZiUkkrV1YvdlAzZ3RIOTExZEc5NC8yT0Rlb1NIVER1Mi90MjcvdjAwYy81bXZyaDFuM09IVzJyRFVtckhJR1ZaRlFHQVFBQUFBQUFvREdFUVFDQ3V1Zk1USjA2UERub3VUbjM5Mi8wMnIzYnRjMVlXS0I3OXFoWTJiTk5YRk9GYWhQMzBIbWROV0ZRWXJQbXFqZDdhYkZ1ZW5QZlZURHYvRlFid2d6b0ZLMS9qVXZYNEs0eFdselhhcTFMbTNDbHhscjA2b2JBb09PeFQ3ZnJzVThiRDZtR2Q0K1Z3ZGpvRUVuU2ExZjFEQWdWNmovblJSdkt0U3lySXRobElaMTVSS3AyRkRyMDNKYzc5TVkxUFJ1TzcyK2J1R0F1R3RkR1hkTTd5K2VUbnY0c3UxbnJhNG4zYjhYV1NvMCtMTTR2RERxOFE2Uk1SbW5Db01TZzc5SGVjeFZWdVB6MkVXcVhaSlVrVFJxUm9qTkdwV3JXcjRYNmRISHp3c1o5N2FkMHo1bVpDak1idEsydUtxeXczRCswOG5sM3Qva0RBQUFBQUFBQWdpRU1BaERVZ25WbHF0aHJMNXNCbmFQVnUwT2szcHU3UzA1MzRDK2ZUeHFTSkkvWHB5OS85YTl5V1ZuWC9zcnA5cW5QTlV2MmF6MmJkdGJvNHdYNVFjOVZPN3g2Nk9OOVYxYnM2ZWJUT3V4empEWE1LUGNlVlJoTHN5cTBvOGloQzhhMmFRaURKbzlNbGR2cjA1eVZwYUdtYWRURno2MXIwcmovenM1UlFuVHRYOWtUQmlXcGQ0Y29QVHk5OXBrTHkxMGEzRFZHY1pIbUp1K2I5UFd5SW4yeXNDQmdqNXcvMGlhdVRieEYveGlXckZPRzFvWTRpVEZoZW5GMmpqNWVrSy9pU25lb0tZSnFpZmN2bUpWYnE0SzJGNXc4S2xXWnFUWTlNbjJiMy9INnordlM0ekowM2xGcGlvbW9yZFpKamJObzFiWXEvYlNxdEdIdkpFbnEwekZLOTUvVFNVOS9ucTBmVnBUczQ2bDNpd2szNitKajB4VVhhZFkzdnhmcnJqTXlkZExnMm4ycjhrcWNmbU45VWtDTFFnQUFBQUFBQUdCUGhFRUFndnJtOTJKOTg3dC91N0JiVHV1ZzNoMGk5ZGduMitVTzh0dm5ZZDFqNUhCNzljVE0wTlV3VFEwclFobC83Ky9LTGZiL1pialQ3UTNhK3UzSCt3Zm8xODNsdXVIMXdIRGoycFBiaGJ4SGRMaEpVOC91cE40ZElyV29MdlNwOStxM3Vicjd6RXlONmhXcnpUdHJOSEZva3I1Zlh0dUNiRi9xOTYwWmRQMHZRY09NeGl6WnVIc2RZM29uYUdleHc2OGwzT0N1TWMzYU0yaittdHJLckY3dEl2M0c3VytidUt0UGJLc0xqMG1YSkszTnJsSmF2RVdQVHQrKzN5M25XdXI5MjF0T3NVTTVTd0lyYzBiMmpGTjZnaVZrUzBHTDJhRHNRcnRXYkt2VUdhTlM5ZHlYTy9UbUQzbEJLN2drNmVtTHVvWmN3eE16dCt2TkgvSVVIMm5XY1FNU1pESWFkT0V4YlZSZTQ5RkxYK2Rvd2JveS9lT2hGZnJ3cHNQVklkbW1wLy9WVmZlK3YwVTc2MEloaW9JQUFBQUFBQUN3TDRSQkFKb3NMYzZpc21wMzBGL0VOOVc1VDY3NVEyc29hTWErTHBZd2c1eXVwcS9WYWpZcU1UcE1IOTUwdUh3K2FVZVE5bDJmTENyUTZTTlROZlhzVHRxYWI1ZlpaQWphSmkwOXdhTFpkL2NMT0M0cG9BMWJZNjNXZ21tZmJGTmlqRm5UYis2dGExN1pvQjFGRHIzd1ZZNWNicDhHZFluUi9YdnRQMk1OTStqTmEzcnB6bmV6QXNLdFlENjY2WEIxejRobzBscXVmR21ENXE0dTFhNVNwejVmVXFoWHY4dFZmSlJaYjE3VHE4blAwMVFINHYwN1VKNlp0VVBQek5vaHFiWTZiUGZ4Yk1WRmhrbVNycHZZVGphTFVROS92SzJoY3NkZ2tPNmFuS204VXFkZS9McjJaNzVwWjdXdU9iR2Rwb3hOazl2ams5RlEyOXJ1b2VsYjVkamovVTFQc0dyRnRrcDFUWS9RSjdmMjBWT2ZiZGNIOC9QbDlmbGtPRWpQRFFBQUFBQUFnTDhtd2lBQVRkYXJYYVEyN2F6Wjk4QWdUaCtab2pzbkIrNzVzejllKzI2bm52Njg4VDFvb3NOTmlyS1ptbFN4VXorK1Q4Y294VVdhOWQzeUV0MzlYcGFtL2F0YndEaXZUN3I1elUzNjVMYmVHdGc1V3M5OXVVTlp1d0kvazdJcVQwQ0Z5aEc5NGpTa2E0eWUvanhibmowQ2pkKzNoRzVqdHJlRUtMTjZ0STNRKy9OMjZmaUJpWHJ5b3E0NjU0blZjbmw4aW9zMDY3VGhLWHJqKzUxK1FkWkpnNVBVcTEya1lpS2IvbGYrcXUxVmV2MjduU0hQdDAyeTZ0OTdWRmQ5TUQ5Zkg2aTJqVjk4VkZTVDc5TWNmK1Q5QzZaUGh5aTljMTNqb1ZXd1NyYjZTcDVnbG1YVi9pelBQVEpOSFpKdCt0ZXo2L3lxdWs0Y25LaUVhTE51ZVh1VEZxM2ZmZHdubjE3N2JxZmUvVEZQMzk3WFg5c0w3WDVCMExIOUV4Um1NdWpWYjNQMTIrWUszWDU2UjBWWWExdlVlYncrMlN4TjJIZ0tBQUFBQUFBQWYxdUVRUUNhWkhqM1dLWEZXL1QrdkYzN2RmMzN5NHUxZmtkMW8yTk9IWjZzaVVPVE5lWHB4cXVIZHBYdE8rQTVZV0NpcE5vOVcwYjFqTldDZFdXTjdxdmljdnUwdmRDdVR4ZFg2TW1ab1lPbXVFaXpianExdmN4R2czdys2YVRCeVZxOG9Ud2cwS2x5ZUFJQ2cvaklNQTNwR3FOM2ZzeHJkcHU0ZW1QNkpNaG9rR1l1THREaURlV2E5cSt1dXZha2RucnMwKzE2YTg1T25UVTZWUmNmbTY2NzM5dmRMdTdzMFduYVdlTFUrM09iL3JNcktITTIydUp0Ny9aeUxlMlB2bi9CWkJmYWcrNFhKSVhlTTBpUzM1NUFvYlJQdHFuRzZkWGRaMmJxc3lVRm1ybWtVQjJTYmJwemNxYSsrS1hJTHdpU3BQOThzU1BrWEVhRGRQRzREQldVdXpSL1RabGNIcDl1Zm5Oencva2FwMWZKTVJaSjB2VVQyOHRna0I3L3RPbXQ4Z0FBQUFBQUFORDZFUVlCMktmVVdJdnVQU3RUeFpWdWZid3dmNy9tS0s1MHE3aHlkMkF5cWxlc3JqNnhuWjcrTEZzTDF0WHVYek95VjZ3a2FjVzIybkgvdWJpYmlpdGNlblBPVG0zWlpRODY3NjF2Ync0NGR0VGhjYnB1WW5zVlZialVKc0dpNXkvcnJxSUtsNzVhV3FRdmZpblVtdXhxSFgzSE1yOXI3QzZ2TG5sdW5hb2QzcERQY1BLUUpGMDNzYjJpdzAxNmNtYTJsbXdzMTZOVHV1aXRhM3ZwdStVbGV2VzdYSzF1UWxBUVN2OS9MMm4wdk5sVXU1Zk02dTFWV3J1aldtdDNWR3ZXcjBXeXUyclhuRi9tMGplL0YrdWt3VWw2OGVzYzVSWTdOYVpQdkxxMENkZnQ3MlRKNVRuMDdkVUNOS0cvMllGNC95VEpaSlNPN1pjZ1NVcExzR2pGdHNxUWV3THRhOCtnZlhudzQ2MmE5bm0yVGg2YXBETkhwZXIvam04cmo5ZW52RktuN3ZzZytMNU9vVnc2UGtQdGs2MTY4T090UVgrR3BWVnVIZDYrTnB6cm14a2w5NS94NXd3QUFBQUFBSUJEaWpBSVFLTUdkbzdXdzFNNkt5YmNyS3RmM3FEeWFzOGZtbTlBcDJoZE5qNUR3N3JIYVBHR2NsWFc3SjdQb05wMldWSnQ4UEhMcG5KZE1LYU4vakVzV1hQWGxPclZiM05EdGxTemhoazBxbWVjVGh1Um9sRTlZNVZYNHRRVkw2N1h4cDAxNnBzWnBSTUdKdXJFUVVrNjk4ZzBiY3l0MGZTRitmcmkxMEsvNXdrVkJJM3BFNi9MeG1lb1IwYUVGcTR2MDhQVHR6V0VVNmMrdkVJWGpFM1hQOGVtNlppKzhWcTl2VXB2emNuVFYwdUxkaitYUVVxSUNsTjhWTzFmdWVjZW1hYlVPSXN5RXEzS1NMU3FyTnF0ZjA1YkczQmZ3MTVCeVpReC84L2VmWWZiVmRaNS8vL3NVM1BTZTRBa1FFSUpKZUJRQlZIYWpJZ0tPaFptMEZHWmNWQ3hqRGo2V01aNVJoLzFjWnpSY1Via3B6eFdzSUVVRzRLS0lrZ1ZwUWxJU3dJSjZUMDVKOG5wWisvZkg0RURNWVVrSkI1eTUvWDZpNzMyV210Lzk4bTV3blhsZmQzcjNpT1R4alRuTTFjOXZWcmxUMlBZcFRjdHp0aGhqV2xxV1AvWXNMZWZOakdQTG1qUE5YZHRYOVRZSGsvdE45UmIzWHhZUzliSG1lT25yUStBbS92Wjc2amZ2OEhOZGZtdmZ6Z2dKeHcwSXZjK3ZqYWZlTU9VMUZXU1g5eXorZFZQejFWTGMxM3FLNVhVMTFWU1N6SnpVVWNPbmpRNFAvN280Ym44MWlYNXdXK1hQdXYzT1g3YWlMejl0SW41dyt5MXVmSzJUWWV3QlN1Nk1tWllZL1llMTV5REp3M1pvYXVuQUFBQUFDaURHQVJzMHJqaGpUbi96TWs1ODVpeG1iK2lLMi85K3NQUGFkWExzUWNNejN2UG1KVEQ5eDJhZXg5Zm03ZGUrSER1bXJXbS8vMldwcm9jdGQvd3RLN3JUWkwwOXRYeW5Sc1g1L0pibHVUMUx4cWZ0NTIyVjc3OXZrTnk5Mk5yOHJGTEgwOWZ0WllYSFRRaVV5YTBaUHJlUXpOOW55RnBySy9raVdXZCtjTFY4M0xwelV2NlY4emNOM3R0N3B1OU5wLzcwZHljZU9qSXZQYTRjZm5nYS9iSisxKzlkNjYvYjJXK2VmMml6Rmk0K1VmWVRaczRPR3M3K3ZMMkx6MlNPMlpzK0hpdjd0NWF2bkxkZ2x4MnkrS2MvZUlKT2VPWXNabXp0Q05udjJSOFhuSFUyRXdZMlpSeHd4dlRVUDkwMlhuZnF5YW51N2VXaFN1N01uOTVWLzlLcUdlYU1LSXBVeWEwWk5YYW5pVHI5eHY2cDFkT3prOSt0enkzUExSNmczTTN0YS9OMWY5NitBYXY3L3ZDMCtkY2VkdlNmT3FLT1p2OXZrbHl5bUdqTm5uZnpSazd2REUzZk9xSS90ZTlmYlU4c29uSEFuN3hiUWZtNU9rak56alcyVlBOZlhQV2JIQnNSLy8rblhmNnhMejQ0Qkg1ekZWUDVJcmJsdVEvM3JKL1Budk8vbm5QSzdweTkyTnRXZHJhazY2ZWFycDdxK25wcmVXdVdXMjViODZhL1AycGU2YWh2cExHaGtvYTZ5dHBySy9Mdy9QWDVjWUhWcVczcjVaSlk1dFRYNWQwOVZRemFraERUcG8rS2dkTkdwd2o5eHVXQS9jYW5NN3VhbjV4ejRxYy8vWEZlV3h4UjZaT2FNbmZuVFFoNTUwK01lOTgrY1JjYytlS2ZPVzZCVm5YMlpmZXZsckdqMXovdTFLdEprZnZQeXdYdk8yQXJGemJrdzllTWl0OW0ybHJ2MzIwTmU5NitjUmMvc0hwYVc2czlLKzBBd0FBQUlDbmlFSEFKclYzVmJQbnFPWjg0L3FGK2RvdkY2YWplOHVyUEo1TmIxOHRsVW9sNy9wL2orYldoOWYvWTNWTFUxMSsrOW1qVS9lTUZURGZ1WEhEZlhhNmUydTU5T1lsK2RFZHkvSjNKKzJSRXc0ZWtVV3J1ak55U0VQZThiS0pXYjJ1TjQ4dDdzaDE5NjdJblRQYk1uTlJ4eFpudU9IK1ZibmgvbFVaUDZJeHJ6MStmRjUrNUpoMGRHOTZkY1piTDN4NnRjNUZXYkRGNzlmVzNwZXYvbkpodnZyTGhVbVNhUk9IWk5LWTVzeGYwWlc3WjYzSmdwV2RtYis4Sy9OWHJBOUFtOXIzNklPdjJUdHZQbm1QRFk1ZGQrLzZGVVk5ZmRYODVvRlZtM3pFMk9iMnZkbWMyVXMzL2NpOVovcmozSFc1K1BwRm0zMS8wdGptL1BPckp2ZS9YdDdXa3kvL2ZFR2FHaXJwN3EzbDFvZFdaOUdxamIvamJRK3ZUa3RUWGRxN3F1bnFxV1paVzNldXVYTjVscmIyYkhEZWp2NzkrOEh0eTlMWGwxejI1S3FaRDE0eUs5ZmVOVEpuSEQwMjAvY1ptcEZER3RMVVVFbFRRMTBhR3lwcHFLdWtXa3VxMVZyNnFrbTFWa3RmdFpacU5mbnR0MXJ6MThlTnk3KzhicC8rKzk4L1oxMDZlNnA1NjEvdG1iYjIzdHcxcXkwWFhqTS9kODVzNjQrU1NmTDRrbzU4Nm9vNXVmRGErWG5EaVJOeTBxRWpzNjZ6TDJlZE1INkRuK2VqQzlxelpIVjNIcHEzTGgrL2RIYVdyTjc4UGxuM3pWNmI3OTYwT0s4N2ZueCtkdmVLL1BaUk1RZ0FBQUNBRFZWcXRack5CUWJRZlhQVzVzUGZlaXpMMjdyem4rZnNuNzg4Zk5SQWo4UXU1dkR6dDd6UHpQUGRLNDhla3lITjlVbVN1Y3M3YzhlamJjOXlSYmxPT1d4a3puclJoS3p0N0V0N1YxOW1MbXJQbGJjdFRYZnZ6dnRyK3BESlEvTDkvM1ZvenJuZ29kejcrUG9WU2xkK2FIb1dydXpLK1YrZithelh2ZWVyTTNMemc2czNlMTZwcGt3WWxET1BHWnUrYW5MM3JMYU5Wb3h0cTMzR0RjcUowMGVtdmxMSnJFWHQvY0gwK2VpaTg2YmxoSU5IRFBRWUFBQUFBR3dETVdpQWlVRThWN3Q2REFKMkxXSVFBQUFBd0s3SFkrS2VKNnExWk5haTlneHZxUi9vVWRpRlZDcVZaejhKQUFBQUFJRGRtaGcwd09vcWxWUXE2L2N5K2ZhTlMvTDlXNVlPOUVnQUFBQUFBRUJCeEtBQk5uNUVZeWFQSFpUT3Jka2MvVThXZ1R6OWhML0s1azdaS2x0K1V1RFczM0dEKzJ6VlpacythVWM5dVhDcmJyTVZjMjQ4ejNhdXh0bWVnVGJ4VWMrY3g4SWdBQUFBQUFDZWpSZzB3Q2FNYk1wL3YzWC90TGIzSnRsRUwzam02eWYvNGY5UEk5Q0dzZUxKWTlud1JwdnFFRThkZTJaUTJPeTlLeHRmdDhWN1o5UDNxVHpqUm45Njd5M051TG52dnVsakc5OW9zek52emMvMFQrYnIvNVN0K041YnZQZFcvRXlmN2MrbVVxbmtyUmMrdlBFZy9ObTBOTlhsb25kT3k3ZHVXSlFiSDFnOTBPTnNzLzl6OXBTODl2aHgrZEMzWnVVWDk2d2M2SEVBQUFBQWdKMUFESG9lR0Rxb1BrTUgyU3NJZGtYbm56azVSMDRkbHN0M3dDTWV2L3YrUTlMZFUzdk9nZStjVS9mSUIxNjk5d2JIbHJSMjU2VWYrOE1HeC9iZnN5V3ZmdUc0OVBiVjhwcmp4bTB4QnIzK1JlTnkyRDVEOC9ITFptLzJuQ2tUQnVVbkh6MDgvL2VLT2JuaXRzMy9QRjV6M1BwN2ZmTHl6ZDhMQUFBQUFOaHh4Q0NBN1hUYUVhUHp4aE1uNUVkM0xNdlA3MW1SSkhuN2FYdmxQYStjOUt6WC91S2VsZm5RdDJadDhad0pJNXJ5cTAvK3hWYk5jdGt0Uy9LWnE1N29mOTNWVThzSExwNlpKRG5qNkxFNVlyK2hHNXpmMUZESlo5NjhYeGF2N3NySEw1MmRyNzc3b0p6MkY2UHp5ejlzT2doTkhqc29yemx1WEJhdjdzNUZQMSt3eVhQcW5seksxbGZkOGlNUkQ5OTNhRjUzL0xqTVg5R1piMTYvS0VueStiZnVuNWUrWVBSV2ZkZW4vTnYzSHM5UGZyOThtNjRCQUFBQWdOMlJHQVN3SFk2WU9qU2ZldVBVM1AzWW1uenFpam45eDM4M3N5MjlQNTMzck5jL3ZyampXYzlaMjltWGkzNng2ZkR5bE1iNlNzNTk2VjRiSGEvV2FybjV3ZldQclR0ODM2RWJ4YUQvL1RmN1p2ODlCK2Z0WDM0NGQ4NWNrMHR2WHB5UG5UMGxEODFibC9rcnVqYTYzd1UvblplREpnM09PMCtmbURsTE92dmoxek05OVZqRDNtZUpRWisrY2s0TzJMTWw1NTh4T2JPWGRPYkdCMWJsNnQ4dHovMXoxbTUwN2hGVGh1WFV3MGZsRzc5YWxOWHRQUnU4OThlNTY3YjRPUUFBQUFEQWVtSVF3RFk2WXVyUWZPa2QwL0xFc3M2Yy8vVVo2ZTE3T243Y04zdHQ3cHU5Y2RUWW5BKzhldStjYytvZUd4eTcvNEpqa3lTZi9lSGN6YTdDZVVwTFU5MG1ZOUNXZlBBMWUrZXZYemd1WC9qcHZOdzVjMDJTNUw5L01pL1Q5eDZhTDc3dHdQempoUTluMWJyZURhNnAxcElQWGZKWXJ2cnc5SHp5alZNeloybEhIcDdmdnNFNWpmVmJ0ektvdDYrV0QzeHpWcTc2eVBSODVzMzc1VzgrOTBCdWVuQjFibnB3NDNPN1gxTExxWWVQeWcvdldKcDV5emVPVkFBQUFBREFzeE9EQUxiQkNRZVB5QVhuSHBoWml6cnlqaTgva3JiMnZyejVsRDB5YVV4elB2L2p1ZW51M1hJSStWUFgzTFU4RDg1Ykg0L2U4NHJKNmExVzgvK2VYQTMwOEx6MkxWMjZ6ZXJya28rK2Z0K2NkY0w0L09DM3kvb2YwWmFzRHpUdis4YU1YUExlUTNMeCtRZm5IVjkrTkV0V2QyOXdmV3Q3Yno1NHlhejh3MS91bWJuTE5nNHpEVS9Gb0w1bm4yVkphM2MrZnRuc25EeDlaQmF1N0g3MkN3QUFBQUNBN1NZR0FXeURCU3U2Y3V0RHEvTXYzM2tzSGQzVmpCelNrUE5lTmpHUEwrN1k1aENVSkk4dWFNK2pDOVpIbnplZHZFZTZlMnI1eFQyYjNyZG5XN1EwMWZXdk1FcVMrU3U2OGovL2VHQk9uajR5djdwdlpUNTErZXlOcmxtNXBqZC8vOFdIOHJWM0had2ZmUGl3ZlBMeTJSdnRJZlNIMld0ei90ZG5idkl6QnpmWEowbEdEOXU2LzdYY2NQK3EzSEQvcXEzOVNnQUFBQURBZGhLREFMYkJuS1dkZWQ4M25vNGg3My8xNUxRMDErV1RWMndjVjU2cllTMzFXZE94RmN0c05xR3JwNVlQWEx4K3pqT09IcHNqOWh1YWgrYXRTMGQzWDQ3Y2Ixais4SVZqTjN2dGhkZk96OVFKTFJreXFENFhuVGN0Snh3OG92Kzl6MXoxUkM2N1pja21yeHN5YUgwTW1qcWhaYlAzdnVEY0EzTEtZYVA2WDUvMTJULzJ4N0NtaGtydSt2d3grY0pQNTIyd2Fna0FBQUFBZUc3RUlJRHQ5T0pEUnVTdlh6Z3VsOXl3S0RNWGR1VC9uRDBscnoxKzNGWmZmOWVzTlhucmhROXZjS3lscVM1dlBubVAvTzJMSitTN055M0s5MjladWwyelZXdTEzUHpnNmlUSjRmc096Ukg3RGMzRnYxNlk3dDVhVGp4a1pGcWE2elo3N2NQejJ2UEVzczRreWJLMjd0end3S29NYTZuUCs4NmN2TVhQbkR5Mk9VbHl5T1FobXozbjhsdVg1dGFIVzNQd3BNRjUvWXZHYit2WEFnQUFBQUMyZ3hnRXNCM0dEVy9NSjk4d05VbHl5YS9YcjJLNS9yNlZtYnU4YzVQbnYvclljWmswdGpsZit0bjgvbU9MVjYzZksyZlVrSWI4MVYrTXpxUXhneko2YUVNT25EZzROejZ3S25mTldwUFB2M1gvdlBRRm8zZkl6RjA5Nng5amQ5T1RrYWl4dnBLclBueFlQditUdWYzaGFLL1JUZm55ZWRQeTZTdm41TTZaYTNMclE2MUprZ2tqbXA0MUJ1Mi94K0QwVm1zNWFOS1FER211ejdxdWpWYzEzZjdJK3Z1OTlBV2p0eWtHWGZ0dkw5amc5YS91VzVrUGZIUFdWbDhQQUFBQUFMc3pNUWhnR3pVMVZITEIydzdNMk9HTlNaS2V2dldSNWRhSFczUHJ3NjJidk9iSXFjT3l4NmltalI1LzlxSFg3cDAzdkdTUDFGV1MzbW90TXhkMjVCOHVmQ2h0N2V0RHluWDNyc3lzUlIyYm5hV3h2cEp6WDdyWFZzLys5NmZ1bVNPbURzMzVYNStabnI1YXFyVmFqdHB2V0g4TWV0a1JZekoxUWt0V3JlM2Q2bnMrNVlVSERzKzFkNjNJS2ROSDVjV0hqTWgxOXo3M3ZZK2U4bzFmTGNycTlwNysxM09XYkRxNkFRQUFBQUFiRTRNQXRrRlRReVZmT1BmQUhEcDVTR1l2NmN5VUNZT2UwLzJxMWVUU214Zm4rN2NzeVdmZXNsKzZlMnI5SVNoSmZ2a3NRYVdscVc2akdGUkpKUzFOZGJuL2dxZjNCVnJTdW40VjB0ck92cHg0NktpTUdOeVExdmJlM1B2NDJodzVkVmovZVM4N1lreG1MdXpZWW9EYWxFTW1EOGtlbzVweTR3T3JVbCtwNUJWSGpkMmhNZWlIZHl6TnZPVmRPK3grQUFBQUFMQTcyZnltRVFCczVMelRKK2JGQjQvSXA2K2NrOXNlV2YyYzcvZGZQNTZiei8xbzdnNE5IYzJOZFducjZNdDd2am9qNy9ucWpQemlucWVqekcvK3VDcDFsZVRFUTBjbVNlNmZzemFIN0Qwa1RRMlZUQnJUbkVNbUQ4N1A3bG4rckovUldGL0pwOTQ0TmZWUC9sL2s3SmVNejlyT3Z2ejJrZGI4K3Y2Vk9XbjZ5T3c5cm5tcjVoM2VVcDlYSHp0MjI3OG9BQUFBQUxCVnhDQ0FiZkNiQjFibkN6K2RseXR1V3pyUW8yeFdTM05kbHJWMjUrWUhWK2ZtQjFkdnNJL1I4cmFlUExLZ1BTYzlHWU1lbnI4dWpmV1ZITGJQMEp4KzVKalVhc25QNzE2eHhmdVBHTnlRcjczbm9MenN5TkVaTmJReFV5WU15aG5Iak0yM2JsaWNqdTVxYm54Z1ZlWXY3OHE3WGo1cHErYjkyTmxUY3RMMFVkdi9oUUVBQUFDQUxSS0RBTGJCL1UrczNXamZuK2ViOGNPYnNtUjE5MmJmdjNObVc0NDdhRVRxNjVMSEZuVmt3Y3F1akJ6U2tOT1BISjI3WnEzSndwV2J2M2FmOFlQeXZmY2ZtbjNIdCtUY0N4L0p5alU5K2RqZlRzbWFqcjU4NXpmcmZ5N1ZXdksxWHk3SUs0NGFreE1PSHJIRldkL3drZ2s1YnRxSWZQR2FlZHYzWlFFQUFBQ0FaeVVHQVJSbTczSE5lV1JCKzJiZi85Mk10c3haMnBIUlF4dlRXNjNsNVorNEw0OHQ3c2lCZXczTzFYY3UyK1ExSTRhczMyTHVqU2RPU0YrMWxqZjk5NE81LzRtMStlZFg3WjBqcGc3THYzNzNzYlIzVmZ2UHYrYXU1Zm5qM0hYNWo3ZnNsOGxqTjM1YzNNaWg2Ky8zcW1QSDV2M2ZtSms1U3pzM09nY0FBQUFBMkRIRUlJQS9nMUZERzFPdDFUWTZQcmk1TG9NYTZ6SjhjSDMySE5XY25yN3FKcTdlZXMyTmxSdzBhVWp1bXRuV2Y2eStVa2xxNnlQUjZVZU96cEJCZGZudWJ4Ym5xUDJINWZRalIrZjBJMGZuM0pmdWxTUnBxS3YwSHhzM3ZMSC9IcWNmT1RwSmN0ZXNOWG56L3p5WStTdTZjdDdwRTNQT3FYdmtTeitibjFzZmF0MWdqcjVxOHI4dW5wbEtLcm40dllkay96MWJObmovaElQV3J4ajY5NnVleU8rZk1Tc0FBQUFBc09NMURQUUFBS1ZwYnF6a3dyZE55N3F1dnF6cjdNdTRFWTA1Yko4aG1iRnc0OVU2cno1MlhQN2w5ZnYwdi83UkhldjYvL3V1engrVHBvYktObjMyOGROR3BMMnJMM2M4MnBaSlk1cHp6QUhEYzlvUm83TjZYVzlPT0dqa0JwKzFLUjgvZTByL2Y3L25xek95N01IVlNaSWYvMjVacGswY25BOThjMVpxcWVYVGI1cWFNNDhabTIvOGFsRys5c3VGbTd6WHdwWGQrY0RGTTNQQnVRZm1lKzgvTkovOC91eGMrK1IrUk5mZnZ6SkxXcnR6MWUxTDg4MS9PamhIN3orcy83cjNuVGs1N3p0ejhnYjN1dmJmWHJEUi9XOThZRlhPLy9yTXJmdkJBQUFBQU1CdVRBd0MyTUc2ZW1yWmI4K1cvcFUxMVZveVoybG5QblBWRXh1ZGU4ZU0xbHo4NjBXcDFaSzV5enR6OWUrWDk3LzM1Wi9QVDBQZGxtTlFZME1sNzNqWnhQN1haeHc5TnBmY3NDaTkxVm8rOVhkVGMrVFVZVm0xcmpkZnVIcGVmblhmeWx4Mnk1THQrazV6bDNYbDNWK1prU1JwYWFyTDBFRU4rZVRsczNQVjdadCtyTnhUZmplakxlZGM4RkQrOWF4OTg0ZlphL3VQWDNQbmlseHo1L293ZFBtdFMzTFRnNnUyWXlhUGxnTUFBQUNBclZHcDFUYngzQ0pnbDNINCtiOGY2QkhZakVvbHFTU3BKZGxaZjlPMk5OWGxkNTg3T3BmZHNtU1RzUWwydEl2T201WVREaDR4MEdNQUFBQUFzQTJzREFMWVNXcTE5U0ZvWityb3JncUNBQUFBQU1BVzFRMzBBQUFBQUFBQUFPdzhZaEFBQUFBQUFFREJ4Q0FBQUFBQUFJQ0NpVUVBQUFBQUFBQUZFNE1BQUFBQUFBQUtKZ1lCQUFBQUFBQVVUQXdDQUFBQUFBQW9tQmdFQUFBQUFBQlFNREVJQUFBQUFBQ2dZR0lRQUFBQUFBQkF3Y1FnQUFBQUFBQ0Fnb2xCQUFBQUFBQUFCUk9EQUFBQUFBQUFDaVlHQVFBQUFBQUFGRXdNQWdBQUFBQUFLSmdZQkFBQUFBQUFVREF4Q0FBQUFBQUFvR0JpRUFBQUFBQUFRTUhFSUFBQUFBQUFnSUtKUVFBQUFBQUFBQVVUZ3dBQUFBQUFBQW9tQmdFQUFBQUFBQlJNREFJQUFBQUFBQ2hZdzBBUEFEdzMweVlPSHVnUmdIMHBBQzhBQUNBQVNVUkJWTjNJNE9iNmdSNEJBQUFBZ0cxVXFkVnF0WUVlQWdBQUFBQUFnSjNEWStJQUFBQUFBQUFLSmdZQkFBQUFBQUFVVEF3Q0FBQUFBQUFvbUJnRUFBQUFBQUJRTURFSUFBQUFBQUNnWUdJUUFBQUFBQUJBd2NRZ0FBQUFBQUNBZ29sQkFBQUFBQUFBQlJPREFBQUFBQUFBQ2lZR0FRQUFBQUFBRkV3TUFnQUFBQUFBS0pnWUJBQUFBQUFBVURBeENBQUFBQUFBb0dCaUVBQUFBQUFBUU1IRUlBQUFBQUFBZ0lLSlFRQUFBQUFBQUFVVGd3QUFBQUFBQUFvbUJnRUFBQUFBQUJSTURBSUFBQUFBQUNpWUdBUUFBQUFBQUZBd01RZ0FBQUFBQUtCZ1loQUFBQUFBQUVEQnhDQUFBQUFBQUlDQ2lVRUFBQUFBQUFBRkU0TUFBQUFBQUFBS0pnWUJBQUFBQUFBVVRBd0NBQUFBQUFBb21CZ0VBQUFBQUFCUU1ERUlBQUFBQUFDZ1lHSVFBQUFBQUFCQXdjUWdBQUFBQUFDQWdvbEJBQUFBQUFBQUJST0RBQUFBQUFBQUNpWUdBUUFBQUFBQUZFd01BZ0FBQUFBQUtKZ1lCQUFBQUFBQVVEQXhDQUFBQUFBQW9HQmlFQUFBQUFBQVFNSEVJQUFBQUFBQWdJS0pRUUFBQUFBQUFBVVRnd0FBQUFBQUFBb21CZ0VBQUFBQUFCUk1EQUlBQUFBQUFDaVlHQVFBQUFBQUFGQXdNUWdBQUFBQUFLQmdZaEFBQUFBQUFFREJ4Q0FBQUFBQUFJQ0NpVUVBQUFBQUFBQUZFNE1BQUFBQUFBQUtKZ1lCQUFBQUFBQVVUQXdDQUFBQUFBQW9tQmdFQUFBQUFBQlFNREVJQUFBQUFBQ2dZR0lRQUFBQUFBQkF3Y1FnQUFBQUFBQ0Fnb2xCQUFBQUFBQUFCUk9EQUFBQUFBQUFDaVlHQVFBQUFBQUFGRXdNQWdBQUFBQUFLSmdZQkFBQUFBQUFVREF4Q0FBQUFBQUFvR0JpRUFBQUFBQUFRTUhFSUFBQUFBQUFnSUtKUVFBQUFBQUFBQVVUZ3dBQUFBQUFBQW9tQmdFQUFBQUFBQlJNREFJQUFBQUFBQ2lZR0FRQUFBQUFBRkF3TVFnQUFBQUFBS0JnWWhBQUFBQUFBRURCeENBQUFBQUFBSUNDaVVFQUFBQUFBQUFGRTRNQUFBQUFBQUFLSmdZQkFBQUFBQUFVVEF3Q0FBQUFBQUFvbUJnRUFBQUFBQUJRTURFSUFBQUFBQUNnWUdJUUFBQUFBQUJBd2NRZ0FBQUFBQUNBZ29sQkFBQUFBQUFBQlJPREFBQUFBQUFBQ2lZR0FRQUFBQUFBRkV3TUFnQUFBQUFBS0pnWUJBQUFBQUFBVURBeENBQUFBQUFBb0dCaUVBQUFBQUFBUU1IRUlBQUFBQUFBZ0lLSlFRQUFBQUFBQUFVVGd3QUFBQUFBQUFvbUJnRUFBQUFBQUJSTURBSUFBQUFBQUNpWUdBUUFBQUFBQUZBd01RZ0FBQUFBQUtCZ1loQUFBQUFBQUVEQnhDQUFBQUFBQUlDQ2lVRUFBQUFBQUFBRkU0TUFBQUFBQUFBS0pnWUJBQUFBQUFBVVRBd0NBQUFBQUFBb21CZ0VBQUFBQUFCUU1ERUlBQUFBQUFDZ1lHSVFBQUFBQUFCQXdjUWdBQUFBQUFDQWdvbEJBQUFBQUFBQUJST0RBQUFBQUFBQUNpWUdBUUFBQUFBQUZFd01BZ0FBQUFBQUtKZ1lCQUFBQUFBQVVEQXhDQUFBQUFBQW9HQmlFQUFBQUFBQVFNSEVJQUFBQUFBQWdJS0pRUUFBQUFBQUFBVVRnd0FBQUFBQUFBb21CZ0VBQUFBQUFCUk1EQUlBQUFBQUFDaVlHQVFBQUFBQUFGQXdNUWdBQUFBQUFLQmdZaEFBQUFBQUFFREJ4Q0FBQUFBQUFJQ0NpVUVBQUFBQUFBQUZFNE1BQUFBQUFBQUtKZ1lCQUFBQUFBQVVUQXdDQUFBQUFBQW9tQmdFQUFBQUFBQlFNREVJQUFBQUFBQ2dZR0lRQUFBQUFBQkF3Y1FnQUFBQUFBQ0Fnb2xCQUFBQUFBQUFCUk9EQUFBQUFBQUFDaVlHQVFBQUFBQUFGRXdNQWdBQUFBQUFLSmdZQkFBQUFBQUFVREF4Q0FBQUFBQUFvR0JpRUFBQUFBQUFRTUhFSUFBQUFBQUFnSUtKUVFBQUFBQUFBQVVUZ3dBQUFBQUFBQW9tQmdFQUFBQUFBQlJNREFJQUFBQUFBQ2lZR0FRQUFBQUFBRkF3TVFnQUFBQUFBS0JnWWhBQUFBQUFBRURCeENBQUFBQUFBSUNDaVVFQUFBQUFBQUFGRTRNQUFBQUFBQUFLSmdZQkFBQUFBQUFVVEF3Q0FBQUFBQUFvbUJnRUFBQUFBQUJRTURFSUFBQUFBQUNnWUdJUUFBQUFBQUJBd2NRZ0FBQUFBQUNBZ29sQkFBQUFBQUFBQlJPREFBQUFBQUFBQ2lZR0FRQUFBQUFBRkV3TUFnQUFBQUFBS0pnWUJBQUFBQUFBVURBeENBQUFBQUFBb0dCaUVBQUFBQUFBUU1IRUlBQUFBQUFBZ0lLSlFRQUFBQUFBQUFVVGd3QUFBQUFBQUFvbUJnRUFBQUFBQUJSTURBSUFBQUFBQUNpWUdBUUFBQUFBQUZBd01RZ0FBQUFBQUtCZ1loQUFBQUFBQUVEQnhDQUFBQUFBQUlDQ2lVRUFBQUFBQUFBRkU0TUFBQUFBQUFBS0pnWUJBQUFBQUFBVVRBd0NBQUFBQUFBb21CZ0VBQUFBQUFCUU1ERUlBQUFBQUFDZ1lHSVFBQUFBQUFCQXdjUWdBQUFBQUFDQWdvbEJBQUFBQUFBQUJST0RBQUFBQUFBQUNpWUdBUUFBQUFBQUZFd01BZ0FBQUFBQUtKZ1lCQUFBQUFBQVVEQXhDQUFBQUFBQW9HQmlFQUFBQUFBQVFNSEVJQUFBQUFBQWdJS0pRUUFBQUFBQUFBVVRnd0FBQUFBQUFBb21CZ0VBQUFBQUFCUk1EQUlBQUFBQUFDaVlHQVFBQUFBQUFGQXdNUWdBQUFBQUFLQmdZaEFBQUFBQUFFREJ4Q0FBQUFBQUFJQ0NpVUVBQUFBQUFBQUZFNE1BQUFBQUFBQUtKZ1lCQUFBQUFBQVVUQXdDQUFBQUFBQW9tQmdFQUFBQUFBQlFNREVJQUFBQUFBQ2dZR0lRQUFBQUFBQkF3Y1FnQUFBQUFBQ0Fnb2xCQUFBQUFBQUFCUk9EQUFBQUFBQUFDaVlHQVFBQUFBQUFGRXdNQWdBQUFBQUFLSmdZQkFBQUFBQUFVREF4Q0FBQUFBQUFvR0JpRUFBQUFBQUFRTUhFSUFBQUFBQUFnSUtKUVFBQUFBQUFBQVVUZ3dBQUFBQUFBQW9tQmdFQUFBQUFBQlJNREFJQUFBQUFBQ2lZR0FRQUFBQUFBRkF3TVFnQUFBQUFBS0JnWWhBQUFBQUFBRURCeENBQUFBQUFBSUNDaVVFQUFBQUFBQUFGRTRNQUFBQUFBQUFLSmdZQkFBQUFBQUFVVEF3Q0FBQUFBQUFvbUJnRUFBQUFBQUJRTURFSUFBQUFBQUNnWUdJUUFBQUFBQUJBd2NRZ0FBQUFBQUNBZ29sQkFBQUFBQUFBQlJPREFBQUFBQUFBQ2lZR0FRQUFBQUFBRkV3TUFnQUFBQUFBS0pnWUJBQUFBQUFBVURBeENBQUFBQUFBb0dCaUVBQUFBQUFBUU1IRUlBQUFBQUFBZ0lLSlFRQUFBQUFBQUFVVGd3QUFBQUFBQUFvbUJnRUFBQUFBQUJSTURBSUFBQUFBQUNpWUdBUUFBQUFBQUZBd01RZ0FBQUFBQUtCZ1loQUFBQUFBQUVEQnhDQUFBQUFBQUlDQ2lVRUFBQUFBQUFBRkU0TUFBQUFBQUFBS0pnWUJBQUFBQUFBVVRBd0NBQUFBQUFBb21CZ0VBQUFBQUFCUU1ERUlBQUFBQUFDZ1lHSVFBQUFBQUFCQXdjUWdBQUFBQUFDQWdvbEJBQUFBQUFBQUJST0RBQUFBQUFBQUNpWUdBUUFBQUFBQUZFd01BZ0FBQUFBQUtKZ1lCQUFBQUFBQVVEQXhDQUFBQUFBQW9HQmlFQUFBQUFBQVFNSEVJQUFBQUFBQWdJS0pRUUFBQUFBQUFBVVRnd0FBQUFBQUFBb21CZ0VBQUFBQUFCUk1EQUlBQUFBQUFDaVlHQVFBQUFBQUFGQXdNUWdBQUFBQUFLQmdZaEFBQUFBQUFFREJ4Q0FBQUFBQUFJQ0NpVUVBQUFBQUFBQUZFNE1BQUFBQUFBQUtKZ1lCQUFBQUFBQVVUQXdDQUFBQUFBQW9tQmdFQUFBQUFBQlFNREVJQUFBQUFBQ2dZR0lRQUFBQUFBQkF3Y1FnQUFBQUFBQ0Fnb2xCQUFBQUFBQUFCUk9EQUFBQUFBQUFDaVlHQVFBQUFBQUFGRXdNQWdBQUFBQUFLSmdZQkFBQUFBQUFVREF4Q0FBQUFBQUFvR0JpRUFBQUFBQUFRTUhFSUFBQUFBQUFnSUtKUVFBQUFBQUFBQVVUZ3dBQUFBQUFBQW9tQmdFQUFBQUFBQlJNREFJQUFBQUFBQ2lZR0FRQUFBQUFBRkF3TVFnQUFBQUFBS0JnWWhBQUFBQUFBRURCeENBQUFBQUFBSUNDaVVFQUFBQUFBQUFGRTRNQUFBQUFBQUFLSmdZQkFBQUFBQUFVVEF3Q0FBQUFBQUFvbUJnRUFBQUFBQUJRTURFSUFBQUFBQUNnWUdJUUFBQUFBQUJBd2NRZ0FBQUFBQUNBZ29sQkFBQUFBQUFBQlJPREFBQUFBQUFBQ2lZR0FRQUFBQUFBRkV3TUFnQUFBQUFBS0pnWUJBQUFBQUFBVURBeENBQUFBQUFBb0dBTkF6MEFBQUFBQUFDd2N5MXQ3VTV6UTExR0RHbEliMTh0RHp5eE5uT1hkMlhwNnU2c1hOdXp3Ymw3akdyS09hZnMyZi82b2w4c3lGNmptNU1rZFpWazRwaEJHZEpjbDJFdDlmM0hlWDRUZ3dBQUFBQUFZQmRVclNYVmFpME45WlVreVpxT3Z0dzVzeTJQTCtuSTdDVWRtYnVzSy9OV2RHWGxtcDRNYWE3TFIxNjNUMTc5d25IcDdxM202dDh2ejAvdlhKNjZTaVdWeW9iM1BYalNrUDRZOU1TeXpseDgvYUpVYTdXblA3ZWExRkpMVXNrLy9PV2VlZThaazVJa2R6KzJKZy9OVzVjcEUxcHk0RjZETTNSUWZlcnFrdnBLSmZYMVNkMmZmaEIvTnBWYTdSbC9nZ0FBQUFBQXdQTlNSM2MxUzF1N3MzQmxWMXJYOVdiZThxNHNhKzNPUjgvYU44bjYxVDluZis3QkRCbFVuNkdENmpOaVNFTUdOOWRsY0hOOXhnMXZ6Q21IamNyaCt3NU50VnJMck1VZG1iZThLMk9HTldaNFMvMEduOVBjV0plSlk5YXYrT25zcVdibXd2WXNiVjIvZXFoYXJXVlphM2ZhdTZ0cGErL05DUWVQekFzUEhKNXFOYm40aGtYNXdlMUwwOTdWbDlYcmVqTitSRk1tam1uT3hESE5tYjczMEp6OWt2RkprdDYrV3JwN3F4bmN2T0huc3ZPSVFRQUFBQUFBOER4Mng2T3R1ZjYrVlhsa1FYdmEybnV6Y20xUE9ycXJHVG00SVlmdk96VC84NDhIOUovN3lQeDFHZFJVbDBHTjZ5TlFjMk5kbWh2cmR2cU10Vm90cmUxOVdibW1KMTI5MWJSMzlXWE9rcTQ4c2F3amp5NW9UMzE5SlY5K3g3UWt5ZHhsWGZuWDd6MldneVlPemxIN0Q4djB2WWRtMGhpUG05dVp4Q0FBQUFBQUFIZ2U2SzNXMHROVHk3d1ZYYW12Uy9iYm95Vko4dlZmTHN6Rk55ekswRUgxT1duNnlMendnT0U1Zk1yUWpCdmVOTUFUYjUrN1o2M0pSNzQ5SzIwZGZlbnRxNlZhcStXZ1NVTnl5bUdqY3NZeFl6TitlR1AvbysvWU1jUWdBQUFBQUFBWUlOMjkxY3haMnBrWkM5dno0TngxdVdOR1c1NVkycGszbjd4SDN2MktTV2xxcUdUeHF1NnM2K3JyajBNbGVPcFJkVE9mL042ekZuZGs0Y3F1ekYzV2xXLyswMEU1ZXYvaFNaTGxiVDBaUHJnK1RRMDdmM1ZUeWNRZ0FBQUFBQUFZQURmOWNYVitldWZ5ekZyY25vVXJ1N1BucUtZY2U4RHdISHZBOEJ5dzErQk1IdHVjK3JyeVY4alVhcldzWE51YnBhM2RXYlN5TzhjY01EekRudHpINlAzZm5KWEcrdVM0QTBma3hPa2pNMlpZNHdCUHUydHFHT2dCQUFBQUFBQ2dkTFZhTFYyOXRWU1MvajE4SHB5N0xuZk5hc3ZKMDBmbEUyZVB5d3VtREIzWUlRZElwVkxKbUdHTkdUT3NNUWRQR3JMQmUwT2FLN25sb2ZWN0pqWDhzSkpYSGowbTU1NDJNYU9ITktTNXNTNlY4bHZaRG1GbEVBQUFBQUFBN0VTUExlN0lmYlBYNU5xN1ZtVFMyRUg1dDcvWk53MzFsYXpyN0V0UFh5MGpoMWkzc1NVcjEvYmt0NCswNXZjejIvS0gyV3N6ZTBsblRwNCtNdWVmT2Jtb1IrZnRUSDdEQUFBQUFBQmdKM2g4U1dlK2Y4dVMzRDFyVFJhdTZzcTBpWU56MHZTUi9lOFBHVlEvZ05QdE9rWVBiY3dyang2YnYzckI2RHl4ckRNekZuYmswUVhyMGxDL2ZsblF1czYrdExiM1pxL1J6UU04NmZPWGxVRUFBQUFBQUxBRHRYWDA1VDkrTUNlL3VHZGxldnRxT2VhQVlmbm5WKzJkUXljUFRzVnp6WGE0ZXg5Zmt3OWNQQ3NuSERRaTczdlZaUHNLYllJWUJBQUFBQUFBTzlDdjcxK1YvKy9hZVRudXdCRTU5ZkJST2VhQTRRTTlVdEVXcnV6S3QyOWNuRnNlV3AyMjlyNjg4dWd4K2FzWGpNcGgrd3p0MzU5cGR5Y0dBUUFBQUFEQWN6Qi9lVmN1dldWSjNuZm01RFExVk5KYlRXWXZicy9lNHdhSkVYOG0zYjNWekZyVWtSc2ZXSlVmM0w0c0RmV1ZuSExZcUp4OTRvUk1HVDlvb01jYmNHSVFBQUFBQUFCc3ArdnZYNVZQWHpFN0s5YjA1ai9mc2w5ZWZ0U1lnUjVwdDdkcWJVOHV2SForcnJwOVdVNDViRlErZTg1K3UzMlVFNE1BQUFBQUFHQWI5UFJXYy84VDYzTEpyeGZsZHpQYmN2ZytRL0ttay9mSXlkTkhEZlJvUE1Qdlo3UmwrT0NHVEp2WWtsb3FXYlNxSytPR042V3BZZmZidDBrTUFnQUFBQUNBcmRUZTFaZXZYTGN3MTl5NVBJMzFsYnpuakVrNTRhQVJHVFcwY2FCSFl3c1dyT3pLSjc0L0oyT0hOZVJkTDUrVVNXT2JCM3FrUDZ1R2dSNEFBQUFBQUFCMkZmOSsxUk81OXE3bGVjMXg0L0t4djUweTBPT3dsVVlOYWNnKzQ1cHo1VzFMYytmTU5mbjN0K3lYby9jYm1rcGw5MWdsWkdVUUFBQUFBQUJzUVVkM1gxcWE2cE1rN2QzVjNQYnc2cHgwNk1nME5lemUrOURzaW43MWg1WDV4dldMc21CbFY4NDVkWSs4NnBpeEdUK2lhYURIMnVuRUlBQUFBQUFBMkl4Rks3dnpueitjazdlY3NtZU8zRy9ZUUkvRERyQmtkWGN1dlhseHZuM2o0aHk5Ly9DODZ4V1Rjc1NVb1FNOTFrNGxXd0lBQUFBQXdDWTh2cVFqNy83cW83bmhnZFc1NS9HMmdSNkhIV1RDeUtiODg2djJ6Z1gvZUdBZW5Mc3VkODVzVGJWYTlyb1pLNE1BQUFBQUFPQVorcXExM1Bwd2F5NjRlbDU2cTdXODgvU0plZmxSWXdaNkxIYUN4YXU3TTZpaExpT0hOcVN2V2t1MW1qUTJsTGVQa0JnRUFBQUFBQUJQNnFzbVA3MXpXZjdyeDNOendKNkQ4OTR6SnVXSXFSNFB0enU0WTBaYmZqK2pMZTg4ZmE4MEZyWWZWTU5BRHdBQUFBQUFBTThYbDl5d0tGKzZkbDZtN2pFNFh6NXZXbHFheW9vQ2JONGRqN1RtbTc5ZWxJVXJPdk1mNSt3LzBPUHNVSDZMQVFBQUFBRGdTYXZXOXVRdlh6QTYzMzdmd1VMUWJ1YnRMOXNyN3oxalVuNzl3T3I4Nys4OW5rV3J1Z2Q2cEIzR1krSUFBQUFBQU9CSmF6cjZVcTNWTW1Ld0IydnRqanE2KzNMbDdjdHkwYzhXNUxRalJ1ZkRyOTA3ZzV2ckIzcXM1OHh2TXdBQUFBQUF1N1hiSG1uTm9NYTZITFhmc0F4cjJmWC80Wi90MTlKVW43ODdjVUthRytyeVh6K2VtOTYrV2o3OXBxa0RQZFp6Wm8wYkFBQUFBQUM3clpzZVhKMlBYem83UDcxeitVQ1B3dk5FZlYwbGYvM0NzWG4zS3libWpobXR1ZjJSMW9FZTZUbnptRGdBQUFBQUFIWkxkenphbW85ZE5qdDdqbXJLSjk0d05mdU9IelRRSS9FODB0SGRsd2Ztck10Uit3OVAvUzYrdEVZTUFnQUFBQUJndHpOL1JWYys4cTNITW10UmV5Nzc0S0haZDl5Z1ZDcVZnUjZMNTdHMW5YMFpPbWpYZkl6Z0x0NnlBQUFBQUFCZzIzVDJWUE9kM3l6T3ZCV2QrY0s1QjJUSytCWWhpQzM2MmQwcmN0Wm4vNWdaQzlzSGVwVHRJZ1lCQUFBQUFMQmJ1ZUxXcGJudTNwVjV5eWw3NXJocEl3WjZISFlCazhZMHA3ZTNsazlmK1VRV3Jlb2U2SEcybVJnRUFBQUFBTUJ1WmVTUWhody9iWGhlZC95NGdSNkZYY1JoK3d6SlI4L2FOMytZdlNaWDNiNDBQWDI3MWc0ODlnd0NBQUFBQUFEWUN2OXo5YnhjL2Z2bHVlRGNBM0w0dmtNSGVweXRabVVRQUFBQUFBREZxOVdTSmF1NzA5MWJIZWhSMklXZC9aSUoyWE5VYy83dkZYT3l0ck52b01mWmFtSVFBQUFBQUFERjYranV5enN1ZWpTWDNyUmtvRWRoRjdiSHlNYTg1WlFKbWJ1OE0xKzhadDVBajdQVkdnWjZBQUFBQUFBQTJKbjZxclY4OWJxRmFWM1hrK09tRFIvb2NkaUZWU3FWbkhyNHFOejkySm9jUDIzRVFJK3oxY1FnQUFBQUFBQ0tkdCtjdGJueTlxVTU3UzlHWjU5eGd3WjZISFp4VFExMStkZXo5aDNvTWJhSng4UUJBQUFBQUZDc25yNWF2dnViSmVucHErV3NFOGFucGJsK29FZWlJRzBkdlZuVDhmemZPMGdNQWdBQUFBQ2dXRE1XdE9lQko5Ym16S1BINXBESlF3WjZIQXJTMXQ2YmozenJzWHp5OHRrRFBjcXpFb01BQUFBQUFDaFNYN1dXMng1dVRVZFhYOTd4c3IwR2Vod0swOUpVbHdNbkRzN05ENjdPckVVZEF6M09Gb2xCQUFBQUFBQVVxVnBONWk3dnpKbkhqc3Y0a1UwRFBRNkZhV3lveTRtSGprcHpZMTIrY3QyQ2dSNW5peXExV3EwMjBFTUFBQUFBQU1ETzBGdXRwWktrdnE3eS83ZDM1K0ZWRlhiK3h6OTNYNUtiaEN5UUVBZ1F3bFlOS2dpQ0lvcU1wVm9GbHg4NnRoUm5wRnFzWFVic1k2VlR5MEJkV3R1TzJtcXhWWXZVRGxwRVNxMUxyWXFLQ2lxNG9nR05JWVpza0QwM056ZTU2NWsvbk5MeUN5cExrcE9jKzM0OUQ4OEQ5NXg3enVjQytlZCtudS8zbUIwRkZyWHNkK1hhV2RXcE81YVU2TGlpZExQakhCS1RRUUFBQUFBQUFBQUF5M0xhYlJSQjZGTmZPek5mTGFHWTNxZ0lhYURPMzFBR0FRQUFBQUFBQUFBc3A2SytTL2MvVTZlRzlxalpVV0J4azBlbmExS2hYOXMvQ3Fvcm1qUTd6aUZSQmdFQUFBQUFBQUFBTE9lcE41djFtNmZyVk4zVWJYWVVXSnpEYnRONTAzTFZISXlwT3pZd0o0T2NaZ2NBQUFBQUFBQUFBS0EzaGFOSnZiR25RMFBTblFQMkdTNndsZ3RPeWRQczQ0ZG9TTnJBckYwR1ppb0FBQUFBQUFBQUFJNVNlVzFZZGMwUnpTbk5rdGZGZ2l6MFBhL2JydUZ1dDlreFBoVS9CUUFBQUFBQUFBQUFTNmxxN0Zacloxd0xwZzgxT3dwU1NLZzdvWXA5WFFwSEVtWkg2WUV5Q0FBQUFBQUFBQUJnR2Nta29lcW1pTndPbXlhTjlKc2RCeW5rdmFwT0xibHJ0MTdlMVc1MmxCNG9nd0FBQUFBQUFBQUFsaEZQR3RwVjA2bVRpZ05tUjBHS3ljMXd5a2dhZXYzRG9ObFJlcUFNQWdBQUFBQUFBQUJZUnRLUWJKS21sbEFHb1g4VjVYbVZrZWJVVzVVaHhlSkpzK01jaERJSUFBQUFBQUFBQUdBWkhxZGROMzIxV1AvdjFOUjZYdEFMTDd5Z3BVdVhxcTJ0clZldTE5VFVwS1ZMbDJydjNyMmZlZDV6enoybnFWT242cnJycnV1Vit3NW1icWRkazBlbEs5eWRVRTF6eE93NEIzR2FIUUFBQUFBQUFBQUFnTjVpczBtWmFhbjMxWGRUVTVPMmI5K3VKVXVXNk82NzcxWitmcjdXckZtanUrNjY2N0N2Y2RaWlorbG5QL3VaSkttNXVWbnZ2dnV1cnIzMldxMWR1MWJwNmVrOXpvOUVJcnJqamp2a2NEaTBaY3NXN2RxMVM1TW1UZXExenpRWWpTM3dhZHNIN1dvSnhUVm1tTmxwL3NGbUdJWmhkZ2dBQUFBQUFBQUFBSHBEVXpDbVdDS3B2QXkzbkE2YjJYSDYxV09QUGFhVksxY3FQejlmOTk5L3Z4b2JHN1ZqeDQ2RHptbG9hTkQ2OWVzMWQrN2NIc1hONk5Hak5XZk9uQjdYTy8zMDAzWDc3YmZMWmp2NDcvUG1tMi9XcGsyYjlPdGYvMXEzM25xcjNHNjNIbmpnQVhtOTNyNzdrQVBjNng4RzllMTd5M1hEeFVXNmNFYWUyWEVPU0wxNkZBQUFBQUFBQUFCZ1dmL3o0bjZWMTRmMXcwdEdLei9MYlhhY2ZqVi8vbngxZG5hcW9xSkN1Ym01eXMvUFYybHA2VUhubEpXVmFmMzY5Wm8xYTVibXo1Ly91ZGQ3L2ZYWDlkUlRUMm5ObWpXNjRvb3JEaHpidUhHak5tN2NxS1ZMbDJyYXRHbjY4WTkvckNWTGx1akdHMi9VYmJmZDFxTTRTaFVsdzMyS0paTHFqUERNSUFBQUFBQUFBQUFBK2tSVlk1Y1NTVU91RkpzSytydkxMcnRNUC96aEQrVjBPclZ6NTA0dFdyUklsWldWbi9tZSt2cDZMVnEwU0Z1MmJPbHg3UHZmLzc2bVQ1K3VzODgrKzhCckd6ZHUxQzIzM0tMenpqdFBWMTU1cFNUcHVPT08wOHFWSzdWNTgyYXRYTGxTOFhpOGR6L1lJSkdkN3RKRDF4Mm5jNlprbXgzbElKUkJBQUFBQUFBQUFBRExhQXJHNUhQYlU3WU0rbWVGaFlWcWJtN1d0Ny85YmJXMHRCenluRkFvcE85Kzk3djY0SU1QNUhLNWVod1BCQUphdlhxMVJvNGNxVVFpb1h2dXVVYzMzM3l6empubkhOMTQ0NDBIblR0djNqejk0QWMvME9PUFA2NXZmZXRiYW1wcTZwUFBOZEJOS1BRcko5RHo3OUpNbEVFQUFBQUFBQUFBQU12WTF4WlZ1dGNoanl0MXZ2NWV0bXlacGs2ZGV1RFhhNis5SmtuS3pzN1diYmZkcHNiR1JsMS8vZlU5cG5VU2lZUnV1T0VHVlZSVWFQbnk1Wm81YythbjNxTyt2bDVmLy9yWGRlKzk5K3J5eXkvWHFsV3I1SFQyZkJMTnhSZGZyRnR2dlZVN2QrN1V4UmRmck1jZmY3eDNQK3dnRVkwYlNpWU5zMk1jd0RPREFBQUFBQUFBQUFDV3NhODFxclFVSzRNV0xseW9VMDg5VlZWVlZWcTNidDFCeDBwTFMzWE5OZGRvejU0OWlrUWlCeDJMeFdMS3pzN1dOZGRjbzRzdXV1akE2OHVXTGRPTEw3NTQ0TThyVnF6UTdObXo1WEE0OUl0Zi9FSm5ubm5tWitZNSsreXpOWGJzV0sxYXRVcGp4b3pwaFU4NHVQejJiM1dxYnVyV0RSZU5VcHJYWVhZY1NaUkJBQUFBQUFBQUFBQU1hbitmNk5teFkwZVBNa2lTRmk5ZWZNajNlYjFlclZxMXFzZnI4K2ZQMTRrbm5xajI5blk5OE1BRGtxU3NyQ3pkZDk5OWtxVDc3cnRQcTFldjFuUFBQYWVzckt5RDNydHUzVHFWbDVkcnhZb1ZCOTZiYXZhMVJsVGJIRldDeVNBQUFBQUFBQUFBQU5CWGZ2bkxYMnJ0MnJXZmVuemx5cFZhdVhKbGo5ZW5USm1pZSsrOVY1SlVYVjE5MklYT3ZuMzdkTk5OTjJuYnRtMGFNMmFNbXB1YmxaT1RjM1RoMGVzb2d3QUFBQUFBQUFBQXNKaVpNMmZLNy9mM2VMMnhzVkViTm16UW5EbHpOSEhpeEI3SEN3b0tqdWcrd1dCUWE5ZXUxVU1QUGFSRUlxSEZpeGRyNmRLbDhuZzhSNTBkdlk4eUNBQUFBQUFBQUFBQWk1azJiWnFtVFp2VzQvV3lzakp0MkxCQnMyZlAxdno1ODQvcEhuZmVlYWVlZWVZWmRYVjE2WXd6enRCM3Z2TWRqUjQ5K3BpdWliNUJHUVFBQUFBQUFBQUFBSTdZazA4K3FibHo1MnJ4NHNXSG5ETEN3R0UzT3dBQUFBQUFBQUFBQU9oZGRYVjF1dmJhYS92MEh1dlhyOWN0dDl4eXlDSm8wYUpGZXVLSkovcjAvamg4bEVFQUFBQUFBQUFBQU1zNGRXS21Pc0lKZFhRbHpJN1M3Mkt4bUNScDA2Wk5Xcmh3b2Q1KysyMUZJcEZldVhZb0ZOS3FWYXNPZWkwek0vT1E1N2EzdDJ2WHJsMHFMeS92bFhzUE5nM3RNUjAzMGkrdmErQlVNS3lKQXdBQUFBQUFBQUJZeGpYbmpKRFhZMWVhWitCOEVkOWZubi8rZVVuUzVzMmJkZW1sbCtyS0s2K1V4K001NXV0V1ZsWnE4ZUxGYW1wcTBvMDMzbmpnZGNNd0RubCtYVjJkSkduVXFGSEhmTy9CNks2cnhwc2RvWWZVKzJrQUFBQUFBQUFBQUZoVzZlZzBqU3Z3eVc2M21SMmwzNVdVbE9qVVUwL1ZoZzBidEd6Wk1nVUNnV082WGtORGd5VHA5Ny8vdlJLSmhOYXNXU09iemFhMHREUkowdmJ0MjNzVVF1RndXQnMyYkpBa25pTTBnREFaQkFBQUFBQUFBQUN3akhqQ1VHY2tvVFNQUTA1SGFoVkNsMXh5aVM2NTVKSmV1OTZtVFpza1NWT21UTkhQZi83ekEydmhaczZjS2FmVHFlWExsMnY1OHVXSGZPK3NXYk0wYWRLa1hzc3lXTFIyeHRVU2lxc2d5eVcveDJGMm5BTnN4cWZOY1FFQUFBQUFBQUFBTU1pOFc5V3AxVS9WNkxvRkkxVlM0RGM3enFDMmMrZE8vZkdQZjlTS0ZTdmtjcmtPT3Jabnp4NjkrdXFyQ29mREI3M3U4WGcwZHV4WXpaZ3hRM1o3NmkwbmUrNmRWdjNvb1QzNjBhVmpOTytrYkxQakhNQmtFQUFBQUFBQUFBREFNdkl5WEhydGc2RGF3d216b3d4NnBhV2xLaTB0UGVTeDR1SmlGUmNYOTNPaWdXOUhSVkIrajBQRHM5MW1SemxJNnRWeUFBQUFBQUFBQUFETHl2QTVsT1oxcUhKL2w5bFJrSUlxOTNmSjQ3SXJOK0Q2L0pQN0VXVVFBQUFBQUFBQUFNQXk3SGFiQ25NOCtxaWVNZ2o5SzlTVlVNVytiZzNMZEtzZzIyTjJuSU5RQmdFQUFBQUFBQUFBTE1QcGtDWVUrdlZHUmREc0tFZ3h1MnM3Rlk0a2RGSnh1dGxSZXFBTUFnQUFBQUFBQUFCWWhzdGgxNFJDdno2bzdWSnJaOXpzT0VnUmhtSG9vL291ZFVXVCtwY1RzczJPMHdObEVBQUFBQUFBQUFEQVVrYm1lalFrM2FrWGRyYWFIUVVwSXBHVWdsMEo1UVpjbWpqQ2IzYWNIbXlHWVJobWh3QUFBQUFBQUFBQW9MYzBCV042L2FPZ0poZWxhVVN1MSt3NFNBRkp3MUJ6UjF6dG5YR1ZGUGpNanRNRFpSQUFBQUFBQUFBQUFJQ0ZzU1lPL2YxeGFRQUFFa2RKUkVGVUFBQUFBQUFBQUdCSmhtRW9IRW1ZSFFNcG9LeTZVMDNCbU5reFBoVmxFQUFBQUFBQUFBREFrbjd5NkY3OTl1azZDaUgwcWRiT21LNWYrNUdlZkxOWnllVEFYTVpHR1FRQUFBQUFBQUFBc0tTQTM2R24zMnBSZlV2VTdDaXdLTU13OUljWDlpa1lUbWhVbmxkMnU4M3NTSWRFR1FRQUFBQUFBQUFBc0tRTForUXBGRW5valQwZFprZUJSVFVHWTNycWpSWVY1L3MwcFRqZDdEaWZpaklJQUFBQUFBQUFBR0JKUXpQY09tMWlwalpzYlRBN0NpenFoZmRhMVJpTTZzdFRjeFR3T2MyTzg2a29nd0FBQUFBQUFBQUFsdVJ5Mm5UMkNVUDA4ZjV1L2VuVlJyUGp3R0phUXpIOTdhMVc1V1c0dGZDMG9XYkgrVXlVUVFBQUFBQUFBQUFBeXpxeE9LQUpoWDc5NXVsYU5YZkV6STREQzNsdmI2ZktxanUxYkVHUjJWRStGMlVRQUFBQUFBQUFBTUN5Y2dJdXpaK2VxOGIybUY3WjFXWjJIRmhJTUp6UUdjZGw2WlR4R1daSCtWdzJ3ekFNczBNQUFBQUFBQUFBQU5DWG50elJySE5QempFN0JtQUt5aUFBQUFBQUFBQUFBSURERkF6SGxlWjF5R0czbVIzbHNMRW1EZ0FBQUFBQUFBQ1FFaUx4cE5hLzBxRDM5M2FhSFFXRFZEQWMxNTJQMTJqTmMvVm1SemtpbEVFQUFBQUFBQUFBZ0pSUTB4VFIyczMxdXZiK2NuVkZrMmJId1NDMGRYZTdIbm1sUVNOeXZHWkhPU0tVUVFBQUFBQUFBQUNBbERBMjM2ZHZ6Q3RVU3lpdU8vOVNyWEFrWVhZa0RDSTdxMEw2N3o5WGEvNzBYTTArTHRQc09FZUVNZ2dBQUFBQUFBQUFrREsrZkhLdXZqSjdxSjU2bzFrdmxiV1pIUWVEUkZWRHQyNWEvN0U4THJ2K2ZXNkIvQjZIMlpHT0NHVVFBQUFBQUFBQUFDQmxPT3pTMWVjVWF2UXduMjVjVjZsZ0Y5TkIrR3poU0VLci8xcXJYVFZoTFZzd1VtUHpmV1pIT21LVVFRQUFBQUFBQUFDQWxPSnpPM1RkZ3BIS3ozTHI4anZLdEs4MVluWWtER0F2dnRlbWw4cmF0V3orU00wcEhXSjJuS05DR1FRQUFBQUFBQUFBU0RuSEY2WHB1K2VQVkdkM1FrMGRjYlBqWUFBcnlQYm9tK2NXNnRMVGg1a2Q1YWpaRE1Nd3pBNEJBQUFBQUFBQUFBQ0F2dUUwT3dBQUFBQUFBQUFBQUdaNnZ6cXNqbkJjN1YxeG5USXVRMWxwZkhXZTZqYS8yNnFhNW9ndW5UVlVIdGZnWDdMRy8yZ0FBQUFBQUFBQVFFb3lER2wzWFZqWC9hNWNSaktwcGxCY0MwOGRxcVZmS3FRUVNtRi9lYjFKdjNxeVJpY1ZCNVJJbXAybWQvQy9HUUFBQUFBQUFBQ1FjcEtHdEhWM3UyNWEvN0dHcER2MS9RdUx0THMycko5dXJKTGJZZE95QzRyTWpvaCtGazhZV3Y5S2crNTRyRnFUUnFacDJZSWkrVDJEZnlwSW9nd0NBQUFBQUFBQUFLU2dOeXM2OU5OSHErU3cyM1R6b21LTkdlclZpY1VCaFNOSjNmOXNuZmExUi9VZjU0L1U4R3lQMlZIUkQwTGRDVDM4MG43OXo0djdOYlVrb0I5L3BWaTVHUzZ6WS9VYXlpQUFBQUFBQUFBQVFNb3dES21xcVZ2LytZY0twZnNjdXVmcWljcjdweS85TDUwMVZHNm5UWGMrWHFQMnpyaXVYVkNraVlWK0V4T2pyelVIWTdyOUw5VjY5cDFXblQ4dFIwdS9WS2ljZ0hXS0lFbXl4bndUQUFBQUFBQUFBQUNIb1R1VzFJcDFsY29KdUxUeXNtTGxCZzZlbVVqek9uVFo3R0g2elRjbmFGZE5XTC9mWEc5U1V2UVhoOE9tVno4STZ2S3o4blg5aFVXV0s0SWt5V1lZaG1GMkNBQUFBQUFBQUFBQStrUFNrTjZ1RENuZGExZEpnVTkybSsxVHozMXZiNmZjVHB2R0QvZkxrSlJJR0hJNlB2MThEQjVkMFlRNnU1TUhWc0UxaDJMS1NiZGVDZlIzbEVFQUFBQUFBQUFBQUV0TEpBMlZWWGRxYkw1ZmZzL1JMY3lxYjQxcTQ3WUduVE1sUjhYNXZsNU9pUDVVM3hMUjc1NnJWM2w5bDM1MTFYZ0Z2QTZ6SS9VNTFzUUJBQUFBQUFBQUFDd3JGamYwMXpkYmRQWHFEL1h3Uy91Tytqcmw5VjE2NktVR1hmYUw5L1duVnhzVlN6Qm5NUmk5VXhuU2tydDM2WkZYR2pTdEpLQjBqL1dMSUluSklBQUFBQUFBQUFDQWhmM3Q3UmJkdG5Hdnhneno2dm9MaXpSdXVQK29yL1hhaDBIZC9saTE2bG9pT25kcWppNmROVlJGZVY0NTdLeU9HK2hxbWlONmRHdUQxbTdlcDVJQ242NmFOMXhubFE2UlBVWCs3U2lEQUFBQUFBQUFBQUNXWXhqU1c1VWQrdVk5SDZoMFZMcCtkZVY0ZWQzSHZpeXJ2VE91Sjk1bzFuM1AxTW5udHV2Y3FUbGFlTnBRRGMxMDkwSnE5SVVIWDZqWDQ5dWIxZHdSMDRKVDhyUmdlcTZLOHJ4bXgrcFhUck1EQUFBQUFBQUFBQURRbTJJSlExdmViOVB5QnlzMGRXeEFOMXcwcWxlS0lFbktUSFBxZ2xOeWxlVzM2MmViYXZXN1orczFQTWVyQzAvSjdaWHJvL2MxQm1OS0pxVzd2ekZCSlFXK2xKemtZaklJQUFBQUFBQUFBR0Fwcit4dTE0Ly8rTEVLYzl6NnIzOGRvNUc1dlRjRjhuWmxoOVp0MmE4M0t6b1VqUnM2L1F0WnV1UzBQSjB3SnFDdWFGSU5iVkVOelhMSjUwNk5aOUVNTkozZENaWFhkMmwzVFZnTFQ4dVR3MjVUT0pxVVhlcTFRbkF3WWpJSUFBQUFBQUFBQUdBcFE5S2NPcmtrb0p1K1d0eHIxeXl2NzlJZGorM1Z0ZytDc3R1aytkTno5YjBMaXVUMy9LUDAyVjNUcVo5dTNLdXgrVjZkUHkxWFU4WUc1SGFtYmdIUm4yTHhwRjRyRCtxdmI3Wm82KzUycFhzZE92ZmtIR1g0SFBLbmNBbjBkMHdHQVFBQUFBQUFBQUFHdldnOHFXU3lkNmMvNGdsRFRzY25LOFUyYm12VXhtMk5tbG9TMEpkUHp0SDQ0ZjRlNTRlNkUzcjQ1ZjFhL1dTdGJEYnArRkhwV2pxdlVETW1aUFJhSnZUMDZnZnR1dnZKV3UycTZaVGY0OURpT1FXNmROWlFwWHNkc3FYZVJyaERvZ3dDQUFBQUFBQUFBQXg2RDcvVW9KcW1ibjN2d3FKanZsWm5KS0d0dTlxMWMyK25ycGhib0t3MHA4S1JwRnBDTVEzUGRzditPUTFEYzBkTUQyM1pyeGZlYjlQZXhtNlY1UHQwNVJlSGEvWnhXU241dkpxK1V0c2MwZklISzFSV0hWWlJua2ZUeDJWbzBSbjVHcEhyTVR2YWdNT2FPQUFBQUFBQUFBREFvUGJuMTVwMHk0YVBkZUtZOUdPKzF2YnlvRzUrNUdQdDJkK3Q0ZGtlelowOFJGbHA2Zko3N1BKN0RxOWt5QW00OU0xekNuWCs5Rnk5VXhuU0V6dWE5Y0xPTnAwMktWTU91MDN0NGJqY1RydDhyQzg3SXFIdWhONzlPS1JUSjJaS2t0SzlEbVVIWExyK29pTE5tSkNob2w1OE5wVFZNQmtFQUFBQUFBQUFBQmlVdW1OSmJkeldxSjg4V3FYelRzN1J0Zk5IS2kvVGZjVFhhUXJHOUhabGh6WnNiZENPajBJYU45eW5jNmJrNklJWnVjcndIZnRNUmJBckxydk5walNQWFRhYlRmZjh0VmJQdk4yaUwwM0oxb0pUOGpUMEtES25rdnJXaVA3OFdwT2UyTkdrbGxCY1AvKzNFczM4djBJbzFKMVFtb2QxY0orSE1nZ0FBQUFBQUFBQU1DaHRlS1ZCZHo1ZW83TW1EOUczemkwOHFpS29LNXJVZFd2SzlWWkZoOGJtKzNYQmpEek5tQkRRaUp5K21USkpKQTF0M05hb3YyeHYwcjYycUlMaHVDYVBTdGVacFZtYVBEcGR3NGQ0bEIxdzljbTlCNHZ1YUZLVkRWMHFxdzdyeVIxTktxc09LOTNuMElnY2orYWVNRVR6VHNwV1hnWUYycEdnREFJQUFBQUFBQUFBRERwUDdHaldqeDdhb3dYVGM3WDg0bEZ5T1k5KzVkcHZucTdWdU9GK3pSaWZJWis3ZjZaTU9yc1QrckF1ckRmM2hQVGUzcERlK0toRGhxUUxUOG5Uc2dVakpVbVJXRkllbC9WWHlTV1RobXFhSThyTmNNbnZjYWkySmFJYjFsYW9zcUZMVThkbWFQcTRESTB2OUduU2lEU2xleDFteHgyVUtJTUFBQUFBQUFBQUFJTktzQ3V1cjkyK1N5WDVQdjFnNFNqbEhPWWtUVzF6Uk85VWh2VGdpL3Qwd1NsNXVuVFcwRDVPK3ZrU1NVUGQwYVJhUW5HOTgzRklQcmRkY3ljUGtTUnRlYTlOZHo1UnJla2xHWm94SVVQVHhtZktiNUhuRENXU2hsNHVhOWRMWmExNnFheGRhVjZIVmw1V3JOSlJhVW9rRFpWVmR5b3YwNjEwcjRNMWNMM2cySmNkQWdBQUFBQUFBQURRanpKOFR0MTExWGg1WGJiREtvS3FHcnExNmJWR3ZWVFdwb2IybUthTkMyak1zTDVaQTNla0hIYWIwcndPcFhrZEdwbnJPZWhZc0R1dVpGSjZibWViTnIzZXBHZ3NxWWtqL0pvOE9sMVRpZ002NC9nc3VaMTJKUTFEa1doU0hyZGQ5Z0hTbXNRVG41UmNrWGp5d0w5UkpKYlVUelpXcVd4dnAzYlZoQlh3T1pUbWRTclQ3OVFKWTlLVjZmOWs2c2RodDZsMFZMcVo4UzJIeVNBQUFBQUFBQUFBd0tCdy83TjErdW9aQmZLNkRyL3dXUDFVcmRhL3NsK3RvYmhPTHNuUTl5NG9VbkcrVis1aldDdlhuem9qQ2RXM1JGWFYySzJxeG03Vk5FVzB0N0ZMMGJpaDI1ZU1VMDdBcGFaZ1RMOStxa1l1aDAwWmZxZnlNdDNLejNMTDY3WXJQOHV0N0lDclQ5ZXJOYlJGVmRYVXJiWlFYTTBkTWUxcmk2cTk4NVBmZDBXVCt1V1Y0K1Z6MjlVVlRXcjVneFhLOURzMW9kQ3Z3bXkzQ25POEtzcnp5dTBjR0NXV1ZURVpCQUFBQUFBQUFBQVkwRUxkQ2YzMjZWbzlzSG1mUEU2N0ZwMlpmMWp2ZTJCenZSNStlYjhtRnFicFgwOGZxam1sUS9vNGFlOUw4emhVVXVCVFNZRlBoaUZGNGtsRlkwbkZrNGF5MGo3NWlqOGFUNnF1SmFydDVVRWxrb1pjVHB0Y0RydnNOc25sdE90N0Z4VHB5eWZuU0pJZWVXVy9YaS92VUxyWG9hSThyMXovVk1KNFhYWjk4YVJzWmZpYzZvb2s5UFRiTFFwMUp5UkpzYmloeXYxZDZvb21KVW1YekJxcWFTVVprcVI3bnE3VjM5NXVVVHhoS0o0d0ZFc1lTdmM2Tkw3UXI4bWowdFVkUzhybnRzdm50dXVtcnhiTDZiREptd0xQUWhwSUtJTUFBQUFBQUFBQUFBUGFmYy9VNlUrdk51bnlzL0wxeFJPekQzbE9JbW1vdkM2c1Z6OE02dC9PS3BBa0xUeHRxSXFIK1hSU2NVQUJYOTlOeHZRWG0rMlR3dWIvTDFLR1ozdDB6OVVUSkVrdG9iZytxZ3VydWptaXBtQlV0YzBSZmFFbzdjQzVPNnM2VlZiZHFXUlNldkg5TnYzejdyRHNnRk16Sm1SK1VnWkZrOXF3dFZHMXpSRkprdDF1azhkcE8vRHNudnFXNklIM1RSK1hvYUk4cjNJRGJvM0k4YWd3MTZPOGpFT3Y3K3ZMQ1NWOE90YkVBUUFBQUFBQUFBQUdyRjlzMnF0SHRqYnEzK2NXNklxNStYSWRZcjNidnJhSUhueCt2NTUrcTBXdG5YR3RXL1lGVFNqMG01QjI0R3RvaXlxV01CU05KOVVTaWl1Wi9FZEY0SFRZTkdsRW1yeHV1Mkx4cEhiVmhCV0pmVElKNUxEYmxCMXd5ZVg0cEEzS3pYREp3M1RQb0VFWkJBQUFBQUFBQUFBWWNNS1JoSDczYkwzdWU2Wk9YemxqbUs0NWQ0VFNQUCtZS29uR2s2cHE3TmFqV3h1MWJzdCs1V1c2OVlXUmZuM2ppNFU2ZmxUYVoxd1pTRDJzaVFNQUFBQUFBQUFBRENpR1llamxYZTNhc0xWUmw4MGVwcXUvVkhoUUVSU09KUFNySjJyMHdzNVdTVFl0T2pOZi96SjVpSTRmbFNiM0lTYUhnRlRIWkJBQUFBQUFBQUFBWU1DcGI0MXF6LzR1VFM4SjlGZ05sMGdhV256SExwMDhMcUJMVGh1cVlabHVPZjl2ZlJtQW5paURBQUFBQUFBQUFBQURRa2RYUWtuRFVLYi9IMHV0d3BHRWR0ZUU5WWNYOTJuZVNUbWFkMUsyaVFtQndZazFjUUFBQUFBQUFBQUEwNFc2RS9ydngvWXFFak4weTZKaXRYZkd0ZTNEZHIxYzFxNlh5OXFVaytGU2R5eHBka3hnVUdJeUNBQUFBQUFBQUFCZ3F1NVlVdDlmVzZIdDVVRXRPbk9ZU2dyOGV2RDVlbFhzNjViUGJkZlg1aFJvN3VRaEdwN3Rsc1BPT2pqZ1NGRUdBUUFBQUFBQUFBQk1FK3lLYTlVZlA5YVc5OXAwMWJ4Q2RVVVRXdk5zdmZLSHVIWHh6RHd0T1h1NDJSR0JRWTgxY1FBQUFBQUFBQUFBVTNSR2tycnJpVnB0MjkydXE4OHAxS0l6ODdXN0ppeWYyNjR2VGNuUmlCeVAyUkVCUzJBeUNBQUFBQUFBQUFEUTc3cWpTZjNYdzVWNjlwMVdKUTFEVDYwNFFjTXkzVW9hRXB2Z2dON0ZaQkFBQUFBQUFBQUFvTit0ZmI1ZXorOXMxWmhoWGwxNTluQU55M1JMb2dnQytnS1RRUUFBQUFBQUFBQ0FmbGU1djF2dlZuVm8xcVFzNVFSY1pzY0JMSTB5Q0FBQUFBQUFBQUFBd01Mc1pnY0FBQUFBQUFBQUFBQkEzNkVNQWdBQUFBQUFBQUFBc0RES0lBQUFBQUFBQUFBQUFBdWpEQUlBQUFBQUFBQUFBTEF3eWlBQUFBQUFBQUFBQUFBTG93d0NBQUFBQUFBQUFBQ3dNTW9nQUFBQUFBQUFBQUFBQzZNTUFnQUFBQUFBQUFBQXNEREtJQUFBQUFBQUFBQUFBQXVqREFJQUFBQUFBQUFBQUxBd3lpQUFBQUFBQUFBQUFBQUxvd3dDQUFBQUFBQUFBQUN3TU1vZ0FBQUFBQUFBQUFBQUM2TU1BZ0FBQUFBQUFBQUFzRERLSUFBQUFBQUFBQUFBQUF1akRBSUFBQUFBQUFBQUFMQXd5aUFBQUFBQUFBQUFBQUFMb3d3Q0FBQUFBQUFBQUFDd01Nb2dBQUFBQUFBQUFBQUFDNk1NQWdBQUFBQUFBQUFBc0RES0lBQUFBQUFBQUFBQUFBdWpEQUlBQUFBQUFBQUFBTEF3eWlBQUFBQUFBQUFBQUFBTG93d0NBQUFBQUFBQUFBQ3dNTW9nQUFBQUFBQUFBQUFBQzZNTUFnQUFBQUFBQUFBQXNEREtJQUFBQUFBQUFBQUFBQXVqREFJQUFBQUFBQUFBQUxBd3lpQUFBQUFBQUFBQUFBQUxvd3dDQUFBQUFBQUFBQUN3TU1vZ0FBQUFBQUFBQUFBQUM2TU1BZ0FBQUFBQUFBQUFzRERLSUFBQUFBQUFBQUFBQUF1akRBSUFBQUFBQUFBQUFMQXd5aUFBQUFBQUFBQUFBQUFMb3d3Q0FBQUFBQUFBQUFDd01Nb2dBQUFBQUFBQUFBQUFDNk1NQWdBQUFBQUFBQUFBc0RES0lBQUFBQUFBQUFBQUFBdWpEQUlBQUFBQUFBQUFBTEF3eWlBQUFBQUFBQUFBQUFBTG93d0NBQUFBQUFBQUFBQ3dNTW9nQUFBQUFBQUFBQUFBQzZNTUFnQUFBQUFBQUFBQXNMRC9CWllEZXBtSEZpRGFBQUFBQUVsRlRrU3VRbUNDIiwKCSJUaGVtZSIgOiAiIiwKCSJUeXBlIiA6ICJmbG93IiwKCSJWZXJzaW9uIiA6ICIiCn0K"/>
    </extobj>
  </extobjs>
</s:customData>
</file>

<file path=customXml/itemProps11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14798</Words>
  <Application>WPS 演示</Application>
  <PresentationFormat>宽屏</PresentationFormat>
  <Paragraphs>780</Paragraphs>
  <Slides>48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48</vt:i4>
      </vt:variant>
    </vt:vector>
  </HeadingPairs>
  <TitlesOfParts>
    <vt:vector size="68" baseType="lpstr">
      <vt:lpstr>Arial</vt:lpstr>
      <vt:lpstr>宋体</vt:lpstr>
      <vt:lpstr>Wingdings</vt:lpstr>
      <vt:lpstr>Arial</vt:lpstr>
      <vt:lpstr>Alibaba PuHuiTi</vt:lpstr>
      <vt:lpstr>微软雅黑</vt:lpstr>
      <vt:lpstr>Heiti SC Light</vt:lpstr>
      <vt:lpstr>PingFangSC-Regular</vt:lpstr>
      <vt:lpstr>Segoe Print</vt:lpstr>
      <vt:lpstr>等线</vt:lpstr>
      <vt:lpstr>Arial Unicode MS</vt:lpstr>
      <vt:lpstr>等线 Light</vt:lpstr>
      <vt:lpstr>Consolas</vt:lpstr>
      <vt:lpstr>Roboto Regular</vt:lpstr>
      <vt:lpstr>Roboto Light</vt:lpstr>
      <vt:lpstr>Wingdings</vt:lpstr>
      <vt:lpstr>Open Sans</vt:lpstr>
      <vt:lpstr>Calibri</vt:lpstr>
      <vt:lpstr>Office 主题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用户</dc:creator>
  <cp:lastModifiedBy>背包走中国</cp:lastModifiedBy>
  <cp:revision>489</cp:revision>
  <dcterms:created xsi:type="dcterms:W3CDTF">2019-10-28T05:59:00Z</dcterms:created>
  <dcterms:modified xsi:type="dcterms:W3CDTF">2025-02-19T07:31:55Z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2052-12.1.0.16412</vt:lpwstr>
  </property>
  <property fmtid="{D5CDD505-2E9C-101B-9397-08002B2CF9AE}" pid="3" name="ICV">
    <vt:lpwstr>F99D26B578974BC5918EDB267BBE0FA5_13</vt:lpwstr>
  </property>
</Properties>
</file>